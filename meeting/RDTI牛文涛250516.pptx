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33" autoAdjust="0"/>
  </p:normalViewPr>
  <p:slideViewPr>
    <p:cSldViewPr snapToGrid="0">
      <p:cViewPr>
        <p:scale>
          <a:sx n="75" d="100"/>
          <a:sy n="75" d="100"/>
        </p:scale>
        <p:origin x="1914"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F3AD1-9F68-4520-8DA3-E90BF3ADF08C}" type="datetimeFigureOut">
              <a:rPr lang="zh-CN" altLang="en-US" smtClean="0"/>
              <a:t>2025/5/14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600E1B-4003-47CD-92FB-2D59D38F5D9B}" type="slidenum">
              <a:rPr lang="zh-CN" altLang="en-US" smtClean="0"/>
              <a:t>‹#›</a:t>
            </a:fld>
            <a:endParaRPr lang="zh-CN" altLang="en-US"/>
          </a:p>
        </p:txBody>
      </p:sp>
    </p:spTree>
    <p:extLst>
      <p:ext uri="{BB962C8B-B14F-4D97-AF65-F5344CB8AC3E}">
        <p14:creationId xmlns:p14="http://schemas.microsoft.com/office/powerpoint/2010/main" val="150257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当前的基于蛋白质序列的特征提取器不能很好的表现蛋白质复杂的结构</a:t>
            </a:r>
            <a:br>
              <a:rPr lang="en-US" altLang="zh-CN" dirty="0"/>
            </a:br>
            <a:r>
              <a:rPr lang="en-US" altLang="zh-CN" dirty="0"/>
              <a:t>-&gt;</a:t>
            </a:r>
            <a:r>
              <a:rPr lang="en-US" altLang="zh-CN" dirty="0" err="1"/>
              <a:t>构造预训练的结构提取器挖掘每个氨基酸的原子相关性</a:t>
            </a:r>
            <a:endParaRPr lang="en-US" altLang="zh-CN" dirty="0"/>
          </a:p>
          <a:p>
            <a:r>
              <a:rPr lang="en-US" altLang="zh-CN" dirty="0"/>
              <a:t>-&gt;</a:t>
            </a:r>
            <a:r>
              <a:rPr lang="zh-CN" altLang="en-US" dirty="0"/>
              <a:t>设计了一种特征间结构保存的黎曼网络，以扩展现有的蛋白质提取模式</a:t>
            </a:r>
            <a:br>
              <a:rPr lang="en-US" altLang="zh-CN" dirty="0"/>
            </a:br>
            <a:r>
              <a:rPr lang="en-US" altLang="zh-CN" dirty="0" err="1"/>
              <a:t>蛋白质与药物特征之间差距大，设计预测泛化能力强的分类器难度大</a:t>
            </a:r>
            <a:endParaRPr lang="en-US" altLang="zh-CN" dirty="0"/>
          </a:p>
          <a:p>
            <a:r>
              <a:rPr lang="en-US" altLang="zh-CN" dirty="0"/>
              <a:t>-&gt;</a:t>
            </a:r>
            <a:r>
              <a:rPr lang="en-US" altLang="zh-CN" dirty="0" err="1"/>
              <a:t>开发一种黎曼分类器</a:t>
            </a:r>
            <a:r>
              <a:rPr lang="en-US" altLang="zh-CN" dirty="0"/>
              <a:t> ，</a:t>
            </a:r>
            <a:r>
              <a:rPr lang="en-US" altLang="zh-CN" dirty="0" err="1"/>
              <a:t>其使用二阶蛋白质-药物相关性在统一的特征空间</a:t>
            </a: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1</a:t>
            </a:fld>
            <a:endParaRPr lang="zh-CN" altLang="en-US"/>
          </a:p>
        </p:txBody>
      </p:sp>
    </p:spTree>
    <p:extLst>
      <p:ext uri="{BB962C8B-B14F-4D97-AF65-F5344CB8AC3E}">
        <p14:creationId xmlns:p14="http://schemas.microsoft.com/office/powerpoint/2010/main" val="4041309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图</a:t>
            </a:r>
            <a:r>
              <a:rPr lang="en-US" altLang="zh-CN" dirty="0"/>
              <a:t>1(a) 根据3D蛋白质结构数据 提取结构特征，但是受限于3D蛋白质数量样本较少</a:t>
            </a:r>
            <a:br>
              <a:rPr lang="en-US" altLang="zh-CN" dirty="0"/>
            </a:br>
            <a:r>
              <a:rPr lang="en-US" altLang="zh-CN" dirty="0"/>
              <a:t>图1(b) 【</a:t>
            </a:r>
            <a:r>
              <a:rPr lang="zh-CN" altLang="en-US" dirty="0"/>
              <a:t>与空间无关的结构特征</a:t>
            </a:r>
            <a:r>
              <a:rPr lang="en-US" altLang="zh-CN" dirty="0"/>
              <a:t>】</a:t>
            </a:r>
          </a:p>
          <a:p>
            <a:pPr algn="l"/>
            <a:r>
              <a:rPr lang="en-US" altLang="zh-CN" dirty="0" err="1"/>
              <a:t>尝试解决在没有结构数据的情况下提取结构特征的问题，其使用了预训练编码器，但是只通过接触矩阵+对比学习训练</a:t>
            </a:r>
            <a:r>
              <a:rPr lang="en-US" altLang="zh-CN" dirty="0"/>
              <a:t>，</a:t>
            </a:r>
            <a:br>
              <a:rPr lang="en-US" altLang="zh-CN" dirty="0"/>
            </a:br>
            <a:r>
              <a:rPr lang="en-US" altLang="zh-CN" dirty="0" err="1"/>
              <a:t>而没有三维属性和拓扑结构，无法获取有效的结构</a:t>
            </a:r>
            <a:r>
              <a:rPr lang="en-US" altLang="zh-CN" dirty="0"/>
              <a:t>。</a:t>
            </a:r>
            <a:br>
              <a:rPr lang="en-US" altLang="zh-CN" dirty="0"/>
            </a:br>
            <a:r>
              <a:rPr lang="en-US" altLang="zh-CN" dirty="0"/>
              <a:t>图2(a)【</a:t>
            </a:r>
            <a:r>
              <a:rPr lang="zh-CN" altLang="en-US" dirty="0"/>
              <a:t>一阶欧几里得相关性</a:t>
            </a:r>
            <a:r>
              <a:rPr lang="en-US" altLang="zh-CN" dirty="0"/>
              <a:t>】，</a:t>
            </a:r>
            <a:r>
              <a:rPr lang="en-US" altLang="zh-CN" dirty="0" err="1"/>
              <a:t>concat后的特征提取，但由于该方式较依赖数据驱动，会使</a:t>
            </a:r>
            <a:r>
              <a:rPr lang="zh-CN" altLang="en-US" sz="1800" b="0" i="0" u="none" strike="noStrike" baseline="0" dirty="0">
                <a:latin typeface="NotoSansCJKsc-Regular"/>
              </a:rPr>
              <a:t>分类器训练偏向蛋白质特征，而抑制药物线索。</a:t>
            </a:r>
            <a:br>
              <a:rPr lang="en-US" altLang="zh-CN" sz="1800" b="0" i="0" u="none" strike="noStrike" baseline="0" dirty="0">
                <a:latin typeface="NotoSansCJKsc-Regular"/>
              </a:rPr>
            </a:br>
            <a:r>
              <a:rPr lang="en-US" altLang="zh-CN" sz="1800" b="0" i="0" u="none" strike="noStrike" baseline="0" dirty="0">
                <a:latin typeface="NotoSansCJKsc-Regular"/>
              </a:rPr>
              <a:t>图2(b)</a:t>
            </a:r>
            <a:r>
              <a:rPr lang="en-US" altLang="zh-CN" sz="1800" dirty="0"/>
              <a:t>【</a:t>
            </a:r>
            <a:r>
              <a:rPr lang="zh-CN" altLang="en-US" sz="1800" dirty="0"/>
              <a:t>二阶欧几里得相关性</a:t>
            </a:r>
            <a:r>
              <a:rPr lang="en-US" altLang="zh-CN" sz="1800" dirty="0"/>
              <a:t>】</a:t>
            </a:r>
            <a:r>
              <a:rPr lang="en-US" altLang="zh-CN" sz="1800" b="0" i="0" u="none" strike="noStrike" baseline="0" dirty="0">
                <a:latin typeface="NotoSansCJKsc-Regular"/>
              </a:rPr>
              <a:t>，</a:t>
            </a:r>
            <a:r>
              <a:rPr lang="en-US" altLang="zh-CN" sz="1800" b="0" i="0" u="none" strike="noStrike" baseline="0" dirty="0" err="1">
                <a:latin typeface="NotoSansCJKsc-Regular"/>
              </a:rPr>
              <a:t>通过矩阵乘法来融合特征，但蛋白质-药物特征空间较难统一，且信息密度过大导致较难收敛</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2</a:t>
            </a:fld>
            <a:endParaRPr lang="zh-CN" altLang="en-US"/>
          </a:p>
        </p:txBody>
      </p:sp>
    </p:spTree>
    <p:extLst>
      <p:ext uri="{BB962C8B-B14F-4D97-AF65-F5344CB8AC3E}">
        <p14:creationId xmlns:p14="http://schemas.microsoft.com/office/powerpoint/2010/main" val="3413528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为了更好的提取氨基酸的结构特征，图</a:t>
            </a:r>
            <a:r>
              <a:rPr lang="en-US" altLang="zh-CN" dirty="0"/>
              <a:t>1(c)</a:t>
            </a:r>
            <a:r>
              <a:rPr lang="zh-CN" altLang="en-US" dirty="0"/>
              <a:t>构建氨基酸向量的协方差矩阵，以强调</a:t>
            </a:r>
            <a:r>
              <a:rPr lang="zh-CN" altLang="en-US" dirty="0">
                <a:solidFill>
                  <a:srgbClr val="FF0000"/>
                </a:solidFill>
              </a:rPr>
              <a:t>蛋白质内部</a:t>
            </a:r>
            <a:r>
              <a:rPr lang="zh-CN" altLang="en-US" dirty="0"/>
              <a:t>的二阶相关性。</a:t>
            </a:r>
            <a:endParaRPr lang="en-US" altLang="zh-CN" dirty="0"/>
          </a:p>
          <a:p>
            <a:r>
              <a:rPr lang="zh-CN" altLang="en-US" dirty="0"/>
              <a:t>此外，为了保留氨基酸之间的拓扑关系，考虑了</a:t>
            </a:r>
            <a:r>
              <a:rPr lang="zh-CN" altLang="en-US" sz="1800" b="0" i="0" u="none" strike="noStrike" baseline="0" dirty="0">
                <a:latin typeface="NotoSansCJKsc-Regular"/>
              </a:rPr>
              <a:t>分布在蛋白质流形上氨基酸。</a:t>
            </a:r>
            <a:endParaRPr lang="en-US" altLang="zh-CN" sz="1800" b="0" i="0" u="none" strike="noStrike" baseline="0" dirty="0">
              <a:latin typeface="NotoSansCJKsc-Regular"/>
            </a:endParaRPr>
          </a:p>
          <a:p>
            <a:r>
              <a:rPr lang="en-US" altLang="zh-CN" sz="1800" b="0" i="0" u="none" strike="noStrike" baseline="0" dirty="0">
                <a:latin typeface="NotoSansCJKsc-Regular"/>
              </a:rPr>
              <a:t>【</a:t>
            </a:r>
            <a:r>
              <a:rPr lang="zh-CN" altLang="en-US" sz="2800" b="0" dirty="0"/>
              <a:t>蛋白质的三维结构本质上是一个非欧几里得几何体</a:t>
            </a:r>
            <a:r>
              <a:rPr lang="en-US" altLang="zh-CN" sz="2800" b="0" dirty="0"/>
              <a:t>-</a:t>
            </a:r>
            <a:r>
              <a:rPr lang="zh-CN" altLang="en-US" sz="2800" b="0" dirty="0"/>
              <a:t>可以被视作流形（</a:t>
            </a:r>
            <a:r>
              <a:rPr lang="en-US" altLang="zh-CN" sz="2800" b="0" dirty="0"/>
              <a:t>manifold</a:t>
            </a:r>
            <a:r>
              <a:rPr lang="zh-CN" altLang="en-US" sz="2800" b="0" dirty="0"/>
              <a:t>），尤其是黎曼流形</a:t>
            </a:r>
            <a:r>
              <a:rPr lang="en-US" altLang="zh-CN" sz="1800" b="0" i="0" u="none" strike="noStrike" baseline="0" dirty="0">
                <a:latin typeface="NotoSansCJKsc-Regular"/>
              </a:rPr>
              <a:t>】</a:t>
            </a:r>
            <a:br>
              <a:rPr lang="en-US" altLang="zh-CN" sz="1800" b="0" i="0" u="none" strike="noStrike" baseline="0" dirty="0">
                <a:latin typeface="NotoSansCJKsc-Regular"/>
              </a:rPr>
            </a:b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3</a:t>
            </a:fld>
            <a:endParaRPr lang="zh-CN" altLang="en-US"/>
          </a:p>
        </p:txBody>
      </p:sp>
    </p:spTree>
    <p:extLst>
      <p:ext uri="{BB962C8B-B14F-4D97-AF65-F5344CB8AC3E}">
        <p14:creationId xmlns:p14="http://schemas.microsoft.com/office/powerpoint/2010/main" val="851574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这个集合是𝑛</a:t>
            </a:r>
            <a:r>
              <a:rPr lang="en-US" altLang="zh-CN" dirty="0"/>
              <a:t>×</a:t>
            </a:r>
            <a:r>
              <a:rPr lang="zh-CN" altLang="en-US" dirty="0"/>
              <a:t>𝑛的所有对称正定矩阵的集合</a:t>
            </a:r>
            <a:br>
              <a:rPr lang="en-US" altLang="zh-CN" dirty="0"/>
            </a:br>
            <a:r>
              <a:rPr lang="zh-CN" altLang="en-US" dirty="0"/>
              <a:t>这组矩阵具有以下特性：</a:t>
            </a:r>
            <a:endParaRPr lang="en-US" altLang="zh-CN" dirty="0"/>
          </a:p>
          <a:p>
            <a:r>
              <a:rPr lang="zh-CN" altLang="en-US" dirty="0"/>
              <a:t>它是一个开放序列。</a:t>
            </a:r>
            <a:endParaRPr lang="en-US" altLang="zh-CN" dirty="0"/>
          </a:p>
          <a:p>
            <a:r>
              <a:rPr lang="zh-CN" altLang="en-US" dirty="0"/>
              <a:t>它是一个光滑的流形（可以微分）可</a:t>
            </a:r>
            <a:endParaRPr lang="en-US" altLang="zh-CN" dirty="0"/>
          </a:p>
          <a:p>
            <a:r>
              <a:rPr lang="zh-CN" altLang="en-US" dirty="0"/>
              <a:t>定义黎曼度量，如 </a:t>
            </a:r>
            <a:r>
              <a:rPr lang="en-US" altLang="zh-CN" dirty="0"/>
              <a:t>Affine-Invariant Metric【</a:t>
            </a:r>
            <a:r>
              <a:rPr lang="zh-CN" altLang="en-US" dirty="0"/>
              <a:t>在 </a:t>
            </a:r>
            <a:r>
              <a:rPr lang="en-US" altLang="zh-CN" dirty="0"/>
              <a:t>SPD </a:t>
            </a:r>
            <a:r>
              <a:rPr lang="zh-CN" altLang="en-US" dirty="0"/>
              <a:t>流形上定义的一种度量距离的方法，保证了无论你对输入矩阵做什么仿射变换，</a:t>
            </a:r>
            <a:r>
              <a:rPr lang="zh-CN" altLang="en-US" b="0" dirty="0"/>
              <a:t>它们之间的距离不会改变</a:t>
            </a:r>
            <a:r>
              <a:rPr lang="en-US" altLang="zh-CN" dirty="0"/>
              <a:t>】</a:t>
            </a:r>
            <a:r>
              <a:rPr lang="zh-CN" altLang="en-US" dirty="0"/>
              <a:t>。</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4</a:t>
            </a:fld>
            <a:endParaRPr lang="zh-CN" altLang="en-US"/>
          </a:p>
        </p:txBody>
      </p:sp>
    </p:spTree>
    <p:extLst>
      <p:ext uri="{BB962C8B-B14F-4D97-AF65-F5344CB8AC3E}">
        <p14:creationId xmlns:p14="http://schemas.microsoft.com/office/powerpoint/2010/main" val="3296057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捕捉了全局结构关系</a:t>
            </a:r>
            <a:r>
              <a:rPr lang="zh-CN" altLang="en-US" dirty="0"/>
              <a:t>（所有残基之间的协同变化）</a:t>
            </a:r>
            <a:br>
              <a:rPr lang="en-US" altLang="zh-CN" dirty="0"/>
            </a:br>
            <a:r>
              <a:rPr lang="zh-CN" altLang="en-US" dirty="0"/>
              <a:t>将蛋白质序列表示为一个在黎曼流形上的点，此外，表示了蛋白质序列的整体结构特征（协方差形式）</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5</a:t>
            </a:fld>
            <a:endParaRPr lang="zh-CN" altLang="en-US"/>
          </a:p>
        </p:txBody>
      </p:sp>
    </p:spTree>
    <p:extLst>
      <p:ext uri="{BB962C8B-B14F-4D97-AF65-F5344CB8AC3E}">
        <p14:creationId xmlns:p14="http://schemas.microsoft.com/office/powerpoint/2010/main" val="134869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en-US" dirty="0"/>
                  <a:t>保证输出仍是 </a:t>
                </a:r>
                <a:r>
                  <a:rPr lang="en-US" altLang="zh-CN" dirty="0"/>
                  <a:t>SPD </a:t>
                </a:r>
                <a:r>
                  <a:rPr lang="zh-CN" altLang="en-US" dirty="0"/>
                  <a:t>矩阵（因为变换保持对称性和正定性）</a:t>
                </a:r>
                <a:br>
                  <a:rPr lang="en-US" altLang="zh-CN" dirty="0"/>
                </a:br>
                <a:r>
                  <a:rPr lang="zh-CN" altLang="en-US" dirty="0"/>
                  <a:t>特征变换：在欧几里得空间中 </a:t>
                </a:r>
                <a:r>
                  <a:rPr lang="en-US" altLang="zh-CN" dirty="0"/>
                  <a:t>MLP </a:t>
                </a:r>
                <a:r>
                  <a:rPr lang="zh-CN" altLang="en-US" dirty="0"/>
                  <a:t>是线性层 </a:t>
                </a:r>
                <a:r>
                  <a:rPr lang="en-US" altLang="zh-CN" dirty="0"/>
                  <a:t>+ </a:t>
                </a:r>
                <a:r>
                  <a:rPr lang="zh-CN" altLang="en-US" dirty="0"/>
                  <a:t>激活；</a:t>
                </a:r>
                <a:br>
                  <a:rPr lang="zh-CN" altLang="en-US" dirty="0"/>
                </a:br>
                <a:r>
                  <a:rPr lang="zh-CN" altLang="en-US" dirty="0"/>
                  <a:t>在 </a:t>
                </a:r>
                <a:r>
                  <a:rPr lang="en-US" altLang="zh-CN" dirty="0"/>
                  <a:t>SPD </a:t>
                </a:r>
                <a:r>
                  <a:rPr lang="zh-CN" altLang="en-US" dirty="0"/>
                  <a:t>流形中，</a:t>
                </a:r>
                <a:r>
                  <a:rPr lang="en-US" altLang="zh-CN" dirty="0"/>
                  <a:t>(SPD Transform)*n</a:t>
                </a:r>
                <a:r>
                  <a:rPr lang="zh-CN" altLang="en-US" dirty="0"/>
                  <a:t> </a:t>
                </a:r>
                <a:r>
                  <a:rPr lang="en-US" altLang="zh-CN" dirty="0"/>
                  <a:t> </a:t>
                </a:r>
                <a:r>
                  <a:rPr lang="zh-CN" altLang="en-US" dirty="0"/>
                  <a:t>是连续的黎曼变换。</a:t>
                </a:r>
                <a:endParaRPr lang="en-US" altLang="zh-CN" dirty="0"/>
              </a:p>
              <a:p>
                <a:r>
                  <a:rPr lang="zh-CN" altLang="en-US" dirty="0"/>
                  <a:t>氨基酸</a:t>
                </a:r>
                <a:r>
                  <a:rPr lang="en-US" altLang="zh-CN" dirty="0"/>
                  <a:t>(</a:t>
                </a:r>
                <a:r>
                  <a:rPr lang="zh-CN" altLang="en-US" dirty="0"/>
                  <a:t>节点</a:t>
                </a:r>
                <a:r>
                  <a:rPr lang="en-US" altLang="zh-CN" dirty="0"/>
                  <a:t>)</a:t>
                </a:r>
                <a:r>
                  <a:rPr lang="zh-CN" altLang="en-US" dirty="0"/>
                  <a:t>特征在每一层的更新方式如下</a:t>
                </a:r>
                <a:r>
                  <a:rPr lang="en-US" altLang="zh-CN" dirty="0"/>
                  <a:t>:</a:t>
                </a:r>
              </a:p>
              <a:p>
                <a:r>
                  <a:rPr lang="zh-CN" altLang="en-US" dirty="0"/>
                  <a:t>获取第</a:t>
                </a:r>
                <a:r>
                  <a:rPr lang="en-US" altLang="zh-CN" dirty="0"/>
                  <a:t>l</a:t>
                </a:r>
                <a:r>
                  <a:rPr lang="zh-CN" altLang="en-US" dirty="0"/>
                  <a:t>层，氨基酸</a:t>
                </a:r>
                <a:r>
                  <a:rPr lang="en-US" altLang="zh-CN" dirty="0"/>
                  <a:t>j</a:t>
                </a:r>
                <a:r>
                  <a:rPr lang="zh-CN" altLang="en-US" dirty="0"/>
                  <a:t>到氨基酸</a:t>
                </a:r>
                <a:r>
                  <a:rPr lang="en-US" altLang="zh-CN" dirty="0" err="1"/>
                  <a:t>i</a:t>
                </a:r>
                <a:r>
                  <a:rPr lang="zh-CN" altLang="en-US" dirty="0"/>
                  <a:t>的边</a:t>
                </a:r>
                <a:r>
                  <a:rPr lang="en-US" altLang="zh-CN" dirty="0" err="1"/>
                  <a:t>mij</a:t>
                </a:r>
                <a:r>
                  <a:rPr lang="zh-CN" altLang="en-US" dirty="0"/>
                  <a:t>上的信息</a:t>
                </a:r>
                <a:br>
                  <a:rPr lang="en-US" altLang="zh-CN" dirty="0"/>
                </a:br>
                <a:r>
                  <a:rPr lang="zh-CN" altLang="en-US" dirty="0"/>
                  <a:t>聚合以氨基酸</a:t>
                </a:r>
                <a:r>
                  <a:rPr lang="en-US" altLang="zh-CN" dirty="0" err="1"/>
                  <a:t>i</a:t>
                </a:r>
                <a:r>
                  <a:rPr lang="zh-CN" altLang="en-US" dirty="0"/>
                  <a:t>为目标节点的边的所有信息，以获得氨基酸</a:t>
                </a:r>
                <a:r>
                  <a:rPr lang="en-US" altLang="zh-CN" dirty="0" err="1"/>
                  <a:t>i</a:t>
                </a:r>
                <a:r>
                  <a:rPr lang="zh-CN" altLang="en-US" dirty="0"/>
                  <a:t>的邻居汇总表示</a:t>
                </a:r>
                <a:endParaRPr lang="en-US" altLang="zh-CN" dirty="0"/>
              </a:p>
              <a:p>
                <a:r>
                  <a:rPr lang="zh-CN" altLang="en-US" dirty="0"/>
                  <a:t>获取第</a:t>
                </a:r>
                <a:r>
                  <a:rPr lang="en-US" altLang="zh-CN" dirty="0"/>
                  <a:t>L+1</a:t>
                </a:r>
                <a:r>
                  <a:rPr lang="zh-CN" altLang="en-US" dirty="0"/>
                  <a:t>层，氨基酸</a:t>
                </a:r>
                <a:r>
                  <a:rPr lang="en-US" altLang="zh-CN" dirty="0" err="1"/>
                  <a:t>i</a:t>
                </a:r>
                <a:r>
                  <a:rPr lang="zh-CN" altLang="en-US" dirty="0"/>
                  <a:t>的特征，</a:t>
                </a:r>
                <a:br>
                  <a:rPr lang="en-US" altLang="zh-CN" dirty="0"/>
                </a:br>
                <a:r>
                  <a:rPr lang="zh-CN" altLang="en-US" dirty="0"/>
                  <a:t>协方差矩阵中的某些特征值可能非常小，接近 </a:t>
                </a:r>
                <a:r>
                  <a:rPr lang="en-US" altLang="zh-CN" dirty="0"/>
                  <a:t>0</a:t>
                </a:r>
                <a:r>
                  <a:rPr lang="zh-CN" altLang="en-US" dirty="0"/>
                  <a:t>，会导致数值不稳定或不可逆。因此，</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oMath>
                </a14:m>
                <a:r>
                  <a:rPr lang="en-US" altLang="zh-CN" dirty="0"/>
                  <a:t> </a:t>
                </a:r>
                <a:r>
                  <a:rPr lang="zh-CN" altLang="en-US" dirty="0"/>
                  <a:t>层用于保证所有特征值大于某个正数 </a:t>
                </a:r>
                <a:r>
                  <a:rPr lang="en-US" altLang="zh-CN" dirty="0"/>
                  <a:t>ε</a:t>
                </a:r>
                <a:r>
                  <a:rPr lang="zh-CN" altLang="en-US" dirty="0"/>
                  <a:t>，</a:t>
                </a:r>
                <a:endParaRPr lang="en-US" altLang="zh-CN" dirty="0"/>
              </a:p>
              <a:p>
                <a:r>
                  <a:rPr lang="zh-CN" altLang="en-US" dirty="0"/>
                  <a:t>使得矩阵严格正定，保持在 </a:t>
                </a:r>
                <a:r>
                  <a:rPr lang="en-US" altLang="zh-CN" dirty="0"/>
                  <a:t>SPD </a:t>
                </a:r>
                <a:r>
                  <a:rPr lang="zh-CN" altLang="en-US" dirty="0"/>
                  <a:t>流形内。</a:t>
                </a:r>
              </a:p>
            </p:txBody>
          </p:sp>
        </mc:Choice>
        <mc:Fallback>
          <p:sp>
            <p:nvSpPr>
              <p:cNvPr id="3" name="备注占位符 2"/>
              <p:cNvSpPr>
                <a:spLocks noGrp="1"/>
              </p:cNvSpPr>
              <p:nvPr>
                <p:ph type="body" idx="1"/>
              </p:nvPr>
            </p:nvSpPr>
            <p:spPr/>
            <p:txBody>
              <a:bodyPr/>
              <a:lstStyle/>
              <a:p>
                <a:r>
                  <a:rPr lang="zh-CN" altLang="en-US" dirty="0"/>
                  <a:t>保证输出仍是 </a:t>
                </a:r>
                <a:r>
                  <a:rPr lang="en-US" altLang="zh-CN" dirty="0"/>
                  <a:t>SPD </a:t>
                </a:r>
                <a:r>
                  <a:rPr lang="zh-CN" altLang="en-US" dirty="0"/>
                  <a:t>矩阵（因为变换保持对称性和正定性）</a:t>
                </a:r>
                <a:br>
                  <a:rPr lang="en-US" altLang="zh-CN" dirty="0"/>
                </a:br>
                <a:r>
                  <a:rPr lang="zh-CN" altLang="en-US" dirty="0"/>
                  <a:t>特征变换：在欧几里得空间中 </a:t>
                </a:r>
                <a:r>
                  <a:rPr lang="en-US" altLang="zh-CN" dirty="0"/>
                  <a:t>MLP </a:t>
                </a:r>
                <a:r>
                  <a:rPr lang="zh-CN" altLang="en-US" dirty="0"/>
                  <a:t>是线性层 </a:t>
                </a:r>
                <a:r>
                  <a:rPr lang="en-US" altLang="zh-CN" dirty="0"/>
                  <a:t>+ </a:t>
                </a:r>
                <a:r>
                  <a:rPr lang="zh-CN" altLang="en-US" dirty="0"/>
                  <a:t>激活；</a:t>
                </a:r>
                <a:br>
                  <a:rPr lang="zh-CN" altLang="en-US" dirty="0"/>
                </a:br>
                <a:r>
                  <a:rPr lang="zh-CN" altLang="en-US" dirty="0"/>
                  <a:t>在 </a:t>
                </a:r>
                <a:r>
                  <a:rPr lang="en-US" altLang="zh-CN" dirty="0"/>
                  <a:t>SPD </a:t>
                </a:r>
                <a:r>
                  <a:rPr lang="zh-CN" altLang="en-US" dirty="0"/>
                  <a:t>流形中，</a:t>
                </a:r>
                <a:r>
                  <a:rPr lang="en-US" altLang="zh-CN" dirty="0"/>
                  <a:t>(SPD Transform)*n</a:t>
                </a:r>
                <a:r>
                  <a:rPr lang="zh-CN" altLang="en-US" dirty="0"/>
                  <a:t> </a:t>
                </a:r>
                <a:r>
                  <a:rPr lang="en-US" altLang="zh-CN" dirty="0"/>
                  <a:t> </a:t>
                </a:r>
                <a:r>
                  <a:rPr lang="zh-CN" altLang="en-US" dirty="0"/>
                  <a:t>是连续的黎曼变换。</a:t>
                </a:r>
                <a:endParaRPr lang="en-US" altLang="zh-CN" dirty="0"/>
              </a:p>
              <a:p>
                <a:r>
                  <a:rPr lang="zh-CN" altLang="en-US" dirty="0"/>
                  <a:t>氨基酸</a:t>
                </a:r>
                <a:r>
                  <a:rPr lang="en-US" altLang="zh-CN" dirty="0"/>
                  <a:t>(</a:t>
                </a:r>
                <a:r>
                  <a:rPr lang="zh-CN" altLang="en-US" dirty="0"/>
                  <a:t>节点</a:t>
                </a:r>
                <a:r>
                  <a:rPr lang="en-US" altLang="zh-CN" dirty="0"/>
                  <a:t>)</a:t>
                </a:r>
                <a:r>
                  <a:rPr lang="zh-CN" altLang="en-US" dirty="0"/>
                  <a:t>特征在每一层的更新方式如下</a:t>
                </a:r>
                <a:r>
                  <a:rPr lang="en-US" altLang="zh-CN" dirty="0"/>
                  <a:t>:</a:t>
                </a:r>
              </a:p>
              <a:p>
                <a:r>
                  <a:rPr lang="zh-CN" altLang="en-US" dirty="0"/>
                  <a:t>获取第</a:t>
                </a:r>
                <a:r>
                  <a:rPr lang="en-US" altLang="zh-CN" dirty="0"/>
                  <a:t>l</a:t>
                </a:r>
                <a:r>
                  <a:rPr lang="zh-CN" altLang="en-US" dirty="0"/>
                  <a:t>层，氨基酸</a:t>
                </a:r>
                <a:r>
                  <a:rPr lang="en-US" altLang="zh-CN" dirty="0"/>
                  <a:t>j</a:t>
                </a:r>
                <a:r>
                  <a:rPr lang="zh-CN" altLang="en-US" dirty="0"/>
                  <a:t>到氨基酸</a:t>
                </a:r>
                <a:r>
                  <a:rPr lang="en-US" altLang="zh-CN" dirty="0" err="1"/>
                  <a:t>i</a:t>
                </a:r>
                <a:r>
                  <a:rPr lang="zh-CN" altLang="en-US" dirty="0"/>
                  <a:t>的边</a:t>
                </a:r>
                <a:r>
                  <a:rPr lang="en-US" altLang="zh-CN" dirty="0" err="1"/>
                  <a:t>mij</a:t>
                </a:r>
                <a:r>
                  <a:rPr lang="zh-CN" altLang="en-US" dirty="0"/>
                  <a:t>上的信息</a:t>
                </a:r>
                <a:br>
                  <a:rPr lang="en-US" altLang="zh-CN" dirty="0"/>
                </a:br>
                <a:r>
                  <a:rPr lang="zh-CN" altLang="en-US" dirty="0"/>
                  <a:t>聚合以氨基酸</a:t>
                </a:r>
                <a:r>
                  <a:rPr lang="en-US" altLang="zh-CN" dirty="0" err="1"/>
                  <a:t>i</a:t>
                </a:r>
                <a:r>
                  <a:rPr lang="zh-CN" altLang="en-US" dirty="0"/>
                  <a:t>为目标节点的边的所有信息，以获得氨基酸</a:t>
                </a:r>
                <a:r>
                  <a:rPr lang="en-US" altLang="zh-CN" dirty="0" err="1"/>
                  <a:t>i</a:t>
                </a:r>
                <a:r>
                  <a:rPr lang="zh-CN" altLang="en-US" dirty="0"/>
                  <a:t>的邻居汇总表示</a:t>
                </a:r>
                <a:endParaRPr lang="en-US" altLang="zh-CN" dirty="0"/>
              </a:p>
              <a:p>
                <a:r>
                  <a:rPr lang="zh-CN" altLang="en-US" dirty="0"/>
                  <a:t>获取第</a:t>
                </a:r>
                <a:r>
                  <a:rPr lang="en-US" altLang="zh-CN" dirty="0"/>
                  <a:t>L+1</a:t>
                </a:r>
                <a:r>
                  <a:rPr lang="zh-CN" altLang="en-US" dirty="0"/>
                  <a:t>层，氨基酸</a:t>
                </a:r>
                <a:r>
                  <a:rPr lang="en-US" altLang="zh-CN" dirty="0" err="1"/>
                  <a:t>i</a:t>
                </a:r>
                <a:r>
                  <a:rPr lang="zh-CN" altLang="en-US" dirty="0"/>
                  <a:t>的特征，</a:t>
                </a:r>
                <a:br>
                  <a:rPr lang="en-US" altLang="zh-CN" dirty="0"/>
                </a:br>
                <a:r>
                  <a:rPr lang="zh-CN" altLang="en-US" dirty="0"/>
                  <a:t>协方差矩阵中的某些特征值可能非常小，接近 </a:t>
                </a:r>
                <a:r>
                  <a:rPr lang="en-US" altLang="zh-CN" dirty="0"/>
                  <a:t>0</a:t>
                </a:r>
                <a:r>
                  <a:rPr lang="zh-CN" altLang="en-US" dirty="0"/>
                  <a:t>，会导致数值不稳定或不可逆。因此，</a:t>
                </a:r>
                <a:r>
                  <a:rPr lang="en-US" altLang="zh-CN" b="0" i="0">
                    <a:latin typeface="Cambria Math" panose="02040503050406030204" pitchFamily="18" charset="0"/>
                  </a:rPr>
                  <a:t>𝑓_𝑟^𝑙</a:t>
                </a:r>
                <a:r>
                  <a:rPr lang="en-US" altLang="zh-CN" dirty="0"/>
                  <a:t> </a:t>
                </a:r>
                <a:r>
                  <a:rPr lang="zh-CN" altLang="en-US" dirty="0"/>
                  <a:t>层用于保证所有特征值大于某个正数 </a:t>
                </a:r>
                <a:r>
                  <a:rPr lang="en-US" altLang="zh-CN" dirty="0"/>
                  <a:t>ε</a:t>
                </a:r>
                <a:r>
                  <a:rPr lang="zh-CN" altLang="en-US" dirty="0"/>
                  <a:t>，</a:t>
                </a:r>
                <a:endParaRPr lang="en-US" altLang="zh-CN" dirty="0"/>
              </a:p>
              <a:p>
                <a:r>
                  <a:rPr lang="zh-CN" altLang="en-US" dirty="0"/>
                  <a:t>使得矩阵严格正定，保持在 </a:t>
                </a:r>
                <a:r>
                  <a:rPr lang="en-US" altLang="zh-CN" dirty="0"/>
                  <a:t>SPD </a:t>
                </a:r>
                <a:r>
                  <a:rPr lang="zh-CN" altLang="en-US" dirty="0"/>
                  <a:t>流形内。</a:t>
                </a:r>
              </a:p>
            </p:txBody>
          </p:sp>
        </mc:Fallback>
      </mc:AlternateContent>
      <p:sp>
        <p:nvSpPr>
          <p:cNvPr id="4" name="灯片编号占位符 3"/>
          <p:cNvSpPr>
            <a:spLocks noGrp="1"/>
          </p:cNvSpPr>
          <p:nvPr>
            <p:ph type="sldNum" sz="quarter" idx="5"/>
          </p:nvPr>
        </p:nvSpPr>
        <p:spPr/>
        <p:txBody>
          <a:bodyPr/>
          <a:lstStyle/>
          <a:p>
            <a:fld id="{F9600E1B-4003-47CD-92FB-2D59D38F5D9B}" type="slidenum">
              <a:rPr lang="zh-CN" altLang="en-US" smtClean="0"/>
              <a:t>7</a:t>
            </a:fld>
            <a:endParaRPr lang="zh-CN" altLang="en-US"/>
          </a:p>
        </p:txBody>
      </p:sp>
    </p:spTree>
    <p:extLst>
      <p:ext uri="{BB962C8B-B14F-4D97-AF65-F5344CB8AC3E}">
        <p14:creationId xmlns:p14="http://schemas.microsoft.com/office/powerpoint/2010/main" val="2909738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另一方面，蛋白质序列的编码嵌入（源自</a:t>
            </a:r>
            <a:r>
              <a:rPr lang="en-US" altLang="zh-CN" dirty="0"/>
              <a:t>Prot-</a:t>
            </a:r>
            <a:r>
              <a:rPr lang="en-US" altLang="zh-CN" dirty="0" err="1"/>
              <a:t>Bert蛋白质语言模型</a:t>
            </a:r>
            <a:r>
              <a:rPr lang="zh-CN" altLang="en-US" dirty="0"/>
              <a:t>）</a:t>
            </a:r>
            <a:br>
              <a:rPr lang="en-US" altLang="zh-CN" dirty="0"/>
            </a:br>
            <a:r>
              <a:rPr lang="en-US" altLang="zh-CN" dirty="0" err="1"/>
              <a:t>使用DenseNet提取文本特征</a:t>
            </a:r>
            <a:br>
              <a:rPr lang="en-US" altLang="zh-CN" dirty="0"/>
            </a:br>
            <a:r>
              <a:rPr lang="zh-CN" altLang="en-US" dirty="0"/>
              <a:t>所有对应向量都是完全一致（内积 </a:t>
            </a:r>
            <a:r>
              <a:rPr lang="en-US" altLang="zh-CN" dirty="0"/>
              <a:t>= 1</a:t>
            </a:r>
            <a:r>
              <a:rPr lang="zh-CN" altLang="en-US" dirty="0"/>
              <a:t>），非对应为 </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8</a:t>
            </a:fld>
            <a:endParaRPr lang="zh-CN" altLang="en-US"/>
          </a:p>
        </p:txBody>
      </p:sp>
    </p:spTree>
    <p:extLst>
      <p:ext uri="{BB962C8B-B14F-4D97-AF65-F5344CB8AC3E}">
        <p14:creationId xmlns:p14="http://schemas.microsoft.com/office/powerpoint/2010/main" val="2611773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NotoSansCJKsc-Regular"/>
              </a:rPr>
              <a:t>我们发现，大多数方法在 </a:t>
            </a:r>
            <a:r>
              <a:rPr lang="en-US" altLang="zh-CN" sz="1800" b="0" i="0" u="none" strike="noStrike" baseline="0" dirty="0">
                <a:latin typeface="TimesNewRomanPS-ItalicMT"/>
              </a:rPr>
              <a:t>"</a:t>
            </a:r>
            <a:r>
              <a:rPr lang="zh-CN" altLang="en-US" sz="1800" b="0" i="0" u="none" strike="noStrike" baseline="0" dirty="0">
                <a:latin typeface="NotoSansCJKsc-Regular,Italic"/>
              </a:rPr>
              <a:t>未见目标 </a:t>
            </a:r>
            <a:r>
              <a:rPr lang="en-US" altLang="zh-CN" sz="1800" b="0" i="0" u="none" strike="noStrike" baseline="0" dirty="0">
                <a:latin typeface="TimesNewRomanPSMT"/>
              </a:rPr>
              <a:t>"</a:t>
            </a:r>
            <a:r>
              <a:rPr lang="zh-CN" altLang="en-US" sz="1800" b="0" i="0" u="none" strike="noStrike" baseline="0" dirty="0">
                <a:latin typeface="NotoSansCJKsc-Regular"/>
              </a:rPr>
              <a:t>子集中的表现都比在</a:t>
            </a:r>
          </a:p>
          <a:p>
            <a:pPr algn="l"/>
            <a:r>
              <a:rPr lang="en-US" altLang="zh-CN" sz="1800" b="0" i="0" u="none" strike="noStrike" baseline="0" dirty="0">
                <a:latin typeface="TimesNewRomanPS-ItalicMT"/>
              </a:rPr>
              <a:t>"</a:t>
            </a:r>
            <a:r>
              <a:rPr lang="zh-CN" altLang="en-US" sz="1800" b="0" i="0" u="none" strike="noStrike" baseline="0" dirty="0">
                <a:latin typeface="NotoSansCJKsc-Regular,Italic"/>
              </a:rPr>
              <a:t>未见药</a:t>
            </a:r>
            <a:r>
              <a:rPr lang="zh-CN" altLang="en-US" sz="1800" b="0" i="0" u="none" strike="noStrike" baseline="0" dirty="0">
                <a:latin typeface="NotoSansCJKsc-Regular"/>
              </a:rPr>
              <a:t>物 </a:t>
            </a:r>
            <a:r>
              <a:rPr lang="en-US" altLang="zh-CN" sz="1800" b="0" i="0" u="none" strike="noStrike" baseline="0" dirty="0">
                <a:latin typeface="TimesNewRomanPSMT"/>
              </a:rPr>
              <a:t>"</a:t>
            </a:r>
            <a:r>
              <a:rPr lang="zh-CN" altLang="en-US" sz="1800" b="0" i="0" u="none" strike="noStrike" baseline="0" dirty="0">
                <a:latin typeface="NotoSansCJKsc-Regular"/>
              </a:rPr>
              <a:t>子集中的表现差，这表明它们学习到的参数在一定程度</a:t>
            </a:r>
          </a:p>
          <a:p>
            <a:pPr algn="l"/>
            <a:r>
              <a:rPr lang="zh-CN" altLang="en-US" sz="1800" b="0" i="0" u="none" strike="noStrike" baseline="0" dirty="0">
                <a:latin typeface="NotoSansCJKsc-Regular"/>
              </a:rPr>
              <a:t>上偏向于蛋白质。然而，使用黎曼 </a:t>
            </a:r>
            <a:r>
              <a:rPr lang="en-US" altLang="zh-CN" sz="1800" b="0" i="0" u="none" strike="noStrike" baseline="0" dirty="0">
                <a:latin typeface="TimesNewRomanPSMT"/>
              </a:rPr>
              <a:t>SPD </a:t>
            </a:r>
            <a:r>
              <a:rPr lang="zh-CN" altLang="en-US" sz="1800" b="0" i="0" u="none" strike="noStrike" baseline="0" dirty="0">
                <a:latin typeface="NotoSansCJKsc-Regular"/>
              </a:rPr>
              <a:t>特征（即蛋白质和药物联合</a:t>
            </a:r>
          </a:p>
          <a:p>
            <a:pPr algn="l"/>
            <a:r>
              <a:rPr lang="zh-CN" altLang="en-US" sz="1800" b="0" i="0" u="none" strike="noStrike" baseline="0" dirty="0">
                <a:latin typeface="NotoSansCJKsc-Regular"/>
              </a:rPr>
              <a:t>特征的协方差矩阵）的 </a:t>
            </a:r>
            <a:r>
              <a:rPr lang="en-US" altLang="zh-CN" sz="1800" b="0" i="0" u="none" strike="noStrike" baseline="0" dirty="0">
                <a:latin typeface="TimesNewRomanPSMT"/>
              </a:rPr>
              <a:t>R-DTI </a:t>
            </a:r>
            <a:r>
              <a:rPr lang="zh-CN" altLang="en-US" sz="1800" b="0" i="0" u="none" strike="noStrike" baseline="0" dirty="0">
                <a:latin typeface="NotoSansCJKsc-Regular"/>
              </a:rPr>
              <a:t>可以有效提高其在</a:t>
            </a:r>
            <a:r>
              <a:rPr lang="zh-CN" altLang="en-US" sz="1800" b="0" i="0" u="none" strike="noStrike" baseline="0" dirty="0">
                <a:latin typeface="NotoSansCJKsc-Regular,Italic"/>
              </a:rPr>
              <a:t>未见目标</a:t>
            </a:r>
            <a:r>
              <a:rPr lang="zh-CN" altLang="en-US" sz="1800" b="0" i="0" u="none" strike="noStrike" baseline="0" dirty="0">
                <a:latin typeface="NotoSansCJKsc-Regular"/>
              </a:rPr>
              <a:t>子集中的</a:t>
            </a:r>
          </a:p>
          <a:p>
            <a:pPr algn="l"/>
            <a:r>
              <a:rPr lang="zh-CN" altLang="en-US" sz="1800" b="0" i="0" u="none" strike="noStrike" baseline="0" dirty="0">
                <a:latin typeface="NotoSansCJKsc-Regular"/>
              </a:rPr>
              <a:t>泛化能力。</a:t>
            </a:r>
            <a:endParaRPr lang="zh-CN" altLang="en-US" i="0" dirty="0"/>
          </a:p>
        </p:txBody>
      </p:sp>
      <p:sp>
        <p:nvSpPr>
          <p:cNvPr id="4" name="灯片编号占位符 3"/>
          <p:cNvSpPr>
            <a:spLocks noGrp="1"/>
          </p:cNvSpPr>
          <p:nvPr>
            <p:ph type="sldNum" sz="quarter" idx="5"/>
          </p:nvPr>
        </p:nvSpPr>
        <p:spPr/>
        <p:txBody>
          <a:bodyPr/>
          <a:lstStyle/>
          <a:p>
            <a:fld id="{F9600E1B-4003-47CD-92FB-2D59D38F5D9B}" type="slidenum">
              <a:rPr lang="zh-CN" altLang="en-US" smtClean="0"/>
              <a:t>12</a:t>
            </a:fld>
            <a:endParaRPr lang="zh-CN" altLang="en-US"/>
          </a:p>
        </p:txBody>
      </p:sp>
    </p:spTree>
    <p:extLst>
      <p:ext uri="{BB962C8B-B14F-4D97-AF65-F5344CB8AC3E}">
        <p14:creationId xmlns:p14="http://schemas.microsoft.com/office/powerpoint/2010/main" val="119451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尽管黎曼分类器具有较好的预测性能，但二阶相关计算产生的复杂梯度计算影响了其上游特征提取器的参数优化。</a:t>
            </a:r>
            <a:endParaRPr lang="en-US" altLang="zh-CN" dirty="0"/>
          </a:p>
          <a:p>
            <a:r>
              <a:rPr lang="zh-CN" altLang="en-US" dirty="0"/>
              <a:t>因此，我们引入了一个辅助分类器来帮助训练特征提取器，最终得到的模型</a:t>
            </a:r>
            <a:r>
              <a:rPr lang="en-US" altLang="zh-CN" dirty="0"/>
              <a:t>R-DTI</a:t>
            </a:r>
            <a:r>
              <a:rPr lang="zh-CN" altLang="en-US" dirty="0"/>
              <a:t>达到了最好的性能。</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14</a:t>
            </a:fld>
            <a:endParaRPr lang="zh-CN" altLang="en-US"/>
          </a:p>
        </p:txBody>
      </p:sp>
    </p:spTree>
    <p:extLst>
      <p:ext uri="{BB962C8B-B14F-4D97-AF65-F5344CB8AC3E}">
        <p14:creationId xmlns:p14="http://schemas.microsoft.com/office/powerpoint/2010/main" val="1806545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NotoSansCJKsc-Regular"/>
              </a:rPr>
              <a:t>为了证明黎曼网络提取蛋白质隐藏结构特征的有效性</a:t>
            </a:r>
            <a:endParaRPr lang="en-US" altLang="zh-CN" sz="1800" b="0" i="0" u="none" strike="noStrike" baseline="0" dirty="0">
              <a:latin typeface="NotoSansCJKsc-Regular"/>
            </a:endParaRPr>
          </a:p>
          <a:p>
            <a:pPr algn="l"/>
            <a:r>
              <a:rPr lang="zh-CN" altLang="en-US" dirty="0"/>
              <a:t>欧氏隐性特征散度会被原始结构特征轻微扭曲，即当蛋白质特征被欧氏提取器转换后，结构信息会出现偏差</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15</a:t>
            </a:fld>
            <a:endParaRPr lang="zh-CN" altLang="en-US"/>
          </a:p>
        </p:txBody>
      </p:sp>
    </p:spTree>
    <p:extLst>
      <p:ext uri="{BB962C8B-B14F-4D97-AF65-F5344CB8AC3E}">
        <p14:creationId xmlns:p14="http://schemas.microsoft.com/office/powerpoint/2010/main" val="2183374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根据基于长度的黎曼特征，我们对来自 </a:t>
            </a:r>
            <a:r>
              <a:rPr lang="en-US" altLang="zh-CN" dirty="0" err="1"/>
              <a:t>BindingDB</a:t>
            </a:r>
            <a:r>
              <a:rPr lang="en-US" altLang="zh-CN" dirty="0"/>
              <a:t> </a:t>
            </a:r>
            <a:r>
              <a:rPr lang="zh-CN" altLang="en-US" dirty="0"/>
              <a:t>和 </a:t>
            </a:r>
            <a:r>
              <a:rPr lang="en-US" altLang="zh-CN" dirty="0"/>
              <a:t>Drug-Bank </a:t>
            </a:r>
            <a:r>
              <a:rPr lang="zh-CN" altLang="en-US" dirty="0"/>
              <a:t>的两对样本进行了可视化处理</a:t>
            </a:r>
          </a:p>
        </p:txBody>
      </p:sp>
      <p:sp>
        <p:nvSpPr>
          <p:cNvPr id="4" name="灯片编号占位符 3"/>
          <p:cNvSpPr>
            <a:spLocks noGrp="1"/>
          </p:cNvSpPr>
          <p:nvPr>
            <p:ph type="sldNum" sz="quarter" idx="5"/>
          </p:nvPr>
        </p:nvSpPr>
        <p:spPr/>
        <p:txBody>
          <a:bodyPr/>
          <a:lstStyle/>
          <a:p>
            <a:fld id="{F9600E1B-4003-47CD-92FB-2D59D38F5D9B}" type="slidenum">
              <a:rPr lang="zh-CN" altLang="en-US" smtClean="0"/>
              <a:t>16</a:t>
            </a:fld>
            <a:endParaRPr lang="zh-CN" altLang="en-US"/>
          </a:p>
        </p:txBody>
      </p:sp>
    </p:spTree>
    <p:extLst>
      <p:ext uri="{BB962C8B-B14F-4D97-AF65-F5344CB8AC3E}">
        <p14:creationId xmlns:p14="http://schemas.microsoft.com/office/powerpoint/2010/main" val="3381950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539E71-00AA-8600-CE97-BEAEC5E4F94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A1F5959-C953-49BF-DD1E-1E9E6343BC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B9C8D6-498F-F215-2987-29757CB053C3}"/>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486F4D55-D399-C10C-0EE0-54F720595BA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F9D1CF-0B07-C8BE-289E-101DA161CE8B}"/>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5416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95425C-4F15-CD85-574D-A35B4D06C0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29F0591-5C83-4F67-F431-F78BA3AD736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6FE44B2-0B68-4010-F985-2D3132610ABF}"/>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1E84E693-C42F-6FD4-F97D-60AE1BFBAE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682A04-6488-1528-1A83-D9BABB2560AC}"/>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9825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EDFE96-D9EA-31C5-51E0-5BAFD2ACF44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FF8FC1C-8D7D-0924-4CB7-F9088F7B75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1BA1D1A-A344-1ABE-924D-BFA0EFD9F6F8}"/>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4F8872E1-3E52-59C2-D53A-471D160853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E07DB3-F08C-4E4C-7A4B-CBFA75974F3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409677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5F8BA0-2C13-1749-230C-BCC93CD2F7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9CBC1DB-6692-7015-5E18-804F95FDA98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819824-5812-FDD9-78D5-2A9D42116C2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A15B5BD-AA17-C50A-C5BF-E046FA670007}"/>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6" name="页脚占位符 5">
            <a:extLst>
              <a:ext uri="{FF2B5EF4-FFF2-40B4-BE49-F238E27FC236}">
                <a16:creationId xmlns:a16="http://schemas.microsoft.com/office/drawing/2014/main" id="{8E749819-5FC3-59B6-DA1D-472FF60DF72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EE08D7-D70A-387C-78AB-D82CE2F884D9}"/>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823535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C3C02-5642-4B66-0981-8E8CF83C40D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1A8C89-B3BD-8E7D-B51B-E0FE97686B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AE642F5-7BF2-DE47-D6F9-2083F243442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391DA33-AFB4-3355-B749-8F8A6F766D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2ECC200-5704-B88B-7162-DC83E8E09A3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B4979AF-176F-942F-04AA-CA6FFE94636F}"/>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8" name="页脚占位符 7">
            <a:extLst>
              <a:ext uri="{FF2B5EF4-FFF2-40B4-BE49-F238E27FC236}">
                <a16:creationId xmlns:a16="http://schemas.microsoft.com/office/drawing/2014/main" id="{C2B96A4F-E5C0-1A98-1827-D475B7ED9C1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DEA88F1-C82C-8E37-BE25-5990CBF62E5B}"/>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30875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78895-2734-CD72-4AF2-4625748A14D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B1B8E61-DBD1-35BD-0EA1-A04E204BF160}"/>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4" name="页脚占位符 3">
            <a:extLst>
              <a:ext uri="{FF2B5EF4-FFF2-40B4-BE49-F238E27FC236}">
                <a16:creationId xmlns:a16="http://schemas.microsoft.com/office/drawing/2014/main" id="{C2633F45-A6B1-43ED-88AD-B9741686566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5A28EF-B061-D565-E314-E28219DCE346}"/>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15379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1A57054-7BF9-3963-108C-916CB002E9AA}"/>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3" name="页脚占位符 2">
            <a:extLst>
              <a:ext uri="{FF2B5EF4-FFF2-40B4-BE49-F238E27FC236}">
                <a16:creationId xmlns:a16="http://schemas.microsoft.com/office/drawing/2014/main" id="{52148E5B-AFC2-D879-557B-AEA13E57B73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A92A496-7550-EBB7-791E-B8E51F03B8AC}"/>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37387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2F4DE-5A4A-6055-25D3-BF4E7E7F2DB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B9C10A-5764-DE26-3BE6-AECD75BC14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A41830E-5B63-FACE-D52D-1F6437ADE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810224-4685-D094-2F74-B2CD1CC63140}"/>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6" name="页脚占位符 5">
            <a:extLst>
              <a:ext uri="{FF2B5EF4-FFF2-40B4-BE49-F238E27FC236}">
                <a16:creationId xmlns:a16="http://schemas.microsoft.com/office/drawing/2014/main" id="{7FEA2305-F2AF-F49B-30DA-B83EBD4AE7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59C91C-5B74-0B05-EC7A-5F654E5AFC3D}"/>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75960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DAFBA-74F7-07AF-D2DB-B643A42F746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3F6938C-A50C-C51D-A1AA-B2D3AA7AA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9794D6-8183-0B7A-B184-145BA19E5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5359489-063F-1637-7F0F-6D1000C8169C}"/>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6" name="页脚占位符 5">
            <a:extLst>
              <a:ext uri="{FF2B5EF4-FFF2-40B4-BE49-F238E27FC236}">
                <a16:creationId xmlns:a16="http://schemas.microsoft.com/office/drawing/2014/main" id="{9A3BA4C9-A6F3-890C-EA96-D6881404F12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3B7222F-488C-578D-E012-602688DBEA81}"/>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3975350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94066-B866-B5D9-731A-FFB74F94378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3200019-2ED0-E3E5-A24A-C058416358D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935A21-D623-3BA5-6651-552E1D77DC82}"/>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0C4A77CC-A57F-C34A-DB39-4B63184131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0CA71-BB51-5D60-198B-7F7DFB36688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635424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AA27F3C-58EA-65F3-B1CC-185E1BD026A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1CF5C5-6EA8-817D-9E70-6A3F1E337FD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CCCA79-A7D4-A29C-67F3-DF406FEF1F8A}"/>
              </a:ext>
            </a:extLst>
          </p:cNvPr>
          <p:cNvSpPr>
            <a:spLocks noGrp="1"/>
          </p:cNvSpPr>
          <p:nvPr>
            <p:ph type="dt" sz="half" idx="10"/>
          </p:nvPr>
        </p:nvSpPr>
        <p:spPr/>
        <p:txBody>
          <a:bodyPr/>
          <a:lstStyle/>
          <a:p>
            <a:fld id="{DBD0F83E-52B0-4FA7-AE66-001D928785BF}"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E4422BF7-06AC-C1E9-17B3-71D66427D8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7CAACD-0328-A779-99A8-636FF8740D5E}"/>
              </a:ext>
            </a:extLst>
          </p:cNvPr>
          <p:cNvSpPr>
            <a:spLocks noGrp="1"/>
          </p:cNvSpPr>
          <p:nvPr>
            <p:ph type="sldNum" sz="quarter" idx="12"/>
          </p:nvPr>
        </p:nvSpPr>
        <p:spPr/>
        <p:txBody>
          <a:body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631725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BD72F39-E6C4-24D0-D155-1E297BF024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17DAB2C-6D81-281C-6648-DF98AEE74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1A7044-0130-2C49-E385-4D3491B36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D0F83E-52B0-4FA7-AE66-001D928785BF}" type="datetimeFigureOut">
              <a:rPr lang="zh-CN" altLang="en-US" smtClean="0"/>
              <a:t>2025/5/14</a:t>
            </a:fld>
            <a:endParaRPr lang="zh-CN" altLang="en-US"/>
          </a:p>
        </p:txBody>
      </p:sp>
      <p:sp>
        <p:nvSpPr>
          <p:cNvPr id="5" name="页脚占位符 4">
            <a:extLst>
              <a:ext uri="{FF2B5EF4-FFF2-40B4-BE49-F238E27FC236}">
                <a16:creationId xmlns:a16="http://schemas.microsoft.com/office/drawing/2014/main" id="{50197CAC-711E-0BAF-84E4-823B428A6C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B5BD4BE-AFC5-116F-375C-BEB6994641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A42A35-5995-436A-8AF6-95892E4489E5}" type="slidenum">
              <a:rPr lang="zh-CN" altLang="en-US" smtClean="0"/>
              <a:t>‹#›</a:t>
            </a:fld>
            <a:endParaRPr lang="zh-CN" altLang="en-US"/>
          </a:p>
        </p:txBody>
      </p:sp>
    </p:spTree>
    <p:extLst>
      <p:ext uri="{BB962C8B-B14F-4D97-AF65-F5344CB8AC3E}">
        <p14:creationId xmlns:p14="http://schemas.microsoft.com/office/powerpoint/2010/main" val="2018274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image" Target="../media/image59.png"/><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E790B5E-E256-5380-5866-9BB5417AD7B8}"/>
              </a:ext>
            </a:extLst>
          </p:cNvPr>
          <p:cNvSpPr txBox="1"/>
          <p:nvPr/>
        </p:nvSpPr>
        <p:spPr>
          <a:xfrm>
            <a:off x="2245489" y="1261641"/>
            <a:ext cx="8866207" cy="369332"/>
          </a:xfrm>
          <a:prstGeom prst="rect">
            <a:avLst/>
          </a:prstGeom>
          <a:noFill/>
        </p:spPr>
        <p:txBody>
          <a:bodyPr wrap="square" rtlCol="0">
            <a:spAutoFit/>
          </a:bodyPr>
          <a:lstStyle/>
          <a:p>
            <a:pPr algn="l"/>
            <a:r>
              <a:rPr lang="en-US" altLang="zh-CN" dirty="0">
                <a:latin typeface="NimbusRomNo9L-Regu"/>
              </a:rPr>
              <a:t>R-DTI: Drug Target Interaction Prediction Based on Second-Order Relevance Exploration</a:t>
            </a:r>
            <a:endParaRPr lang="zh-CN" altLang="en-US" dirty="0">
              <a:latin typeface="NimbusRomNo9L-Regu"/>
            </a:endParaRPr>
          </a:p>
        </p:txBody>
      </p:sp>
      <p:sp>
        <p:nvSpPr>
          <p:cNvPr id="6" name="文本框 5">
            <a:extLst>
              <a:ext uri="{FF2B5EF4-FFF2-40B4-BE49-F238E27FC236}">
                <a16:creationId xmlns:a16="http://schemas.microsoft.com/office/drawing/2014/main" id="{6C576BBA-EB4C-7882-F216-152CBCB4849B}"/>
              </a:ext>
            </a:extLst>
          </p:cNvPr>
          <p:cNvSpPr txBox="1"/>
          <p:nvPr/>
        </p:nvSpPr>
        <p:spPr>
          <a:xfrm>
            <a:off x="2769244" y="527573"/>
            <a:ext cx="8342452" cy="369332"/>
          </a:xfrm>
          <a:prstGeom prst="rect">
            <a:avLst/>
          </a:prstGeom>
          <a:noFill/>
        </p:spPr>
        <p:txBody>
          <a:bodyPr wrap="square">
            <a:spAutoFit/>
          </a:bodyPr>
          <a:lstStyle/>
          <a:p>
            <a:r>
              <a:rPr lang="en-US" altLang="zh-CN" sz="1800" b="0" i="0" u="none" strike="noStrike" baseline="0" dirty="0">
                <a:latin typeface="CharterBT-Roman"/>
              </a:rPr>
              <a:t>The Thirty-Ninth AAAI Conference on Artificial Intelligence (AAAI-</a:t>
            </a:r>
            <a:r>
              <a:rPr lang="en-US" altLang="zh-CN" sz="1800" b="0" i="0" u="none" strike="noStrike" baseline="0" dirty="0">
                <a:latin typeface="TeXGyreTermes-Regular"/>
              </a:rPr>
              <a:t>25)</a:t>
            </a:r>
            <a:endParaRPr lang="zh-CN" altLang="en-US" dirty="0"/>
          </a:p>
        </p:txBody>
      </p:sp>
      <p:sp>
        <p:nvSpPr>
          <p:cNvPr id="8" name="文本框 7">
            <a:extLst>
              <a:ext uri="{FF2B5EF4-FFF2-40B4-BE49-F238E27FC236}">
                <a16:creationId xmlns:a16="http://schemas.microsoft.com/office/drawing/2014/main" id="{17482884-C6FD-FE70-705B-8402669C78AF}"/>
              </a:ext>
            </a:extLst>
          </p:cNvPr>
          <p:cNvSpPr txBox="1"/>
          <p:nvPr/>
        </p:nvSpPr>
        <p:spPr>
          <a:xfrm>
            <a:off x="601883" y="2660884"/>
            <a:ext cx="4676172" cy="923330"/>
          </a:xfrm>
          <a:prstGeom prst="rect">
            <a:avLst/>
          </a:prstGeom>
          <a:noFill/>
        </p:spPr>
        <p:txBody>
          <a:bodyPr wrap="square">
            <a:spAutoFit/>
          </a:bodyPr>
          <a:lstStyle/>
          <a:p>
            <a:r>
              <a:rPr lang="zh-CN" altLang="en-US" dirty="0">
                <a:latin typeface="NimbusRomNo9L-Regu"/>
              </a:rPr>
              <a:t>the complex protein structures cannot be well represented by current protein sequence-based feature extractors</a:t>
            </a:r>
          </a:p>
        </p:txBody>
      </p:sp>
      <p:sp>
        <p:nvSpPr>
          <p:cNvPr id="10" name="文本框 9">
            <a:extLst>
              <a:ext uri="{FF2B5EF4-FFF2-40B4-BE49-F238E27FC236}">
                <a16:creationId xmlns:a16="http://schemas.microsoft.com/office/drawing/2014/main" id="{4A41BD64-105A-CF88-8903-7637A671F275}"/>
              </a:ext>
            </a:extLst>
          </p:cNvPr>
          <p:cNvSpPr txBox="1"/>
          <p:nvPr/>
        </p:nvSpPr>
        <p:spPr>
          <a:xfrm>
            <a:off x="597062" y="4373172"/>
            <a:ext cx="4916346" cy="923330"/>
          </a:xfrm>
          <a:prstGeom prst="rect">
            <a:avLst/>
          </a:prstGeom>
          <a:noFill/>
        </p:spPr>
        <p:txBody>
          <a:bodyPr wrap="square">
            <a:spAutoFit/>
          </a:bodyPr>
          <a:lstStyle/>
          <a:p>
            <a:pPr algn="l"/>
            <a:r>
              <a:rPr lang="en-US" altLang="zh-CN" sz="1800" b="0" i="0" u="none" strike="noStrike" baseline="0" dirty="0">
                <a:latin typeface="NimbusRomNo9L-Regu"/>
              </a:rPr>
              <a:t>the gap between protein and drug features increases the vulnerability of the obtained classifier thus degrading the prediction robustness</a:t>
            </a:r>
            <a:endParaRPr lang="zh-CN" altLang="en-US" dirty="0"/>
          </a:p>
        </p:txBody>
      </p:sp>
      <p:sp>
        <p:nvSpPr>
          <p:cNvPr id="12" name="文本框 11">
            <a:extLst>
              <a:ext uri="{FF2B5EF4-FFF2-40B4-BE49-F238E27FC236}">
                <a16:creationId xmlns:a16="http://schemas.microsoft.com/office/drawing/2014/main" id="{E33D0DDF-FE5B-01B4-ED1A-4507655621D4}"/>
              </a:ext>
            </a:extLst>
          </p:cNvPr>
          <p:cNvSpPr txBox="1"/>
          <p:nvPr/>
        </p:nvSpPr>
        <p:spPr>
          <a:xfrm>
            <a:off x="6678592" y="2217478"/>
            <a:ext cx="4676172" cy="923330"/>
          </a:xfrm>
          <a:prstGeom prst="rect">
            <a:avLst/>
          </a:prstGeom>
          <a:noFill/>
        </p:spPr>
        <p:txBody>
          <a:bodyPr wrap="square">
            <a:spAutoFit/>
          </a:bodyPr>
          <a:lstStyle/>
          <a:p>
            <a:pPr algn="l"/>
            <a:r>
              <a:rPr lang="en-US" altLang="zh-CN" dirty="0">
                <a:latin typeface="NimbusRomNo9L-Regu"/>
              </a:rPr>
              <a:t>(1) </a:t>
            </a:r>
            <a:r>
              <a:rPr lang="en-US" altLang="zh-CN" sz="1800" b="0" i="0" u="none" strike="noStrike" baseline="0" dirty="0">
                <a:latin typeface="NimbusRomNo9L-Regu"/>
              </a:rPr>
              <a:t>construct </a:t>
            </a:r>
            <a:r>
              <a:rPr lang="en-US" altLang="zh-CN" sz="1800" b="1" i="0" u="none" strike="noStrike" baseline="0" dirty="0">
                <a:latin typeface="NimbusRomNo9L-Regu"/>
              </a:rPr>
              <a:t>a pre-trained structural feature extractor</a:t>
            </a:r>
            <a:r>
              <a:rPr lang="en-US" altLang="zh-CN" sz="1800" b="0" i="0" u="none" strike="noStrike" baseline="0" dirty="0">
                <a:latin typeface="NimbusRomNo9L-Regu"/>
              </a:rPr>
              <a:t> that mines the atomic relevance of each amino acid</a:t>
            </a:r>
            <a:endParaRPr lang="zh-CN" altLang="en-US" dirty="0"/>
          </a:p>
        </p:txBody>
      </p:sp>
      <p:sp>
        <p:nvSpPr>
          <p:cNvPr id="13" name="文本框 12">
            <a:extLst>
              <a:ext uri="{FF2B5EF4-FFF2-40B4-BE49-F238E27FC236}">
                <a16:creationId xmlns:a16="http://schemas.microsoft.com/office/drawing/2014/main" id="{116BD281-505F-0F9E-05A4-A2F6FDEE7BB0}"/>
              </a:ext>
            </a:extLst>
          </p:cNvPr>
          <p:cNvSpPr txBox="1"/>
          <p:nvPr/>
        </p:nvSpPr>
        <p:spPr>
          <a:xfrm>
            <a:off x="6678592" y="3232905"/>
            <a:ext cx="4676172" cy="923330"/>
          </a:xfrm>
          <a:prstGeom prst="rect">
            <a:avLst/>
          </a:prstGeom>
          <a:noFill/>
        </p:spPr>
        <p:txBody>
          <a:bodyPr wrap="square">
            <a:spAutoFit/>
          </a:bodyPr>
          <a:lstStyle/>
          <a:p>
            <a:pPr algn="l"/>
            <a:r>
              <a:rPr lang="en-US" altLang="zh-CN" dirty="0">
                <a:latin typeface="NimbusRomNo9L-Regu"/>
              </a:rPr>
              <a:t>(2) </a:t>
            </a:r>
            <a:r>
              <a:rPr lang="en-US" altLang="zh-CN" sz="1800" b="0" i="0" u="none" strike="noStrike" baseline="0" dirty="0">
                <a:latin typeface="NimbusRomNo9L-Regu"/>
              </a:rPr>
              <a:t>An inter-feature structure-preserved </a:t>
            </a:r>
            <a:r>
              <a:rPr lang="en-US" altLang="zh-CN" sz="1800" b="1" i="0" u="none" strike="noStrike" baseline="0" dirty="0">
                <a:latin typeface="NimbusRomNo9L-Regu"/>
              </a:rPr>
              <a:t>Riemannian network </a:t>
            </a:r>
            <a:r>
              <a:rPr lang="en-US" altLang="zh-CN" sz="1800" b="0" i="0" u="none" strike="noStrike" baseline="0" dirty="0">
                <a:latin typeface="NimbusRomNo9L-Regu"/>
              </a:rPr>
              <a:t>is designed to expand the existing protein extraction patterns</a:t>
            </a:r>
            <a:endParaRPr lang="zh-CN" altLang="en-US" dirty="0"/>
          </a:p>
        </p:txBody>
      </p:sp>
      <p:sp>
        <p:nvSpPr>
          <p:cNvPr id="15" name="文本框 14">
            <a:extLst>
              <a:ext uri="{FF2B5EF4-FFF2-40B4-BE49-F238E27FC236}">
                <a16:creationId xmlns:a16="http://schemas.microsoft.com/office/drawing/2014/main" id="{E07E5AA4-6311-DE31-34E6-C6F4A9EF1E22}"/>
              </a:ext>
            </a:extLst>
          </p:cNvPr>
          <p:cNvSpPr txBox="1"/>
          <p:nvPr/>
        </p:nvSpPr>
        <p:spPr>
          <a:xfrm>
            <a:off x="6678592" y="4569015"/>
            <a:ext cx="4916346" cy="923330"/>
          </a:xfrm>
          <a:prstGeom prst="rect">
            <a:avLst/>
          </a:prstGeom>
          <a:noFill/>
        </p:spPr>
        <p:txBody>
          <a:bodyPr wrap="square">
            <a:spAutoFit/>
          </a:bodyPr>
          <a:lstStyle/>
          <a:p>
            <a:pPr algn="l"/>
            <a:r>
              <a:rPr lang="en-US" altLang="zh-CN" dirty="0">
                <a:latin typeface="NimbusRomNo9L-Regu"/>
              </a:rPr>
              <a:t>(3) </a:t>
            </a:r>
            <a:r>
              <a:rPr lang="en-US" altLang="zh-CN" sz="1800" b="0" i="0" u="none" strike="noStrike" baseline="0" dirty="0">
                <a:latin typeface="NimbusRomNo9L-Regu"/>
              </a:rPr>
              <a:t>develop </a:t>
            </a:r>
            <a:r>
              <a:rPr lang="en-US" altLang="zh-CN" sz="1800" b="1" i="0" u="none" strike="noStrike" baseline="0" dirty="0">
                <a:latin typeface="NimbusRomNo9L-Regu"/>
              </a:rPr>
              <a:t>a Riemannian classifier </a:t>
            </a:r>
            <a:r>
              <a:rPr lang="en-US" altLang="zh-CN" sz="1800" b="0" i="0" u="none" strike="noStrike" baseline="0" dirty="0">
                <a:latin typeface="NimbusRomNo9L-Regu"/>
              </a:rPr>
              <a:t>that uses the second-order protein-drug relevance with a unified feature space</a:t>
            </a:r>
            <a:endParaRPr lang="zh-CN" altLang="en-US" dirty="0"/>
          </a:p>
        </p:txBody>
      </p:sp>
      <p:cxnSp>
        <p:nvCxnSpPr>
          <p:cNvPr id="18" name="直接箭头连接符 17">
            <a:extLst>
              <a:ext uri="{FF2B5EF4-FFF2-40B4-BE49-F238E27FC236}">
                <a16:creationId xmlns:a16="http://schemas.microsoft.com/office/drawing/2014/main" id="{282E1ECC-885D-3EF9-3543-0BD526711045}"/>
              </a:ext>
            </a:extLst>
          </p:cNvPr>
          <p:cNvCxnSpPr/>
          <p:nvPr/>
        </p:nvCxnSpPr>
        <p:spPr>
          <a:xfrm flipV="1">
            <a:off x="5370653" y="2558005"/>
            <a:ext cx="1157469" cy="405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AB9D2B7A-1A8D-9529-FA99-27B7644A4E89}"/>
              </a:ext>
            </a:extLst>
          </p:cNvPr>
          <p:cNvCxnSpPr>
            <a:cxnSpLocks/>
          </p:cNvCxnSpPr>
          <p:nvPr/>
        </p:nvCxnSpPr>
        <p:spPr>
          <a:xfrm>
            <a:off x="5370652" y="3140808"/>
            <a:ext cx="1157469" cy="498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直接箭头连接符 22">
            <a:extLst>
              <a:ext uri="{FF2B5EF4-FFF2-40B4-BE49-F238E27FC236}">
                <a16:creationId xmlns:a16="http://schemas.microsoft.com/office/drawing/2014/main" id="{B68D9E37-048F-1C12-CC3C-8EAD2046DD7B}"/>
              </a:ext>
            </a:extLst>
          </p:cNvPr>
          <p:cNvCxnSpPr>
            <a:stCxn id="10" idx="3"/>
          </p:cNvCxnSpPr>
          <p:nvPr/>
        </p:nvCxnSpPr>
        <p:spPr>
          <a:xfrm>
            <a:off x="5513408" y="4834837"/>
            <a:ext cx="116518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818DB50E-74BA-7F0A-1D0F-C7F56359D7F6}"/>
              </a:ext>
            </a:extLst>
          </p:cNvPr>
          <p:cNvSpPr txBox="1"/>
          <p:nvPr/>
        </p:nvSpPr>
        <p:spPr>
          <a:xfrm>
            <a:off x="10083638" y="6145761"/>
            <a:ext cx="1511300" cy="369332"/>
          </a:xfrm>
          <a:prstGeom prst="rect">
            <a:avLst/>
          </a:prstGeom>
          <a:noFill/>
        </p:spPr>
        <p:txBody>
          <a:bodyPr wrap="square">
            <a:spAutoFit/>
          </a:bodyPr>
          <a:lstStyle/>
          <a:p>
            <a:r>
              <a:rPr lang="en-US" altLang="zh-CN" dirty="0">
                <a:latin typeface="NimbusRomNo9L-Regu"/>
              </a:rPr>
              <a:t>Niu </a:t>
            </a:r>
            <a:r>
              <a:rPr lang="en-US" altLang="zh-CN" dirty="0" err="1">
                <a:latin typeface="NimbusRomNo9L-Regu"/>
              </a:rPr>
              <a:t>Wentao</a:t>
            </a:r>
            <a:endParaRPr lang="zh-CN" altLang="en-US" dirty="0"/>
          </a:p>
        </p:txBody>
      </p:sp>
    </p:spTree>
    <p:extLst>
      <p:ext uri="{BB962C8B-B14F-4D97-AF65-F5344CB8AC3E}">
        <p14:creationId xmlns:p14="http://schemas.microsoft.com/office/powerpoint/2010/main" val="1876227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9705296-58DE-90E0-9090-6A744CA96FFA}"/>
              </a:ext>
            </a:extLst>
          </p:cNvPr>
          <p:cNvPicPr>
            <a:picLocks noChangeAspect="1"/>
          </p:cNvPicPr>
          <p:nvPr/>
        </p:nvPicPr>
        <p:blipFill>
          <a:blip r:embed="rId3"/>
          <a:srcRect t="-193" r="39474" b="13804"/>
          <a:stretch/>
        </p:blipFill>
        <p:spPr>
          <a:xfrm>
            <a:off x="2406316" y="1126957"/>
            <a:ext cx="7379368" cy="4604085"/>
          </a:xfrm>
          <a:prstGeom prst="rect">
            <a:avLst/>
          </a:prstGeom>
        </p:spPr>
      </p:pic>
      <p:sp>
        <p:nvSpPr>
          <p:cNvPr id="10" name="文本框 9">
            <a:extLst>
              <a:ext uri="{FF2B5EF4-FFF2-40B4-BE49-F238E27FC236}">
                <a16:creationId xmlns:a16="http://schemas.microsoft.com/office/drawing/2014/main" id="{07A928FF-DEF9-2253-984E-EA0496468016}"/>
              </a:ext>
            </a:extLst>
          </p:cNvPr>
          <p:cNvSpPr txBox="1"/>
          <p:nvPr/>
        </p:nvSpPr>
        <p:spPr>
          <a:xfrm>
            <a:off x="0" y="537228"/>
            <a:ext cx="6096000" cy="369332"/>
          </a:xfrm>
          <a:prstGeom prst="rect">
            <a:avLst/>
          </a:prstGeom>
          <a:noFill/>
        </p:spPr>
        <p:txBody>
          <a:bodyPr wrap="square">
            <a:spAutoFit/>
          </a:bodyPr>
          <a:lstStyle/>
          <a:p>
            <a:r>
              <a:rPr lang="zh-CN" altLang="en-US" dirty="0"/>
              <a:t>Limited by the small number of 3D protein samples</a:t>
            </a:r>
          </a:p>
        </p:txBody>
      </p:sp>
      <p:cxnSp>
        <p:nvCxnSpPr>
          <p:cNvPr id="12" name="直接箭头连接符 11">
            <a:extLst>
              <a:ext uri="{FF2B5EF4-FFF2-40B4-BE49-F238E27FC236}">
                <a16:creationId xmlns:a16="http://schemas.microsoft.com/office/drawing/2014/main" id="{A9DD76DE-4658-35E7-5821-F48B6003887D}"/>
              </a:ext>
            </a:extLst>
          </p:cNvPr>
          <p:cNvCxnSpPr>
            <a:cxnSpLocks/>
          </p:cNvCxnSpPr>
          <p:nvPr/>
        </p:nvCxnSpPr>
        <p:spPr>
          <a:xfrm flipH="1" flipV="1">
            <a:off x="1507958" y="1126957"/>
            <a:ext cx="1138989" cy="3007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88559E92-AB45-1FFA-E7D9-F71964E77820}"/>
              </a:ext>
            </a:extLst>
          </p:cNvPr>
          <p:cNvSpPr txBox="1"/>
          <p:nvPr/>
        </p:nvSpPr>
        <p:spPr>
          <a:xfrm>
            <a:off x="6725653" y="462761"/>
            <a:ext cx="6120062" cy="369332"/>
          </a:xfrm>
          <a:prstGeom prst="rect">
            <a:avLst/>
          </a:prstGeom>
          <a:noFill/>
        </p:spPr>
        <p:txBody>
          <a:bodyPr wrap="square">
            <a:spAutoFit/>
          </a:bodyPr>
          <a:lstStyle/>
          <a:p>
            <a:r>
              <a:rPr lang="zh-CN" altLang="en-US" dirty="0"/>
              <a:t>The training process lacks spatial structure information</a:t>
            </a:r>
          </a:p>
        </p:txBody>
      </p:sp>
      <p:cxnSp>
        <p:nvCxnSpPr>
          <p:cNvPr id="18" name="直接箭头连接符 17">
            <a:extLst>
              <a:ext uri="{FF2B5EF4-FFF2-40B4-BE49-F238E27FC236}">
                <a16:creationId xmlns:a16="http://schemas.microsoft.com/office/drawing/2014/main" id="{5D975817-3057-8FCD-D8F0-75CBC0D9C2A0}"/>
              </a:ext>
            </a:extLst>
          </p:cNvPr>
          <p:cNvCxnSpPr>
            <a:cxnSpLocks/>
          </p:cNvCxnSpPr>
          <p:nvPr/>
        </p:nvCxnSpPr>
        <p:spPr>
          <a:xfrm flipV="1">
            <a:off x="9111916" y="976562"/>
            <a:ext cx="1002631" cy="4452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99560DB6-35D7-631C-1E20-B4C9E1EC3AE2}"/>
              </a:ext>
            </a:extLst>
          </p:cNvPr>
          <p:cNvSpPr txBox="1"/>
          <p:nvPr/>
        </p:nvSpPr>
        <p:spPr>
          <a:xfrm>
            <a:off x="276727" y="5881437"/>
            <a:ext cx="5626768" cy="646331"/>
          </a:xfrm>
          <a:prstGeom prst="rect">
            <a:avLst/>
          </a:prstGeom>
          <a:noFill/>
        </p:spPr>
        <p:txBody>
          <a:bodyPr wrap="square">
            <a:spAutoFit/>
          </a:bodyPr>
          <a:lstStyle/>
          <a:p>
            <a:r>
              <a:rPr lang="zh-CN" altLang="en-US" dirty="0"/>
              <a:t>The protein features are relatively long, resulting in the classifier's bias towards protein features</a:t>
            </a:r>
          </a:p>
        </p:txBody>
      </p:sp>
      <p:cxnSp>
        <p:nvCxnSpPr>
          <p:cNvPr id="22" name="直接箭头连接符 21">
            <a:extLst>
              <a:ext uri="{FF2B5EF4-FFF2-40B4-BE49-F238E27FC236}">
                <a16:creationId xmlns:a16="http://schemas.microsoft.com/office/drawing/2014/main" id="{9EEF7FC3-98AC-E13A-2217-B2548C1E9394}"/>
              </a:ext>
            </a:extLst>
          </p:cNvPr>
          <p:cNvCxnSpPr>
            <a:cxnSpLocks/>
          </p:cNvCxnSpPr>
          <p:nvPr/>
        </p:nvCxnSpPr>
        <p:spPr>
          <a:xfrm flipH="1">
            <a:off x="1836821" y="4267200"/>
            <a:ext cx="2221832" cy="1388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文本框 24">
            <a:extLst>
              <a:ext uri="{FF2B5EF4-FFF2-40B4-BE49-F238E27FC236}">
                <a16:creationId xmlns:a16="http://schemas.microsoft.com/office/drawing/2014/main" id="{D03ED4A3-3BE7-27E9-6E91-091D309704FB}"/>
              </a:ext>
            </a:extLst>
          </p:cNvPr>
          <p:cNvSpPr txBox="1"/>
          <p:nvPr/>
        </p:nvSpPr>
        <p:spPr>
          <a:xfrm>
            <a:off x="6015790" y="5951439"/>
            <a:ext cx="6448926" cy="646331"/>
          </a:xfrm>
          <a:prstGeom prst="rect">
            <a:avLst/>
          </a:prstGeom>
          <a:noFill/>
        </p:spPr>
        <p:txBody>
          <a:bodyPr wrap="square">
            <a:spAutoFit/>
          </a:bodyPr>
          <a:lstStyle/>
          <a:p>
            <a:r>
              <a:rPr lang="zh-CN" altLang="en-US" dirty="0"/>
              <a:t>The feature Spaces of the two are difficult to unify, and matrix multiplication leads to excessive information density</a:t>
            </a:r>
          </a:p>
        </p:txBody>
      </p:sp>
      <p:cxnSp>
        <p:nvCxnSpPr>
          <p:cNvPr id="26" name="直接箭头连接符 25">
            <a:extLst>
              <a:ext uri="{FF2B5EF4-FFF2-40B4-BE49-F238E27FC236}">
                <a16:creationId xmlns:a16="http://schemas.microsoft.com/office/drawing/2014/main" id="{9383C6A2-9ED4-71AB-FE5A-CD50A3CF6671}"/>
              </a:ext>
            </a:extLst>
          </p:cNvPr>
          <p:cNvCxnSpPr>
            <a:cxnSpLocks/>
            <a:endCxn id="25" idx="0"/>
          </p:cNvCxnSpPr>
          <p:nvPr/>
        </p:nvCxnSpPr>
        <p:spPr>
          <a:xfrm>
            <a:off x="8181474" y="4527793"/>
            <a:ext cx="1058779" cy="14236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54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AC3D6B6-D981-4136-7965-BF54F44C0134}"/>
              </a:ext>
            </a:extLst>
          </p:cNvPr>
          <p:cNvPicPr>
            <a:picLocks noChangeAspect="1"/>
          </p:cNvPicPr>
          <p:nvPr/>
        </p:nvPicPr>
        <p:blipFill>
          <a:blip r:embed="rId3"/>
          <a:srcRect l="58684" t="-192" r="4606" b="63470"/>
          <a:stretch/>
        </p:blipFill>
        <p:spPr>
          <a:xfrm>
            <a:off x="3850106" y="0"/>
            <a:ext cx="7892716" cy="3451295"/>
          </a:xfrm>
          <a:prstGeom prst="rect">
            <a:avLst/>
          </a:prstGeom>
        </p:spPr>
      </p:pic>
      <p:sp>
        <p:nvSpPr>
          <p:cNvPr id="6" name="文本框 5">
            <a:extLst>
              <a:ext uri="{FF2B5EF4-FFF2-40B4-BE49-F238E27FC236}">
                <a16:creationId xmlns:a16="http://schemas.microsoft.com/office/drawing/2014/main" id="{66A68EF7-1956-76EE-CC50-45CB8D0D6FE6}"/>
              </a:ext>
            </a:extLst>
          </p:cNvPr>
          <p:cNvSpPr txBox="1"/>
          <p:nvPr/>
        </p:nvSpPr>
        <p:spPr>
          <a:xfrm>
            <a:off x="144379" y="318518"/>
            <a:ext cx="3882189" cy="646331"/>
          </a:xfrm>
          <a:prstGeom prst="rect">
            <a:avLst/>
          </a:prstGeom>
          <a:noFill/>
        </p:spPr>
        <p:txBody>
          <a:bodyPr wrap="square">
            <a:spAutoFit/>
          </a:bodyPr>
          <a:lstStyle/>
          <a:p>
            <a:r>
              <a:rPr lang="zh-CN" altLang="en-US" dirty="0"/>
              <a:t>How does the author extract structural features from the sequence?</a:t>
            </a:r>
          </a:p>
        </p:txBody>
      </p:sp>
      <p:sp>
        <p:nvSpPr>
          <p:cNvPr id="8" name="文本框 7">
            <a:extLst>
              <a:ext uri="{FF2B5EF4-FFF2-40B4-BE49-F238E27FC236}">
                <a16:creationId xmlns:a16="http://schemas.microsoft.com/office/drawing/2014/main" id="{9BB56C55-F8DA-7755-E3A1-43F11E73C3F0}"/>
              </a:ext>
            </a:extLst>
          </p:cNvPr>
          <p:cNvSpPr txBox="1"/>
          <p:nvPr/>
        </p:nvSpPr>
        <p:spPr>
          <a:xfrm>
            <a:off x="144379" y="1776460"/>
            <a:ext cx="4780547" cy="923330"/>
          </a:xfrm>
          <a:prstGeom prst="rect">
            <a:avLst/>
          </a:prstGeom>
          <a:noFill/>
        </p:spPr>
        <p:txBody>
          <a:bodyPr wrap="square">
            <a:spAutoFit/>
          </a:bodyPr>
          <a:lstStyle/>
          <a:p>
            <a:r>
              <a:rPr lang="zh-CN" altLang="en-US" dirty="0"/>
              <a:t>Construct the covariance matrix of amino acids vectors to emphasize the second-order correlation within </a:t>
            </a:r>
            <a:r>
              <a:rPr lang="en-US" altLang="zh-CN" dirty="0"/>
              <a:t>a protein</a:t>
            </a:r>
            <a:r>
              <a:rPr lang="zh-CN" altLang="en-US" dirty="0"/>
              <a:t>.</a:t>
            </a:r>
          </a:p>
        </p:txBody>
      </p:sp>
      <p:sp>
        <p:nvSpPr>
          <p:cNvPr id="10" name="文本框 9">
            <a:extLst>
              <a:ext uri="{FF2B5EF4-FFF2-40B4-BE49-F238E27FC236}">
                <a16:creationId xmlns:a16="http://schemas.microsoft.com/office/drawing/2014/main" id="{A4E6ADFE-A27F-10C2-CD79-C508C2C1AAF6}"/>
              </a:ext>
            </a:extLst>
          </p:cNvPr>
          <p:cNvSpPr txBox="1"/>
          <p:nvPr/>
        </p:nvSpPr>
        <p:spPr>
          <a:xfrm>
            <a:off x="304800" y="5412703"/>
            <a:ext cx="11197389" cy="646331"/>
          </a:xfrm>
          <a:prstGeom prst="rect">
            <a:avLst/>
          </a:prstGeom>
          <a:noFill/>
        </p:spPr>
        <p:txBody>
          <a:bodyPr wrap="square">
            <a:spAutoFit/>
          </a:bodyPr>
          <a:lstStyle/>
          <a:p>
            <a:pPr algn="l"/>
            <a:r>
              <a:rPr lang="en-US" altLang="zh-CN" sz="1800" b="0" i="0" u="none" strike="noStrike" baseline="0" dirty="0">
                <a:latin typeface="NimbusRomNo9L-Regu"/>
              </a:rPr>
              <a:t>To preserve the topological relationships between amino acids within a protein, we consider amino acids distributed on the protein manifold.</a:t>
            </a:r>
            <a:endParaRPr lang="zh-CN" altLang="en-US" dirty="0"/>
          </a:p>
        </p:txBody>
      </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2A3A576D-7AE2-1209-991C-E5EB84E5059F}"/>
                  </a:ext>
                </a:extLst>
              </p:cNvPr>
              <p:cNvSpPr txBox="1"/>
              <p:nvPr/>
            </p:nvSpPr>
            <p:spPr>
              <a:xfrm>
                <a:off x="520990" y="2699790"/>
                <a:ext cx="3329116" cy="77893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𝐶𝑜𝑣</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r>
                            <a:rPr lang="en-US" altLang="zh-CN" b="0" i="1" smtClean="0">
                              <a:latin typeface="Cambria Math" panose="02040503050406030204" pitchFamily="18" charset="0"/>
                            </a:rPr>
                            <m:t>)</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e>
                      </m:nary>
                    </m:oMath>
                  </m:oMathPara>
                </a14:m>
                <a:endParaRPr lang="zh-CN" altLang="en-US" dirty="0"/>
              </a:p>
            </p:txBody>
          </p:sp>
        </mc:Choice>
        <mc:Fallback>
          <p:sp>
            <p:nvSpPr>
              <p:cNvPr id="11" name="文本框 10">
                <a:extLst>
                  <a:ext uri="{FF2B5EF4-FFF2-40B4-BE49-F238E27FC236}">
                    <a16:creationId xmlns:a16="http://schemas.microsoft.com/office/drawing/2014/main" id="{2A3A576D-7AE2-1209-991C-E5EB84E5059F}"/>
                  </a:ext>
                </a:extLst>
              </p:cNvPr>
              <p:cNvSpPr txBox="1">
                <a:spLocks noRot="1" noChangeAspect="1" noMove="1" noResize="1" noEditPoints="1" noAdjustHandles="1" noChangeArrowheads="1" noChangeShapeType="1" noTextEdit="1"/>
              </p:cNvSpPr>
              <p:nvPr/>
            </p:nvSpPr>
            <p:spPr>
              <a:xfrm>
                <a:off x="520990" y="2699790"/>
                <a:ext cx="3329116" cy="77893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D43E88FC-7AC7-D0DE-373E-E54B4406AE8D}"/>
                  </a:ext>
                </a:extLst>
              </p:cNvPr>
              <p:cNvSpPr txBox="1"/>
              <p:nvPr/>
            </p:nvSpPr>
            <p:spPr>
              <a:xfrm>
                <a:off x="476685" y="3686914"/>
                <a:ext cx="6096000" cy="369332"/>
              </a:xfrm>
              <a:prstGeom prst="rect">
                <a:avLst/>
              </a:prstGeom>
              <a:noFill/>
            </p:spPr>
            <p:txBody>
              <a:bodyPr wrap="square">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oMath>
                </a14:m>
                <a:r>
                  <a:rPr lang="zh-CN" altLang="en-US" dirty="0"/>
                  <a:t> represents the amino acid vector</a:t>
                </a:r>
              </a:p>
            </p:txBody>
          </p:sp>
        </mc:Choice>
        <mc:Fallback>
          <p:sp>
            <p:nvSpPr>
              <p:cNvPr id="13" name="文本框 12">
                <a:extLst>
                  <a:ext uri="{FF2B5EF4-FFF2-40B4-BE49-F238E27FC236}">
                    <a16:creationId xmlns:a16="http://schemas.microsoft.com/office/drawing/2014/main" id="{D43E88FC-7AC7-D0DE-373E-E54B4406AE8D}"/>
                  </a:ext>
                </a:extLst>
              </p:cNvPr>
              <p:cNvSpPr txBox="1">
                <a:spLocks noRot="1" noChangeAspect="1" noMove="1" noResize="1" noEditPoints="1" noAdjustHandles="1" noChangeArrowheads="1" noChangeShapeType="1" noTextEdit="1"/>
              </p:cNvSpPr>
              <p:nvPr/>
            </p:nvSpPr>
            <p:spPr>
              <a:xfrm>
                <a:off x="476685" y="3686914"/>
                <a:ext cx="6096000" cy="369332"/>
              </a:xfrm>
              <a:prstGeom prst="rect">
                <a:avLst/>
              </a:prstGeom>
              <a:blipFill>
                <a:blip r:embed="rId5"/>
                <a:stretch>
                  <a:fillRect t="-10000" b="-26667"/>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C6185F60-9F89-5068-130F-F28344CCEC1A}"/>
              </a:ext>
            </a:extLst>
          </p:cNvPr>
          <p:cNvSpPr txBox="1"/>
          <p:nvPr/>
        </p:nvSpPr>
        <p:spPr>
          <a:xfrm>
            <a:off x="476685" y="4575144"/>
            <a:ext cx="7243389" cy="369332"/>
          </a:xfrm>
          <a:prstGeom prst="rect">
            <a:avLst/>
          </a:prstGeom>
          <a:noFill/>
        </p:spPr>
        <p:txBody>
          <a:bodyPr wrap="square">
            <a:spAutoFit/>
          </a:bodyPr>
          <a:lstStyle/>
          <a:p>
            <a:r>
              <a:rPr lang="zh-CN" altLang="en-US" dirty="0"/>
              <a:t>If the variance of the sample is not 0, then it is positive definite</a:t>
            </a:r>
          </a:p>
        </p:txBody>
      </p:sp>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73251822-12C2-E866-E6A3-52486B832842}"/>
                  </a:ext>
                </a:extLst>
              </p:cNvPr>
              <p:cNvSpPr txBox="1"/>
              <p:nvPr/>
            </p:nvSpPr>
            <p:spPr>
              <a:xfrm>
                <a:off x="520990" y="4199251"/>
                <a:ext cx="4262514" cy="276999"/>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ℝ</m:t>
                        </m:r>
                      </m:e>
                      <m:sup>
                        <m:r>
                          <a:rPr lang="en-US" altLang="zh-CN" b="0" i="1" smtClean="0">
                            <a:latin typeface="Cambria Math" panose="02040503050406030204" pitchFamily="18" charset="0"/>
                            <a:ea typeface="Cambria Math" panose="02040503050406030204" pitchFamily="18" charset="0"/>
                          </a:rPr>
                          <m:t>𝑁</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𝐷</m:t>
                        </m:r>
                      </m:sup>
                    </m:sSup>
                  </m:oMath>
                </a14:m>
                <a:r>
                  <a:rPr lang="en-US" altLang="zh-CN" dirty="0"/>
                  <a:t>,</a:t>
                </a:r>
                <a14:m>
                  <m:oMath xmlns:m="http://schemas.openxmlformats.org/officeDocument/2006/math">
                    <m:r>
                      <a:rPr lang="en-US" altLang="zh-CN" b="0" i="1" dirty="0" smtClean="0">
                        <a:latin typeface="Cambria Math" panose="02040503050406030204" pitchFamily="18" charset="0"/>
                      </a:rPr>
                      <m:t>𝐶𝑜𝑣</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ℝ</m:t>
                        </m:r>
                      </m:e>
                      <m:sup>
                        <m:r>
                          <a:rPr lang="en-US" altLang="zh-CN" b="0" i="1" dirty="0" smtClean="0">
                            <a:latin typeface="Cambria Math" panose="02040503050406030204" pitchFamily="18" charset="0"/>
                            <a:ea typeface="Cambria Math" panose="02040503050406030204" pitchFamily="18" charset="0"/>
                          </a:rPr>
                          <m:t>𝐷</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𝐷</m:t>
                        </m:r>
                      </m:sup>
                    </m:sSup>
                  </m:oMath>
                </a14:m>
                <a:endParaRPr lang="zh-CN" altLang="en-US" dirty="0"/>
              </a:p>
            </p:txBody>
          </p:sp>
        </mc:Choice>
        <mc:Fallback>
          <p:sp>
            <p:nvSpPr>
              <p:cNvPr id="16" name="文本框 15">
                <a:extLst>
                  <a:ext uri="{FF2B5EF4-FFF2-40B4-BE49-F238E27FC236}">
                    <a16:creationId xmlns:a16="http://schemas.microsoft.com/office/drawing/2014/main" id="{73251822-12C2-E866-E6A3-52486B832842}"/>
                  </a:ext>
                </a:extLst>
              </p:cNvPr>
              <p:cNvSpPr txBox="1">
                <a:spLocks noRot="1" noChangeAspect="1" noMove="1" noResize="1" noEditPoints="1" noAdjustHandles="1" noChangeArrowheads="1" noChangeShapeType="1" noTextEdit="1"/>
              </p:cNvSpPr>
              <p:nvPr/>
            </p:nvSpPr>
            <p:spPr>
              <a:xfrm>
                <a:off x="520990" y="4199251"/>
                <a:ext cx="4262514" cy="276999"/>
              </a:xfrm>
              <a:prstGeom prst="rect">
                <a:avLst/>
              </a:prstGeom>
              <a:blipFill>
                <a:blip r:embed="rId6"/>
                <a:stretch>
                  <a:fillRect l="-1857" t="-28889" b="-511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379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50AF56-5D1D-6619-32A3-8A65222965F7}"/>
              </a:ext>
            </a:extLst>
          </p:cNvPr>
          <p:cNvSpPr txBox="1"/>
          <p:nvPr/>
        </p:nvSpPr>
        <p:spPr>
          <a:xfrm>
            <a:off x="203200" y="209801"/>
            <a:ext cx="7590971" cy="369332"/>
          </a:xfrm>
          <a:prstGeom prst="rect">
            <a:avLst/>
          </a:prstGeom>
          <a:noFill/>
        </p:spPr>
        <p:txBody>
          <a:bodyPr wrap="square">
            <a:spAutoFit/>
          </a:bodyPr>
          <a:lstStyle/>
          <a:p>
            <a:r>
              <a:rPr lang="zh-CN" altLang="en-US" dirty="0"/>
              <a:t>The authors use SPD matrices to construct Riemannian manifolds.</a:t>
            </a:r>
          </a:p>
        </p:txBody>
      </p:sp>
      <p:sp>
        <p:nvSpPr>
          <p:cNvPr id="4" name="文本框 3">
            <a:extLst>
              <a:ext uri="{FF2B5EF4-FFF2-40B4-BE49-F238E27FC236}">
                <a16:creationId xmlns:a16="http://schemas.microsoft.com/office/drawing/2014/main" id="{1441B5FE-8D7D-2711-2185-9DA636E97F51}"/>
              </a:ext>
            </a:extLst>
          </p:cNvPr>
          <p:cNvSpPr txBox="1"/>
          <p:nvPr/>
        </p:nvSpPr>
        <p:spPr>
          <a:xfrm>
            <a:off x="203200" y="754742"/>
            <a:ext cx="5796780" cy="369332"/>
          </a:xfrm>
          <a:prstGeom prst="rect">
            <a:avLst/>
          </a:prstGeom>
          <a:noFill/>
        </p:spPr>
        <p:txBody>
          <a:bodyPr wrap="none" rtlCol="0">
            <a:spAutoFit/>
          </a:bodyPr>
          <a:lstStyle/>
          <a:p>
            <a:r>
              <a:rPr lang="en-US" altLang="zh-CN" dirty="0"/>
              <a:t>Why does the SPD matrix form a Riemannian manifold？</a:t>
            </a:r>
            <a:endParaRPr lang="zh-CN" altLang="en-US" b="1" dirty="0"/>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923AF05B-EB3F-0292-299E-9BD589FC66AC}"/>
                  </a:ext>
                </a:extLst>
              </p:cNvPr>
              <p:cNvSpPr txBox="1"/>
              <p:nvPr/>
            </p:nvSpPr>
            <p:spPr>
              <a:xfrm>
                <a:off x="3744170" y="1346200"/>
                <a:ext cx="451162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m:rPr>
                              <m:sty m:val="p"/>
                            </m:rPr>
                            <a:rPr lang="en-US" altLang="zh-CN" i="1">
                              <a:latin typeface="Cambria Math" panose="02040503050406030204" pitchFamily="18" charset="0"/>
                            </a:rPr>
                            <m:t>S</m:t>
                          </m:r>
                        </m:e>
                        <m:sub>
                          <m:r>
                            <a:rPr lang="en-US" altLang="zh-CN" b="0" i="1" smtClean="0">
                              <a:latin typeface="Cambria Math" panose="02040503050406030204" pitchFamily="18" charset="0"/>
                            </a:rPr>
                            <m:t>++</m:t>
                          </m:r>
                        </m:sub>
                        <m:sup>
                          <m:r>
                            <a:rPr lang="en-US" altLang="zh-CN" b="0" i="1" smtClean="0">
                              <a:latin typeface="Cambria Math" panose="02040503050406030204" pitchFamily="18" charset="0"/>
                            </a:rPr>
                            <m:t>𝑛</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sup>
                      </m:sSup>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𝑋</m:t>
                          </m:r>
                        </m:e>
                        <m:sup>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𝑥</m:t>
                          </m:r>
                        </m:e>
                        <m:sup>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ea typeface="Cambria Math" panose="02040503050406030204" pitchFamily="18" charset="0"/>
                        </a:rPr>
                        <m:t>𝑋𝑥</m:t>
                      </m:r>
                      <m:r>
                        <a:rPr lang="en-US" altLang="zh-CN" b="0" i="1" smtClean="0">
                          <a:latin typeface="Cambria Math" panose="02040503050406030204" pitchFamily="18" charset="0"/>
                          <a:ea typeface="Cambria Math" panose="02040503050406030204" pitchFamily="18" charset="0"/>
                        </a:rPr>
                        <m:t>&gt;0  ∀</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≠0}</m:t>
                      </m:r>
                    </m:oMath>
                  </m:oMathPara>
                </a14:m>
                <a:endParaRPr lang="zh-CN" altLang="en-US" dirty="0"/>
              </a:p>
            </p:txBody>
          </p:sp>
        </mc:Choice>
        <mc:Fallback>
          <p:sp>
            <p:nvSpPr>
              <p:cNvPr id="5" name="文本框 4">
                <a:extLst>
                  <a:ext uri="{FF2B5EF4-FFF2-40B4-BE49-F238E27FC236}">
                    <a16:creationId xmlns:a16="http://schemas.microsoft.com/office/drawing/2014/main" id="{923AF05B-EB3F-0292-299E-9BD589FC66AC}"/>
                  </a:ext>
                </a:extLst>
              </p:cNvPr>
              <p:cNvSpPr txBox="1">
                <a:spLocks noRot="1" noChangeAspect="1" noMove="1" noResize="1" noEditPoints="1" noAdjustHandles="1" noChangeArrowheads="1" noChangeShapeType="1" noTextEdit="1"/>
              </p:cNvSpPr>
              <p:nvPr/>
            </p:nvSpPr>
            <p:spPr>
              <a:xfrm>
                <a:off x="3744170" y="1346200"/>
                <a:ext cx="4511620" cy="276999"/>
              </a:xfrm>
              <a:prstGeom prst="rect">
                <a:avLst/>
              </a:prstGeom>
              <a:blipFill>
                <a:blip r:embed="rId3"/>
                <a:stretch>
                  <a:fillRect l="-541" t="-4444" r="-1486" b="-377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2BA3514D-58AB-7A4E-8805-3CC4AF92F3BF}"/>
                  </a:ext>
                </a:extLst>
              </p:cNvPr>
              <p:cNvSpPr txBox="1"/>
              <p:nvPr/>
            </p:nvSpPr>
            <p:spPr>
              <a:xfrm>
                <a:off x="203200" y="1966072"/>
                <a:ext cx="9144000" cy="369332"/>
              </a:xfrm>
              <a:prstGeom prst="rect">
                <a:avLst/>
              </a:prstGeom>
              <a:noFill/>
            </p:spPr>
            <p:txBody>
              <a:bodyPr wrap="square">
                <a:spAutoFit/>
              </a:bodyPr>
              <a:lstStyle/>
              <a:p>
                <a:r>
                  <a:rPr lang="en-US" altLang="zh-CN" dirty="0"/>
                  <a:t>This set is all the symmetric positive definite matrices of  </a:t>
                </a:r>
                <a14:m>
                  <m:oMath xmlns:m="http://schemas.openxmlformats.org/officeDocument/2006/math">
                    <m:r>
                      <a:rPr lang="en-US" altLang="zh-CN" b="0" i="1" smtClean="0">
                        <a:latin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endParaRPr lang="zh-CN" altLang="en-US" dirty="0"/>
              </a:p>
            </p:txBody>
          </p:sp>
        </mc:Choice>
        <mc:Fallback>
          <p:sp>
            <p:nvSpPr>
              <p:cNvPr id="8" name="文本框 7">
                <a:extLst>
                  <a:ext uri="{FF2B5EF4-FFF2-40B4-BE49-F238E27FC236}">
                    <a16:creationId xmlns:a16="http://schemas.microsoft.com/office/drawing/2014/main" id="{2BA3514D-58AB-7A4E-8805-3CC4AF92F3BF}"/>
                  </a:ext>
                </a:extLst>
              </p:cNvPr>
              <p:cNvSpPr txBox="1">
                <a:spLocks noRot="1" noChangeAspect="1" noMove="1" noResize="1" noEditPoints="1" noAdjustHandles="1" noChangeArrowheads="1" noChangeShapeType="1" noTextEdit="1"/>
              </p:cNvSpPr>
              <p:nvPr/>
            </p:nvSpPr>
            <p:spPr>
              <a:xfrm>
                <a:off x="203200" y="1966072"/>
                <a:ext cx="9144000" cy="369332"/>
              </a:xfrm>
              <a:prstGeom prst="rect">
                <a:avLst/>
              </a:prstGeom>
              <a:blipFill>
                <a:blip r:embed="rId4"/>
                <a:stretch>
                  <a:fillRect l="-533" t="-10000" b="-26667"/>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F909D02A-0533-D250-9481-C9E5E6BE6F80}"/>
              </a:ext>
            </a:extLst>
          </p:cNvPr>
          <p:cNvSpPr txBox="1"/>
          <p:nvPr/>
        </p:nvSpPr>
        <p:spPr>
          <a:xfrm>
            <a:off x="203200" y="2465197"/>
            <a:ext cx="8458200" cy="1200329"/>
          </a:xfrm>
          <a:prstGeom prst="rect">
            <a:avLst/>
          </a:prstGeom>
          <a:noFill/>
        </p:spPr>
        <p:txBody>
          <a:bodyPr wrap="square">
            <a:spAutoFit/>
          </a:bodyPr>
          <a:lstStyle/>
          <a:p>
            <a:r>
              <a:rPr lang="zh-CN" altLang="en-US" dirty="0"/>
              <a:t>This set satisfies the following properties:</a:t>
            </a:r>
            <a:endParaRPr lang="en-US" altLang="zh-CN" dirty="0"/>
          </a:p>
          <a:p>
            <a:r>
              <a:rPr lang="zh-CN" altLang="en-US" dirty="0"/>
              <a:t>It is an open series.</a:t>
            </a:r>
            <a:endParaRPr lang="en-US" altLang="zh-CN" dirty="0"/>
          </a:p>
          <a:p>
            <a:r>
              <a:rPr lang="zh-CN" altLang="en-US" dirty="0"/>
              <a:t>It is a smooth manifold (which can be differentiated)</a:t>
            </a:r>
            <a:endParaRPr lang="en-US" altLang="zh-CN" dirty="0"/>
          </a:p>
          <a:p>
            <a:r>
              <a:rPr lang="zh-CN" altLang="en-US" dirty="0"/>
              <a:t>Riemannian metrics can be defined, such as Affine-Invariant Metric</a:t>
            </a:r>
            <a:r>
              <a:rPr lang="en-US" altLang="zh-CN" dirty="0"/>
              <a:t>.</a:t>
            </a:r>
            <a:endParaRPr lang="zh-CN" altLang="en-US" dirty="0"/>
          </a:p>
        </p:txBody>
      </p:sp>
      <p:sp>
        <p:nvSpPr>
          <p:cNvPr id="12" name="文本框 11">
            <a:extLst>
              <a:ext uri="{FF2B5EF4-FFF2-40B4-BE49-F238E27FC236}">
                <a16:creationId xmlns:a16="http://schemas.microsoft.com/office/drawing/2014/main" id="{B9903600-8AA7-9B61-3BB8-80D1590A5BD3}"/>
              </a:ext>
            </a:extLst>
          </p:cNvPr>
          <p:cNvSpPr txBox="1"/>
          <p:nvPr/>
        </p:nvSpPr>
        <p:spPr>
          <a:xfrm>
            <a:off x="203200" y="3795319"/>
            <a:ext cx="6096000" cy="369332"/>
          </a:xfrm>
          <a:prstGeom prst="rect">
            <a:avLst/>
          </a:prstGeom>
          <a:noFill/>
        </p:spPr>
        <p:txBody>
          <a:bodyPr wrap="square">
            <a:spAutoFit/>
          </a:bodyPr>
          <a:lstStyle/>
          <a:p>
            <a:r>
              <a:rPr lang="zh-CN" altLang="en-US" dirty="0"/>
              <a:t>Affine-Invariant Metric </a:t>
            </a:r>
            <a:r>
              <a:rPr lang="en-US" altLang="zh-CN" dirty="0"/>
              <a:t>:</a:t>
            </a:r>
            <a:endParaRPr lang="zh-CN" altLang="en-US" dirty="0"/>
          </a:p>
        </p:txBody>
      </p:sp>
      <p:sp>
        <p:nvSpPr>
          <p:cNvPr id="14" name="文本框 13">
            <a:extLst>
              <a:ext uri="{FF2B5EF4-FFF2-40B4-BE49-F238E27FC236}">
                <a16:creationId xmlns:a16="http://schemas.microsoft.com/office/drawing/2014/main" id="{F7446C24-CF0E-2F1A-A1FA-784E921DB126}"/>
              </a:ext>
            </a:extLst>
          </p:cNvPr>
          <p:cNvSpPr txBox="1"/>
          <p:nvPr/>
        </p:nvSpPr>
        <p:spPr>
          <a:xfrm>
            <a:off x="203200" y="4238870"/>
            <a:ext cx="8610600" cy="369332"/>
          </a:xfrm>
          <a:prstGeom prst="rect">
            <a:avLst/>
          </a:prstGeom>
          <a:noFill/>
        </p:spPr>
        <p:txBody>
          <a:bodyPr wrap="square">
            <a:spAutoFit/>
          </a:bodyPr>
          <a:lstStyle/>
          <a:p>
            <a:r>
              <a:rPr lang="zh-CN" altLang="en-US" dirty="0"/>
              <a:t>Given two SPD matrices P and Q, the distance between them is:</a:t>
            </a:r>
          </a:p>
        </p:txBody>
      </p:sp>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0B6E80E2-22B2-5698-E9BA-D889C29CA8EF}"/>
                  </a:ext>
                </a:extLst>
              </p:cNvPr>
              <p:cNvSpPr txBox="1"/>
              <p:nvPr/>
            </p:nvSpPr>
            <p:spPr>
              <a:xfrm>
                <a:off x="3744170" y="4881713"/>
                <a:ext cx="3696333" cy="28732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𝑑𝑖𝑠𝑡</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𝑄</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−1/2</m:t>
                              </m:r>
                            </m:sup>
                          </m:sSup>
                          <m:r>
                            <a:rPr lang="en-US" altLang="zh-CN" b="0" i="1" smtClean="0">
                              <a:latin typeface="Cambria Math" panose="02040503050406030204" pitchFamily="18" charset="0"/>
                            </a:rPr>
                            <m:t>𝑄</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−1/2</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𝐹</m:t>
                              </m:r>
                            </m:sub>
                          </m:sSub>
                        </m:e>
                      </m:func>
                    </m:oMath>
                  </m:oMathPara>
                </a14:m>
                <a:endParaRPr lang="zh-CN" altLang="en-US" dirty="0"/>
              </a:p>
            </p:txBody>
          </p:sp>
        </mc:Choice>
        <mc:Fallback>
          <p:sp>
            <p:nvSpPr>
              <p:cNvPr id="15" name="文本框 14">
                <a:extLst>
                  <a:ext uri="{FF2B5EF4-FFF2-40B4-BE49-F238E27FC236}">
                    <a16:creationId xmlns:a16="http://schemas.microsoft.com/office/drawing/2014/main" id="{0B6E80E2-22B2-5698-E9BA-D889C29CA8EF}"/>
                  </a:ext>
                </a:extLst>
              </p:cNvPr>
              <p:cNvSpPr txBox="1">
                <a:spLocks noRot="1" noChangeAspect="1" noMove="1" noResize="1" noEditPoints="1" noAdjustHandles="1" noChangeArrowheads="1" noChangeShapeType="1" noTextEdit="1"/>
              </p:cNvSpPr>
              <p:nvPr/>
            </p:nvSpPr>
            <p:spPr>
              <a:xfrm>
                <a:off x="3744170" y="4881713"/>
                <a:ext cx="3696333" cy="287323"/>
              </a:xfrm>
              <a:prstGeom prst="rect">
                <a:avLst/>
              </a:prstGeom>
              <a:blipFill>
                <a:blip r:embed="rId5"/>
                <a:stretch>
                  <a:fillRect t="-8511" b="-34043"/>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37C83217-2895-35D0-2E09-6023C8AD9F2F}"/>
              </a:ext>
            </a:extLst>
          </p:cNvPr>
          <p:cNvSpPr txBox="1"/>
          <p:nvPr/>
        </p:nvSpPr>
        <p:spPr>
          <a:xfrm>
            <a:off x="203200" y="5468926"/>
            <a:ext cx="7505700" cy="369332"/>
          </a:xfrm>
          <a:prstGeom prst="rect">
            <a:avLst/>
          </a:prstGeom>
          <a:noFill/>
        </p:spPr>
        <p:txBody>
          <a:bodyPr wrap="square">
            <a:spAutoFit/>
          </a:bodyPr>
          <a:lstStyle/>
          <a:p>
            <a:r>
              <a:rPr lang="zh-CN" altLang="en-US" dirty="0"/>
              <a:t>This distance takes into account the manifold geometry structure</a:t>
            </a:r>
          </a:p>
        </p:txBody>
      </p:sp>
      <p:pic>
        <p:nvPicPr>
          <p:cNvPr id="18" name="图片 17">
            <a:extLst>
              <a:ext uri="{FF2B5EF4-FFF2-40B4-BE49-F238E27FC236}">
                <a16:creationId xmlns:a16="http://schemas.microsoft.com/office/drawing/2014/main" id="{C662DB34-E4E2-AFAD-8F3C-0BA3F605AB1F}"/>
              </a:ext>
            </a:extLst>
          </p:cNvPr>
          <p:cNvPicPr>
            <a:picLocks noChangeAspect="1"/>
          </p:cNvPicPr>
          <p:nvPr/>
        </p:nvPicPr>
        <p:blipFill>
          <a:blip r:embed="rId6"/>
          <a:stretch>
            <a:fillRect/>
          </a:stretch>
        </p:blipFill>
        <p:spPr>
          <a:xfrm>
            <a:off x="6924240" y="1997134"/>
            <a:ext cx="5267760" cy="2525463"/>
          </a:xfrm>
          <a:prstGeom prst="rect">
            <a:avLst/>
          </a:prstGeom>
        </p:spPr>
      </p:pic>
    </p:spTree>
    <p:extLst>
      <p:ext uri="{BB962C8B-B14F-4D97-AF65-F5344CB8AC3E}">
        <p14:creationId xmlns:p14="http://schemas.microsoft.com/office/powerpoint/2010/main" val="3472322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38D2B3A-4D40-D52B-4027-9EC99CC49618}"/>
              </a:ext>
            </a:extLst>
          </p:cNvPr>
          <p:cNvSpPr txBox="1"/>
          <p:nvPr/>
        </p:nvSpPr>
        <p:spPr>
          <a:xfrm>
            <a:off x="254000" y="259834"/>
            <a:ext cx="6096000" cy="369332"/>
          </a:xfrm>
          <a:prstGeom prst="rect">
            <a:avLst/>
          </a:prstGeom>
          <a:noFill/>
        </p:spPr>
        <p:txBody>
          <a:bodyPr wrap="square">
            <a:spAutoFit/>
          </a:bodyPr>
          <a:lstStyle/>
          <a:p>
            <a:r>
              <a:rPr lang="zh-CN" altLang="en-US" dirty="0"/>
              <a:t>Regarding the training process of Figure 1 </a:t>
            </a:r>
            <a:r>
              <a:rPr lang="en-US" altLang="zh-CN" dirty="0">
                <a:latin typeface="Times New Roman" panose="02020603050405020304" pitchFamily="18" charset="0"/>
                <a:cs typeface="Times New Roman" panose="02020603050405020304" pitchFamily="18" charset="0"/>
              </a:rPr>
              <a:t>(c)</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CE947376-BED9-37F5-640A-EFD3354D4AD8}"/>
              </a:ext>
            </a:extLst>
          </p:cNvPr>
          <p:cNvSpPr txBox="1"/>
          <p:nvPr/>
        </p:nvSpPr>
        <p:spPr>
          <a:xfrm>
            <a:off x="253999" y="830136"/>
            <a:ext cx="6419517" cy="646331"/>
          </a:xfrm>
          <a:prstGeom prst="rect">
            <a:avLst/>
          </a:prstGeom>
          <a:noFill/>
        </p:spPr>
        <p:txBody>
          <a:bodyPr wrap="square">
            <a:spAutoFit/>
          </a:bodyPr>
          <a:lstStyle/>
          <a:p>
            <a:r>
              <a:rPr lang="en-US" altLang="zh-CN" dirty="0"/>
              <a:t>On one hand, </a:t>
            </a:r>
          </a:p>
          <a:p>
            <a:r>
              <a:rPr lang="zh-CN" altLang="en-US" dirty="0"/>
              <a:t>Vector representation of </a:t>
            </a:r>
            <a:r>
              <a:rPr lang="en-US" altLang="zh-CN" dirty="0"/>
              <a:t>1D </a:t>
            </a:r>
            <a:r>
              <a:rPr lang="zh-CN" altLang="en-US" dirty="0"/>
              <a:t>embedding of proteins </a:t>
            </a:r>
            <a:r>
              <a:rPr lang="en-US" altLang="zh-CN" dirty="0"/>
              <a:t>(B,N,128)</a:t>
            </a:r>
            <a:endParaRPr lang="zh-CN" altLang="en-US" dirty="0"/>
          </a:p>
        </p:txBody>
      </p:sp>
      <p:sp>
        <p:nvSpPr>
          <p:cNvPr id="9" name="文本框 8">
            <a:extLst>
              <a:ext uri="{FF2B5EF4-FFF2-40B4-BE49-F238E27FC236}">
                <a16:creationId xmlns:a16="http://schemas.microsoft.com/office/drawing/2014/main" id="{2686D537-6B6E-62B2-AE51-A770BB851DE5}"/>
              </a:ext>
            </a:extLst>
          </p:cNvPr>
          <p:cNvSpPr txBox="1"/>
          <p:nvPr/>
        </p:nvSpPr>
        <p:spPr>
          <a:xfrm>
            <a:off x="254000" y="1931770"/>
            <a:ext cx="6096000" cy="369332"/>
          </a:xfrm>
          <a:prstGeom prst="rect">
            <a:avLst/>
          </a:prstGeom>
          <a:noFill/>
        </p:spPr>
        <p:txBody>
          <a:bodyPr wrap="square">
            <a:spAutoFit/>
          </a:bodyPr>
          <a:lstStyle/>
          <a:p>
            <a:r>
              <a:rPr lang="zh-CN" altLang="en-US" dirty="0"/>
              <a:t>Calculate the covariance matrix and regularize its diagonal</a:t>
            </a:r>
          </a:p>
        </p:txBody>
      </p:sp>
      <p:cxnSp>
        <p:nvCxnSpPr>
          <p:cNvPr id="11" name="直接箭头连接符 10">
            <a:extLst>
              <a:ext uri="{FF2B5EF4-FFF2-40B4-BE49-F238E27FC236}">
                <a16:creationId xmlns:a16="http://schemas.microsoft.com/office/drawing/2014/main" id="{1947FC37-9F93-9A20-9D9C-27949FF34A4A}"/>
              </a:ext>
            </a:extLst>
          </p:cNvPr>
          <p:cNvCxnSpPr>
            <a:cxnSpLocks/>
            <a:stCxn id="7" idx="2"/>
          </p:cNvCxnSpPr>
          <p:nvPr/>
        </p:nvCxnSpPr>
        <p:spPr>
          <a:xfrm>
            <a:off x="3463758" y="1476467"/>
            <a:ext cx="0" cy="455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接箭头连接符 11">
            <a:extLst>
              <a:ext uri="{FF2B5EF4-FFF2-40B4-BE49-F238E27FC236}">
                <a16:creationId xmlns:a16="http://schemas.microsoft.com/office/drawing/2014/main" id="{0A743054-87A7-CC10-F583-C80EC3AFDDED}"/>
              </a:ext>
            </a:extLst>
          </p:cNvPr>
          <p:cNvCxnSpPr/>
          <p:nvPr/>
        </p:nvCxnSpPr>
        <p:spPr>
          <a:xfrm>
            <a:off x="2933700" y="2301102"/>
            <a:ext cx="0" cy="3743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B00C5D1A-6C51-B938-831C-47D51F8FBE4E}"/>
                  </a:ext>
                </a:extLst>
              </p:cNvPr>
              <p:cNvSpPr txBox="1"/>
              <p:nvPr/>
            </p:nvSpPr>
            <p:spPr>
              <a:xfrm>
                <a:off x="254000" y="2670434"/>
                <a:ext cx="5841999" cy="369332"/>
              </a:xfrm>
              <a:prstGeom prst="rect">
                <a:avLst/>
              </a:prstGeom>
              <a:noFill/>
            </p:spPr>
            <p:txBody>
              <a:bodyPr wrap="square">
                <a:spAutoFit/>
              </a:bodyPr>
              <a:lstStyle/>
              <a:p>
                <a:r>
                  <a:rPr lang="en-US" altLang="zh-CN" dirty="0"/>
                  <a:t>Get</a:t>
                </a:r>
                <a:r>
                  <a:rPr lang="zh-CN" altLang="en-US" dirty="0"/>
                  <a:t> the SPD(</a:t>
                </a:r>
                <a:r>
                  <a:rPr lang="en-US" altLang="zh-CN" dirty="0"/>
                  <a:t>symmetric positive definite</a:t>
                </a:r>
                <a:r>
                  <a:rPr lang="zh-CN" altLang="en-US" dirty="0"/>
                  <a:t>) matrix </a:t>
                </a:r>
                <a14:m>
                  <m:oMath xmlns:m="http://schemas.openxmlformats.org/officeDocument/2006/math">
                    <m:r>
                      <a:rPr lang="en-US" altLang="zh-CN" b="0" i="1" smtClean="0">
                        <a:latin typeface="Cambria Math" panose="02040503050406030204" pitchFamily="18" charset="0"/>
                      </a:rPr>
                      <m:t>𝑃</m:t>
                    </m:r>
                  </m:oMath>
                </a14:m>
                <a:endParaRPr lang="en-US" altLang="zh-CN" dirty="0">
                  <a:solidFill>
                    <a:schemeClr val="accent4">
                      <a:lumMod val="75000"/>
                    </a:schemeClr>
                  </a:solidFill>
                </a:endParaRPr>
              </a:p>
            </p:txBody>
          </p:sp>
        </mc:Choice>
        <mc:Fallback>
          <p:sp>
            <p:nvSpPr>
              <p:cNvPr id="14" name="文本框 13">
                <a:extLst>
                  <a:ext uri="{FF2B5EF4-FFF2-40B4-BE49-F238E27FC236}">
                    <a16:creationId xmlns:a16="http://schemas.microsoft.com/office/drawing/2014/main" id="{B00C5D1A-6C51-B938-831C-47D51F8FBE4E}"/>
                  </a:ext>
                </a:extLst>
              </p:cNvPr>
              <p:cNvSpPr txBox="1">
                <a:spLocks noRot="1" noChangeAspect="1" noMove="1" noResize="1" noEditPoints="1" noAdjustHandles="1" noChangeArrowheads="1" noChangeShapeType="1" noTextEdit="1"/>
              </p:cNvSpPr>
              <p:nvPr/>
            </p:nvSpPr>
            <p:spPr>
              <a:xfrm>
                <a:off x="254000" y="2670434"/>
                <a:ext cx="5841999" cy="369332"/>
              </a:xfrm>
              <a:prstGeom prst="rect">
                <a:avLst/>
              </a:prstGeom>
              <a:blipFill>
                <a:blip r:embed="rId3"/>
                <a:stretch>
                  <a:fillRect l="-939" t="-8197" b="-24590"/>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E297F00F-FBBD-6F17-5BD2-299238D99B96}"/>
              </a:ext>
            </a:extLst>
          </p:cNvPr>
          <p:cNvSpPr txBox="1"/>
          <p:nvPr/>
        </p:nvSpPr>
        <p:spPr>
          <a:xfrm>
            <a:off x="254000" y="3495069"/>
            <a:ext cx="7695381" cy="923330"/>
          </a:xfrm>
          <a:prstGeom prst="rect">
            <a:avLst/>
          </a:prstGeom>
          <a:noFill/>
        </p:spPr>
        <p:txBody>
          <a:bodyPr wrap="square">
            <a:spAutoFit/>
          </a:bodyPr>
          <a:lstStyle/>
          <a:p>
            <a:r>
              <a:rPr lang="zh-CN" altLang="en-US" dirty="0"/>
              <a:t>The protein sequence is represented as a point on a Riemannian manifold. Additionally, the overall structural characteristics of the protein sequence (covariance form) are indicated.</a:t>
            </a:r>
          </a:p>
        </p:txBody>
      </p:sp>
      <p:pic>
        <p:nvPicPr>
          <p:cNvPr id="18" name="图片 17">
            <a:extLst>
              <a:ext uri="{FF2B5EF4-FFF2-40B4-BE49-F238E27FC236}">
                <a16:creationId xmlns:a16="http://schemas.microsoft.com/office/drawing/2014/main" id="{E3213E78-3F0F-20B7-CDE5-145FBF89EDB3}"/>
              </a:ext>
            </a:extLst>
          </p:cNvPr>
          <p:cNvPicPr>
            <a:picLocks noChangeAspect="1"/>
          </p:cNvPicPr>
          <p:nvPr/>
        </p:nvPicPr>
        <p:blipFill>
          <a:blip r:embed="rId4"/>
          <a:stretch>
            <a:fillRect/>
          </a:stretch>
        </p:blipFill>
        <p:spPr>
          <a:xfrm>
            <a:off x="6913577" y="444500"/>
            <a:ext cx="3934374" cy="1886213"/>
          </a:xfrm>
          <a:prstGeom prst="rect">
            <a:avLst/>
          </a:prstGeom>
        </p:spPr>
      </p:pic>
      <p:sp>
        <p:nvSpPr>
          <p:cNvPr id="20" name="文本框 19">
            <a:extLst>
              <a:ext uri="{FF2B5EF4-FFF2-40B4-BE49-F238E27FC236}">
                <a16:creationId xmlns:a16="http://schemas.microsoft.com/office/drawing/2014/main" id="{A139E1C0-7E3A-E9FC-7017-8298506A5AF7}"/>
              </a:ext>
            </a:extLst>
          </p:cNvPr>
          <p:cNvSpPr txBox="1"/>
          <p:nvPr/>
        </p:nvSpPr>
        <p:spPr>
          <a:xfrm>
            <a:off x="253999" y="4613007"/>
            <a:ext cx="6659578" cy="646331"/>
          </a:xfrm>
          <a:prstGeom prst="rect">
            <a:avLst/>
          </a:prstGeom>
          <a:noFill/>
        </p:spPr>
        <p:txBody>
          <a:bodyPr wrap="square">
            <a:spAutoFit/>
          </a:bodyPr>
          <a:lstStyle/>
          <a:p>
            <a:r>
              <a:rPr lang="en-US" altLang="zh-CN" dirty="0">
                <a:solidFill>
                  <a:schemeClr val="accent4">
                    <a:lumMod val="75000"/>
                  </a:schemeClr>
                </a:solidFill>
              </a:rPr>
              <a:t>Captured the global structural relationship (the coordinated changes among all residues)</a:t>
            </a:r>
            <a:endParaRPr lang="zh-CN" altLang="en-US" dirty="0"/>
          </a:p>
        </p:txBody>
      </p:sp>
      <p:pic>
        <p:nvPicPr>
          <p:cNvPr id="26" name="图片 25">
            <a:extLst>
              <a:ext uri="{FF2B5EF4-FFF2-40B4-BE49-F238E27FC236}">
                <a16:creationId xmlns:a16="http://schemas.microsoft.com/office/drawing/2014/main" id="{A01F05D5-977A-7EE6-1F86-05DDEFCF5969}"/>
              </a:ext>
            </a:extLst>
          </p:cNvPr>
          <p:cNvPicPr>
            <a:picLocks noChangeAspect="1"/>
          </p:cNvPicPr>
          <p:nvPr/>
        </p:nvPicPr>
        <p:blipFill>
          <a:blip r:embed="rId5"/>
          <a:stretch>
            <a:fillRect/>
          </a:stretch>
        </p:blipFill>
        <p:spPr>
          <a:xfrm>
            <a:off x="8247352" y="2301102"/>
            <a:ext cx="3383934" cy="4345924"/>
          </a:xfrm>
          <a:prstGeom prst="rect">
            <a:avLst/>
          </a:prstGeom>
        </p:spPr>
      </p:pic>
    </p:spTree>
    <p:extLst>
      <p:ext uri="{BB962C8B-B14F-4D97-AF65-F5344CB8AC3E}">
        <p14:creationId xmlns:p14="http://schemas.microsoft.com/office/powerpoint/2010/main" val="3409323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62C188F-3448-FC29-8120-F3B853824295}"/>
              </a:ext>
            </a:extLst>
          </p:cNvPr>
          <p:cNvPicPr>
            <a:picLocks noChangeAspect="1"/>
          </p:cNvPicPr>
          <p:nvPr/>
        </p:nvPicPr>
        <p:blipFill>
          <a:blip r:embed="rId2"/>
          <a:stretch>
            <a:fillRect/>
          </a:stretch>
        </p:blipFill>
        <p:spPr>
          <a:xfrm>
            <a:off x="822034" y="187113"/>
            <a:ext cx="4172532" cy="3029373"/>
          </a:xfrm>
          <a:prstGeom prst="rect">
            <a:avLst/>
          </a:prstGeom>
        </p:spPr>
      </p:pic>
      <p:sp>
        <p:nvSpPr>
          <p:cNvPr id="7" name="文本框 6">
            <a:extLst>
              <a:ext uri="{FF2B5EF4-FFF2-40B4-BE49-F238E27FC236}">
                <a16:creationId xmlns:a16="http://schemas.microsoft.com/office/drawing/2014/main" id="{7EF72D55-721B-55A9-2447-DB223B4A43B8}"/>
              </a:ext>
            </a:extLst>
          </p:cNvPr>
          <p:cNvSpPr txBox="1"/>
          <p:nvPr/>
        </p:nvSpPr>
        <p:spPr>
          <a:xfrm>
            <a:off x="5588000" y="942886"/>
            <a:ext cx="6096000" cy="1200329"/>
          </a:xfrm>
          <a:prstGeom prst="rect">
            <a:avLst/>
          </a:prstGeom>
          <a:noFill/>
        </p:spPr>
        <p:txBody>
          <a:bodyPr wrap="square">
            <a:spAutoFit/>
          </a:bodyPr>
          <a:lstStyle/>
          <a:p>
            <a:pPr>
              <a:buNone/>
            </a:pPr>
            <a:r>
              <a:rPr lang="zh-CN" altLang="en-US" dirty="0"/>
              <a:t>沿测地线方向做了一个投影或嵌入，能够：</a:t>
            </a:r>
          </a:p>
          <a:p>
            <a:pPr>
              <a:buFont typeface="Arial" panose="020B0604020202020204" pitchFamily="34" charset="0"/>
              <a:buChar char="•"/>
            </a:pPr>
            <a:r>
              <a:rPr lang="zh-CN" altLang="en-US" dirty="0"/>
              <a:t>学习结构上的“主方向”</a:t>
            </a:r>
          </a:p>
          <a:p>
            <a:pPr>
              <a:buFont typeface="Arial" panose="020B0604020202020204" pitchFamily="34" charset="0"/>
              <a:buChar char="•"/>
            </a:pPr>
            <a:r>
              <a:rPr lang="zh-CN" altLang="en-US" dirty="0"/>
              <a:t>排除无用维度</a:t>
            </a:r>
          </a:p>
          <a:p>
            <a:pPr>
              <a:buFont typeface="Arial" panose="020B0604020202020204" pitchFamily="34" charset="0"/>
              <a:buChar char="•"/>
            </a:pPr>
            <a:r>
              <a:rPr lang="zh-CN" altLang="en-US" dirty="0"/>
              <a:t>提升模型对结构差异的感知能力</a:t>
            </a:r>
          </a:p>
        </p:txBody>
      </p:sp>
    </p:spTree>
    <p:extLst>
      <p:ext uri="{BB962C8B-B14F-4D97-AF65-F5344CB8AC3E}">
        <p14:creationId xmlns:p14="http://schemas.microsoft.com/office/powerpoint/2010/main" val="2083130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B1D0023-992B-FD3B-C9F8-7726E963D40E}"/>
              </a:ext>
            </a:extLst>
          </p:cNvPr>
          <p:cNvSpPr txBox="1"/>
          <p:nvPr/>
        </p:nvSpPr>
        <p:spPr>
          <a:xfrm>
            <a:off x="342900" y="272534"/>
            <a:ext cx="6096000" cy="369332"/>
          </a:xfrm>
          <a:prstGeom prst="rect">
            <a:avLst/>
          </a:prstGeom>
          <a:noFill/>
        </p:spPr>
        <p:txBody>
          <a:bodyPr wrap="square">
            <a:spAutoFit/>
          </a:bodyPr>
          <a:lstStyle/>
          <a:p>
            <a:r>
              <a:rPr lang="en-US" altLang="zh-CN" b="1" dirty="0"/>
              <a:t>SPD Transform</a:t>
            </a:r>
            <a:endParaRPr lang="zh-CN" altLang="en-US" b="1" dirty="0"/>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0959D351-0E51-66A5-D18A-B0E0F25357A7}"/>
                  </a:ext>
                </a:extLst>
              </p:cNvPr>
              <p:cNvSpPr txBox="1"/>
              <p:nvPr/>
            </p:nvSpPr>
            <p:spPr>
              <a:xfrm>
                <a:off x="4794169" y="787400"/>
                <a:ext cx="130183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𝑊𝑃</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𝑊</m:t>
                          </m:r>
                        </m:e>
                        <m:sup>
                          <m:r>
                            <a:rPr lang="en-US" altLang="zh-CN" b="0" i="1" smtClean="0">
                              <a:latin typeface="Cambria Math" panose="02040503050406030204" pitchFamily="18" charset="0"/>
                            </a:rPr>
                            <m:t>𝑇</m:t>
                          </m:r>
                        </m:sup>
                      </m:sSup>
                    </m:oMath>
                  </m:oMathPara>
                </a14:m>
                <a:endParaRPr lang="zh-CN" altLang="en-US" dirty="0"/>
              </a:p>
            </p:txBody>
          </p:sp>
        </mc:Choice>
        <mc:Fallback>
          <p:sp>
            <p:nvSpPr>
              <p:cNvPr id="6" name="文本框 5">
                <a:extLst>
                  <a:ext uri="{FF2B5EF4-FFF2-40B4-BE49-F238E27FC236}">
                    <a16:creationId xmlns:a16="http://schemas.microsoft.com/office/drawing/2014/main" id="{0959D351-0E51-66A5-D18A-B0E0F25357A7}"/>
                  </a:ext>
                </a:extLst>
              </p:cNvPr>
              <p:cNvSpPr txBox="1">
                <a:spLocks noRot="1" noChangeAspect="1" noMove="1" noResize="1" noEditPoints="1" noAdjustHandles="1" noChangeArrowheads="1" noChangeShapeType="1" noTextEdit="1"/>
              </p:cNvSpPr>
              <p:nvPr/>
            </p:nvSpPr>
            <p:spPr>
              <a:xfrm>
                <a:off x="4794169" y="787400"/>
                <a:ext cx="1301831" cy="276999"/>
              </a:xfrm>
              <a:prstGeom prst="rect">
                <a:avLst/>
              </a:prstGeom>
              <a:blipFill>
                <a:blip r:embed="rId3"/>
                <a:stretch>
                  <a:fillRect l="-3271" t="-4348" r="-467" b="-6522"/>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C6224D57-E451-17B1-D811-A77BE8944FF3}"/>
              </a:ext>
            </a:extLst>
          </p:cNvPr>
          <p:cNvSpPr txBox="1"/>
          <p:nvPr/>
        </p:nvSpPr>
        <p:spPr>
          <a:xfrm>
            <a:off x="444500" y="1165766"/>
            <a:ext cx="11417300" cy="369332"/>
          </a:xfrm>
          <a:prstGeom prst="rect">
            <a:avLst/>
          </a:prstGeom>
          <a:noFill/>
        </p:spPr>
        <p:txBody>
          <a:bodyPr wrap="square">
            <a:spAutoFit/>
          </a:bodyPr>
          <a:lstStyle/>
          <a:p>
            <a:r>
              <a:rPr lang="zh-CN" altLang="en-US" dirty="0"/>
              <a:t>Ensure that the output is still the SPD matrix (because the transformation maintains symmetry and positivity)</a:t>
            </a:r>
          </a:p>
        </p:txBody>
      </p:sp>
      <p:sp>
        <p:nvSpPr>
          <p:cNvPr id="10" name="文本框 9">
            <a:extLst>
              <a:ext uri="{FF2B5EF4-FFF2-40B4-BE49-F238E27FC236}">
                <a16:creationId xmlns:a16="http://schemas.microsoft.com/office/drawing/2014/main" id="{632E7BEE-150C-92CA-C935-D2447FD19F99}"/>
              </a:ext>
            </a:extLst>
          </p:cNvPr>
          <p:cNvSpPr txBox="1"/>
          <p:nvPr/>
        </p:nvSpPr>
        <p:spPr>
          <a:xfrm>
            <a:off x="444500" y="1976735"/>
            <a:ext cx="8758494" cy="646331"/>
          </a:xfrm>
          <a:prstGeom prst="rect">
            <a:avLst/>
          </a:prstGeom>
          <a:noFill/>
        </p:spPr>
        <p:txBody>
          <a:bodyPr wrap="square">
            <a:spAutoFit/>
          </a:bodyPr>
          <a:lstStyle/>
          <a:p>
            <a:r>
              <a:rPr lang="zh-CN" altLang="en-US" dirty="0"/>
              <a:t>In Euclidean space, MLP is a linear layer + activation;</a:t>
            </a:r>
            <a:endParaRPr lang="en-US" altLang="zh-CN" dirty="0"/>
          </a:p>
          <a:p>
            <a:r>
              <a:rPr lang="zh-CN" altLang="en-US" dirty="0"/>
              <a:t>In the SPD manifold, </a:t>
            </a:r>
            <a:r>
              <a:rPr lang="en-US" altLang="zh-CN" dirty="0"/>
              <a:t>(SPD Transform)*n</a:t>
            </a:r>
            <a:r>
              <a:rPr lang="zh-CN" altLang="en-US" dirty="0"/>
              <a:t> is a continuous Riemannian transformation.</a:t>
            </a:r>
          </a:p>
        </p:txBody>
      </p:sp>
      <p:sp>
        <p:nvSpPr>
          <p:cNvPr id="12" name="文本框 11">
            <a:extLst>
              <a:ext uri="{FF2B5EF4-FFF2-40B4-BE49-F238E27FC236}">
                <a16:creationId xmlns:a16="http://schemas.microsoft.com/office/drawing/2014/main" id="{7132499C-495C-6525-88DA-D2A10D37430B}"/>
              </a:ext>
            </a:extLst>
          </p:cNvPr>
          <p:cNvSpPr txBox="1"/>
          <p:nvPr/>
        </p:nvSpPr>
        <p:spPr>
          <a:xfrm>
            <a:off x="4610100" y="272534"/>
            <a:ext cx="2324100" cy="369332"/>
          </a:xfrm>
          <a:prstGeom prst="rect">
            <a:avLst/>
          </a:prstGeom>
          <a:noFill/>
        </p:spPr>
        <p:txBody>
          <a:bodyPr wrap="square">
            <a:spAutoFit/>
          </a:bodyPr>
          <a:lstStyle/>
          <a:p>
            <a:r>
              <a:rPr lang="zh-CN" altLang="en-US" dirty="0"/>
              <a:t>feature extraction</a:t>
            </a:r>
          </a:p>
        </p:txBody>
      </p:sp>
      <p:sp>
        <p:nvSpPr>
          <p:cNvPr id="13" name="文本框 12">
            <a:extLst>
              <a:ext uri="{FF2B5EF4-FFF2-40B4-BE49-F238E27FC236}">
                <a16:creationId xmlns:a16="http://schemas.microsoft.com/office/drawing/2014/main" id="{977ADA14-746A-D791-DD80-AF3E8254D70F}"/>
              </a:ext>
            </a:extLst>
          </p:cNvPr>
          <p:cNvSpPr txBox="1"/>
          <p:nvPr/>
        </p:nvSpPr>
        <p:spPr>
          <a:xfrm>
            <a:off x="342900" y="2946400"/>
            <a:ext cx="1237839" cy="369332"/>
          </a:xfrm>
          <a:prstGeom prst="rect">
            <a:avLst/>
          </a:prstGeom>
          <a:noFill/>
        </p:spPr>
        <p:txBody>
          <a:bodyPr wrap="none" rtlCol="0">
            <a:spAutoFit/>
          </a:bodyPr>
          <a:lstStyle/>
          <a:p>
            <a:r>
              <a:rPr lang="en-US" altLang="zh-CN" b="1" dirty="0"/>
              <a:t>SPD-GNN</a:t>
            </a:r>
            <a:endParaRPr lang="zh-CN" altLang="en-US" b="1" dirty="0"/>
          </a:p>
        </p:txBody>
      </p: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ED210C96-77B5-1688-7308-B8C4DFB13EFC}"/>
                  </a:ext>
                </a:extLst>
              </p:cNvPr>
              <p:cNvSpPr txBox="1"/>
              <p:nvPr/>
            </p:nvSpPr>
            <p:spPr>
              <a:xfrm>
                <a:off x="626151" y="3639066"/>
                <a:ext cx="2310889" cy="66960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𝑙</m:t>
                                    </m:r>
                                  </m:sup>
                                </m:sSubSup>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𝑐</m:t>
                          </m:r>
                        </m:sub>
                        <m:sup>
                          <m:r>
                            <a:rPr lang="en-US" altLang="zh-CN" b="0" i="1" smtClean="0">
                              <a:latin typeface="Cambria Math" panose="02040503050406030204" pitchFamily="18" charset="0"/>
                            </a:rPr>
                            <m:t>𝑇</m:t>
                          </m:r>
                        </m:sup>
                      </m:sSubSup>
                    </m:oMath>
                  </m:oMathPara>
                </a14:m>
                <a:endParaRPr lang="zh-CN" altLang="en-US" dirty="0"/>
              </a:p>
            </p:txBody>
          </p:sp>
        </mc:Choice>
        <mc:Fallback>
          <p:sp>
            <p:nvSpPr>
              <p:cNvPr id="14" name="文本框 13">
                <a:extLst>
                  <a:ext uri="{FF2B5EF4-FFF2-40B4-BE49-F238E27FC236}">
                    <a16:creationId xmlns:a16="http://schemas.microsoft.com/office/drawing/2014/main" id="{ED210C96-77B5-1688-7308-B8C4DFB13EFC}"/>
                  </a:ext>
                </a:extLst>
              </p:cNvPr>
              <p:cNvSpPr txBox="1">
                <a:spLocks noRot="1" noChangeAspect="1" noMove="1" noResize="1" noEditPoints="1" noAdjustHandles="1" noChangeArrowheads="1" noChangeShapeType="1" noTextEdit="1"/>
              </p:cNvSpPr>
              <p:nvPr/>
            </p:nvSpPr>
            <p:spPr>
              <a:xfrm>
                <a:off x="626151" y="3639066"/>
                <a:ext cx="2310889" cy="66960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5A740DD4-BE9F-FE9C-3B88-C70E28C60FE2}"/>
                  </a:ext>
                </a:extLst>
              </p:cNvPr>
              <p:cNvSpPr txBox="1"/>
              <p:nvPr/>
            </p:nvSpPr>
            <p:spPr>
              <a:xfrm>
                <a:off x="2160262" y="2922032"/>
                <a:ext cx="7985776" cy="369332"/>
              </a:xfrm>
              <a:prstGeom prst="rect">
                <a:avLst/>
              </a:prstGeom>
              <a:noFill/>
            </p:spPr>
            <p:txBody>
              <a:bodyPr wrap="none" rtlCol="0">
                <a:spAutoFit/>
              </a:bodyPr>
              <a:lstStyle/>
              <a:p>
                <a:r>
                  <a:rPr lang="en-US" altLang="zh-CN" dirty="0"/>
                  <a:t>The update process of amino acid (node) </a:t>
                </a:r>
                <a:r>
                  <a:rPr lang="zh-CN" altLang="en-US" dirty="0"/>
                  <a:t>feature</a:t>
                </a:r>
                <a:r>
                  <a:rPr lang="en-US" altLang="zh-CN" dirty="0"/>
                  <a:t>s at each layer (</a:t>
                </a:r>
                <a14:m>
                  <m:oMath xmlns:m="http://schemas.openxmlformats.org/officeDocument/2006/math">
                    <m:r>
                      <a:rPr lang="en-US" altLang="zh-CN" b="0" i="1" smtClean="0">
                        <a:latin typeface="Cambria Math" panose="02040503050406030204" pitchFamily="18" charset="0"/>
                      </a:rPr>
                      <m:t>𝑙</m:t>
                    </m:r>
                  </m:oMath>
                </a14:m>
                <a:r>
                  <a:rPr lang="en-US" altLang="zh-CN" dirty="0"/>
                  <a:t>) is as follows:</a:t>
                </a:r>
                <a:endParaRPr lang="zh-CN" altLang="en-US" dirty="0"/>
              </a:p>
            </p:txBody>
          </p:sp>
        </mc:Choice>
        <mc:Fallback>
          <p:sp>
            <p:nvSpPr>
              <p:cNvPr id="15" name="文本框 14">
                <a:extLst>
                  <a:ext uri="{FF2B5EF4-FFF2-40B4-BE49-F238E27FC236}">
                    <a16:creationId xmlns:a16="http://schemas.microsoft.com/office/drawing/2014/main" id="{5A740DD4-BE9F-FE9C-3B88-C70E28C60FE2}"/>
                  </a:ext>
                </a:extLst>
              </p:cNvPr>
              <p:cNvSpPr txBox="1">
                <a:spLocks noRot="1" noChangeAspect="1" noMove="1" noResize="1" noEditPoints="1" noAdjustHandles="1" noChangeArrowheads="1" noChangeShapeType="1" noTextEdit="1"/>
              </p:cNvSpPr>
              <p:nvPr/>
            </p:nvSpPr>
            <p:spPr>
              <a:xfrm>
                <a:off x="2160262" y="2922032"/>
                <a:ext cx="7985776" cy="369332"/>
              </a:xfrm>
              <a:prstGeom prst="rect">
                <a:avLst/>
              </a:prstGeom>
              <a:blipFill>
                <a:blip r:embed="rId5"/>
                <a:stretch>
                  <a:fillRect l="-611" t="-8197" b="-245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1CF41F9D-B6DD-0771-6F1F-0A9F2A64998B}"/>
                  </a:ext>
                </a:extLst>
              </p:cNvPr>
              <p:cNvSpPr txBox="1"/>
              <p:nvPr/>
            </p:nvSpPr>
            <p:spPr>
              <a:xfrm>
                <a:off x="3051340" y="3805426"/>
                <a:ext cx="8559801" cy="391646"/>
              </a:xfrm>
              <a:prstGeom prst="rect">
                <a:avLst/>
              </a:prstGeom>
              <a:noFill/>
            </p:spPr>
            <p:txBody>
              <a:bodyPr wrap="square">
                <a:spAutoFit/>
              </a:bodyPr>
              <a:lstStyle/>
              <a:p>
                <a:r>
                  <a:rPr lang="en-US" altLang="zh-CN" dirty="0"/>
                  <a:t>Get</a:t>
                </a:r>
                <a:r>
                  <a:rPr lang="zh-CN" altLang="en-US" dirty="0"/>
                  <a:t> the information on the edge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𝑖𝑗</m:t>
                        </m:r>
                      </m:sub>
                    </m:sSub>
                  </m:oMath>
                </a14:m>
                <a:r>
                  <a:rPr lang="zh-CN" altLang="en-US" dirty="0"/>
                  <a:t> from amino acid </a:t>
                </a:r>
                <a14:m>
                  <m:oMath xmlns:m="http://schemas.openxmlformats.org/officeDocument/2006/math">
                    <m:r>
                      <a:rPr lang="en-US" altLang="zh-CN" b="0" i="1" smtClean="0">
                        <a:latin typeface="Cambria Math" panose="02040503050406030204" pitchFamily="18" charset="0"/>
                      </a:rPr>
                      <m:t>𝑗</m:t>
                    </m:r>
                  </m:oMath>
                </a14:m>
                <a:r>
                  <a:rPr lang="zh-CN" altLang="en-US" dirty="0"/>
                  <a:t> to amino acid </a:t>
                </a:r>
                <a14:m>
                  <m:oMath xmlns:m="http://schemas.openxmlformats.org/officeDocument/2006/math">
                    <m:r>
                      <a:rPr lang="en-US" altLang="zh-CN" b="0" i="1" smtClean="0">
                        <a:latin typeface="Cambria Math" panose="02040503050406030204" pitchFamily="18" charset="0"/>
                      </a:rPr>
                      <m:t>𝑖</m:t>
                    </m:r>
                  </m:oMath>
                </a14:m>
                <a:r>
                  <a:rPr lang="zh-CN" altLang="en-US" dirty="0"/>
                  <a:t> in the layer </a:t>
                </a:r>
                <a14:m>
                  <m:oMath xmlns:m="http://schemas.openxmlformats.org/officeDocument/2006/math">
                    <m:r>
                      <a:rPr lang="en-US" altLang="zh-CN" b="0" i="1" smtClean="0">
                        <a:latin typeface="Cambria Math" panose="02040503050406030204" pitchFamily="18" charset="0"/>
                      </a:rPr>
                      <m:t>𝑙</m:t>
                    </m:r>
                  </m:oMath>
                </a14:m>
                <a:endParaRPr lang="zh-CN" altLang="en-US" dirty="0"/>
              </a:p>
            </p:txBody>
          </p:sp>
        </mc:Choice>
        <mc:Fallback>
          <p:sp>
            <p:nvSpPr>
              <p:cNvPr id="18" name="文本框 17">
                <a:extLst>
                  <a:ext uri="{FF2B5EF4-FFF2-40B4-BE49-F238E27FC236}">
                    <a16:creationId xmlns:a16="http://schemas.microsoft.com/office/drawing/2014/main" id="{1CF41F9D-B6DD-0771-6F1F-0A9F2A64998B}"/>
                  </a:ext>
                </a:extLst>
              </p:cNvPr>
              <p:cNvSpPr txBox="1">
                <a:spLocks noRot="1" noChangeAspect="1" noMove="1" noResize="1" noEditPoints="1" noAdjustHandles="1" noChangeArrowheads="1" noChangeShapeType="1" noTextEdit="1"/>
              </p:cNvSpPr>
              <p:nvPr/>
            </p:nvSpPr>
            <p:spPr>
              <a:xfrm>
                <a:off x="3051340" y="3805426"/>
                <a:ext cx="8559801" cy="391646"/>
              </a:xfrm>
              <a:prstGeom prst="rect">
                <a:avLst/>
              </a:prstGeom>
              <a:blipFill>
                <a:blip r:embed="rId6"/>
                <a:stretch>
                  <a:fillRect l="-641" t="-6250" b="-2031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3E3FFAA0-63B9-9EBC-7ABF-AE72A15DC03E}"/>
                  </a:ext>
                </a:extLst>
              </p:cNvPr>
              <p:cNvSpPr txBox="1"/>
              <p:nvPr/>
            </p:nvSpPr>
            <p:spPr>
              <a:xfrm>
                <a:off x="626151" y="4573400"/>
                <a:ext cx="1432572" cy="7083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𝑖</m:t>
                              </m:r>
                            </m:sub>
                          </m:sSub>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e>
                      </m:nary>
                    </m:oMath>
                  </m:oMathPara>
                </a14:m>
                <a:endParaRPr lang="zh-CN" altLang="en-US" dirty="0"/>
              </a:p>
            </p:txBody>
          </p:sp>
        </mc:Choice>
        <mc:Fallback>
          <p:sp>
            <p:nvSpPr>
              <p:cNvPr id="19" name="文本框 18">
                <a:extLst>
                  <a:ext uri="{FF2B5EF4-FFF2-40B4-BE49-F238E27FC236}">
                    <a16:creationId xmlns:a16="http://schemas.microsoft.com/office/drawing/2014/main" id="{3E3FFAA0-63B9-9EBC-7ABF-AE72A15DC03E}"/>
                  </a:ext>
                </a:extLst>
              </p:cNvPr>
              <p:cNvSpPr txBox="1">
                <a:spLocks noRot="1" noChangeAspect="1" noMove="1" noResize="1" noEditPoints="1" noAdjustHandles="1" noChangeArrowheads="1" noChangeShapeType="1" noTextEdit="1"/>
              </p:cNvSpPr>
              <p:nvPr/>
            </p:nvSpPr>
            <p:spPr>
              <a:xfrm>
                <a:off x="626151" y="4573400"/>
                <a:ext cx="1432572" cy="7083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39F4ADE9-8312-A4BC-4496-C63C614232FD}"/>
                  </a:ext>
                </a:extLst>
              </p:cNvPr>
              <p:cNvSpPr txBox="1"/>
              <p:nvPr/>
            </p:nvSpPr>
            <p:spPr>
              <a:xfrm>
                <a:off x="3051340" y="4545978"/>
                <a:ext cx="8810460" cy="646331"/>
              </a:xfrm>
              <a:prstGeom prst="rect">
                <a:avLst/>
              </a:prstGeom>
              <a:noFill/>
            </p:spPr>
            <p:txBody>
              <a:bodyPr wrap="square">
                <a:spAutoFit/>
              </a:bodyPr>
              <a:lstStyle/>
              <a:p>
                <a:r>
                  <a:rPr lang="zh-CN" altLang="en-US" dirty="0"/>
                  <a:t>Aggregate all the information of the edges with amino acid </a:t>
                </a:r>
                <a14:m>
                  <m:oMath xmlns:m="http://schemas.openxmlformats.org/officeDocument/2006/math">
                    <m:r>
                      <a:rPr lang="en-US" altLang="zh-CN" b="0" i="1" smtClean="0">
                        <a:latin typeface="Cambria Math" panose="02040503050406030204" pitchFamily="18" charset="0"/>
                      </a:rPr>
                      <m:t>𝑖</m:t>
                    </m:r>
                  </m:oMath>
                </a14:m>
                <a:r>
                  <a:rPr lang="zh-CN" altLang="en-US" dirty="0"/>
                  <a:t> as the target node to obtain the neighbor summary representation of amino acid </a:t>
                </a:r>
                <a14:m>
                  <m:oMath xmlns:m="http://schemas.openxmlformats.org/officeDocument/2006/math">
                    <m:r>
                      <a:rPr lang="en-US" altLang="zh-CN" b="0" i="1" smtClean="0">
                        <a:latin typeface="Cambria Math" panose="02040503050406030204" pitchFamily="18" charset="0"/>
                      </a:rPr>
                      <m:t>𝑖</m:t>
                    </m:r>
                  </m:oMath>
                </a14:m>
                <a:endParaRPr lang="zh-CN" altLang="en-US" dirty="0"/>
              </a:p>
            </p:txBody>
          </p:sp>
        </mc:Choice>
        <mc:Fallback>
          <p:sp>
            <p:nvSpPr>
              <p:cNvPr id="21" name="文本框 20">
                <a:extLst>
                  <a:ext uri="{FF2B5EF4-FFF2-40B4-BE49-F238E27FC236}">
                    <a16:creationId xmlns:a16="http://schemas.microsoft.com/office/drawing/2014/main" id="{39F4ADE9-8312-A4BC-4496-C63C614232FD}"/>
                  </a:ext>
                </a:extLst>
              </p:cNvPr>
              <p:cNvSpPr txBox="1">
                <a:spLocks noRot="1" noChangeAspect="1" noMove="1" noResize="1" noEditPoints="1" noAdjustHandles="1" noChangeArrowheads="1" noChangeShapeType="1" noTextEdit="1"/>
              </p:cNvSpPr>
              <p:nvPr/>
            </p:nvSpPr>
            <p:spPr>
              <a:xfrm>
                <a:off x="3051340" y="4545978"/>
                <a:ext cx="8810460" cy="646331"/>
              </a:xfrm>
              <a:prstGeom prst="rect">
                <a:avLst/>
              </a:prstGeom>
              <a:blipFill>
                <a:blip r:embed="rId8"/>
                <a:stretch>
                  <a:fillRect l="-623" t="-5660" b="-141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a:extLst>
                  <a:ext uri="{FF2B5EF4-FFF2-40B4-BE49-F238E27FC236}">
                    <a16:creationId xmlns:a16="http://schemas.microsoft.com/office/drawing/2014/main" id="{6ACB3D5F-A7C4-B581-3DD3-9FE57287108E}"/>
                  </a:ext>
                </a:extLst>
              </p:cNvPr>
              <p:cNvSpPr txBox="1"/>
              <p:nvPr/>
            </p:nvSpPr>
            <p:spPr>
              <a:xfrm>
                <a:off x="444500" y="5705383"/>
                <a:ext cx="2854948" cy="61638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𝑟</m:t>
                          </m:r>
                        </m:sub>
                        <m:sup>
                          <m:r>
                            <a:rPr lang="en-US" altLang="zh-CN" b="0" i="1" smtClean="0">
                              <a:latin typeface="Cambria Math" panose="02040503050406030204" pitchFamily="18" charset="0"/>
                            </a:rPr>
                            <m:t>𝑙</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Sub>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𝑙</m:t>
                                    </m:r>
                                  </m:sup>
                                </m:sSubSup>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𝑖</m:t>
                                    </m:r>
                                  </m:sub>
                                </m:sSub>
                              </m:e>
                            </m:mr>
                          </m:m>
                        </m:e>
                      </m:d>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𝑃</m:t>
                          </m:r>
                        </m:sub>
                        <m:sup>
                          <m:r>
                            <a:rPr lang="en-US" altLang="zh-CN" b="0" i="1" smtClean="0">
                              <a:latin typeface="Cambria Math" panose="02040503050406030204" pitchFamily="18" charset="0"/>
                            </a:rPr>
                            <m:t>𝑇</m:t>
                          </m:r>
                        </m:sup>
                      </m:sSubSup>
                      <m:r>
                        <a:rPr lang="en-US" altLang="zh-CN" b="0" i="1" smtClean="0">
                          <a:latin typeface="Cambria Math" panose="02040503050406030204" pitchFamily="18" charset="0"/>
                        </a:rPr>
                        <m:t>)</m:t>
                      </m:r>
                    </m:oMath>
                  </m:oMathPara>
                </a14:m>
                <a:endParaRPr lang="zh-CN" altLang="en-US" dirty="0"/>
              </a:p>
            </p:txBody>
          </p:sp>
        </mc:Choice>
        <mc:Fallback>
          <p:sp>
            <p:nvSpPr>
              <p:cNvPr id="22" name="文本框 21">
                <a:extLst>
                  <a:ext uri="{FF2B5EF4-FFF2-40B4-BE49-F238E27FC236}">
                    <a16:creationId xmlns:a16="http://schemas.microsoft.com/office/drawing/2014/main" id="{6ACB3D5F-A7C4-B581-3DD3-9FE57287108E}"/>
                  </a:ext>
                </a:extLst>
              </p:cNvPr>
              <p:cNvSpPr txBox="1">
                <a:spLocks noRot="1" noChangeAspect="1" noMove="1" noResize="1" noEditPoints="1" noAdjustHandles="1" noChangeArrowheads="1" noChangeShapeType="1" noTextEdit="1"/>
              </p:cNvSpPr>
              <p:nvPr/>
            </p:nvSpPr>
            <p:spPr>
              <a:xfrm>
                <a:off x="444500" y="5705383"/>
                <a:ext cx="2854948" cy="616387"/>
              </a:xfrm>
              <a:prstGeom prst="rect">
                <a:avLst/>
              </a:prstGeom>
              <a:blipFill>
                <a:blip r:embed="rId9"/>
                <a:stretch>
                  <a:fillRect b="-9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a:extLst>
                  <a:ext uri="{FF2B5EF4-FFF2-40B4-BE49-F238E27FC236}">
                    <a16:creationId xmlns:a16="http://schemas.microsoft.com/office/drawing/2014/main" id="{F31FB923-3D4F-93E0-A40C-55353637B4C7}"/>
                  </a:ext>
                </a:extLst>
              </p:cNvPr>
              <p:cNvSpPr txBox="1"/>
              <p:nvPr/>
            </p:nvSpPr>
            <p:spPr>
              <a:xfrm>
                <a:off x="117987" y="6362368"/>
                <a:ext cx="12316509" cy="464999"/>
              </a:xfrm>
              <a:prstGeom prst="rect">
                <a:avLst/>
              </a:prstGeom>
              <a:noFill/>
            </p:spPr>
            <p:txBody>
              <a:bodyPr wrap="square">
                <a:spAutoFit/>
              </a:bodyPr>
              <a:lstStyle/>
              <a:p>
                <a:r>
                  <a:rPr lang="zh-CN" altLang="en-US" sz="1200" dirty="0"/>
                  <a:t>Some eigenvalues in the covariance matrix may be very small, close to 0, which can lead to numerical instability or irreversibility.Therefore, the </a:t>
                </a:r>
                <a14:m>
                  <m:oMath xmlns:m="http://schemas.openxmlformats.org/officeDocument/2006/math">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𝑓</m:t>
                        </m:r>
                      </m:e>
                      <m:sub>
                        <m:r>
                          <a:rPr lang="en-US" altLang="zh-CN" sz="1200" b="0" i="1" smtClean="0">
                            <a:latin typeface="Cambria Math" panose="02040503050406030204" pitchFamily="18" charset="0"/>
                          </a:rPr>
                          <m:t>𝑟</m:t>
                        </m:r>
                      </m:sub>
                      <m:sup>
                        <m:r>
                          <a:rPr lang="en-US" altLang="zh-CN" sz="1200" b="0" i="1" smtClean="0">
                            <a:latin typeface="Cambria Math" panose="02040503050406030204" pitchFamily="18" charset="0"/>
                          </a:rPr>
                          <m:t>𝑙</m:t>
                        </m:r>
                      </m:sup>
                    </m:sSubSup>
                    <m:r>
                      <a:rPr lang="en-US" altLang="zh-CN" sz="1200" b="0" i="1" smtClean="0">
                        <a:latin typeface="Cambria Math" panose="02040503050406030204" pitchFamily="18" charset="0"/>
                      </a:rPr>
                      <m:t> </m:t>
                    </m:r>
                  </m:oMath>
                </a14:m>
                <a:r>
                  <a:rPr lang="zh-CN" altLang="en-US" sz="1200" dirty="0"/>
                  <a:t> is used to ensure that all eigenvalues are greater than a certain positive number ε, so that the matrix is strictly positive definite and remains within the SPD manifold.</a:t>
                </a:r>
              </a:p>
            </p:txBody>
          </p:sp>
        </mc:Choice>
        <mc:Fallback>
          <p:sp>
            <p:nvSpPr>
              <p:cNvPr id="24" name="文本框 23">
                <a:extLst>
                  <a:ext uri="{FF2B5EF4-FFF2-40B4-BE49-F238E27FC236}">
                    <a16:creationId xmlns:a16="http://schemas.microsoft.com/office/drawing/2014/main" id="{F31FB923-3D4F-93E0-A40C-55353637B4C7}"/>
                  </a:ext>
                </a:extLst>
              </p:cNvPr>
              <p:cNvSpPr txBox="1">
                <a:spLocks noRot="1" noChangeAspect="1" noMove="1" noResize="1" noEditPoints="1" noAdjustHandles="1" noChangeArrowheads="1" noChangeShapeType="1" noTextEdit="1"/>
              </p:cNvSpPr>
              <p:nvPr/>
            </p:nvSpPr>
            <p:spPr>
              <a:xfrm>
                <a:off x="117987" y="6362368"/>
                <a:ext cx="12316509" cy="464999"/>
              </a:xfrm>
              <a:prstGeom prst="rect">
                <a:avLst/>
              </a:prstGeom>
              <a:blipFill>
                <a:blip r:embed="rId10"/>
                <a:stretch>
                  <a:fillRect b="-105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3D33124B-4A20-1933-3765-C88BAD17A8CA}"/>
                  </a:ext>
                </a:extLst>
              </p:cNvPr>
              <p:cNvSpPr txBox="1"/>
              <p:nvPr/>
            </p:nvSpPr>
            <p:spPr>
              <a:xfrm>
                <a:off x="3624416" y="5766109"/>
                <a:ext cx="6216444" cy="369332"/>
              </a:xfrm>
              <a:prstGeom prst="rect">
                <a:avLst/>
              </a:prstGeom>
              <a:noFill/>
            </p:spPr>
            <p:txBody>
              <a:bodyPr wrap="square">
                <a:spAutoFit/>
              </a:bodyPr>
              <a:lstStyle/>
              <a:p>
                <a:r>
                  <a:rPr lang="en-US" altLang="zh-CN" dirty="0"/>
                  <a:t>Get</a:t>
                </a:r>
                <a:r>
                  <a:rPr lang="zh-CN" altLang="en-US" dirty="0"/>
                  <a:t> the feature</a:t>
                </a:r>
                <a:r>
                  <a:rPr lang="en-US" altLang="zh-CN" dirty="0"/>
                  <a:t>s</a:t>
                </a:r>
                <a:r>
                  <a:rPr lang="zh-CN" altLang="en-US" dirty="0"/>
                  <a:t> of amino acid </a:t>
                </a:r>
                <a14:m>
                  <m:oMath xmlns:m="http://schemas.openxmlformats.org/officeDocument/2006/math">
                    <m:r>
                      <a:rPr lang="en-US" altLang="zh-CN" b="0" i="1" smtClean="0">
                        <a:latin typeface="Cambria Math" panose="02040503050406030204" pitchFamily="18" charset="0"/>
                      </a:rPr>
                      <m:t>𝑖</m:t>
                    </m:r>
                  </m:oMath>
                </a14:m>
                <a:r>
                  <a:rPr lang="zh-CN" altLang="en-US" dirty="0"/>
                  <a:t> in the </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+1</m:t>
                    </m:r>
                  </m:oMath>
                </a14:m>
                <a:r>
                  <a:rPr lang="zh-CN" altLang="en-US" dirty="0"/>
                  <a:t> layer</a:t>
                </a:r>
              </a:p>
            </p:txBody>
          </p:sp>
        </mc:Choice>
        <mc:Fallback>
          <p:sp>
            <p:nvSpPr>
              <p:cNvPr id="26" name="文本框 25">
                <a:extLst>
                  <a:ext uri="{FF2B5EF4-FFF2-40B4-BE49-F238E27FC236}">
                    <a16:creationId xmlns:a16="http://schemas.microsoft.com/office/drawing/2014/main" id="{3D33124B-4A20-1933-3765-C88BAD17A8CA}"/>
                  </a:ext>
                </a:extLst>
              </p:cNvPr>
              <p:cNvSpPr txBox="1">
                <a:spLocks noRot="1" noChangeAspect="1" noMove="1" noResize="1" noEditPoints="1" noAdjustHandles="1" noChangeArrowheads="1" noChangeShapeType="1" noTextEdit="1"/>
              </p:cNvSpPr>
              <p:nvPr/>
            </p:nvSpPr>
            <p:spPr>
              <a:xfrm>
                <a:off x="3624416" y="5766109"/>
                <a:ext cx="6216444" cy="369332"/>
              </a:xfrm>
              <a:prstGeom prst="rect">
                <a:avLst/>
              </a:prstGeom>
              <a:blipFill>
                <a:blip r:embed="rId11"/>
                <a:stretch>
                  <a:fillRect l="-883"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8A60CB26-666F-2FD2-EAE8-3008E28E46E6}"/>
                  </a:ext>
                </a:extLst>
              </p:cNvPr>
              <p:cNvSpPr txBox="1"/>
              <p:nvPr/>
            </p:nvSpPr>
            <p:spPr>
              <a:xfrm>
                <a:off x="8500727" y="6051275"/>
                <a:ext cx="3573286" cy="32329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𝐹𝑖𝑛𝑎𝑙</m:t>
                      </m:r>
                      <m:r>
                        <a:rPr lang="en-US" altLang="zh-CN" b="0" i="1" smtClean="0">
                          <a:latin typeface="Cambria Math" panose="02040503050406030204" pitchFamily="18" charset="0"/>
                        </a:rPr>
                        <m:t>: </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p:sp>
            <p:nvSpPr>
              <p:cNvPr id="28" name="文本框 27">
                <a:extLst>
                  <a:ext uri="{FF2B5EF4-FFF2-40B4-BE49-F238E27FC236}">
                    <a16:creationId xmlns:a16="http://schemas.microsoft.com/office/drawing/2014/main" id="{8A60CB26-666F-2FD2-EAE8-3008E28E46E6}"/>
                  </a:ext>
                </a:extLst>
              </p:cNvPr>
              <p:cNvSpPr txBox="1">
                <a:spLocks noRot="1" noChangeAspect="1" noMove="1" noResize="1" noEditPoints="1" noAdjustHandles="1" noChangeArrowheads="1" noChangeShapeType="1" noTextEdit="1"/>
              </p:cNvSpPr>
              <p:nvPr/>
            </p:nvSpPr>
            <p:spPr>
              <a:xfrm>
                <a:off x="8500727" y="6051275"/>
                <a:ext cx="3573286" cy="323294"/>
              </a:xfrm>
              <a:prstGeom prst="rect">
                <a:avLst/>
              </a:prstGeom>
              <a:blipFill>
                <a:blip r:embed="rId12"/>
                <a:stretch>
                  <a:fillRect l="-1022" r="-1874" b="-245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71706170-FD08-B282-53AF-C03B7160D9F9}"/>
                  </a:ext>
                </a:extLst>
              </p:cNvPr>
              <p:cNvSpPr txBox="1"/>
              <p:nvPr/>
            </p:nvSpPr>
            <p:spPr>
              <a:xfrm>
                <a:off x="3051339" y="5120841"/>
                <a:ext cx="8559801" cy="358368"/>
              </a:xfrm>
              <a:prstGeom prst="rect">
                <a:avLst/>
              </a:prstGeom>
              <a:noFill/>
            </p:spPr>
            <p:txBody>
              <a:bodyPr wrap="square">
                <a:spAutoFit/>
              </a:bodyPr>
              <a:lstStyle/>
              <a:p>
                <a:r>
                  <a:rPr lang="en-US" altLang="zh-CN" sz="1600" dirty="0"/>
                  <a:t>(</a:t>
                </a:r>
                <a:r>
                  <a:rPr lang="zh-CN" altLang="en-US" sz="1600" dirty="0"/>
                  <a:t>The edge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𝑚</m:t>
                        </m:r>
                      </m:e>
                      <m:sub>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sub>
                    </m:sSub>
                  </m:oMath>
                </a14:m>
                <a:r>
                  <a:rPr lang="zh-CN" altLang="en-US" sz="1600" dirty="0"/>
                  <a:t> information is obtained from </a:t>
                </a:r>
                <a:r>
                  <a:rPr lang="en-US" altLang="zh-CN" sz="1600" dirty="0"/>
                  <a:t>3D </a:t>
                </a:r>
                <a:r>
                  <a:rPr lang="zh-CN" altLang="en-US" sz="1600" dirty="0"/>
                  <a:t>coordinates +K-Nearest Neighbors Graph</a:t>
                </a:r>
                <a:r>
                  <a:rPr lang="en-US" altLang="zh-CN" sz="1600" dirty="0"/>
                  <a:t>)</a:t>
                </a:r>
                <a:endParaRPr lang="zh-CN" altLang="en-US" sz="1600" dirty="0"/>
              </a:p>
            </p:txBody>
          </p:sp>
        </mc:Choice>
        <mc:Fallback>
          <p:sp>
            <p:nvSpPr>
              <p:cNvPr id="30" name="文本框 29">
                <a:extLst>
                  <a:ext uri="{FF2B5EF4-FFF2-40B4-BE49-F238E27FC236}">
                    <a16:creationId xmlns:a16="http://schemas.microsoft.com/office/drawing/2014/main" id="{71706170-FD08-B282-53AF-C03B7160D9F9}"/>
                  </a:ext>
                </a:extLst>
              </p:cNvPr>
              <p:cNvSpPr txBox="1">
                <a:spLocks noRot="1" noChangeAspect="1" noMove="1" noResize="1" noEditPoints="1" noAdjustHandles="1" noChangeArrowheads="1" noChangeShapeType="1" noTextEdit="1"/>
              </p:cNvSpPr>
              <p:nvPr/>
            </p:nvSpPr>
            <p:spPr>
              <a:xfrm>
                <a:off x="3051339" y="5120841"/>
                <a:ext cx="8559801" cy="358368"/>
              </a:xfrm>
              <a:prstGeom prst="rect">
                <a:avLst/>
              </a:prstGeom>
              <a:blipFill>
                <a:blip r:embed="rId13"/>
                <a:stretch>
                  <a:fillRect l="-427" t="-3390" b="-16949"/>
                </a:stretch>
              </a:blipFill>
            </p:spPr>
            <p:txBody>
              <a:bodyPr/>
              <a:lstStyle/>
              <a:p>
                <a:r>
                  <a:rPr lang="zh-CN" altLang="en-US">
                    <a:noFill/>
                  </a:rPr>
                  <a:t> </a:t>
                </a:r>
              </a:p>
            </p:txBody>
          </p:sp>
        </mc:Fallback>
      </mc:AlternateContent>
      <p:pic>
        <p:nvPicPr>
          <p:cNvPr id="32" name="图片 31">
            <a:extLst>
              <a:ext uri="{FF2B5EF4-FFF2-40B4-BE49-F238E27FC236}">
                <a16:creationId xmlns:a16="http://schemas.microsoft.com/office/drawing/2014/main" id="{94007B18-4581-A687-488C-091FF5408FE2}"/>
              </a:ext>
            </a:extLst>
          </p:cNvPr>
          <p:cNvPicPr>
            <a:picLocks noChangeAspect="1"/>
          </p:cNvPicPr>
          <p:nvPr/>
        </p:nvPicPr>
        <p:blipFill>
          <a:blip r:embed="rId14"/>
          <a:stretch>
            <a:fillRect/>
          </a:stretch>
        </p:blipFill>
        <p:spPr>
          <a:xfrm>
            <a:off x="10122340" y="1506088"/>
            <a:ext cx="1739460" cy="2233956"/>
          </a:xfrm>
          <a:prstGeom prst="rect">
            <a:avLst/>
          </a:prstGeom>
        </p:spPr>
      </p:pic>
    </p:spTree>
    <p:extLst>
      <p:ext uri="{BB962C8B-B14F-4D97-AF65-F5344CB8AC3E}">
        <p14:creationId xmlns:p14="http://schemas.microsoft.com/office/powerpoint/2010/main" val="897481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52844CA-D47D-980D-AAA7-87483F50BDCA}"/>
              </a:ext>
            </a:extLst>
          </p:cNvPr>
          <p:cNvSpPr txBox="1"/>
          <p:nvPr/>
        </p:nvSpPr>
        <p:spPr>
          <a:xfrm>
            <a:off x="494325" y="81951"/>
            <a:ext cx="7466862" cy="923330"/>
          </a:xfrm>
          <a:prstGeom prst="rect">
            <a:avLst/>
          </a:prstGeom>
          <a:noFill/>
        </p:spPr>
        <p:txBody>
          <a:bodyPr wrap="square">
            <a:spAutoFit/>
          </a:bodyPr>
          <a:lstStyle/>
          <a:p>
            <a:r>
              <a:rPr lang="zh-CN" altLang="en-US" dirty="0"/>
              <a:t>On the other hand, </a:t>
            </a:r>
            <a:endParaRPr lang="en-US" altLang="zh-CN" dirty="0"/>
          </a:p>
          <a:p>
            <a:r>
              <a:rPr lang="zh-CN" altLang="en-US" dirty="0"/>
              <a:t>the encoding embedding of protein sequences </a:t>
            </a:r>
            <a:r>
              <a:rPr lang="en-US" altLang="zh-CN" dirty="0"/>
              <a:t>(B,N,1024)</a:t>
            </a:r>
            <a:r>
              <a:rPr lang="zh-CN" altLang="en-US" dirty="0"/>
              <a:t> </a:t>
            </a:r>
            <a:r>
              <a:rPr lang="en-US" altLang="zh-CN" dirty="0"/>
              <a:t>(</a:t>
            </a:r>
            <a:r>
              <a:rPr lang="zh-CN" altLang="en-US" dirty="0"/>
              <a:t>derived from the Prot-Bert</a:t>
            </a:r>
            <a:r>
              <a:rPr lang="en-US" altLang="zh-CN" dirty="0"/>
              <a:t>, a</a:t>
            </a:r>
            <a:r>
              <a:rPr lang="zh-CN" altLang="en-US" dirty="0"/>
              <a:t> protein language model)</a:t>
            </a:r>
          </a:p>
        </p:txBody>
      </p:sp>
      <p:cxnSp>
        <p:nvCxnSpPr>
          <p:cNvPr id="7" name="直接箭头连接符 6">
            <a:extLst>
              <a:ext uri="{FF2B5EF4-FFF2-40B4-BE49-F238E27FC236}">
                <a16:creationId xmlns:a16="http://schemas.microsoft.com/office/drawing/2014/main" id="{26231BC2-BD12-1D0B-3B8B-70E5C0A569E6}"/>
              </a:ext>
            </a:extLst>
          </p:cNvPr>
          <p:cNvCxnSpPr>
            <a:cxnSpLocks/>
            <a:stCxn id="5" idx="2"/>
          </p:cNvCxnSpPr>
          <p:nvPr/>
        </p:nvCxnSpPr>
        <p:spPr>
          <a:xfrm>
            <a:off x="4227756" y="1005281"/>
            <a:ext cx="0" cy="249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53CA681F-1798-513D-17B9-AEA6C18C5231}"/>
              </a:ext>
            </a:extLst>
          </p:cNvPr>
          <p:cNvSpPr txBox="1"/>
          <p:nvPr/>
        </p:nvSpPr>
        <p:spPr>
          <a:xfrm>
            <a:off x="2311318" y="1261143"/>
            <a:ext cx="4068098" cy="369332"/>
          </a:xfrm>
          <a:prstGeom prst="rect">
            <a:avLst/>
          </a:prstGeom>
          <a:noFill/>
        </p:spPr>
        <p:txBody>
          <a:bodyPr wrap="square">
            <a:spAutoFit/>
          </a:bodyPr>
          <a:lstStyle/>
          <a:p>
            <a:r>
              <a:rPr lang="zh-CN" altLang="en-US" dirty="0"/>
              <a:t>Extract text features using DenseNet</a:t>
            </a:r>
          </a:p>
        </p:txBody>
      </p:sp>
      <p:cxnSp>
        <p:nvCxnSpPr>
          <p:cNvPr id="10" name="直接箭头连接符 9">
            <a:extLst>
              <a:ext uri="{FF2B5EF4-FFF2-40B4-BE49-F238E27FC236}">
                <a16:creationId xmlns:a16="http://schemas.microsoft.com/office/drawing/2014/main" id="{E3D9DB98-D7B3-B539-57F8-7AF9FEDDC5E0}"/>
              </a:ext>
            </a:extLst>
          </p:cNvPr>
          <p:cNvCxnSpPr>
            <a:cxnSpLocks/>
          </p:cNvCxnSpPr>
          <p:nvPr/>
        </p:nvCxnSpPr>
        <p:spPr>
          <a:xfrm>
            <a:off x="4201332" y="1668124"/>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8736965D-186B-A027-5F4E-67068B46BF23}"/>
              </a:ext>
            </a:extLst>
          </p:cNvPr>
          <p:cNvSpPr txBox="1"/>
          <p:nvPr/>
        </p:nvSpPr>
        <p:spPr>
          <a:xfrm>
            <a:off x="1297367" y="1999807"/>
            <a:ext cx="6096000" cy="369332"/>
          </a:xfrm>
          <a:prstGeom prst="rect">
            <a:avLst/>
          </a:prstGeom>
          <a:noFill/>
        </p:spPr>
        <p:txBody>
          <a:bodyPr wrap="square">
            <a:spAutoFit/>
          </a:bodyPr>
          <a:lstStyle/>
          <a:p>
            <a:r>
              <a:rPr lang="zh-CN" altLang="en-US" dirty="0"/>
              <a:t>Calculate the covariance matrix and regularize its diagonal</a:t>
            </a:r>
          </a:p>
        </p:txBody>
      </p:sp>
      <p:cxnSp>
        <p:nvCxnSpPr>
          <p:cNvPr id="19" name="直接箭头连接符 18">
            <a:extLst>
              <a:ext uri="{FF2B5EF4-FFF2-40B4-BE49-F238E27FC236}">
                <a16:creationId xmlns:a16="http://schemas.microsoft.com/office/drawing/2014/main" id="{84594DD5-5A50-6738-2447-88C98B9D9512}"/>
              </a:ext>
            </a:extLst>
          </p:cNvPr>
          <p:cNvCxnSpPr>
            <a:cxnSpLocks/>
          </p:cNvCxnSpPr>
          <p:nvPr/>
        </p:nvCxnSpPr>
        <p:spPr>
          <a:xfrm>
            <a:off x="4802212" y="2369139"/>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29BBE0E6-ED9D-E93B-BE8D-60542E224018}"/>
                  </a:ext>
                </a:extLst>
              </p:cNvPr>
              <p:cNvSpPr txBox="1"/>
              <p:nvPr/>
            </p:nvSpPr>
            <p:spPr>
              <a:xfrm>
                <a:off x="3476219" y="2800195"/>
                <a:ext cx="2890728" cy="32329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p:sp>
            <p:nvSpPr>
              <p:cNvPr id="21" name="文本框 20">
                <a:extLst>
                  <a:ext uri="{FF2B5EF4-FFF2-40B4-BE49-F238E27FC236}">
                    <a16:creationId xmlns:a16="http://schemas.microsoft.com/office/drawing/2014/main" id="{29BBE0E6-ED9D-E93B-BE8D-60542E224018}"/>
                  </a:ext>
                </a:extLst>
              </p:cNvPr>
              <p:cNvSpPr txBox="1">
                <a:spLocks noRot="1" noChangeAspect="1" noMove="1" noResize="1" noEditPoints="1" noAdjustHandles="1" noChangeArrowheads="1" noChangeShapeType="1" noTextEdit="1"/>
              </p:cNvSpPr>
              <p:nvPr/>
            </p:nvSpPr>
            <p:spPr>
              <a:xfrm>
                <a:off x="3476219" y="2800195"/>
                <a:ext cx="2890728" cy="323294"/>
              </a:xfrm>
              <a:prstGeom prst="rect">
                <a:avLst/>
              </a:prstGeom>
              <a:blipFill>
                <a:blip r:embed="rId3"/>
                <a:stretch>
                  <a:fillRect l="-1266" r="-2532" b="-264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a:extLst>
                  <a:ext uri="{FF2B5EF4-FFF2-40B4-BE49-F238E27FC236}">
                    <a16:creationId xmlns:a16="http://schemas.microsoft.com/office/drawing/2014/main" id="{7053E052-D9F0-B795-7EDA-F58C53D836DA}"/>
                  </a:ext>
                </a:extLst>
              </p:cNvPr>
              <p:cNvSpPr txBox="1"/>
              <p:nvPr/>
            </p:nvSpPr>
            <p:spPr>
              <a:xfrm>
                <a:off x="180260" y="2675800"/>
                <a:ext cx="2890728" cy="32329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p:sp>
            <p:nvSpPr>
              <p:cNvPr id="22" name="文本框 21">
                <a:extLst>
                  <a:ext uri="{FF2B5EF4-FFF2-40B4-BE49-F238E27FC236}">
                    <a16:creationId xmlns:a16="http://schemas.microsoft.com/office/drawing/2014/main" id="{7053E052-D9F0-B795-7EDA-F58C53D836DA}"/>
                  </a:ext>
                </a:extLst>
              </p:cNvPr>
              <p:cNvSpPr txBox="1">
                <a:spLocks noRot="1" noChangeAspect="1" noMove="1" noResize="1" noEditPoints="1" noAdjustHandles="1" noChangeArrowheads="1" noChangeShapeType="1" noTextEdit="1"/>
              </p:cNvSpPr>
              <p:nvPr/>
            </p:nvSpPr>
            <p:spPr>
              <a:xfrm>
                <a:off x="180260" y="2675800"/>
                <a:ext cx="2890728" cy="323294"/>
              </a:xfrm>
              <a:prstGeom prst="rect">
                <a:avLst/>
              </a:prstGeom>
              <a:blipFill>
                <a:blip r:embed="rId4"/>
                <a:stretch>
                  <a:fillRect l="-1477" r="-2321" b="-24528"/>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7B709410-EF4B-9B4E-E112-80C73040EE76}"/>
              </a:ext>
            </a:extLst>
          </p:cNvPr>
          <p:cNvCxnSpPr>
            <a:cxnSpLocks/>
          </p:cNvCxnSpPr>
          <p:nvPr/>
        </p:nvCxnSpPr>
        <p:spPr>
          <a:xfrm>
            <a:off x="1421499" y="3123489"/>
            <a:ext cx="0" cy="2575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0A4126D3-B8DD-6683-20D3-597E4325B06D}"/>
              </a:ext>
            </a:extLst>
          </p:cNvPr>
          <p:cNvSpPr txBox="1"/>
          <p:nvPr/>
        </p:nvSpPr>
        <p:spPr>
          <a:xfrm>
            <a:off x="48407" y="3395863"/>
            <a:ext cx="4179349" cy="369332"/>
          </a:xfrm>
          <a:prstGeom prst="rect">
            <a:avLst/>
          </a:prstGeom>
          <a:noFill/>
        </p:spPr>
        <p:txBody>
          <a:bodyPr wrap="none" rtlCol="0">
            <a:spAutoFit/>
          </a:bodyPr>
          <a:lstStyle/>
          <a:p>
            <a:r>
              <a:rPr lang="en-US" altLang="zh-CN" dirty="0"/>
              <a:t>Linear, Multi-head Self-Attention, Linear</a:t>
            </a:r>
            <a:endParaRPr lang="zh-CN" altLang="en-US" dirty="0"/>
          </a:p>
        </p:txBody>
      </p:sp>
      <p:cxnSp>
        <p:nvCxnSpPr>
          <p:cNvPr id="25" name="直接箭头连接符 24">
            <a:extLst>
              <a:ext uri="{FF2B5EF4-FFF2-40B4-BE49-F238E27FC236}">
                <a16:creationId xmlns:a16="http://schemas.microsoft.com/office/drawing/2014/main" id="{6C5F5360-721F-A6D0-C251-E66D9060BF6D}"/>
              </a:ext>
            </a:extLst>
          </p:cNvPr>
          <p:cNvCxnSpPr>
            <a:cxnSpLocks/>
          </p:cNvCxnSpPr>
          <p:nvPr/>
        </p:nvCxnSpPr>
        <p:spPr>
          <a:xfrm>
            <a:off x="1418918" y="3765195"/>
            <a:ext cx="0" cy="3316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6B9D32B3-B717-F79B-8CC7-55DBDA6A509F}"/>
                  </a:ext>
                </a:extLst>
              </p:cNvPr>
              <p:cNvSpPr txBox="1"/>
              <p:nvPr/>
            </p:nvSpPr>
            <p:spPr>
              <a:xfrm>
                <a:off x="254862" y="4288480"/>
                <a:ext cx="3422091" cy="4120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m:t>
                          </m:r>
                          <m:r>
                            <a:rPr lang="en-US" altLang="zh-CN" b="0" i="1" smtClean="0">
                              <a:latin typeface="Cambria Math" panose="02040503050406030204" pitchFamily="18" charset="0"/>
                            </a:rPr>
                            <m:t>_</m:t>
                          </m:r>
                          <m:r>
                            <a:rPr lang="en-US" altLang="zh-CN" b="0" i="1" smtClean="0">
                              <a:latin typeface="Cambria Math" panose="02040503050406030204" pitchFamily="18" charset="0"/>
                            </a:rPr>
                            <m:t>𝑝𝑜𝑠</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oMath>
                  </m:oMathPara>
                </a14:m>
                <a:endParaRPr lang="zh-CN" altLang="en-US" dirty="0"/>
              </a:p>
            </p:txBody>
          </p:sp>
        </mc:Choice>
        <mc:Fallback>
          <p:sp>
            <p:nvSpPr>
              <p:cNvPr id="26" name="文本框 25">
                <a:extLst>
                  <a:ext uri="{FF2B5EF4-FFF2-40B4-BE49-F238E27FC236}">
                    <a16:creationId xmlns:a16="http://schemas.microsoft.com/office/drawing/2014/main" id="{6B9D32B3-B717-F79B-8CC7-55DBDA6A509F}"/>
                  </a:ext>
                </a:extLst>
              </p:cNvPr>
              <p:cNvSpPr txBox="1">
                <a:spLocks noRot="1" noChangeAspect="1" noMove="1" noResize="1" noEditPoints="1" noAdjustHandles="1" noChangeArrowheads="1" noChangeShapeType="1" noTextEdit="1"/>
              </p:cNvSpPr>
              <p:nvPr/>
            </p:nvSpPr>
            <p:spPr>
              <a:xfrm>
                <a:off x="254862" y="4288480"/>
                <a:ext cx="3422091" cy="412036"/>
              </a:xfrm>
              <a:prstGeom prst="rect">
                <a:avLst/>
              </a:prstGeom>
              <a:blipFill>
                <a:blip r:embed="rId5"/>
                <a:stretch>
                  <a:fillRect l="-1070" r="-1961" b="-102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4990BB0D-36B2-BDDD-7AA5-648943C0640B}"/>
                  </a:ext>
                </a:extLst>
              </p:cNvPr>
              <p:cNvSpPr txBox="1"/>
              <p:nvPr/>
            </p:nvSpPr>
            <p:spPr>
              <a:xfrm>
                <a:off x="274571" y="6179968"/>
                <a:ext cx="3328219" cy="41203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𝑇𝑟𝑢𝑒</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up>
                              <m:r>
                                <a:rPr lang="en-US" altLang="zh-CN" b="0" i="1" smtClean="0">
                                  <a:latin typeface="Cambria Math" panose="02040503050406030204" pitchFamily="18" charset="0"/>
                                </a:rPr>
                                <m:t>𝑝𝑜𝑠</m:t>
                              </m:r>
                            </m:sup>
                          </m:sSubSup>
                          <m:r>
                            <a:rPr lang="en-US" altLang="zh-CN" b="0" i="1" smtClean="0">
                              <a:latin typeface="Cambria Math" panose="02040503050406030204" pitchFamily="18" charset="0"/>
                            </a:rPr>
                            <m:t> </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,3]</m:t>
                      </m:r>
                    </m:oMath>
                  </m:oMathPara>
                </a14:m>
                <a:endParaRPr lang="zh-CN" altLang="en-US" dirty="0"/>
              </a:p>
            </p:txBody>
          </p:sp>
        </mc:Choice>
        <mc:Fallback>
          <p:sp>
            <p:nvSpPr>
              <p:cNvPr id="27" name="文本框 26">
                <a:extLst>
                  <a:ext uri="{FF2B5EF4-FFF2-40B4-BE49-F238E27FC236}">
                    <a16:creationId xmlns:a16="http://schemas.microsoft.com/office/drawing/2014/main" id="{4990BB0D-36B2-BDDD-7AA5-648943C0640B}"/>
                  </a:ext>
                </a:extLst>
              </p:cNvPr>
              <p:cNvSpPr txBox="1">
                <a:spLocks noRot="1" noChangeAspect="1" noMove="1" noResize="1" noEditPoints="1" noAdjustHandles="1" noChangeArrowheads="1" noChangeShapeType="1" noTextEdit="1"/>
              </p:cNvSpPr>
              <p:nvPr/>
            </p:nvSpPr>
            <p:spPr>
              <a:xfrm>
                <a:off x="274571" y="6179968"/>
                <a:ext cx="3328219" cy="412036"/>
              </a:xfrm>
              <a:prstGeom prst="rect">
                <a:avLst/>
              </a:prstGeom>
              <a:blipFill>
                <a:blip r:embed="rId6"/>
                <a:stretch>
                  <a:fillRect l="-916" r="-2015" b="-104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DED47962-20CD-67E6-FC82-C072610DE64F}"/>
                  </a:ext>
                </a:extLst>
              </p:cNvPr>
              <p:cNvSpPr txBox="1"/>
              <p:nvPr/>
            </p:nvSpPr>
            <p:spPr>
              <a:xfrm>
                <a:off x="895579" y="5223801"/>
                <a:ext cx="5008422" cy="71942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𝑆𝑚𝑜𝑜𝑡h𝐿</m:t>
                      </m:r>
                      <m:r>
                        <a:rPr lang="en-US" altLang="zh-CN" b="0" i="1" smtClean="0">
                          <a:latin typeface="Cambria Math" panose="02040503050406030204" pitchFamily="18" charset="0"/>
                        </a:rPr>
                        <m:t>1</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0.5(</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  </m:t>
                              </m:r>
                              <m:r>
                                <a:rPr lang="en-US" altLang="zh-CN" b="0" i="1" smtClean="0">
                                  <a:latin typeface="Cambria Math" panose="02040503050406030204" pitchFamily="18" charset="0"/>
                                </a:rPr>
                                <m:t>𝑖𝑓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&lt;1</m:t>
                              </m:r>
                            </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−0.5,  </m:t>
                              </m:r>
                              <m:r>
                                <a:rPr lang="en-US" altLang="zh-CN" b="0" i="1" smtClean="0">
                                  <a:latin typeface="Cambria Math" panose="02040503050406030204" pitchFamily="18" charset="0"/>
                                </a:rPr>
                                <m:t>𝑜𝑡h𝑒𝑟𝑤𝑖𝑠𝑒</m:t>
                              </m:r>
                            </m:e>
                          </m:eqArr>
                        </m:e>
                      </m:d>
                    </m:oMath>
                  </m:oMathPara>
                </a14:m>
                <a:endParaRPr lang="zh-CN" altLang="en-US" dirty="0"/>
              </a:p>
            </p:txBody>
          </p:sp>
        </mc:Choice>
        <mc:Fallback>
          <p:sp>
            <p:nvSpPr>
              <p:cNvPr id="28" name="文本框 27">
                <a:extLst>
                  <a:ext uri="{FF2B5EF4-FFF2-40B4-BE49-F238E27FC236}">
                    <a16:creationId xmlns:a16="http://schemas.microsoft.com/office/drawing/2014/main" id="{DED47962-20CD-67E6-FC82-C072610DE64F}"/>
                  </a:ext>
                </a:extLst>
              </p:cNvPr>
              <p:cNvSpPr txBox="1">
                <a:spLocks noRot="1" noChangeAspect="1" noMove="1" noResize="1" noEditPoints="1" noAdjustHandles="1" noChangeArrowheads="1" noChangeShapeType="1" noTextEdit="1"/>
              </p:cNvSpPr>
              <p:nvPr/>
            </p:nvSpPr>
            <p:spPr>
              <a:xfrm>
                <a:off x="895579" y="5223801"/>
                <a:ext cx="5008422" cy="719428"/>
              </a:xfrm>
              <a:prstGeom prst="rect">
                <a:avLst/>
              </a:prstGeom>
              <a:blipFill>
                <a:blip r:embed="rId7"/>
                <a:stretch>
                  <a:fillRect/>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761BC893-EA73-2262-BE69-2AF29680EEC3}"/>
              </a:ext>
            </a:extLst>
          </p:cNvPr>
          <p:cNvCxnSpPr>
            <a:stCxn id="26" idx="2"/>
          </p:cNvCxnSpPr>
          <p:nvPr/>
        </p:nvCxnSpPr>
        <p:spPr>
          <a:xfrm>
            <a:off x="1965908" y="4700516"/>
            <a:ext cx="733047" cy="372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807742C6-78AC-5F08-6A5A-FAB5651CE453}"/>
              </a:ext>
            </a:extLst>
          </p:cNvPr>
          <p:cNvCxnSpPr>
            <a:cxnSpLocks/>
            <a:stCxn id="27" idx="0"/>
          </p:cNvCxnSpPr>
          <p:nvPr/>
        </p:nvCxnSpPr>
        <p:spPr>
          <a:xfrm flipV="1">
            <a:off x="1938681" y="5875134"/>
            <a:ext cx="760274" cy="304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接箭头连接符 34">
            <a:extLst>
              <a:ext uri="{FF2B5EF4-FFF2-40B4-BE49-F238E27FC236}">
                <a16:creationId xmlns:a16="http://schemas.microsoft.com/office/drawing/2014/main" id="{72ED204F-998F-37FE-FCFA-8484D80FF2F4}"/>
              </a:ext>
            </a:extLst>
          </p:cNvPr>
          <p:cNvCxnSpPr/>
          <p:nvPr/>
        </p:nvCxnSpPr>
        <p:spPr>
          <a:xfrm>
            <a:off x="6096000" y="5583515"/>
            <a:ext cx="3048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8" name="文本框 37">
                <a:extLst>
                  <a:ext uri="{FF2B5EF4-FFF2-40B4-BE49-F238E27FC236}">
                    <a16:creationId xmlns:a16="http://schemas.microsoft.com/office/drawing/2014/main" id="{99BE0F44-4143-32AB-F97A-9F9074161F22}"/>
                  </a:ext>
                </a:extLst>
              </p:cNvPr>
              <p:cNvSpPr txBox="1"/>
              <p:nvPr/>
            </p:nvSpPr>
            <p:spPr>
              <a:xfrm>
                <a:off x="6288001" y="5398849"/>
                <a:ext cx="12093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1</m:t>
                      </m:r>
                    </m:oMath>
                  </m:oMathPara>
                </a14:m>
                <a:endParaRPr lang="zh-CN" altLang="en-US" dirty="0"/>
              </a:p>
            </p:txBody>
          </p:sp>
        </mc:Choice>
        <mc:Fallback>
          <p:sp>
            <p:nvSpPr>
              <p:cNvPr id="38" name="文本框 37">
                <a:extLst>
                  <a:ext uri="{FF2B5EF4-FFF2-40B4-BE49-F238E27FC236}">
                    <a16:creationId xmlns:a16="http://schemas.microsoft.com/office/drawing/2014/main" id="{99BE0F44-4143-32AB-F97A-9F9074161F22}"/>
                  </a:ext>
                </a:extLst>
              </p:cNvPr>
              <p:cNvSpPr txBox="1">
                <a:spLocks noRot="1" noChangeAspect="1" noMove="1" noResize="1" noEditPoints="1" noAdjustHandles="1" noChangeArrowheads="1" noChangeShapeType="1" noTextEdit="1"/>
              </p:cNvSpPr>
              <p:nvPr/>
            </p:nvSpPr>
            <p:spPr>
              <a:xfrm>
                <a:off x="6288001" y="5398849"/>
                <a:ext cx="1209368"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文本框 39">
                <a:extLst>
                  <a:ext uri="{FF2B5EF4-FFF2-40B4-BE49-F238E27FC236}">
                    <a16:creationId xmlns:a16="http://schemas.microsoft.com/office/drawing/2014/main" id="{1A036406-4C87-2FF1-C1C3-14F85F39E026}"/>
                  </a:ext>
                </a:extLst>
              </p:cNvPr>
              <p:cNvSpPr txBox="1"/>
              <p:nvPr/>
            </p:nvSpPr>
            <p:spPr>
              <a:xfrm>
                <a:off x="6482777" y="2738471"/>
                <a:ext cx="3057832" cy="4156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ℱ</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,256]</m:t>
                      </m:r>
                    </m:oMath>
                  </m:oMathPara>
                </a14:m>
                <a:endParaRPr lang="zh-CN" altLang="en-US" dirty="0"/>
              </a:p>
            </p:txBody>
          </p:sp>
        </mc:Choice>
        <mc:Fallback>
          <p:sp>
            <p:nvSpPr>
              <p:cNvPr id="40" name="文本框 39">
                <a:extLst>
                  <a:ext uri="{FF2B5EF4-FFF2-40B4-BE49-F238E27FC236}">
                    <a16:creationId xmlns:a16="http://schemas.microsoft.com/office/drawing/2014/main" id="{1A036406-4C87-2FF1-C1C3-14F85F39E026}"/>
                  </a:ext>
                </a:extLst>
              </p:cNvPr>
              <p:cNvSpPr txBox="1">
                <a:spLocks noRot="1" noChangeAspect="1" noMove="1" noResize="1" noEditPoints="1" noAdjustHandles="1" noChangeArrowheads="1" noChangeShapeType="1" noTextEdit="1"/>
              </p:cNvSpPr>
              <p:nvPr/>
            </p:nvSpPr>
            <p:spPr>
              <a:xfrm>
                <a:off x="6482777" y="2738471"/>
                <a:ext cx="3057832" cy="415627"/>
              </a:xfrm>
              <a:prstGeom prst="rect">
                <a:avLst/>
              </a:prstGeom>
              <a:blipFill>
                <a:blip r:embed="rId9"/>
                <a:stretch>
                  <a:fillRect b="-8824"/>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0080816B-5179-E376-E365-5F09323AA3AB}"/>
              </a:ext>
            </a:extLst>
          </p:cNvPr>
          <p:cNvSpPr txBox="1"/>
          <p:nvPr/>
        </p:nvSpPr>
        <p:spPr>
          <a:xfrm>
            <a:off x="4802212" y="3583891"/>
            <a:ext cx="3422090" cy="800219"/>
          </a:xfrm>
          <a:prstGeom prst="rect">
            <a:avLst/>
          </a:prstGeom>
          <a:noFill/>
        </p:spPr>
        <p:txBody>
          <a:bodyPr wrap="square">
            <a:spAutoFit/>
          </a:bodyPr>
          <a:lstStyle/>
          <a:p>
            <a:r>
              <a:rPr lang="en-US" altLang="zh-CN" dirty="0"/>
              <a:t>Contrastive Learning</a:t>
            </a:r>
            <a:br>
              <a:rPr lang="en-US" altLang="zh-CN" dirty="0"/>
            </a:br>
            <a:r>
              <a:rPr lang="en-US" altLang="zh-CN" sz="1400" dirty="0"/>
              <a:t>All corresponding vectors’ inner product = 1, and non-corresponding ones are 0</a:t>
            </a:r>
            <a:endParaRPr lang="zh-CN" altLang="en-US" dirty="0"/>
          </a:p>
        </p:txBody>
      </p:sp>
      <p:cxnSp>
        <p:nvCxnSpPr>
          <p:cNvPr id="43" name="直接箭头连接符 42">
            <a:extLst>
              <a:ext uri="{FF2B5EF4-FFF2-40B4-BE49-F238E27FC236}">
                <a16:creationId xmlns:a16="http://schemas.microsoft.com/office/drawing/2014/main" id="{29F05B84-95BC-8684-F0A6-E6AAE19E9A96}"/>
              </a:ext>
            </a:extLst>
          </p:cNvPr>
          <p:cNvCxnSpPr/>
          <p:nvPr/>
        </p:nvCxnSpPr>
        <p:spPr>
          <a:xfrm>
            <a:off x="5255123" y="3180353"/>
            <a:ext cx="733047" cy="3729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直接箭头连接符 43">
            <a:extLst>
              <a:ext uri="{FF2B5EF4-FFF2-40B4-BE49-F238E27FC236}">
                <a16:creationId xmlns:a16="http://schemas.microsoft.com/office/drawing/2014/main" id="{21FBCF66-CB50-20F0-F0C5-65AA76054065}"/>
              </a:ext>
            </a:extLst>
          </p:cNvPr>
          <p:cNvCxnSpPr>
            <a:cxnSpLocks/>
          </p:cNvCxnSpPr>
          <p:nvPr/>
        </p:nvCxnSpPr>
        <p:spPr>
          <a:xfrm flipH="1">
            <a:off x="6482777" y="3150501"/>
            <a:ext cx="936755" cy="4333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直接箭头连接符 45">
            <a:extLst>
              <a:ext uri="{FF2B5EF4-FFF2-40B4-BE49-F238E27FC236}">
                <a16:creationId xmlns:a16="http://schemas.microsoft.com/office/drawing/2014/main" id="{722191A4-2955-A6BC-140A-55EEA23BEDCA}"/>
              </a:ext>
            </a:extLst>
          </p:cNvPr>
          <p:cNvCxnSpPr>
            <a:cxnSpLocks/>
          </p:cNvCxnSpPr>
          <p:nvPr/>
        </p:nvCxnSpPr>
        <p:spPr>
          <a:xfrm>
            <a:off x="6061095" y="4391924"/>
            <a:ext cx="0" cy="308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8" name="文本框 47">
                <a:extLst>
                  <a:ext uri="{FF2B5EF4-FFF2-40B4-BE49-F238E27FC236}">
                    <a16:creationId xmlns:a16="http://schemas.microsoft.com/office/drawing/2014/main" id="{CD9BE8AB-2A64-D76C-F7C9-FFDE31A7FDBB}"/>
                  </a:ext>
                </a:extLst>
              </p:cNvPr>
              <p:cNvSpPr txBox="1"/>
              <p:nvPr/>
            </p:nvSpPr>
            <p:spPr>
              <a:xfrm>
                <a:off x="5456411" y="4681156"/>
                <a:ext cx="12093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2</m:t>
                      </m:r>
                    </m:oMath>
                  </m:oMathPara>
                </a14:m>
                <a:endParaRPr lang="zh-CN" altLang="en-US" dirty="0"/>
              </a:p>
            </p:txBody>
          </p:sp>
        </mc:Choice>
        <mc:Fallback>
          <p:sp>
            <p:nvSpPr>
              <p:cNvPr id="48" name="文本框 47">
                <a:extLst>
                  <a:ext uri="{FF2B5EF4-FFF2-40B4-BE49-F238E27FC236}">
                    <a16:creationId xmlns:a16="http://schemas.microsoft.com/office/drawing/2014/main" id="{CD9BE8AB-2A64-D76C-F7C9-FFDE31A7FDBB}"/>
                  </a:ext>
                </a:extLst>
              </p:cNvPr>
              <p:cNvSpPr txBox="1">
                <a:spLocks noRot="1" noChangeAspect="1" noMove="1" noResize="1" noEditPoints="1" noAdjustHandles="1" noChangeArrowheads="1" noChangeShapeType="1" noTextEdit="1"/>
              </p:cNvSpPr>
              <p:nvPr/>
            </p:nvSpPr>
            <p:spPr>
              <a:xfrm>
                <a:off x="5456411" y="4681156"/>
                <a:ext cx="1209368" cy="36933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文本框 49">
                <a:extLst>
                  <a:ext uri="{FF2B5EF4-FFF2-40B4-BE49-F238E27FC236}">
                    <a16:creationId xmlns:a16="http://schemas.microsoft.com/office/drawing/2014/main" id="{55214C24-AAFD-ADE0-118A-F7FEEE14C2E0}"/>
                  </a:ext>
                </a:extLst>
              </p:cNvPr>
              <p:cNvSpPr txBox="1"/>
              <p:nvPr/>
            </p:nvSpPr>
            <p:spPr>
              <a:xfrm>
                <a:off x="6579255" y="6108763"/>
                <a:ext cx="332821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𝑙𝑜𝑠</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𝑎𝑙𝑙</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1+0.1</m:t>
                      </m:r>
                      <m:r>
                        <a:rPr lang="en-US" altLang="zh-CN" b="0" i="1" smtClean="0">
                          <a:latin typeface="Cambria Math" panose="02040503050406030204" pitchFamily="18" charset="0"/>
                        </a:rPr>
                        <m:t>𝑙𝑜𝑠𝑠</m:t>
                      </m:r>
                      <m:r>
                        <a:rPr lang="en-US" altLang="zh-CN" b="0" i="1" smtClean="0">
                          <a:latin typeface="Cambria Math" panose="02040503050406030204" pitchFamily="18" charset="0"/>
                        </a:rPr>
                        <m:t>2</m:t>
                      </m:r>
                    </m:oMath>
                  </m:oMathPara>
                </a14:m>
                <a:endParaRPr lang="zh-CN" altLang="en-US" dirty="0"/>
              </a:p>
            </p:txBody>
          </p:sp>
        </mc:Choice>
        <mc:Fallback>
          <p:sp>
            <p:nvSpPr>
              <p:cNvPr id="50" name="文本框 49">
                <a:extLst>
                  <a:ext uri="{FF2B5EF4-FFF2-40B4-BE49-F238E27FC236}">
                    <a16:creationId xmlns:a16="http://schemas.microsoft.com/office/drawing/2014/main" id="{55214C24-AAFD-ADE0-118A-F7FEEE14C2E0}"/>
                  </a:ext>
                </a:extLst>
              </p:cNvPr>
              <p:cNvSpPr txBox="1">
                <a:spLocks noRot="1" noChangeAspect="1" noMove="1" noResize="1" noEditPoints="1" noAdjustHandles="1" noChangeArrowheads="1" noChangeShapeType="1" noTextEdit="1"/>
              </p:cNvSpPr>
              <p:nvPr/>
            </p:nvSpPr>
            <p:spPr>
              <a:xfrm>
                <a:off x="6579255" y="6108763"/>
                <a:ext cx="3328218" cy="369332"/>
              </a:xfrm>
              <a:prstGeom prst="rect">
                <a:avLst/>
              </a:prstGeom>
              <a:blipFill>
                <a:blip r:embed="rId11"/>
                <a:stretch>
                  <a:fillRect/>
                </a:stretch>
              </a:blipFill>
            </p:spPr>
            <p:txBody>
              <a:bodyPr/>
              <a:lstStyle/>
              <a:p>
                <a:r>
                  <a:rPr lang="zh-CN" altLang="en-US">
                    <a:noFill/>
                  </a:rPr>
                  <a:t> </a:t>
                </a:r>
              </a:p>
            </p:txBody>
          </p:sp>
        </mc:Fallback>
      </mc:AlternateContent>
      <p:pic>
        <p:nvPicPr>
          <p:cNvPr id="51" name="图片 50">
            <a:extLst>
              <a:ext uri="{FF2B5EF4-FFF2-40B4-BE49-F238E27FC236}">
                <a16:creationId xmlns:a16="http://schemas.microsoft.com/office/drawing/2014/main" id="{EBB7C8A4-5AA6-40E7-C07E-C243ECE2B612}"/>
              </a:ext>
            </a:extLst>
          </p:cNvPr>
          <p:cNvPicPr>
            <a:picLocks noChangeAspect="1"/>
          </p:cNvPicPr>
          <p:nvPr/>
        </p:nvPicPr>
        <p:blipFill>
          <a:blip r:embed="rId12"/>
          <a:stretch>
            <a:fillRect/>
          </a:stretch>
        </p:blipFill>
        <p:spPr>
          <a:xfrm>
            <a:off x="9536637" y="153479"/>
            <a:ext cx="2513098" cy="3227525"/>
          </a:xfrm>
          <a:prstGeom prst="rect">
            <a:avLst/>
          </a:prstGeom>
        </p:spPr>
      </p:pic>
      <p:sp>
        <p:nvSpPr>
          <p:cNvPr id="56" name="文本框 55">
            <a:extLst>
              <a:ext uri="{FF2B5EF4-FFF2-40B4-BE49-F238E27FC236}">
                <a16:creationId xmlns:a16="http://schemas.microsoft.com/office/drawing/2014/main" id="{D28DD865-3543-02A8-4EAE-835C836934F2}"/>
              </a:ext>
            </a:extLst>
          </p:cNvPr>
          <p:cNvSpPr txBox="1"/>
          <p:nvPr/>
        </p:nvSpPr>
        <p:spPr>
          <a:xfrm>
            <a:off x="9855016" y="3338320"/>
            <a:ext cx="2260555" cy="369332"/>
          </a:xfrm>
          <a:prstGeom prst="rect">
            <a:avLst/>
          </a:prstGeom>
          <a:noFill/>
        </p:spPr>
        <p:txBody>
          <a:bodyPr wrap="none" rtlCol="0">
            <a:spAutoFit/>
          </a:bodyPr>
          <a:lstStyle/>
          <a:p>
            <a:r>
              <a:rPr lang="en-US" altLang="zh-CN" dirty="0"/>
              <a:t>Pre-trained extractor</a:t>
            </a:r>
            <a:endParaRPr lang="zh-CN" altLang="en-US" dirty="0"/>
          </a:p>
        </p:txBody>
      </p:sp>
    </p:spTree>
    <p:extLst>
      <p:ext uri="{BB962C8B-B14F-4D97-AF65-F5344CB8AC3E}">
        <p14:creationId xmlns:p14="http://schemas.microsoft.com/office/powerpoint/2010/main" val="2327870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250B710-C816-B305-EF9A-A45EB1D6A712}"/>
              </a:ext>
            </a:extLst>
          </p:cNvPr>
          <p:cNvPicPr>
            <a:picLocks noChangeAspect="1"/>
          </p:cNvPicPr>
          <p:nvPr/>
        </p:nvPicPr>
        <p:blipFill>
          <a:blip r:embed="rId2"/>
          <a:stretch>
            <a:fillRect/>
          </a:stretch>
        </p:blipFill>
        <p:spPr>
          <a:xfrm>
            <a:off x="357709" y="116911"/>
            <a:ext cx="7225337" cy="4114429"/>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B981D6A7-7D72-112B-6DAB-E520DFA3968D}"/>
                  </a:ext>
                </a:extLst>
              </p:cNvPr>
              <p:cNvSpPr txBox="1"/>
              <p:nvPr/>
            </p:nvSpPr>
            <p:spPr>
              <a:xfrm>
                <a:off x="357709" y="5272549"/>
                <a:ext cx="85356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𝑃𝑟𝑜𝑡𝑒𝑖𝑛</m:t>
                      </m:r>
                    </m:oMath>
                  </m:oMathPara>
                </a14:m>
                <a:endParaRPr lang="zh-CN" altLang="en-US" dirty="0"/>
              </a:p>
            </p:txBody>
          </p:sp>
        </mc:Choice>
        <mc:Fallback>
          <p:sp>
            <p:nvSpPr>
              <p:cNvPr id="6" name="文本框 5">
                <a:extLst>
                  <a:ext uri="{FF2B5EF4-FFF2-40B4-BE49-F238E27FC236}">
                    <a16:creationId xmlns:a16="http://schemas.microsoft.com/office/drawing/2014/main" id="{B981D6A7-7D72-112B-6DAB-E520DFA3968D}"/>
                  </a:ext>
                </a:extLst>
              </p:cNvPr>
              <p:cNvSpPr txBox="1">
                <a:spLocks noRot="1" noChangeAspect="1" noMove="1" noResize="1" noEditPoints="1" noAdjustHandles="1" noChangeArrowheads="1" noChangeShapeType="1" noTextEdit="1"/>
              </p:cNvSpPr>
              <p:nvPr/>
            </p:nvSpPr>
            <p:spPr>
              <a:xfrm>
                <a:off x="357709" y="5272549"/>
                <a:ext cx="853567" cy="276999"/>
              </a:xfrm>
              <a:prstGeom prst="rect">
                <a:avLst/>
              </a:prstGeom>
              <a:blipFill>
                <a:blip r:embed="rId3"/>
                <a:stretch>
                  <a:fillRect l="-5714" r="-6429" b="-8889"/>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DF5F91E1-352E-6D00-E8F5-EB25BBA23C97}"/>
              </a:ext>
            </a:extLst>
          </p:cNvPr>
          <p:cNvCxnSpPr/>
          <p:nvPr/>
        </p:nvCxnSpPr>
        <p:spPr>
          <a:xfrm>
            <a:off x="1211276" y="5549548"/>
            <a:ext cx="440543" cy="394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C693DD35-DE49-5F4E-EA09-B35353CCFEE4}"/>
              </a:ext>
            </a:extLst>
          </p:cNvPr>
          <p:cNvSpPr txBox="1"/>
          <p:nvPr/>
        </p:nvSpPr>
        <p:spPr>
          <a:xfrm>
            <a:off x="5162941" y="6069216"/>
            <a:ext cx="1804219" cy="369332"/>
          </a:xfrm>
          <a:prstGeom prst="rect">
            <a:avLst/>
          </a:prstGeom>
          <a:noFill/>
        </p:spPr>
        <p:txBody>
          <a:bodyPr wrap="square">
            <a:spAutoFit/>
          </a:bodyPr>
          <a:lstStyle/>
          <a:p>
            <a:r>
              <a:rPr lang="zh-CN" altLang="en-US" dirty="0"/>
              <a:t>DenseNet</a:t>
            </a:r>
          </a:p>
        </p:txBody>
      </p:sp>
      <p:sp>
        <p:nvSpPr>
          <p:cNvPr id="16" name="文本框 15">
            <a:extLst>
              <a:ext uri="{FF2B5EF4-FFF2-40B4-BE49-F238E27FC236}">
                <a16:creationId xmlns:a16="http://schemas.microsoft.com/office/drawing/2014/main" id="{154DE6A1-72FC-5C29-ACB3-00965EBB4A00}"/>
              </a:ext>
            </a:extLst>
          </p:cNvPr>
          <p:cNvSpPr txBox="1"/>
          <p:nvPr/>
        </p:nvSpPr>
        <p:spPr>
          <a:xfrm>
            <a:off x="4934773" y="6307688"/>
            <a:ext cx="1804219" cy="369332"/>
          </a:xfrm>
          <a:prstGeom prst="rect">
            <a:avLst/>
          </a:prstGeom>
          <a:noFill/>
        </p:spPr>
        <p:txBody>
          <a:bodyPr wrap="square">
            <a:spAutoFit/>
          </a:bodyPr>
          <a:lstStyle/>
          <a:p>
            <a:r>
              <a:rPr lang="zh-CN" altLang="en-US" dirty="0"/>
              <a:t>the </a:t>
            </a:r>
            <a:r>
              <a:rPr lang="en-US" altLang="zh-CN" dirty="0"/>
              <a:t>SPD</a:t>
            </a:r>
            <a:r>
              <a:rPr lang="zh-CN" altLang="en-US" dirty="0"/>
              <a:t> matrix </a:t>
            </a:r>
          </a:p>
        </p:txBody>
      </p:sp>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58CC3A3B-41FF-F66F-F94D-9D8C08A0979F}"/>
                  </a:ext>
                </a:extLst>
              </p:cNvPr>
              <p:cNvSpPr txBox="1"/>
              <p:nvPr/>
            </p:nvSpPr>
            <p:spPr>
              <a:xfrm>
                <a:off x="7572403" y="6035932"/>
                <a:ext cx="1647970" cy="403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20" name="文本框 19">
                <a:extLst>
                  <a:ext uri="{FF2B5EF4-FFF2-40B4-BE49-F238E27FC236}">
                    <a16:creationId xmlns:a16="http://schemas.microsoft.com/office/drawing/2014/main" id="{58CC3A3B-41FF-F66F-F94D-9D8C08A0979F}"/>
                  </a:ext>
                </a:extLst>
              </p:cNvPr>
              <p:cNvSpPr txBox="1">
                <a:spLocks noRot="1" noChangeAspect="1" noMove="1" noResize="1" noEditPoints="1" noAdjustHandles="1" noChangeArrowheads="1" noChangeShapeType="1" noTextEdit="1"/>
              </p:cNvSpPr>
              <p:nvPr/>
            </p:nvSpPr>
            <p:spPr>
              <a:xfrm>
                <a:off x="7572403" y="6035932"/>
                <a:ext cx="1647970" cy="403444"/>
              </a:xfrm>
              <a:prstGeom prst="rect">
                <a:avLst/>
              </a:prstGeom>
              <a:blipFill>
                <a:blip r:embed="rId4"/>
                <a:stretch>
                  <a:fillRect b="-4545"/>
                </a:stretch>
              </a:blipFill>
            </p:spPr>
            <p:txBody>
              <a:bodyPr/>
              <a:lstStyle/>
              <a:p>
                <a:r>
                  <a:rPr lang="zh-CN" altLang="en-US">
                    <a:noFill/>
                  </a:rPr>
                  <a:t> </a:t>
                </a:r>
              </a:p>
            </p:txBody>
          </p:sp>
        </mc:Fallback>
      </mc:AlternateContent>
      <p:cxnSp>
        <p:nvCxnSpPr>
          <p:cNvPr id="21" name="直接箭头连接符 20">
            <a:extLst>
              <a:ext uri="{FF2B5EF4-FFF2-40B4-BE49-F238E27FC236}">
                <a16:creationId xmlns:a16="http://schemas.microsoft.com/office/drawing/2014/main" id="{7588472C-80A5-111B-B7DE-6D94346DC582}"/>
              </a:ext>
            </a:extLst>
          </p:cNvPr>
          <p:cNvCxnSpPr>
            <a:cxnSpLocks/>
          </p:cNvCxnSpPr>
          <p:nvPr/>
        </p:nvCxnSpPr>
        <p:spPr>
          <a:xfrm flipV="1">
            <a:off x="9303582" y="5735667"/>
            <a:ext cx="375749" cy="4418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4F9A786F-386D-618E-450A-A5F8CD79F57D}"/>
              </a:ext>
            </a:extLst>
          </p:cNvPr>
          <p:cNvCxnSpPr>
            <a:cxnSpLocks/>
          </p:cNvCxnSpPr>
          <p:nvPr/>
        </p:nvCxnSpPr>
        <p:spPr>
          <a:xfrm flipV="1">
            <a:off x="1211275" y="4877671"/>
            <a:ext cx="440543"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F6024154-E3BB-4D47-C69D-92031361B17C}"/>
              </a:ext>
            </a:extLst>
          </p:cNvPr>
          <p:cNvSpPr txBox="1"/>
          <p:nvPr/>
        </p:nvSpPr>
        <p:spPr>
          <a:xfrm>
            <a:off x="1651818" y="4626218"/>
            <a:ext cx="2687894" cy="646331"/>
          </a:xfrm>
          <a:prstGeom prst="rect">
            <a:avLst/>
          </a:prstGeom>
          <a:noFill/>
        </p:spPr>
        <p:txBody>
          <a:bodyPr wrap="square">
            <a:spAutoFit/>
          </a:bodyPr>
          <a:lstStyle/>
          <a:p>
            <a:r>
              <a:rPr lang="zh-CN" altLang="en-US" dirty="0"/>
              <a:t>the encoding embedding</a:t>
            </a:r>
            <a:br>
              <a:rPr lang="en-US" altLang="zh-CN" dirty="0"/>
            </a:br>
            <a:r>
              <a:rPr lang="zh-CN" altLang="en-US" dirty="0"/>
              <a:t>from the Prot-Bert </a:t>
            </a:r>
          </a:p>
        </p:txBody>
      </p:sp>
      <p:sp>
        <p:nvSpPr>
          <p:cNvPr id="26" name="文本框 25">
            <a:extLst>
              <a:ext uri="{FF2B5EF4-FFF2-40B4-BE49-F238E27FC236}">
                <a16:creationId xmlns:a16="http://schemas.microsoft.com/office/drawing/2014/main" id="{10BF72D0-4F30-8553-96AA-56E1E579433C}"/>
              </a:ext>
            </a:extLst>
          </p:cNvPr>
          <p:cNvSpPr txBox="1"/>
          <p:nvPr/>
        </p:nvSpPr>
        <p:spPr>
          <a:xfrm>
            <a:off x="1757599" y="5897433"/>
            <a:ext cx="1986454" cy="646331"/>
          </a:xfrm>
          <a:prstGeom prst="rect">
            <a:avLst/>
          </a:prstGeom>
          <a:noFill/>
        </p:spPr>
        <p:txBody>
          <a:bodyPr wrap="square">
            <a:spAutoFit/>
          </a:bodyPr>
          <a:lstStyle/>
          <a:p>
            <a:r>
              <a:rPr lang="zh-CN" altLang="en-US" dirty="0"/>
              <a:t>the encoding embedding</a:t>
            </a:r>
          </a:p>
        </p:txBody>
      </p:sp>
      <p:sp>
        <p:nvSpPr>
          <p:cNvPr id="27" name="文本框 26">
            <a:extLst>
              <a:ext uri="{FF2B5EF4-FFF2-40B4-BE49-F238E27FC236}">
                <a16:creationId xmlns:a16="http://schemas.microsoft.com/office/drawing/2014/main" id="{CD71827C-7C4C-F746-4722-8D21FFA4EBCC}"/>
              </a:ext>
            </a:extLst>
          </p:cNvPr>
          <p:cNvSpPr txBox="1"/>
          <p:nvPr/>
        </p:nvSpPr>
        <p:spPr>
          <a:xfrm>
            <a:off x="4665001" y="5635816"/>
            <a:ext cx="2260555" cy="369332"/>
          </a:xfrm>
          <a:prstGeom prst="rect">
            <a:avLst/>
          </a:prstGeom>
          <a:noFill/>
        </p:spPr>
        <p:txBody>
          <a:bodyPr wrap="none" rtlCol="0">
            <a:spAutoFit/>
          </a:bodyPr>
          <a:lstStyle/>
          <a:p>
            <a:r>
              <a:rPr lang="en-US" altLang="zh-CN" dirty="0"/>
              <a:t>Pre-trained extractor</a:t>
            </a:r>
            <a:endParaRPr lang="zh-CN" altLang="en-US" dirty="0"/>
          </a:p>
        </p:txBody>
      </p:sp>
      <p:sp>
        <p:nvSpPr>
          <p:cNvPr id="28" name="矩形 27">
            <a:extLst>
              <a:ext uri="{FF2B5EF4-FFF2-40B4-BE49-F238E27FC236}">
                <a16:creationId xmlns:a16="http://schemas.microsoft.com/office/drawing/2014/main" id="{05A88D59-FBB5-726C-86A7-DD8BFC888BDB}"/>
              </a:ext>
            </a:extLst>
          </p:cNvPr>
          <p:cNvSpPr/>
          <p:nvPr/>
        </p:nvSpPr>
        <p:spPr>
          <a:xfrm>
            <a:off x="4665001" y="5635816"/>
            <a:ext cx="2343764" cy="1105273"/>
          </a:xfrm>
          <a:prstGeom prst="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C43155A3-2DD5-EC5C-E3D6-9A8DC9DD7BB0}"/>
              </a:ext>
            </a:extLst>
          </p:cNvPr>
          <p:cNvSpPr/>
          <p:nvPr/>
        </p:nvSpPr>
        <p:spPr>
          <a:xfrm>
            <a:off x="4781424" y="6080727"/>
            <a:ext cx="2144132" cy="584782"/>
          </a:xfrm>
          <a:prstGeom prst="rect">
            <a:avLst/>
          </a:prstGeom>
          <a:noFill/>
          <a:ln w="28575">
            <a:solidFill>
              <a:schemeClr val="tx2">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a:extLst>
              <a:ext uri="{FF2B5EF4-FFF2-40B4-BE49-F238E27FC236}">
                <a16:creationId xmlns:a16="http://schemas.microsoft.com/office/drawing/2014/main" id="{6262A43C-3412-130B-12AC-F34D8B1D52BF}"/>
              </a:ext>
            </a:extLst>
          </p:cNvPr>
          <p:cNvCxnSpPr>
            <a:cxnSpLocks/>
          </p:cNvCxnSpPr>
          <p:nvPr/>
        </p:nvCxnSpPr>
        <p:spPr>
          <a:xfrm>
            <a:off x="4013825" y="6220598"/>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E5145398-6047-F3BC-D731-E8539BFF6F18}"/>
              </a:ext>
            </a:extLst>
          </p:cNvPr>
          <p:cNvCxnSpPr>
            <a:cxnSpLocks/>
          </p:cNvCxnSpPr>
          <p:nvPr/>
        </p:nvCxnSpPr>
        <p:spPr>
          <a:xfrm>
            <a:off x="4157589" y="5040727"/>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538557BE-D744-F568-8B62-40539A29CB05}"/>
              </a:ext>
            </a:extLst>
          </p:cNvPr>
          <p:cNvSpPr txBox="1"/>
          <p:nvPr/>
        </p:nvSpPr>
        <p:spPr>
          <a:xfrm>
            <a:off x="4755755" y="4856061"/>
            <a:ext cx="1290483" cy="369332"/>
          </a:xfrm>
          <a:prstGeom prst="rect">
            <a:avLst/>
          </a:prstGeom>
          <a:noFill/>
        </p:spPr>
        <p:txBody>
          <a:bodyPr wrap="square">
            <a:spAutoFit/>
          </a:bodyPr>
          <a:lstStyle/>
          <a:p>
            <a:r>
              <a:rPr lang="zh-CN" altLang="en-US" dirty="0"/>
              <a:t>DenseNet</a:t>
            </a:r>
          </a:p>
        </p:txBody>
      </p:sp>
      <p:cxnSp>
        <p:nvCxnSpPr>
          <p:cNvPr id="35" name="直接箭头连接符 34">
            <a:extLst>
              <a:ext uri="{FF2B5EF4-FFF2-40B4-BE49-F238E27FC236}">
                <a16:creationId xmlns:a16="http://schemas.microsoft.com/office/drawing/2014/main" id="{47626FCB-BBED-2B1A-E46B-DF40D4FD1C63}"/>
              </a:ext>
            </a:extLst>
          </p:cNvPr>
          <p:cNvCxnSpPr/>
          <p:nvPr/>
        </p:nvCxnSpPr>
        <p:spPr>
          <a:xfrm>
            <a:off x="6096000" y="5040727"/>
            <a:ext cx="3367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7" name="文本框 36">
                <a:extLst>
                  <a:ext uri="{FF2B5EF4-FFF2-40B4-BE49-F238E27FC236}">
                    <a16:creationId xmlns:a16="http://schemas.microsoft.com/office/drawing/2014/main" id="{B263DAB4-DF97-B473-2D8D-8F8884D0A7A4}"/>
                  </a:ext>
                </a:extLst>
              </p:cNvPr>
              <p:cNvSpPr txBox="1"/>
              <p:nvPr/>
            </p:nvSpPr>
            <p:spPr>
              <a:xfrm>
                <a:off x="6364976" y="4821141"/>
                <a:ext cx="1647969" cy="403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𝑡</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sup>
                      </m:sSup>
                    </m:oMath>
                  </m:oMathPara>
                </a14:m>
                <a:endParaRPr lang="zh-CN" altLang="en-US" dirty="0"/>
              </a:p>
            </p:txBody>
          </p:sp>
        </mc:Choice>
        <mc:Fallback>
          <p:sp>
            <p:nvSpPr>
              <p:cNvPr id="37" name="文本框 36">
                <a:extLst>
                  <a:ext uri="{FF2B5EF4-FFF2-40B4-BE49-F238E27FC236}">
                    <a16:creationId xmlns:a16="http://schemas.microsoft.com/office/drawing/2014/main" id="{B263DAB4-DF97-B473-2D8D-8F8884D0A7A4}"/>
                  </a:ext>
                </a:extLst>
              </p:cNvPr>
              <p:cNvSpPr txBox="1">
                <a:spLocks noRot="1" noChangeAspect="1" noMove="1" noResize="1" noEditPoints="1" noAdjustHandles="1" noChangeArrowheads="1" noChangeShapeType="1" noTextEdit="1"/>
              </p:cNvSpPr>
              <p:nvPr/>
            </p:nvSpPr>
            <p:spPr>
              <a:xfrm>
                <a:off x="6364976" y="4821141"/>
                <a:ext cx="1647969" cy="403444"/>
              </a:xfrm>
              <a:prstGeom prst="rect">
                <a:avLst/>
              </a:prstGeom>
              <a:blipFill>
                <a:blip r:embed="rId5"/>
                <a:stretch>
                  <a:fillRect b="-3030"/>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0F6D8A49-4C40-5DE7-BA80-54D11D435CE2}"/>
              </a:ext>
            </a:extLst>
          </p:cNvPr>
          <p:cNvCxnSpPr>
            <a:cxnSpLocks/>
          </p:cNvCxnSpPr>
          <p:nvPr/>
        </p:nvCxnSpPr>
        <p:spPr>
          <a:xfrm>
            <a:off x="8048619" y="5010774"/>
            <a:ext cx="1254963" cy="3241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A74BBAA8-4556-FC84-0E85-9DF136E1F721}"/>
              </a:ext>
            </a:extLst>
          </p:cNvPr>
          <p:cNvCxnSpPr>
            <a:cxnSpLocks/>
            <a:endCxn id="20" idx="1"/>
          </p:cNvCxnSpPr>
          <p:nvPr/>
        </p:nvCxnSpPr>
        <p:spPr>
          <a:xfrm>
            <a:off x="7223495" y="6220598"/>
            <a:ext cx="348908" cy="170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CE721BC1-7572-951D-58DD-D0AC4F1507F2}"/>
              </a:ext>
            </a:extLst>
          </p:cNvPr>
          <p:cNvSpPr txBox="1"/>
          <p:nvPr/>
        </p:nvSpPr>
        <p:spPr>
          <a:xfrm>
            <a:off x="9755145" y="5052477"/>
            <a:ext cx="1045479" cy="369332"/>
          </a:xfrm>
          <a:prstGeom prst="rect">
            <a:avLst/>
          </a:prstGeom>
          <a:noFill/>
        </p:spPr>
        <p:txBody>
          <a:bodyPr wrap="none" rtlCol="0">
            <a:spAutoFit/>
          </a:bodyPr>
          <a:lstStyle/>
          <a:p>
            <a:r>
              <a:rPr lang="en-US" altLang="zh-CN" dirty="0"/>
              <a:t>torch.cat</a:t>
            </a:r>
            <a:endParaRPr lang="zh-CN" altLang="en-US" dirty="0"/>
          </a:p>
        </p:txBody>
      </p:sp>
      <mc:AlternateContent xmlns:mc="http://schemas.openxmlformats.org/markup-compatibility/2006">
        <mc:Choice xmlns:a14="http://schemas.microsoft.com/office/drawing/2010/main" Requires="a14">
          <p:sp>
            <p:nvSpPr>
              <p:cNvPr id="51" name="文本框 50">
                <a:extLst>
                  <a:ext uri="{FF2B5EF4-FFF2-40B4-BE49-F238E27FC236}">
                    <a16:creationId xmlns:a16="http://schemas.microsoft.com/office/drawing/2014/main" id="{D96C32F5-14F6-A7F1-FC21-E9AE99384C31}"/>
                  </a:ext>
                </a:extLst>
              </p:cNvPr>
              <p:cNvSpPr txBox="1"/>
              <p:nvPr/>
            </p:nvSpPr>
            <p:spPr>
              <a:xfrm>
                <a:off x="9079429" y="5322195"/>
                <a:ext cx="2754862" cy="4262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𝑝</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up>
                      </m:sSup>
                    </m:oMath>
                  </m:oMathPara>
                </a14:m>
                <a:endParaRPr lang="zh-CN" altLang="en-US" dirty="0"/>
              </a:p>
            </p:txBody>
          </p:sp>
        </mc:Choice>
        <mc:Fallback>
          <p:sp>
            <p:nvSpPr>
              <p:cNvPr id="51" name="文本框 50">
                <a:extLst>
                  <a:ext uri="{FF2B5EF4-FFF2-40B4-BE49-F238E27FC236}">
                    <a16:creationId xmlns:a16="http://schemas.microsoft.com/office/drawing/2014/main" id="{D96C32F5-14F6-A7F1-FC21-E9AE99384C31}"/>
                  </a:ext>
                </a:extLst>
              </p:cNvPr>
              <p:cNvSpPr txBox="1">
                <a:spLocks noRot="1" noChangeAspect="1" noMove="1" noResize="1" noEditPoints="1" noAdjustHandles="1" noChangeArrowheads="1" noChangeShapeType="1" noTextEdit="1"/>
              </p:cNvSpPr>
              <p:nvPr/>
            </p:nvSpPr>
            <p:spPr>
              <a:xfrm>
                <a:off x="9079429" y="5322195"/>
                <a:ext cx="2754862" cy="426207"/>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590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EBD0-8E3D-E267-DC53-CA549042D2E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2602FB30-A77D-CA49-B88D-918A7F5BF0A0}"/>
              </a:ext>
            </a:extLst>
          </p:cNvPr>
          <p:cNvPicPr>
            <a:picLocks noChangeAspect="1"/>
          </p:cNvPicPr>
          <p:nvPr/>
        </p:nvPicPr>
        <p:blipFill>
          <a:blip r:embed="rId2"/>
          <a:stretch>
            <a:fillRect/>
          </a:stretch>
        </p:blipFill>
        <p:spPr>
          <a:xfrm>
            <a:off x="357709" y="116911"/>
            <a:ext cx="7225337" cy="4114429"/>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F242A61D-DA6A-7004-7074-DD34F1D096C6}"/>
                  </a:ext>
                </a:extLst>
              </p:cNvPr>
              <p:cNvSpPr txBox="1"/>
              <p:nvPr/>
            </p:nvSpPr>
            <p:spPr>
              <a:xfrm>
                <a:off x="357709" y="5272549"/>
                <a:ext cx="6099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𝐷𝑟𝑢𝑔</m:t>
                      </m:r>
                    </m:oMath>
                  </m:oMathPara>
                </a14:m>
                <a:endParaRPr lang="zh-CN" altLang="en-US" dirty="0"/>
              </a:p>
            </p:txBody>
          </p:sp>
        </mc:Choice>
        <mc:Fallback>
          <p:sp>
            <p:nvSpPr>
              <p:cNvPr id="6" name="文本框 5">
                <a:extLst>
                  <a:ext uri="{FF2B5EF4-FFF2-40B4-BE49-F238E27FC236}">
                    <a16:creationId xmlns:a16="http://schemas.microsoft.com/office/drawing/2014/main" id="{F242A61D-DA6A-7004-7074-DD34F1D096C6}"/>
                  </a:ext>
                </a:extLst>
              </p:cNvPr>
              <p:cNvSpPr txBox="1">
                <a:spLocks noRot="1" noChangeAspect="1" noMove="1" noResize="1" noEditPoints="1" noAdjustHandles="1" noChangeArrowheads="1" noChangeShapeType="1" noTextEdit="1"/>
              </p:cNvSpPr>
              <p:nvPr/>
            </p:nvSpPr>
            <p:spPr>
              <a:xfrm>
                <a:off x="357709" y="5272549"/>
                <a:ext cx="609911" cy="276999"/>
              </a:xfrm>
              <a:prstGeom prst="rect">
                <a:avLst/>
              </a:prstGeom>
              <a:blipFill>
                <a:blip r:embed="rId3"/>
                <a:stretch>
                  <a:fillRect l="-12000" r="-12000" b="-33333"/>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EF393480-926F-1DC8-FEC6-D9EE287C97C7}"/>
              </a:ext>
            </a:extLst>
          </p:cNvPr>
          <p:cNvCxnSpPr/>
          <p:nvPr/>
        </p:nvCxnSpPr>
        <p:spPr>
          <a:xfrm>
            <a:off x="1211276" y="5549548"/>
            <a:ext cx="440543" cy="394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83CA7839-9C67-F6DF-58C4-4B93CF8BDEF7}"/>
              </a:ext>
            </a:extLst>
          </p:cNvPr>
          <p:cNvCxnSpPr>
            <a:cxnSpLocks/>
          </p:cNvCxnSpPr>
          <p:nvPr/>
        </p:nvCxnSpPr>
        <p:spPr>
          <a:xfrm flipH="1" flipV="1">
            <a:off x="8960728" y="5754000"/>
            <a:ext cx="607143" cy="3057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D8A83492-D1EC-E79C-35CF-B0E73649597F}"/>
              </a:ext>
            </a:extLst>
          </p:cNvPr>
          <p:cNvCxnSpPr>
            <a:cxnSpLocks/>
          </p:cNvCxnSpPr>
          <p:nvPr/>
        </p:nvCxnSpPr>
        <p:spPr>
          <a:xfrm flipV="1">
            <a:off x="1211275" y="4877671"/>
            <a:ext cx="440543"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6A611031-121E-81D1-FAFD-DAFDA5B3E1FA}"/>
              </a:ext>
            </a:extLst>
          </p:cNvPr>
          <p:cNvSpPr txBox="1"/>
          <p:nvPr/>
        </p:nvSpPr>
        <p:spPr>
          <a:xfrm>
            <a:off x="1651818" y="4626218"/>
            <a:ext cx="2687894" cy="646331"/>
          </a:xfrm>
          <a:prstGeom prst="rect">
            <a:avLst/>
          </a:prstGeom>
          <a:noFill/>
        </p:spPr>
        <p:txBody>
          <a:bodyPr wrap="square">
            <a:spAutoFit/>
          </a:bodyPr>
          <a:lstStyle/>
          <a:p>
            <a:r>
              <a:rPr lang="zh-CN" altLang="en-US" dirty="0"/>
              <a:t>the encoding embedding</a:t>
            </a:r>
            <a:br>
              <a:rPr lang="en-US" altLang="zh-CN" dirty="0"/>
            </a:br>
            <a:r>
              <a:rPr lang="zh-CN" altLang="en-US" dirty="0"/>
              <a:t>from the </a:t>
            </a:r>
            <a:r>
              <a:rPr lang="en-US" altLang="zh-CN" dirty="0"/>
              <a:t>Smiles</a:t>
            </a:r>
            <a:r>
              <a:rPr lang="zh-CN" altLang="en-US" dirty="0"/>
              <a:t>-Bert </a:t>
            </a:r>
          </a:p>
        </p:txBody>
      </p:sp>
      <p:sp>
        <p:nvSpPr>
          <p:cNvPr id="26" name="文本框 25">
            <a:extLst>
              <a:ext uri="{FF2B5EF4-FFF2-40B4-BE49-F238E27FC236}">
                <a16:creationId xmlns:a16="http://schemas.microsoft.com/office/drawing/2014/main" id="{712AC0C1-6E28-C49C-3F4C-B0D68FF731D1}"/>
              </a:ext>
            </a:extLst>
          </p:cNvPr>
          <p:cNvSpPr txBox="1"/>
          <p:nvPr/>
        </p:nvSpPr>
        <p:spPr>
          <a:xfrm>
            <a:off x="5879548" y="5700225"/>
            <a:ext cx="1979307" cy="923330"/>
          </a:xfrm>
          <a:prstGeom prst="rect">
            <a:avLst/>
          </a:prstGeom>
          <a:noFill/>
        </p:spPr>
        <p:txBody>
          <a:bodyPr wrap="square">
            <a:spAutoFit/>
          </a:bodyPr>
          <a:lstStyle/>
          <a:p>
            <a:pPr algn="l"/>
            <a:r>
              <a:rPr lang="en-US" altLang="zh-CN" sz="1800" b="0" i="0" u="none" strike="noStrike" baseline="0" dirty="0">
                <a:latin typeface="NimbusRomNo9L-Regu"/>
              </a:rPr>
              <a:t>Molecular Graph Attention</a:t>
            </a:r>
          </a:p>
          <a:p>
            <a:pPr algn="l"/>
            <a:r>
              <a:rPr lang="en-US" altLang="zh-CN" sz="1800" b="0" i="0" u="none" strike="noStrike" baseline="0" dirty="0">
                <a:latin typeface="NimbusRomNo9L-Regu"/>
              </a:rPr>
              <a:t>(M-GAT) block</a:t>
            </a:r>
            <a:endParaRPr lang="zh-CN" altLang="en-US" dirty="0"/>
          </a:p>
        </p:txBody>
      </p:sp>
      <p:sp>
        <p:nvSpPr>
          <p:cNvPr id="28" name="矩形 27">
            <a:extLst>
              <a:ext uri="{FF2B5EF4-FFF2-40B4-BE49-F238E27FC236}">
                <a16:creationId xmlns:a16="http://schemas.microsoft.com/office/drawing/2014/main" id="{9840924B-7985-2F1C-F235-CADADB968860}"/>
              </a:ext>
            </a:extLst>
          </p:cNvPr>
          <p:cNvSpPr/>
          <p:nvPr/>
        </p:nvSpPr>
        <p:spPr>
          <a:xfrm>
            <a:off x="1704067" y="5345096"/>
            <a:ext cx="3546304" cy="1395993"/>
          </a:xfrm>
          <a:prstGeom prst="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EE10E3FE-9D61-37DF-F34D-F35FC6390232}"/>
              </a:ext>
            </a:extLst>
          </p:cNvPr>
          <p:cNvSpPr/>
          <p:nvPr/>
        </p:nvSpPr>
        <p:spPr>
          <a:xfrm>
            <a:off x="1813149" y="5754000"/>
            <a:ext cx="3262656" cy="835930"/>
          </a:xfrm>
          <a:prstGeom prst="rect">
            <a:avLst/>
          </a:prstGeom>
          <a:noFill/>
          <a:ln w="28575">
            <a:solidFill>
              <a:schemeClr val="tx2">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a:extLst>
              <a:ext uri="{FF2B5EF4-FFF2-40B4-BE49-F238E27FC236}">
                <a16:creationId xmlns:a16="http://schemas.microsoft.com/office/drawing/2014/main" id="{BA1A86F6-987E-A786-F90A-34197F38989C}"/>
              </a:ext>
            </a:extLst>
          </p:cNvPr>
          <p:cNvCxnSpPr>
            <a:cxnSpLocks/>
          </p:cNvCxnSpPr>
          <p:nvPr/>
        </p:nvCxnSpPr>
        <p:spPr>
          <a:xfrm>
            <a:off x="5372136" y="6035932"/>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BB80DFA0-31D3-EA62-178B-CC3B207B0185}"/>
              </a:ext>
            </a:extLst>
          </p:cNvPr>
          <p:cNvCxnSpPr>
            <a:cxnSpLocks/>
          </p:cNvCxnSpPr>
          <p:nvPr/>
        </p:nvCxnSpPr>
        <p:spPr>
          <a:xfrm>
            <a:off x="4157589" y="5040727"/>
            <a:ext cx="5074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文本框 33">
            <a:extLst>
              <a:ext uri="{FF2B5EF4-FFF2-40B4-BE49-F238E27FC236}">
                <a16:creationId xmlns:a16="http://schemas.microsoft.com/office/drawing/2014/main" id="{FD689E3E-BA3A-2E5B-B3B4-0F5A42B720AF}"/>
              </a:ext>
            </a:extLst>
          </p:cNvPr>
          <p:cNvSpPr txBox="1"/>
          <p:nvPr/>
        </p:nvSpPr>
        <p:spPr>
          <a:xfrm>
            <a:off x="4755755" y="4856061"/>
            <a:ext cx="1290483" cy="369332"/>
          </a:xfrm>
          <a:prstGeom prst="rect">
            <a:avLst/>
          </a:prstGeom>
          <a:noFill/>
        </p:spPr>
        <p:txBody>
          <a:bodyPr wrap="square">
            <a:spAutoFit/>
          </a:bodyPr>
          <a:lstStyle/>
          <a:p>
            <a:r>
              <a:rPr lang="zh-CN" altLang="en-US" dirty="0"/>
              <a:t>DenseNet</a:t>
            </a:r>
          </a:p>
        </p:txBody>
      </p:sp>
      <p:cxnSp>
        <p:nvCxnSpPr>
          <p:cNvPr id="35" name="直接箭头连接符 34">
            <a:extLst>
              <a:ext uri="{FF2B5EF4-FFF2-40B4-BE49-F238E27FC236}">
                <a16:creationId xmlns:a16="http://schemas.microsoft.com/office/drawing/2014/main" id="{D16026E3-EAF7-05E0-A7B7-E603DC0E23E7}"/>
              </a:ext>
            </a:extLst>
          </p:cNvPr>
          <p:cNvCxnSpPr/>
          <p:nvPr/>
        </p:nvCxnSpPr>
        <p:spPr>
          <a:xfrm>
            <a:off x="6096000" y="5040727"/>
            <a:ext cx="33675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7" name="文本框 36">
                <a:extLst>
                  <a:ext uri="{FF2B5EF4-FFF2-40B4-BE49-F238E27FC236}">
                    <a16:creationId xmlns:a16="http://schemas.microsoft.com/office/drawing/2014/main" id="{3B9070C8-541D-C123-E59A-AD7DC9FFEFD6}"/>
                  </a:ext>
                </a:extLst>
              </p:cNvPr>
              <p:cNvSpPr txBox="1"/>
              <p:nvPr/>
            </p:nvSpPr>
            <p:spPr>
              <a:xfrm>
                <a:off x="5879548" y="4835468"/>
                <a:ext cx="2365859" cy="3783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𝑡</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sup>
                      </m:sSup>
                    </m:oMath>
                  </m:oMathPara>
                </a14:m>
                <a:endParaRPr lang="zh-CN" altLang="en-US" dirty="0"/>
              </a:p>
            </p:txBody>
          </p:sp>
        </mc:Choice>
        <mc:Fallback>
          <p:sp>
            <p:nvSpPr>
              <p:cNvPr id="37" name="文本框 36">
                <a:extLst>
                  <a:ext uri="{FF2B5EF4-FFF2-40B4-BE49-F238E27FC236}">
                    <a16:creationId xmlns:a16="http://schemas.microsoft.com/office/drawing/2014/main" id="{3B9070C8-541D-C123-E59A-AD7DC9FFEFD6}"/>
                  </a:ext>
                </a:extLst>
              </p:cNvPr>
              <p:cNvSpPr txBox="1">
                <a:spLocks noRot="1" noChangeAspect="1" noMove="1" noResize="1" noEditPoints="1" noAdjustHandles="1" noChangeArrowheads="1" noChangeShapeType="1" noTextEdit="1"/>
              </p:cNvSpPr>
              <p:nvPr/>
            </p:nvSpPr>
            <p:spPr>
              <a:xfrm>
                <a:off x="5879548" y="4835468"/>
                <a:ext cx="2365859" cy="378373"/>
              </a:xfrm>
              <a:prstGeom prst="rect">
                <a:avLst/>
              </a:prstGeom>
              <a:blipFill>
                <a:blip r:embed="rId4"/>
                <a:stretch>
                  <a:fillRect b="-3226"/>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E16ECE47-72CA-DA0B-A645-1230FF7AE0CA}"/>
              </a:ext>
            </a:extLst>
          </p:cNvPr>
          <p:cNvCxnSpPr>
            <a:cxnSpLocks/>
          </p:cNvCxnSpPr>
          <p:nvPr/>
        </p:nvCxnSpPr>
        <p:spPr>
          <a:xfrm>
            <a:off x="8029878" y="5040727"/>
            <a:ext cx="323804" cy="268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C11F0438-1685-D0FF-FA44-5C5072CE902E}"/>
              </a:ext>
            </a:extLst>
          </p:cNvPr>
          <p:cNvCxnSpPr>
            <a:cxnSpLocks/>
          </p:cNvCxnSpPr>
          <p:nvPr/>
        </p:nvCxnSpPr>
        <p:spPr>
          <a:xfrm>
            <a:off x="8179228" y="4895816"/>
            <a:ext cx="2026656" cy="258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B3139795-9FA7-9DA1-8850-CBD75EC1AA17}"/>
              </a:ext>
            </a:extLst>
          </p:cNvPr>
          <p:cNvSpPr txBox="1"/>
          <p:nvPr/>
        </p:nvSpPr>
        <p:spPr>
          <a:xfrm>
            <a:off x="7914226" y="5277278"/>
            <a:ext cx="1241045" cy="276999"/>
          </a:xfrm>
          <a:prstGeom prst="rect">
            <a:avLst/>
          </a:prstGeom>
          <a:noFill/>
        </p:spPr>
        <p:txBody>
          <a:bodyPr wrap="none" rtlCol="0">
            <a:spAutoFit/>
          </a:bodyPr>
          <a:lstStyle/>
          <a:p>
            <a:r>
              <a:rPr lang="en-US" altLang="zh-CN" sz="1200" dirty="0"/>
              <a:t>Cross-Attention</a:t>
            </a:r>
            <a:endParaRPr lang="zh-CN" altLang="en-US" sz="1200"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92044851-1FFA-1D34-7D3F-2FDC8A39D0AA}"/>
                  </a:ext>
                </a:extLst>
              </p:cNvPr>
              <p:cNvSpPr txBox="1"/>
              <p:nvPr/>
            </p:nvSpPr>
            <p:spPr>
              <a:xfrm>
                <a:off x="1562587" y="5812900"/>
                <a:ext cx="3763779"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𝑎𝑡𝑜𝑚𝑖𝑐</m:t>
                      </m:r>
                      <m:r>
                        <a:rPr lang="en-US" altLang="zh-CN" b="0" i="1" smtClean="0">
                          <a:latin typeface="Cambria Math" panose="02040503050406030204" pitchFamily="18" charset="0"/>
                        </a:rPr>
                        <m:t> </m:t>
                      </m:r>
                      <m:r>
                        <a:rPr lang="en-US" altLang="zh-CN" b="0" i="1" smtClean="0">
                          <a:latin typeface="Cambria Math" panose="02040503050406030204" pitchFamily="18" charset="0"/>
                        </a:rPr>
                        <m:t>𝑣𝑒𝑐𝑡𝑜𝑟𝑠</m:t>
                      </m:r>
                      <m:r>
                        <a:rPr lang="en-US" altLang="zh-CN" b="0" i="1" smtClean="0">
                          <a:latin typeface="Cambria Math" panose="02040503050406030204" pitchFamily="18" charset="0"/>
                        </a:rPr>
                        <m:t> </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4" name="文本框 3">
                <a:extLst>
                  <a:ext uri="{FF2B5EF4-FFF2-40B4-BE49-F238E27FC236}">
                    <a16:creationId xmlns:a16="http://schemas.microsoft.com/office/drawing/2014/main" id="{92044851-1FFA-1D34-7D3F-2FDC8A39D0AA}"/>
                  </a:ext>
                </a:extLst>
              </p:cNvPr>
              <p:cNvSpPr txBox="1">
                <a:spLocks noRot="1" noChangeAspect="1" noMove="1" noResize="1" noEditPoints="1" noAdjustHandles="1" noChangeArrowheads="1" noChangeShapeType="1" noTextEdit="1"/>
              </p:cNvSpPr>
              <p:nvPr/>
            </p:nvSpPr>
            <p:spPr>
              <a:xfrm>
                <a:off x="1562587" y="5812900"/>
                <a:ext cx="3763779" cy="375552"/>
              </a:xfrm>
              <a:prstGeom prst="rect">
                <a:avLst/>
              </a:prstGeom>
              <a:blipFill>
                <a:blip r:embed="rId5"/>
                <a:stretch>
                  <a:fillRect b="-16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6DCE3A8B-1E73-C79D-5699-C5E9C9666FE6}"/>
                  </a:ext>
                </a:extLst>
              </p:cNvPr>
              <p:cNvSpPr txBox="1"/>
              <p:nvPr/>
            </p:nvSpPr>
            <p:spPr>
              <a:xfrm>
                <a:off x="1553974" y="6183445"/>
                <a:ext cx="37637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𝑎𝑑𝑗𝑎𝑐𝑒𝑛𝑐𝑦</m:t>
                      </m:r>
                      <m:r>
                        <a:rPr lang="en-US" altLang="zh-CN" b="0" i="1" smtClean="0">
                          <a:latin typeface="Cambria Math" panose="02040503050406030204" pitchFamily="18" charset="0"/>
                        </a:rPr>
                        <m:t> </m:t>
                      </m:r>
                      <m:r>
                        <a:rPr lang="en-US" altLang="zh-CN" b="0" i="1" smtClean="0">
                          <a:latin typeface="Cambria Math" panose="02040503050406030204" pitchFamily="18" charset="0"/>
                        </a:rPr>
                        <m:t>𝑚𝑎𝑡𝑟𝑖𝑥</m:t>
                      </m:r>
                      <m:r>
                        <a:rPr lang="en-US" altLang="zh-CN" b="0" i="1" smtClean="0">
                          <a:latin typeface="Cambria Math" panose="02040503050406030204" pitchFamily="18" charset="0"/>
                        </a:rPr>
                        <m:t> </m:t>
                      </m:r>
                      <m:r>
                        <a:rPr lang="en-US" altLang="zh-CN" i="1" smtClean="0">
                          <a:latin typeface="Cambria Math" panose="02040503050406030204" pitchFamily="18" charset="0"/>
                        </a:rPr>
                        <m:t>𝐴</m:t>
                      </m:r>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sup>
                      </m:sSup>
                    </m:oMath>
                  </m:oMathPara>
                </a14:m>
                <a:endParaRPr lang="zh-CN" altLang="en-US" dirty="0"/>
              </a:p>
            </p:txBody>
          </p:sp>
        </mc:Choice>
        <mc:Fallback>
          <p:sp>
            <p:nvSpPr>
              <p:cNvPr id="7" name="文本框 6">
                <a:extLst>
                  <a:ext uri="{FF2B5EF4-FFF2-40B4-BE49-F238E27FC236}">
                    <a16:creationId xmlns:a16="http://schemas.microsoft.com/office/drawing/2014/main" id="{6DCE3A8B-1E73-C79D-5699-C5E9C9666FE6}"/>
                  </a:ext>
                </a:extLst>
              </p:cNvPr>
              <p:cNvSpPr txBox="1">
                <a:spLocks noRot="1" noChangeAspect="1" noMove="1" noResize="1" noEditPoints="1" noAdjustHandles="1" noChangeArrowheads="1" noChangeShapeType="1" noTextEdit="1"/>
              </p:cNvSpPr>
              <p:nvPr/>
            </p:nvSpPr>
            <p:spPr>
              <a:xfrm>
                <a:off x="1553974" y="6183445"/>
                <a:ext cx="3763779" cy="369332"/>
              </a:xfrm>
              <a:prstGeom prst="rect">
                <a:avLst/>
              </a:prstGeom>
              <a:blipFill>
                <a:blip r:embed="rId6"/>
                <a:stretch>
                  <a:fillRect b="-13115"/>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6F5E8A19-C708-4964-4B1A-B126E5EF5C08}"/>
              </a:ext>
            </a:extLst>
          </p:cNvPr>
          <p:cNvSpPr txBox="1"/>
          <p:nvPr/>
        </p:nvSpPr>
        <p:spPr>
          <a:xfrm>
            <a:off x="7364028" y="116911"/>
            <a:ext cx="989654" cy="369332"/>
          </a:xfrm>
          <a:prstGeom prst="rect">
            <a:avLst/>
          </a:prstGeom>
          <a:noFill/>
        </p:spPr>
        <p:txBody>
          <a:bodyPr wrap="square">
            <a:spAutoFit/>
          </a:bodyPr>
          <a:lstStyle/>
          <a:p>
            <a:r>
              <a:rPr lang="en-US" altLang="zh-CN" sz="1800" b="0" i="0" u="none" strike="noStrike" baseline="0" dirty="0">
                <a:latin typeface="NimbusRomNo9L-Regu"/>
              </a:rPr>
              <a:t>M-GAT</a:t>
            </a:r>
            <a:endParaRPr lang="zh-CN" altLang="en-US" dirty="0"/>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3A20BB5E-0B7C-872C-13CC-673395D08A7D}"/>
                  </a:ext>
                </a:extLst>
              </p:cNvPr>
              <p:cNvSpPr txBox="1"/>
              <p:nvPr/>
            </p:nvSpPr>
            <p:spPr>
              <a:xfrm>
                <a:off x="8232865" y="568384"/>
                <a:ext cx="2491451" cy="34188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𝜎</m:t>
                      </m:r>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m:t>
                      </m:r>
                    </m:oMath>
                  </m:oMathPara>
                </a14:m>
                <a:endParaRPr lang="zh-CN" altLang="en-US" dirty="0"/>
              </a:p>
            </p:txBody>
          </p:sp>
        </mc:Choice>
        <mc:Fallback>
          <p:sp>
            <p:nvSpPr>
              <p:cNvPr id="12" name="文本框 11">
                <a:extLst>
                  <a:ext uri="{FF2B5EF4-FFF2-40B4-BE49-F238E27FC236}">
                    <a16:creationId xmlns:a16="http://schemas.microsoft.com/office/drawing/2014/main" id="{3A20BB5E-0B7C-872C-13CC-673395D08A7D}"/>
                  </a:ext>
                </a:extLst>
              </p:cNvPr>
              <p:cNvSpPr txBox="1">
                <a:spLocks noRot="1" noChangeAspect="1" noMove="1" noResize="1" noEditPoints="1" noAdjustHandles="1" noChangeArrowheads="1" noChangeShapeType="1" noTextEdit="1"/>
              </p:cNvSpPr>
              <p:nvPr/>
            </p:nvSpPr>
            <p:spPr>
              <a:xfrm>
                <a:off x="8232865" y="568384"/>
                <a:ext cx="2491451" cy="341888"/>
              </a:xfrm>
              <a:prstGeom prst="rect">
                <a:avLst/>
              </a:prstGeom>
              <a:blipFill>
                <a:blip r:embed="rId7"/>
                <a:stretch>
                  <a:fillRect l="-735" r="-2206" b="-28571"/>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A7C48954-80C8-0557-CC13-D2B432A64A1A}"/>
              </a:ext>
            </a:extLst>
          </p:cNvPr>
          <p:cNvSpPr txBox="1"/>
          <p:nvPr/>
        </p:nvSpPr>
        <p:spPr>
          <a:xfrm>
            <a:off x="7473747" y="1097818"/>
            <a:ext cx="4718253" cy="369332"/>
          </a:xfrm>
          <a:prstGeom prst="rect">
            <a:avLst/>
          </a:prstGeom>
          <a:noFill/>
        </p:spPr>
        <p:txBody>
          <a:bodyPr wrap="square">
            <a:spAutoFit/>
          </a:bodyPr>
          <a:lstStyle/>
          <a:p>
            <a:pPr algn="l"/>
            <a:r>
              <a:rPr lang="el-GR" altLang="zh-CN" sz="1800" b="0" i="0" u="none" strike="noStrike" baseline="0" dirty="0">
                <a:latin typeface="CMMI10"/>
              </a:rPr>
              <a:t>σ</a:t>
            </a:r>
            <a:r>
              <a:rPr lang="el-GR" altLang="zh-CN" sz="1800" b="0" i="0" u="none" strike="noStrike" baseline="0" dirty="0">
                <a:latin typeface="CMR10"/>
              </a:rPr>
              <a:t>()</a:t>
            </a:r>
            <a:r>
              <a:rPr lang="en-US" altLang="zh-CN" sz="1800" b="0" i="0" u="none" strike="noStrike" baseline="0" dirty="0">
                <a:latin typeface="CMR10"/>
              </a:rPr>
              <a:t> </a:t>
            </a:r>
            <a:r>
              <a:rPr lang="en-US" altLang="zh-CN" sz="1800" b="0" i="0" u="none" strike="noStrike" baseline="0" dirty="0">
                <a:latin typeface="NimbusRomNo9L-Regu"/>
              </a:rPr>
              <a:t>and </a:t>
            </a:r>
            <a:r>
              <a:rPr lang="en-US" altLang="zh-CN" sz="1800" b="0" i="0" u="none" strike="noStrike" baseline="0" dirty="0">
                <a:latin typeface="CMMI10"/>
              </a:rPr>
              <a:t>ψ</a:t>
            </a:r>
            <a:r>
              <a:rPr lang="en-US" altLang="zh-CN" sz="1800" b="0" i="0" u="none" strike="noStrike" baseline="0" dirty="0">
                <a:latin typeface="CMR10"/>
              </a:rPr>
              <a:t>() </a:t>
            </a:r>
            <a:r>
              <a:rPr lang="en-US" altLang="zh-CN" sz="1800" b="0" i="0" u="none" strike="noStrike" baseline="0" dirty="0">
                <a:latin typeface="NimbusRomNo9L-Regu"/>
              </a:rPr>
              <a:t>are the sigmoid and linear layers.</a:t>
            </a:r>
            <a:endParaRPr lang="zh-CN" altLang="en-US" dirty="0"/>
          </a:p>
        </p:txBody>
      </p:sp>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F9334B15-7B71-044B-E3C1-8EFDDA1A17F1}"/>
                  </a:ext>
                </a:extLst>
              </p:cNvPr>
              <p:cNvSpPr txBox="1"/>
              <p:nvPr/>
            </p:nvSpPr>
            <p:spPr>
              <a:xfrm>
                <a:off x="7473747" y="1548850"/>
                <a:ext cx="4849355" cy="369332"/>
              </a:xfrm>
              <a:prstGeom prst="rect">
                <a:avLst/>
              </a:prstGeom>
              <a:noFill/>
            </p:spPr>
            <p:txBody>
              <a:bodyPr wrap="square">
                <a:spAutoFit/>
              </a:bodyPr>
              <a:lstStyle/>
              <a:p>
                <a:pP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𝑎</m:t>
                            </m:r>
                          </m:sub>
                        </m:sSub>
                      </m:sup>
                    </m:sSup>
                  </m:oMath>
                </a14:m>
                <a:r>
                  <a:rPr lang="en-US" altLang="zh-CN" dirty="0"/>
                  <a:t> is the atomic relevance matrix</a:t>
                </a:r>
                <a:endParaRPr lang="zh-CN" altLang="en-US" dirty="0"/>
              </a:p>
            </p:txBody>
          </p:sp>
        </mc:Choice>
        <mc:Fallback>
          <p:sp>
            <p:nvSpPr>
              <p:cNvPr id="18" name="文本框 17">
                <a:extLst>
                  <a:ext uri="{FF2B5EF4-FFF2-40B4-BE49-F238E27FC236}">
                    <a16:creationId xmlns:a16="http://schemas.microsoft.com/office/drawing/2014/main" id="{F9334B15-7B71-044B-E3C1-8EFDDA1A17F1}"/>
                  </a:ext>
                </a:extLst>
              </p:cNvPr>
              <p:cNvSpPr txBox="1">
                <a:spLocks noRot="1" noChangeAspect="1" noMove="1" noResize="1" noEditPoints="1" noAdjustHandles="1" noChangeArrowheads="1" noChangeShapeType="1" noTextEdit="1"/>
              </p:cNvSpPr>
              <p:nvPr/>
            </p:nvSpPr>
            <p:spPr>
              <a:xfrm>
                <a:off x="7473747" y="1548850"/>
                <a:ext cx="4849355" cy="369332"/>
              </a:xfrm>
              <a:prstGeom prst="rect">
                <a:avLst/>
              </a:prstGeom>
              <a:blipFill>
                <a:blip r:embed="rId8"/>
                <a:stretch>
                  <a:fillRect t="-8197" b="-245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69C4527E-D48B-C66A-F79E-756815AC38FA}"/>
                  </a:ext>
                </a:extLst>
              </p:cNvPr>
              <p:cNvSpPr txBox="1"/>
              <p:nvPr/>
            </p:nvSpPr>
            <p:spPr>
              <a:xfrm>
                <a:off x="8146613" y="1918182"/>
                <a:ext cx="3846954" cy="434221"/>
              </a:xfrm>
              <a:prstGeom prst="rect">
                <a:avLst/>
              </a:prstGeom>
              <a:noFill/>
            </p:spPr>
            <p:txBody>
              <a:bodyPr wrap="square">
                <a:spAutoFit/>
              </a:bodyPr>
              <a:lstStyle/>
              <a:p>
                <a:pP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r>
                              <a:rPr lang="en-US" altLang="zh-CN" b="0" i="1" smtClean="0">
                                <a:latin typeface="Cambria Math" panose="02040503050406030204" pitchFamily="18" charset="0"/>
                              </a:rPr>
                              <m:t>+1</m:t>
                            </m:r>
                          </m:sup>
                        </m:sSup>
                      </m:sup>
                    </m:sSubSup>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𝑎</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r>
                      <a:rPr lang="en-US" altLang="zh-CN" b="0" i="1" smtClean="0">
                        <a:latin typeface="Cambria Math" panose="02040503050406030204" pitchFamily="18" charset="0"/>
                      </a:rPr>
                      <m:t>)</m:t>
                    </m:r>
                  </m:oMath>
                </a14:m>
                <a:r>
                  <a:rPr lang="en-US" altLang="zh-CN" dirty="0"/>
                  <a:t>+</a:t>
                </a:r>
                <a:r>
                  <a:rPr lang="en-US" altLang="zh-CN" b="0" dirty="0"/>
                  <a:t> </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𝑙</m:t>
                            </m:r>
                          </m:sup>
                        </m:sSup>
                      </m:sup>
                    </m:sSubSup>
                  </m:oMath>
                </a14:m>
                <a:endParaRPr lang="zh-CN" altLang="en-US" dirty="0"/>
              </a:p>
            </p:txBody>
          </p:sp>
        </mc:Choice>
        <mc:Fallback>
          <p:sp>
            <p:nvSpPr>
              <p:cNvPr id="23" name="文本框 22">
                <a:extLst>
                  <a:ext uri="{FF2B5EF4-FFF2-40B4-BE49-F238E27FC236}">
                    <a16:creationId xmlns:a16="http://schemas.microsoft.com/office/drawing/2014/main" id="{69C4527E-D48B-C66A-F79E-756815AC38FA}"/>
                  </a:ext>
                </a:extLst>
              </p:cNvPr>
              <p:cNvSpPr txBox="1">
                <a:spLocks noRot="1" noChangeAspect="1" noMove="1" noResize="1" noEditPoints="1" noAdjustHandles="1" noChangeArrowheads="1" noChangeShapeType="1" noTextEdit="1"/>
              </p:cNvSpPr>
              <p:nvPr/>
            </p:nvSpPr>
            <p:spPr>
              <a:xfrm>
                <a:off x="8146613" y="1918182"/>
                <a:ext cx="3846954" cy="434221"/>
              </a:xfrm>
              <a:prstGeom prst="rect">
                <a:avLst/>
              </a:prstGeom>
              <a:blipFill>
                <a:blip r:embed="rId9"/>
                <a:stretch>
                  <a:fillRect b="-22535"/>
                </a:stretch>
              </a:blipFill>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2594181C-2F7A-F83A-77A1-9E25B8538F5C}"/>
              </a:ext>
            </a:extLst>
          </p:cNvPr>
          <p:cNvCxnSpPr>
            <a:cxnSpLocks/>
          </p:cNvCxnSpPr>
          <p:nvPr/>
        </p:nvCxnSpPr>
        <p:spPr>
          <a:xfrm>
            <a:off x="7391589" y="6118101"/>
            <a:ext cx="9620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文本框 32">
            <a:extLst>
              <a:ext uri="{FF2B5EF4-FFF2-40B4-BE49-F238E27FC236}">
                <a16:creationId xmlns:a16="http://schemas.microsoft.com/office/drawing/2014/main" id="{A7C863CB-FF27-1282-98A4-17D2137E6AEA}"/>
              </a:ext>
            </a:extLst>
          </p:cNvPr>
          <p:cNvSpPr txBox="1"/>
          <p:nvPr/>
        </p:nvSpPr>
        <p:spPr>
          <a:xfrm>
            <a:off x="7583046" y="6059730"/>
            <a:ext cx="662361" cy="369332"/>
          </a:xfrm>
          <a:prstGeom prst="rect">
            <a:avLst/>
          </a:prstGeom>
          <a:noFill/>
        </p:spPr>
        <p:txBody>
          <a:bodyPr wrap="none" rtlCol="0">
            <a:spAutoFit/>
          </a:bodyPr>
          <a:lstStyle/>
          <a:p>
            <a:r>
              <a:rPr lang="en-US" altLang="zh-CN" dirty="0"/>
              <a:t>align</a:t>
            </a:r>
            <a:endParaRPr lang="zh-CN" altLang="en-US" dirty="0"/>
          </a:p>
        </p:txBody>
      </p:sp>
      <mc:AlternateContent xmlns:mc="http://schemas.openxmlformats.org/markup-compatibility/2006">
        <mc:Choice xmlns:a14="http://schemas.microsoft.com/office/drawing/2010/main" Requires="a14">
          <p:sp>
            <p:nvSpPr>
              <p:cNvPr id="39" name="文本框 38">
                <a:extLst>
                  <a:ext uri="{FF2B5EF4-FFF2-40B4-BE49-F238E27FC236}">
                    <a16:creationId xmlns:a16="http://schemas.microsoft.com/office/drawing/2014/main" id="{9BABBABF-5CC5-FBAD-BFD5-DAD11754C603}"/>
                  </a:ext>
                </a:extLst>
              </p:cNvPr>
              <p:cNvSpPr txBox="1"/>
              <p:nvPr/>
            </p:nvSpPr>
            <p:spPr>
              <a:xfrm>
                <a:off x="8055733" y="5941861"/>
                <a:ext cx="1809990"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39" name="文本框 38">
                <a:extLst>
                  <a:ext uri="{FF2B5EF4-FFF2-40B4-BE49-F238E27FC236}">
                    <a16:creationId xmlns:a16="http://schemas.microsoft.com/office/drawing/2014/main" id="{9BABBABF-5CC5-FBAD-BFD5-DAD11754C603}"/>
                  </a:ext>
                </a:extLst>
              </p:cNvPr>
              <p:cNvSpPr txBox="1">
                <a:spLocks noRot="1" noChangeAspect="1" noMove="1" noResize="1" noEditPoints="1" noAdjustHandles="1" noChangeArrowheads="1" noChangeShapeType="1" noTextEdit="1"/>
              </p:cNvSpPr>
              <p:nvPr/>
            </p:nvSpPr>
            <p:spPr>
              <a:xfrm>
                <a:off x="8055733" y="5941861"/>
                <a:ext cx="1809990" cy="375552"/>
              </a:xfrm>
              <a:prstGeom prst="rect">
                <a:avLst/>
              </a:prstGeom>
              <a:blipFill>
                <a:blip r:embed="rId10"/>
                <a:stretch>
                  <a:fillRect b="-1639"/>
                </a:stretch>
              </a:blipFill>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A112EAD4-E1D9-6875-EB90-7FE49B083361}"/>
              </a:ext>
            </a:extLst>
          </p:cNvPr>
          <p:cNvSpPr txBox="1"/>
          <p:nvPr/>
        </p:nvSpPr>
        <p:spPr>
          <a:xfrm>
            <a:off x="7253120" y="2502561"/>
            <a:ext cx="1768433" cy="369332"/>
          </a:xfrm>
          <a:prstGeom prst="rect">
            <a:avLst/>
          </a:prstGeom>
          <a:noFill/>
        </p:spPr>
        <p:txBody>
          <a:bodyPr wrap="none" rtlCol="0">
            <a:spAutoFit/>
          </a:bodyPr>
          <a:lstStyle/>
          <a:p>
            <a:r>
              <a:rPr lang="en-US" altLang="zh-CN" dirty="0"/>
              <a:t>Cross-Attention</a:t>
            </a:r>
            <a:endParaRPr lang="zh-CN" altLang="en-US" dirty="0"/>
          </a:p>
        </p:txBody>
      </p:sp>
      <p:sp>
        <p:nvSpPr>
          <p:cNvPr id="44" name="矩形 43">
            <a:extLst>
              <a:ext uri="{FF2B5EF4-FFF2-40B4-BE49-F238E27FC236}">
                <a16:creationId xmlns:a16="http://schemas.microsoft.com/office/drawing/2014/main" id="{01065B93-A299-0E93-A23D-E964FB0C6FED}"/>
              </a:ext>
            </a:extLst>
          </p:cNvPr>
          <p:cNvSpPr/>
          <p:nvPr/>
        </p:nvSpPr>
        <p:spPr>
          <a:xfrm>
            <a:off x="7223495" y="139291"/>
            <a:ext cx="4718252" cy="2271483"/>
          </a:xfrm>
          <a:prstGeom prst="rect">
            <a:avLst/>
          </a:prstGeom>
          <a:noFill/>
          <a:ln w="28575">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5" name="文本框 44">
                <a:extLst>
                  <a:ext uri="{FF2B5EF4-FFF2-40B4-BE49-F238E27FC236}">
                    <a16:creationId xmlns:a16="http://schemas.microsoft.com/office/drawing/2014/main" id="{CF2085FF-425A-BD3A-7DD4-ACA96D0A8D04}"/>
                  </a:ext>
                </a:extLst>
              </p:cNvPr>
              <p:cNvSpPr txBox="1"/>
              <p:nvPr/>
            </p:nvSpPr>
            <p:spPr>
              <a:xfrm>
                <a:off x="7473747" y="2743957"/>
                <a:ext cx="4598393" cy="8082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𝑠𝑜𝑓𝑡𝑚𝑎𝑥</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𝑡</m:t>
                                  </m:r>
                                </m:sup>
                              </m:sSubSup>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𝑇</m:t>
                                  </m:r>
                                </m:sup>
                              </m:sSup>
                            </m:num>
                            <m:den>
                              <m:rad>
                                <m:radPr>
                                  <m:degHide m:val="on"/>
                                  <m:ctrlPr>
                                    <a:rPr lang="en-US" altLang="zh-CN" b="0" i="1" smtClean="0">
                                      <a:latin typeface="Cambria Math" panose="02040503050406030204" pitchFamily="18" charset="0"/>
                                    </a:rPr>
                                  </m:ctrlPr>
                                </m:radPr>
                                <m:deg/>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e>
                              </m:rad>
                            </m:den>
                          </m:f>
                        </m:e>
                      </m:d>
                      <m:r>
                        <a:rPr lang="zh-CN" altLang="en-US" b="0" i="1" smtClean="0">
                          <a:latin typeface="Cambria Math" panose="02040503050406030204" pitchFamily="18" charset="0"/>
                        </a:rPr>
                        <m:t>𝜓</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e>
                      </m:d>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oMath>
                  </m:oMathPara>
                </a14:m>
                <a:endParaRPr lang="zh-CN" altLang="en-US" dirty="0"/>
              </a:p>
            </p:txBody>
          </p:sp>
        </mc:Choice>
        <mc:Fallback>
          <p:sp>
            <p:nvSpPr>
              <p:cNvPr id="45" name="文本框 44">
                <a:extLst>
                  <a:ext uri="{FF2B5EF4-FFF2-40B4-BE49-F238E27FC236}">
                    <a16:creationId xmlns:a16="http://schemas.microsoft.com/office/drawing/2014/main" id="{CF2085FF-425A-BD3A-7DD4-ACA96D0A8D04}"/>
                  </a:ext>
                </a:extLst>
              </p:cNvPr>
              <p:cNvSpPr txBox="1">
                <a:spLocks noRot="1" noChangeAspect="1" noMove="1" noResize="1" noEditPoints="1" noAdjustHandles="1" noChangeArrowheads="1" noChangeShapeType="1" noTextEdit="1"/>
              </p:cNvSpPr>
              <p:nvPr/>
            </p:nvSpPr>
            <p:spPr>
              <a:xfrm>
                <a:off x="7473747" y="2743957"/>
                <a:ext cx="4598393" cy="808235"/>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文本框 49">
                <a:extLst>
                  <a:ext uri="{FF2B5EF4-FFF2-40B4-BE49-F238E27FC236}">
                    <a16:creationId xmlns:a16="http://schemas.microsoft.com/office/drawing/2014/main" id="{9D81CBB4-E211-5C6C-09CC-40E1179EFA3E}"/>
                  </a:ext>
                </a:extLst>
              </p:cNvPr>
              <p:cNvSpPr txBox="1"/>
              <p:nvPr/>
            </p:nvSpPr>
            <p:spPr>
              <a:xfrm>
                <a:off x="7858855" y="5408905"/>
                <a:ext cx="1473099" cy="4202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m:t>
                              </m:r>
                            </m:sup>
                          </m:sSup>
                        </m:sup>
                      </m:sSubSup>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sup>
                      </m:sSup>
                    </m:oMath>
                  </m:oMathPara>
                </a14:m>
                <a:endParaRPr lang="zh-CN" altLang="en-US" dirty="0"/>
              </a:p>
            </p:txBody>
          </p:sp>
        </mc:Choice>
        <mc:Fallback>
          <p:sp>
            <p:nvSpPr>
              <p:cNvPr id="50" name="文本框 49">
                <a:extLst>
                  <a:ext uri="{FF2B5EF4-FFF2-40B4-BE49-F238E27FC236}">
                    <a16:creationId xmlns:a16="http://schemas.microsoft.com/office/drawing/2014/main" id="{9D81CBB4-E211-5C6C-09CC-40E1179EFA3E}"/>
                  </a:ext>
                </a:extLst>
              </p:cNvPr>
              <p:cNvSpPr txBox="1">
                <a:spLocks noRot="1" noChangeAspect="1" noMove="1" noResize="1" noEditPoints="1" noAdjustHandles="1" noChangeArrowheads="1" noChangeShapeType="1" noTextEdit="1"/>
              </p:cNvSpPr>
              <p:nvPr/>
            </p:nvSpPr>
            <p:spPr>
              <a:xfrm>
                <a:off x="7858855" y="5408905"/>
                <a:ext cx="1473099" cy="420243"/>
              </a:xfrm>
              <a:prstGeom prst="rect">
                <a:avLst/>
              </a:prstGeom>
              <a:blipFill>
                <a:blip r:embed="rId12"/>
                <a:stretch>
                  <a:fillRect b="-1449"/>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7FE74E67-ACCB-0F75-CF1F-627BBC72D573}"/>
              </a:ext>
            </a:extLst>
          </p:cNvPr>
          <p:cNvCxnSpPr>
            <a:cxnSpLocks/>
          </p:cNvCxnSpPr>
          <p:nvPr/>
        </p:nvCxnSpPr>
        <p:spPr>
          <a:xfrm flipV="1">
            <a:off x="9331954" y="5342531"/>
            <a:ext cx="951238" cy="1537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文本框 53">
            <a:extLst>
              <a:ext uri="{FF2B5EF4-FFF2-40B4-BE49-F238E27FC236}">
                <a16:creationId xmlns:a16="http://schemas.microsoft.com/office/drawing/2014/main" id="{E2E57A24-931C-7D7D-3C23-256EB40CC24F}"/>
              </a:ext>
            </a:extLst>
          </p:cNvPr>
          <p:cNvSpPr txBox="1"/>
          <p:nvPr/>
        </p:nvSpPr>
        <p:spPr>
          <a:xfrm>
            <a:off x="10278605" y="4741791"/>
            <a:ext cx="1045479" cy="369332"/>
          </a:xfrm>
          <a:prstGeom prst="rect">
            <a:avLst/>
          </a:prstGeom>
          <a:noFill/>
        </p:spPr>
        <p:txBody>
          <a:bodyPr wrap="none" rtlCol="0">
            <a:spAutoFit/>
          </a:bodyPr>
          <a:lstStyle/>
          <a:p>
            <a:r>
              <a:rPr lang="en-US" altLang="zh-CN" dirty="0"/>
              <a:t>torch.cat</a:t>
            </a:r>
            <a:endParaRPr lang="zh-CN" altLang="en-US" dirty="0"/>
          </a:p>
        </p:txBody>
      </p:sp>
      <mc:AlternateContent xmlns:mc="http://schemas.openxmlformats.org/markup-compatibility/2006">
        <mc:Choice xmlns:a14="http://schemas.microsoft.com/office/drawing/2010/main" Requires="a14">
          <p:sp>
            <p:nvSpPr>
              <p:cNvPr id="56" name="文本框 55">
                <a:extLst>
                  <a:ext uri="{FF2B5EF4-FFF2-40B4-BE49-F238E27FC236}">
                    <a16:creationId xmlns:a16="http://schemas.microsoft.com/office/drawing/2014/main" id="{CBB2D360-B92C-FD40-50E9-AD9402D40B41}"/>
                  </a:ext>
                </a:extLst>
              </p:cNvPr>
              <p:cNvSpPr txBox="1"/>
              <p:nvPr/>
            </p:nvSpPr>
            <p:spPr>
              <a:xfrm>
                <a:off x="10224714" y="5040727"/>
                <a:ext cx="1968568" cy="3862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i="1" smtClean="0">
                              <a:latin typeface="Cambria Math" panose="02040503050406030204" pitchFamily="18" charset="0"/>
                              <a:ea typeface="Cambria Math" panose="02040503050406030204" pitchFamily="18" charset="0"/>
                            </a:rPr>
                            <m:t>ℝ</m:t>
                          </m:r>
                        </m:e>
                        <m:sup>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𝑑</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𝑡</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up>
                      </m:sSup>
                    </m:oMath>
                  </m:oMathPara>
                </a14:m>
                <a:endParaRPr lang="zh-CN" altLang="en-US" dirty="0"/>
              </a:p>
            </p:txBody>
          </p:sp>
        </mc:Choice>
        <mc:Fallback>
          <p:sp>
            <p:nvSpPr>
              <p:cNvPr id="56" name="文本框 55">
                <a:extLst>
                  <a:ext uri="{FF2B5EF4-FFF2-40B4-BE49-F238E27FC236}">
                    <a16:creationId xmlns:a16="http://schemas.microsoft.com/office/drawing/2014/main" id="{CBB2D360-B92C-FD40-50E9-AD9402D40B41}"/>
                  </a:ext>
                </a:extLst>
              </p:cNvPr>
              <p:cNvSpPr txBox="1">
                <a:spLocks noRot="1" noChangeAspect="1" noMove="1" noResize="1" noEditPoints="1" noAdjustHandles="1" noChangeArrowheads="1" noChangeShapeType="1" noTextEdit="1"/>
              </p:cNvSpPr>
              <p:nvPr/>
            </p:nvSpPr>
            <p:spPr>
              <a:xfrm>
                <a:off x="10224714" y="5040727"/>
                <a:ext cx="1968568" cy="386260"/>
              </a:xfrm>
              <a:prstGeom prst="rect">
                <a:avLst/>
              </a:prstGeom>
              <a:blipFill>
                <a:blip r:embed="rId13"/>
                <a:stretch>
                  <a:fillRect/>
                </a:stretch>
              </a:blipFill>
            </p:spPr>
            <p:txBody>
              <a:bodyPr/>
              <a:lstStyle/>
              <a:p>
                <a:r>
                  <a:rPr lang="zh-CN" altLang="en-US">
                    <a:noFill/>
                  </a:rPr>
                  <a:t> </a:t>
                </a:r>
              </a:p>
            </p:txBody>
          </p:sp>
        </mc:Fallback>
      </mc:AlternateContent>
      <p:sp>
        <p:nvSpPr>
          <p:cNvPr id="57" name="文本框 56">
            <a:extLst>
              <a:ext uri="{FF2B5EF4-FFF2-40B4-BE49-F238E27FC236}">
                <a16:creationId xmlns:a16="http://schemas.microsoft.com/office/drawing/2014/main" id="{A372F588-4C0B-DC89-5CA0-EB869A874A8B}"/>
              </a:ext>
            </a:extLst>
          </p:cNvPr>
          <p:cNvSpPr txBox="1"/>
          <p:nvPr/>
        </p:nvSpPr>
        <p:spPr>
          <a:xfrm>
            <a:off x="3102074" y="5323646"/>
            <a:ext cx="684803" cy="369332"/>
          </a:xfrm>
          <a:prstGeom prst="rect">
            <a:avLst/>
          </a:prstGeom>
          <a:noFill/>
        </p:spPr>
        <p:txBody>
          <a:bodyPr wrap="none" rtlCol="0">
            <a:spAutoFit/>
          </a:bodyPr>
          <a:lstStyle/>
          <a:p>
            <a:r>
              <a:rPr lang="en-US" altLang="zh-CN" dirty="0" err="1"/>
              <a:t>Rdkit</a:t>
            </a:r>
            <a:endParaRPr lang="zh-CN" altLang="en-US" dirty="0"/>
          </a:p>
        </p:txBody>
      </p:sp>
    </p:spTree>
    <p:extLst>
      <p:ext uri="{BB962C8B-B14F-4D97-AF65-F5344CB8AC3E}">
        <p14:creationId xmlns:p14="http://schemas.microsoft.com/office/powerpoint/2010/main" val="4287768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C6D7AB6-FC4A-E787-3AD3-DC459FD24F5A}"/>
              </a:ext>
            </a:extLst>
          </p:cNvPr>
          <p:cNvPicPr>
            <a:picLocks noChangeAspect="1"/>
          </p:cNvPicPr>
          <p:nvPr/>
        </p:nvPicPr>
        <p:blipFill>
          <a:blip r:embed="rId2"/>
          <a:stretch>
            <a:fillRect/>
          </a:stretch>
        </p:blipFill>
        <p:spPr>
          <a:xfrm>
            <a:off x="210225" y="0"/>
            <a:ext cx="7225337" cy="4114429"/>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0C477643-27D9-3AA1-D9CA-40F2ECBFB482}"/>
                  </a:ext>
                </a:extLst>
              </p:cNvPr>
              <p:cNvSpPr txBox="1"/>
              <p:nvPr/>
            </p:nvSpPr>
            <p:spPr>
              <a:xfrm>
                <a:off x="777977" y="4350464"/>
                <a:ext cx="3292577" cy="6372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𝑗𝑜𝑖𝑛𝑡</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𝜓</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sub>
                                </m:sSub>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m:t>
                                </m:r>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sub>
                                </m:sSub>
                              </m:e>
                            </m:mr>
                          </m:m>
                        </m:e>
                      </m:d>
                      <m:r>
                        <a:rPr lang="en-US" altLang="zh-CN" b="0" i="1" smtClean="0">
                          <a:latin typeface="Cambria Math" panose="02040503050406030204" pitchFamily="18" charset="0"/>
                        </a:rPr>
                        <m:t>)</m:t>
                      </m:r>
                    </m:oMath>
                  </m:oMathPara>
                </a14:m>
                <a:endParaRPr lang="zh-CN" altLang="en-US" dirty="0"/>
              </a:p>
            </p:txBody>
          </p:sp>
        </mc:Choice>
        <mc:Fallback>
          <p:sp>
            <p:nvSpPr>
              <p:cNvPr id="6" name="文本框 5">
                <a:extLst>
                  <a:ext uri="{FF2B5EF4-FFF2-40B4-BE49-F238E27FC236}">
                    <a16:creationId xmlns:a16="http://schemas.microsoft.com/office/drawing/2014/main" id="{0C477643-27D9-3AA1-D9CA-40F2ECBFB482}"/>
                  </a:ext>
                </a:extLst>
              </p:cNvPr>
              <p:cNvSpPr txBox="1">
                <a:spLocks noRot="1" noChangeAspect="1" noMove="1" noResize="1" noEditPoints="1" noAdjustHandles="1" noChangeArrowheads="1" noChangeShapeType="1" noTextEdit="1"/>
              </p:cNvSpPr>
              <p:nvPr/>
            </p:nvSpPr>
            <p:spPr>
              <a:xfrm>
                <a:off x="777977" y="4350464"/>
                <a:ext cx="3292577" cy="637290"/>
              </a:xfrm>
              <a:prstGeom prst="rect">
                <a:avLst/>
              </a:prstGeom>
              <a:blipFill>
                <a:blip r:embed="rId3"/>
                <a:stretch>
                  <a:fillRect/>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F388695A-A0E0-ABC6-81A4-6B98689C1168}"/>
              </a:ext>
            </a:extLst>
          </p:cNvPr>
          <p:cNvPicPr>
            <a:picLocks noChangeAspect="1"/>
          </p:cNvPicPr>
          <p:nvPr/>
        </p:nvPicPr>
        <p:blipFill>
          <a:blip r:embed="rId4"/>
          <a:stretch>
            <a:fillRect/>
          </a:stretch>
        </p:blipFill>
        <p:spPr>
          <a:xfrm>
            <a:off x="7318742" y="471954"/>
            <a:ext cx="4663033" cy="2957046"/>
          </a:xfrm>
          <a:prstGeom prst="rect">
            <a:avLst/>
          </a:prstGeom>
        </p:spPr>
      </p:pic>
      <p:sp>
        <p:nvSpPr>
          <p:cNvPr id="10" name="文本框 9">
            <a:extLst>
              <a:ext uri="{FF2B5EF4-FFF2-40B4-BE49-F238E27FC236}">
                <a16:creationId xmlns:a16="http://schemas.microsoft.com/office/drawing/2014/main" id="{E1132496-5639-7906-C316-13379F9E0055}"/>
              </a:ext>
            </a:extLst>
          </p:cNvPr>
          <p:cNvSpPr txBox="1"/>
          <p:nvPr/>
        </p:nvSpPr>
        <p:spPr>
          <a:xfrm>
            <a:off x="527254" y="5223789"/>
            <a:ext cx="5568746" cy="369332"/>
          </a:xfrm>
          <a:prstGeom prst="rect">
            <a:avLst/>
          </a:prstGeom>
          <a:noFill/>
        </p:spPr>
        <p:txBody>
          <a:bodyPr wrap="square">
            <a:spAutoFit/>
          </a:bodyPr>
          <a:lstStyle/>
          <a:p>
            <a:pPr algn="l"/>
            <a:r>
              <a:rPr lang="el-GR" altLang="zh-CN" sz="1800" b="0" i="0" u="none" strike="noStrike" baseline="0" dirty="0">
                <a:latin typeface="CMMI10"/>
              </a:rPr>
              <a:t>ψ</a:t>
            </a:r>
            <a:r>
              <a:rPr lang="el-GR" altLang="zh-CN" sz="1800" b="0" i="0" u="none" strike="noStrike" baseline="0" dirty="0">
                <a:latin typeface="CMR10"/>
              </a:rPr>
              <a:t>() </a:t>
            </a:r>
            <a:r>
              <a:rPr lang="en-US" altLang="zh-CN" sz="1800" b="0" i="0" u="none" strike="noStrike" baseline="0" dirty="0">
                <a:latin typeface="NimbusRomNo9L-Regu"/>
              </a:rPr>
              <a:t>is the mapping</a:t>
            </a:r>
            <a:r>
              <a:rPr lang="en-US" altLang="zh-CN" dirty="0">
                <a:latin typeface="NimbusRomNo9L-Regu"/>
              </a:rPr>
              <a:t> </a:t>
            </a:r>
            <a:r>
              <a:rPr lang="en-US" altLang="zh-CN" sz="1800" b="0" i="0" u="none" strike="noStrike" baseline="0" dirty="0">
                <a:latin typeface="NimbusRomNo9L-Regu"/>
              </a:rPr>
              <a:t>process though linear and GELU layers.</a:t>
            </a:r>
            <a:endParaRPr lang="zh-CN" altLang="en-US" dirty="0"/>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E92E0E06-13CC-466E-FBAD-AAAB8FC1142C}"/>
                  </a:ext>
                </a:extLst>
              </p:cNvPr>
              <p:cNvSpPr txBox="1"/>
              <p:nvPr/>
            </p:nvSpPr>
            <p:spPr>
              <a:xfrm>
                <a:off x="409267" y="5593121"/>
                <a:ext cx="6098458" cy="683842"/>
              </a:xfrm>
              <a:prstGeom prst="rect">
                <a:avLst/>
              </a:prstGeom>
              <a:noFill/>
            </p:spPr>
            <p:txBody>
              <a:bodyPr wrap="square">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𝑗𝑜𝑖𝑛𝑡</m:t>
                        </m:r>
                      </m:sub>
                    </m:sSub>
                    <m:r>
                      <a:rPr lang="en-US" altLang="zh-CN" b="0" i="1" smtClean="0">
                        <a:latin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ℝ</m:t>
                        </m:r>
                      </m:e>
                      <m: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sup>
                    </m:sSup>
                  </m:oMath>
                </a14:m>
                <a:r>
                  <a:rPr lang="en-US" altLang="zh-CN" sz="1800" b="0" i="0" u="none" strike="noStrike" baseline="0" dirty="0">
                    <a:latin typeface="NimbusRomNo9L-Regu"/>
                  </a:rPr>
                  <a:t> is the joint feature,</a:t>
                </a:r>
                <a:r>
                  <a:rPr lang="en-US" altLang="zh-CN" b="0" dirty="0">
                    <a:ea typeface="Cambria Math" panose="02040503050406030204" pitchFamily="18" charset="0"/>
                  </a:rPr>
                  <a:t>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oMath>
                </a14:m>
                <a:r>
                  <a:rPr lang="zh-CN" altLang="en-US" dirty="0"/>
                  <a:t> </a:t>
                </a:r>
                <a:r>
                  <a:rPr lang="en-US" altLang="zh-CN" dirty="0"/>
                  <a:t>and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oMath>
                </a14:m>
                <a:r>
                  <a:rPr lang="en-US" altLang="zh-CN" dirty="0"/>
                  <a:t> are its length and channel, respectively.</a:t>
                </a:r>
                <a:endParaRPr lang="zh-CN" altLang="en-US" dirty="0"/>
              </a:p>
            </p:txBody>
          </p:sp>
        </mc:Choice>
        <mc:Fallback>
          <p:sp>
            <p:nvSpPr>
              <p:cNvPr id="12" name="文本框 11">
                <a:extLst>
                  <a:ext uri="{FF2B5EF4-FFF2-40B4-BE49-F238E27FC236}">
                    <a16:creationId xmlns:a16="http://schemas.microsoft.com/office/drawing/2014/main" id="{E92E0E06-13CC-466E-FBAD-AAAB8FC1142C}"/>
                  </a:ext>
                </a:extLst>
              </p:cNvPr>
              <p:cNvSpPr txBox="1">
                <a:spLocks noRot="1" noChangeAspect="1" noMove="1" noResize="1" noEditPoints="1" noAdjustHandles="1" noChangeArrowheads="1" noChangeShapeType="1" noTextEdit="1"/>
              </p:cNvSpPr>
              <p:nvPr/>
            </p:nvSpPr>
            <p:spPr>
              <a:xfrm>
                <a:off x="409267" y="5593121"/>
                <a:ext cx="6098458" cy="683842"/>
              </a:xfrm>
              <a:prstGeom prst="rect">
                <a:avLst/>
              </a:prstGeom>
              <a:blipFill>
                <a:blip r:embed="rId5"/>
                <a:stretch>
                  <a:fillRect l="-799" t="-2679" b="-133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0E338135-F9DF-EC81-D377-BD477D43E380}"/>
                  </a:ext>
                </a:extLst>
              </p:cNvPr>
              <p:cNvSpPr txBox="1"/>
              <p:nvPr/>
            </p:nvSpPr>
            <p:spPr>
              <a:xfrm>
                <a:off x="6286499" y="3943261"/>
                <a:ext cx="6098458" cy="964431"/>
              </a:xfrm>
              <a:prstGeom prst="rect">
                <a:avLst/>
              </a:prstGeom>
              <a:noFill/>
            </p:spPr>
            <p:txBody>
              <a:bodyPr wrap="square">
                <a:spAutoFit/>
              </a:bodyPr>
              <a:lstStyle/>
              <a:p>
                <a:pPr algn="l"/>
                <a:r>
                  <a:rPr lang="en-US" altLang="zh-CN" sz="1800" b="0" i="0" u="none" strike="noStrike" baseline="0" dirty="0">
                    <a:latin typeface="NimbusRomNo9L-Regu"/>
                  </a:rPr>
                  <a:t>Compute the covariance matrix of the joint feature in its two</a:t>
                </a:r>
              </a:p>
              <a:p>
                <a:pPr algn="l"/>
                <a:r>
                  <a:rPr lang="en-US" altLang="zh-CN" sz="1800" b="0" i="0" u="none" strike="noStrike" baseline="0" dirty="0">
                    <a:latin typeface="NimbusRomNo9L-Regu"/>
                  </a:rPr>
                  <a:t>dimensions as its Riemannian features, the channel-based</a:t>
                </a:r>
              </a:p>
              <a:p>
                <a14:m>
                  <m:oMath xmlns:m="http://schemas.openxmlformats.org/officeDocument/2006/math">
                    <m:sSup>
                      <m:sSupPr>
                        <m:ctrlPr>
                          <a:rPr lang="en-US" altLang="zh-CN" b="0" i="1" smtClean="0">
                            <a:latin typeface="Cambria Math" panose="02040503050406030204" pitchFamily="18" charset="0"/>
                            <a:ea typeface="Cambria Math" panose="02040503050406030204" pitchFamily="18" charset="0"/>
                          </a:rPr>
                        </m:ctrlPr>
                      </m:sSup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𝑟</m:t>
                                </m:r>
                              </m:e>
                              <m:sup>
                                <m:r>
                                  <a:rPr lang="en-US" altLang="zh-CN" b="0" i="1" smtClean="0">
                                    <a:latin typeface="Cambria Math" panose="02040503050406030204" pitchFamily="18" charset="0"/>
                                    <a:ea typeface="Cambria Math" panose="02040503050406030204" pitchFamily="18" charset="0"/>
                                  </a:rPr>
                                  <m:t>𝐶</m:t>
                                </m:r>
                              </m:sup>
                            </m:sSup>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ℝ</m:t>
                        </m:r>
                      </m:e>
                      <m: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m:t>
                            </m:r>
                          </m:e>
                          <m:sub>
                            <m:r>
                              <a:rPr lang="en-US" altLang="zh-CN" b="0" i="1" smtClean="0">
                                <a:latin typeface="Cambria Math" panose="02040503050406030204" pitchFamily="18" charset="0"/>
                                <a:ea typeface="Cambria Math" panose="02040503050406030204" pitchFamily="18" charset="0"/>
                              </a:rPr>
                              <m:t>𝑗</m:t>
                            </m:r>
                          </m:sub>
                        </m:sSub>
                      </m:sup>
                    </m:sSup>
                  </m:oMath>
                </a14:m>
                <a:r>
                  <a:rPr lang="en-US" altLang="zh-CN" sz="1800" b="0" i="0" u="none" strike="noStrike" baseline="0" dirty="0">
                    <a:latin typeface="NimbusRomNo9L-Regu"/>
                  </a:rPr>
                  <a:t> and the length-based </a:t>
                </a:r>
                <a14:m>
                  <m:oMath xmlns:m="http://schemas.openxmlformats.org/officeDocument/2006/math">
                    <m:sSup>
                      <m:sSupPr>
                        <m:ctrlPr>
                          <a:rPr lang="en-US" altLang="zh-CN" b="0" i="1" smtClean="0">
                            <a:latin typeface="Cambria Math" panose="02040503050406030204" pitchFamily="18" charset="0"/>
                            <a:ea typeface="Cambria Math" panose="02040503050406030204" pitchFamily="18" charset="0"/>
                          </a:rPr>
                        </m:ctrlPr>
                      </m:sSup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𝐹</m:t>
                            </m:r>
                          </m:e>
                          <m:sub>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𝑟</m:t>
                                </m:r>
                              </m:e>
                              <m:sup>
                                <m:r>
                                  <a:rPr lang="en-US" altLang="zh-CN" b="0" i="1" smtClean="0">
                                    <a:latin typeface="Cambria Math" panose="02040503050406030204" pitchFamily="18" charset="0"/>
                                    <a:ea typeface="Cambria Math" panose="02040503050406030204" pitchFamily="18" charset="0"/>
                                  </a:rPr>
                                  <m:t>𝐿</m:t>
                                </m:r>
                              </m:sup>
                            </m:sSup>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ℝ</m:t>
                        </m:r>
                      </m:e>
                      <m: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𝑗</m:t>
                            </m:r>
                          </m:sub>
                        </m:sSub>
                      </m:sup>
                    </m:sSup>
                  </m:oMath>
                </a14:m>
                <a:r>
                  <a:rPr lang="en-US" altLang="zh-CN" dirty="0">
                    <a:latin typeface="NimbusRomNo9L-Regu"/>
                  </a:rPr>
                  <a:t> .</a:t>
                </a:r>
                <a:endParaRPr lang="zh-CN" altLang="en-US" dirty="0"/>
              </a:p>
            </p:txBody>
          </p:sp>
        </mc:Choice>
        <mc:Fallback>
          <p:sp>
            <p:nvSpPr>
              <p:cNvPr id="14" name="文本框 13">
                <a:extLst>
                  <a:ext uri="{FF2B5EF4-FFF2-40B4-BE49-F238E27FC236}">
                    <a16:creationId xmlns:a16="http://schemas.microsoft.com/office/drawing/2014/main" id="{0E338135-F9DF-EC81-D377-BD477D43E380}"/>
                  </a:ext>
                </a:extLst>
              </p:cNvPr>
              <p:cNvSpPr txBox="1">
                <a:spLocks noRot="1" noChangeAspect="1" noMove="1" noResize="1" noEditPoints="1" noAdjustHandles="1" noChangeArrowheads="1" noChangeShapeType="1" noTextEdit="1"/>
              </p:cNvSpPr>
              <p:nvPr/>
            </p:nvSpPr>
            <p:spPr>
              <a:xfrm>
                <a:off x="6286499" y="3943261"/>
                <a:ext cx="6098458" cy="964431"/>
              </a:xfrm>
              <a:prstGeom prst="rect">
                <a:avLst/>
              </a:prstGeom>
              <a:blipFill>
                <a:blip r:embed="rId6"/>
                <a:stretch>
                  <a:fillRect l="-799" t="-3797" b="-6962"/>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4A706A38-3CA4-6049-91B6-6AD7BAEBBFB8}"/>
              </a:ext>
            </a:extLst>
          </p:cNvPr>
          <p:cNvSpPr txBox="1"/>
          <p:nvPr/>
        </p:nvSpPr>
        <p:spPr>
          <a:xfrm>
            <a:off x="6213987" y="4907692"/>
            <a:ext cx="5959723" cy="584775"/>
          </a:xfrm>
          <a:prstGeom prst="rect">
            <a:avLst/>
          </a:prstGeom>
          <a:noFill/>
        </p:spPr>
        <p:txBody>
          <a:bodyPr wrap="square">
            <a:spAutoFit/>
          </a:bodyPr>
          <a:lstStyle/>
          <a:p>
            <a:r>
              <a:rPr lang="zh-CN" altLang="en-US" sz="1600" dirty="0"/>
              <a:t>The Riemannian features </a:t>
            </a:r>
            <a:r>
              <a:rPr lang="en-US" altLang="zh-CN" sz="1600" dirty="0"/>
              <a:t>are</a:t>
            </a:r>
            <a:r>
              <a:rPr lang="zh-CN" altLang="en-US" sz="1600" dirty="0"/>
              <a:t> compressed using SPDNet and converted into vectors, and then MLP </a:t>
            </a:r>
            <a:r>
              <a:rPr lang="en-US" altLang="zh-CN" sz="1600" dirty="0"/>
              <a:t>are</a:t>
            </a:r>
            <a:r>
              <a:rPr lang="zh-CN" altLang="en-US" sz="1600" dirty="0"/>
              <a:t> used to predict DTI</a:t>
            </a:r>
          </a:p>
        </p:txBody>
      </p:sp>
    </p:spTree>
    <p:extLst>
      <p:ext uri="{BB962C8B-B14F-4D97-AF65-F5344CB8AC3E}">
        <p14:creationId xmlns:p14="http://schemas.microsoft.com/office/powerpoint/2010/main" val="1605430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A713590-C991-9EB7-A195-0F5546BF4160}"/>
              </a:ext>
            </a:extLst>
          </p:cNvPr>
          <p:cNvPicPr>
            <a:picLocks noChangeAspect="1"/>
          </p:cNvPicPr>
          <p:nvPr/>
        </p:nvPicPr>
        <p:blipFill>
          <a:blip r:embed="rId3"/>
          <a:stretch>
            <a:fillRect/>
          </a:stretch>
        </p:blipFill>
        <p:spPr>
          <a:xfrm>
            <a:off x="2652232" y="129742"/>
            <a:ext cx="6887536" cy="5477639"/>
          </a:xfrm>
          <a:prstGeom prst="rect">
            <a:avLst/>
          </a:prstGeom>
        </p:spPr>
      </p:pic>
      <p:sp>
        <p:nvSpPr>
          <p:cNvPr id="7" name="文本框 6">
            <a:extLst>
              <a:ext uri="{FF2B5EF4-FFF2-40B4-BE49-F238E27FC236}">
                <a16:creationId xmlns:a16="http://schemas.microsoft.com/office/drawing/2014/main" id="{2C50F270-9BD1-0516-C569-2CC8B1BF682F}"/>
              </a:ext>
            </a:extLst>
          </p:cNvPr>
          <p:cNvSpPr txBox="1"/>
          <p:nvPr/>
        </p:nvSpPr>
        <p:spPr>
          <a:xfrm>
            <a:off x="1061884" y="5527929"/>
            <a:ext cx="10515600" cy="1200329"/>
          </a:xfrm>
          <a:prstGeom prst="rect">
            <a:avLst/>
          </a:prstGeom>
          <a:noFill/>
        </p:spPr>
        <p:txBody>
          <a:bodyPr wrap="square">
            <a:spAutoFit/>
          </a:bodyPr>
          <a:lstStyle/>
          <a:p>
            <a:pPr algn="l"/>
            <a:r>
              <a:rPr lang="en-US" altLang="zh-CN" sz="1800" b="0" i="0" u="none" strike="noStrike" baseline="0" dirty="0">
                <a:latin typeface="NimbusRomNo9L-Regu"/>
              </a:rPr>
              <a:t>We find that most of these methods perform worse in the </a:t>
            </a:r>
            <a:r>
              <a:rPr lang="en-US" altLang="zh-CN" sz="1800" b="0" i="0" u="none" strike="noStrike" baseline="0" dirty="0">
                <a:latin typeface="NimbusRomNo9L-ReguItal"/>
              </a:rPr>
              <a:t>Unseen target </a:t>
            </a:r>
            <a:r>
              <a:rPr lang="en-US" altLang="zh-CN" sz="1800" b="0" i="0" u="none" strike="noStrike" baseline="0" dirty="0">
                <a:latin typeface="NimbusRomNo9L-Regu"/>
              </a:rPr>
              <a:t>subset than in the </a:t>
            </a:r>
            <a:r>
              <a:rPr lang="en-US" altLang="zh-CN" sz="1800" b="0" i="0" u="none" strike="noStrike" baseline="0" dirty="0">
                <a:latin typeface="NimbusRomNo9L-ReguItal"/>
              </a:rPr>
              <a:t>Unseen drug </a:t>
            </a:r>
            <a:r>
              <a:rPr lang="en-US" altLang="zh-CN" sz="1800" b="0" i="0" u="none" strike="noStrike" baseline="0" dirty="0">
                <a:latin typeface="NimbusRomNo9L-Regu"/>
              </a:rPr>
              <a:t>subset, indicating that their learned parameters are biased towards the proteins to some extent. However,</a:t>
            </a:r>
          </a:p>
          <a:p>
            <a:pPr algn="l"/>
            <a:r>
              <a:rPr lang="en-US" altLang="zh-CN" sz="1800" b="0" i="0" u="none" strike="noStrike" baseline="0" dirty="0">
                <a:latin typeface="NimbusRomNo9L-Regu"/>
              </a:rPr>
              <a:t>R-DTI using Riemannian SPD features, which is the covariance matrix of the joint protein and drug features, can effectively improve its generalization in the </a:t>
            </a:r>
            <a:r>
              <a:rPr lang="en-US" altLang="zh-CN" sz="1800" b="0" i="0" u="none" strike="noStrike" baseline="0" dirty="0">
                <a:latin typeface="NimbusRomNo9L-ReguItal"/>
              </a:rPr>
              <a:t>Unseen target </a:t>
            </a:r>
            <a:r>
              <a:rPr lang="en-US" altLang="zh-CN" sz="1800" b="0" i="0" u="none" strike="noStrike" baseline="0" dirty="0">
                <a:latin typeface="NimbusRomNo9L-Regu"/>
              </a:rPr>
              <a:t>subset.</a:t>
            </a:r>
            <a:endParaRPr lang="zh-CN" altLang="en-US" dirty="0"/>
          </a:p>
        </p:txBody>
      </p:sp>
    </p:spTree>
    <p:extLst>
      <p:ext uri="{BB962C8B-B14F-4D97-AF65-F5344CB8AC3E}">
        <p14:creationId xmlns:p14="http://schemas.microsoft.com/office/powerpoint/2010/main" val="1875773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042622-2985-05D4-2B56-C2161E597644}"/>
              </a:ext>
            </a:extLst>
          </p:cNvPr>
          <p:cNvPicPr>
            <a:picLocks noChangeAspect="1"/>
          </p:cNvPicPr>
          <p:nvPr/>
        </p:nvPicPr>
        <p:blipFill>
          <a:blip r:embed="rId2"/>
          <a:stretch>
            <a:fillRect/>
          </a:stretch>
        </p:blipFill>
        <p:spPr>
          <a:xfrm>
            <a:off x="1399519" y="122875"/>
            <a:ext cx="9392961" cy="2600688"/>
          </a:xfrm>
          <a:prstGeom prst="rect">
            <a:avLst/>
          </a:prstGeom>
        </p:spPr>
      </p:pic>
      <p:pic>
        <p:nvPicPr>
          <p:cNvPr id="7" name="图片 6">
            <a:extLst>
              <a:ext uri="{FF2B5EF4-FFF2-40B4-BE49-F238E27FC236}">
                <a16:creationId xmlns:a16="http://schemas.microsoft.com/office/drawing/2014/main" id="{28A64A86-AC8D-8765-0ABF-EC3ADB6FDE7A}"/>
              </a:ext>
            </a:extLst>
          </p:cNvPr>
          <p:cNvPicPr>
            <a:picLocks noChangeAspect="1"/>
          </p:cNvPicPr>
          <p:nvPr/>
        </p:nvPicPr>
        <p:blipFill>
          <a:blip r:embed="rId3"/>
          <a:stretch>
            <a:fillRect/>
          </a:stretch>
        </p:blipFill>
        <p:spPr>
          <a:xfrm>
            <a:off x="1556703" y="3016145"/>
            <a:ext cx="9078592" cy="2581635"/>
          </a:xfrm>
          <a:prstGeom prst="rect">
            <a:avLst/>
          </a:prstGeom>
        </p:spPr>
      </p:pic>
    </p:spTree>
    <p:extLst>
      <p:ext uri="{BB962C8B-B14F-4D97-AF65-F5344CB8AC3E}">
        <p14:creationId xmlns:p14="http://schemas.microsoft.com/office/powerpoint/2010/main" val="1993744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76141C-B6AE-5045-D14D-C4A32F3A10F6}"/>
              </a:ext>
            </a:extLst>
          </p:cNvPr>
          <p:cNvSpPr txBox="1"/>
          <p:nvPr/>
        </p:nvSpPr>
        <p:spPr>
          <a:xfrm>
            <a:off x="587477" y="5165521"/>
            <a:ext cx="11017045" cy="1200329"/>
          </a:xfrm>
          <a:prstGeom prst="rect">
            <a:avLst/>
          </a:prstGeom>
          <a:noFill/>
        </p:spPr>
        <p:txBody>
          <a:bodyPr wrap="square">
            <a:spAutoFit/>
          </a:bodyPr>
          <a:lstStyle/>
          <a:p>
            <a:pPr algn="l"/>
            <a:r>
              <a:rPr lang="en-US" altLang="zh-CN" sz="1800" b="0" i="0" u="none" strike="noStrike" baseline="0" dirty="0">
                <a:latin typeface="NimbusRomNo9L-Regu"/>
              </a:rPr>
              <a:t>Despite the better predictive performance of the Riemannian classifiers, the complicated gradient computation from the second-order relevance calculation affects the parameter optimization of their upstream feature extractors. Therefore, we introduced an auxiliary classifier to help train the feature extractors, and the final model obtained, </a:t>
            </a:r>
            <a:r>
              <a:rPr lang="en-US" altLang="zh-CN" sz="1800" b="0" i="0" u="none" strike="noStrike" baseline="0" dirty="0">
                <a:latin typeface="NimbusRomNo9L-ReguItal"/>
              </a:rPr>
              <a:t>i.e.</a:t>
            </a:r>
            <a:r>
              <a:rPr lang="en-US" altLang="zh-CN" sz="1800" b="0" i="0" u="none" strike="noStrike" baseline="0" dirty="0">
                <a:latin typeface="NimbusRomNo9L-Regu"/>
              </a:rPr>
              <a:t>, R-DTI, achieves the best performance.</a:t>
            </a:r>
            <a:endParaRPr lang="zh-CN" altLang="en-US" dirty="0"/>
          </a:p>
        </p:txBody>
      </p:sp>
      <p:pic>
        <p:nvPicPr>
          <p:cNvPr id="7" name="图片 6">
            <a:extLst>
              <a:ext uri="{FF2B5EF4-FFF2-40B4-BE49-F238E27FC236}">
                <a16:creationId xmlns:a16="http://schemas.microsoft.com/office/drawing/2014/main" id="{DB9B630C-7DC6-44AC-AC69-3C958D925255}"/>
              </a:ext>
            </a:extLst>
          </p:cNvPr>
          <p:cNvPicPr>
            <a:picLocks noChangeAspect="1"/>
          </p:cNvPicPr>
          <p:nvPr/>
        </p:nvPicPr>
        <p:blipFill>
          <a:blip r:embed="rId3"/>
          <a:stretch>
            <a:fillRect/>
          </a:stretch>
        </p:blipFill>
        <p:spPr>
          <a:xfrm>
            <a:off x="186733" y="604684"/>
            <a:ext cx="11818533" cy="3271089"/>
          </a:xfrm>
          <a:prstGeom prst="rect">
            <a:avLst/>
          </a:prstGeom>
        </p:spPr>
      </p:pic>
    </p:spTree>
    <p:extLst>
      <p:ext uri="{BB962C8B-B14F-4D97-AF65-F5344CB8AC3E}">
        <p14:creationId xmlns:p14="http://schemas.microsoft.com/office/powerpoint/2010/main" val="3161462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DFBCF9F-7A08-E13C-2AE6-8859173C3448}"/>
              </a:ext>
            </a:extLst>
          </p:cNvPr>
          <p:cNvPicPr>
            <a:picLocks noChangeAspect="1"/>
          </p:cNvPicPr>
          <p:nvPr/>
        </p:nvPicPr>
        <p:blipFill>
          <a:blip r:embed="rId3"/>
          <a:stretch>
            <a:fillRect/>
          </a:stretch>
        </p:blipFill>
        <p:spPr>
          <a:xfrm>
            <a:off x="351850" y="904633"/>
            <a:ext cx="3848637" cy="5668166"/>
          </a:xfrm>
          <a:prstGeom prst="rect">
            <a:avLst/>
          </a:prstGeom>
        </p:spPr>
      </p:pic>
      <p:sp>
        <p:nvSpPr>
          <p:cNvPr id="9" name="文本框 8">
            <a:extLst>
              <a:ext uri="{FF2B5EF4-FFF2-40B4-BE49-F238E27FC236}">
                <a16:creationId xmlns:a16="http://schemas.microsoft.com/office/drawing/2014/main" id="{6A9733A7-DAC7-D36D-67A9-4C101567E451}"/>
              </a:ext>
            </a:extLst>
          </p:cNvPr>
          <p:cNvSpPr txBox="1"/>
          <p:nvPr/>
        </p:nvSpPr>
        <p:spPr>
          <a:xfrm>
            <a:off x="0" y="51825"/>
            <a:ext cx="5667068" cy="646331"/>
          </a:xfrm>
          <a:prstGeom prst="rect">
            <a:avLst/>
          </a:prstGeom>
          <a:noFill/>
        </p:spPr>
        <p:txBody>
          <a:bodyPr wrap="square">
            <a:spAutoFit/>
          </a:bodyPr>
          <a:lstStyle/>
          <a:p>
            <a:pPr algn="l"/>
            <a:r>
              <a:rPr lang="en-US" altLang="zh-CN" sz="1800" b="0" i="0" u="none" strike="noStrike" baseline="0" dirty="0">
                <a:latin typeface="NimbusRomNo9L-Regu"/>
              </a:rPr>
              <a:t>To prove the effectiveness of Riemannian networks in extracting hidden structural features of proteins</a:t>
            </a:r>
            <a:endParaRPr lang="zh-CN" altLang="en-US" dirty="0"/>
          </a:p>
        </p:txBody>
      </p:sp>
      <p:sp>
        <p:nvSpPr>
          <p:cNvPr id="11" name="文本框 10">
            <a:extLst>
              <a:ext uri="{FF2B5EF4-FFF2-40B4-BE49-F238E27FC236}">
                <a16:creationId xmlns:a16="http://schemas.microsoft.com/office/drawing/2014/main" id="{4CD0162C-B293-ED60-0301-D67FD6ABAA5F}"/>
              </a:ext>
            </a:extLst>
          </p:cNvPr>
          <p:cNvSpPr txBox="1"/>
          <p:nvPr/>
        </p:nvSpPr>
        <p:spPr>
          <a:xfrm>
            <a:off x="4782377" y="581467"/>
            <a:ext cx="8251978" cy="646331"/>
          </a:xfrm>
          <a:prstGeom prst="rect">
            <a:avLst/>
          </a:prstGeom>
          <a:noFill/>
        </p:spPr>
        <p:txBody>
          <a:bodyPr wrap="square">
            <a:spAutoFit/>
          </a:bodyPr>
          <a:lstStyle/>
          <a:p>
            <a:pPr algn="l"/>
            <a:r>
              <a:rPr lang="en-US" altLang="zh-CN" sz="1800" b="0" i="0" u="none" strike="noStrike" baseline="0" dirty="0">
                <a:latin typeface="NimbusRomNo9L-Regu"/>
              </a:rPr>
              <a:t>cluster the protein samples, which are not involved during</a:t>
            </a:r>
          </a:p>
          <a:p>
            <a:pPr algn="l"/>
            <a:r>
              <a:rPr lang="en-US" altLang="zh-CN" sz="1800" b="0" i="0" u="none" strike="noStrike" baseline="0" dirty="0">
                <a:latin typeface="NimbusRomNo9L-Regu"/>
              </a:rPr>
              <a:t>training, into four classes based on the 3D structural representation</a:t>
            </a:r>
            <a:endParaRPr lang="zh-CN" altLang="en-US" dirty="0"/>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0457CFB6-CCF0-6FD1-3032-01C7E4A266D2}"/>
                  </a:ext>
                </a:extLst>
              </p:cNvPr>
              <p:cNvSpPr txBox="1"/>
              <p:nvPr/>
            </p:nvSpPr>
            <p:spPr>
              <a:xfrm>
                <a:off x="10055557" y="1081347"/>
                <a:ext cx="1900970" cy="29290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𝒫</m:t>
                          </m:r>
                        </m:e>
                        <m:sup>
                          <m:r>
                            <a:rPr lang="en-US" altLang="zh-CN" b="0" i="1" smtClean="0">
                              <a:latin typeface="Cambria Math" panose="02040503050406030204" pitchFamily="18" charset="0"/>
                            </a:rPr>
                            <m:t>𝑎</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𝑎</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𝑎</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sSubSup>
                    </m:oMath>
                  </m:oMathPara>
                </a14:m>
                <a:endParaRPr lang="zh-CN" altLang="en-US" dirty="0"/>
              </a:p>
            </p:txBody>
          </p:sp>
        </mc:Choice>
        <mc:Fallback>
          <p:sp>
            <p:nvSpPr>
              <p:cNvPr id="12" name="文本框 11">
                <a:extLst>
                  <a:ext uri="{FF2B5EF4-FFF2-40B4-BE49-F238E27FC236}">
                    <a16:creationId xmlns:a16="http://schemas.microsoft.com/office/drawing/2014/main" id="{0457CFB6-CCF0-6FD1-3032-01C7E4A266D2}"/>
                  </a:ext>
                </a:extLst>
              </p:cNvPr>
              <p:cNvSpPr txBox="1">
                <a:spLocks noRot="1" noChangeAspect="1" noMove="1" noResize="1" noEditPoints="1" noAdjustHandles="1" noChangeArrowheads="1" noChangeShapeType="1" noTextEdit="1"/>
              </p:cNvSpPr>
              <p:nvPr/>
            </p:nvSpPr>
            <p:spPr>
              <a:xfrm>
                <a:off x="10055557" y="1081347"/>
                <a:ext cx="1900970" cy="292901"/>
              </a:xfrm>
              <a:prstGeom prst="rect">
                <a:avLst/>
              </a:prstGeom>
              <a:blipFill>
                <a:blip r:embed="rId4"/>
                <a:stretch>
                  <a:fillRect l="-2251" r="-643" b="-3750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4DBC830C-A1B8-40DD-4C34-738C84A4AC56}"/>
              </a:ext>
            </a:extLst>
          </p:cNvPr>
          <p:cNvSpPr txBox="1"/>
          <p:nvPr/>
        </p:nvSpPr>
        <p:spPr>
          <a:xfrm>
            <a:off x="4782377" y="1434274"/>
            <a:ext cx="7085278" cy="646331"/>
          </a:xfrm>
          <a:prstGeom prst="rect">
            <a:avLst/>
          </a:prstGeom>
          <a:noFill/>
        </p:spPr>
        <p:txBody>
          <a:bodyPr wrap="square">
            <a:spAutoFit/>
          </a:bodyPr>
          <a:lstStyle/>
          <a:p>
            <a:pPr algn="l"/>
            <a:r>
              <a:rPr lang="en-US" altLang="zh-CN" sz="1800" b="0" i="0" u="none" strike="noStrike" baseline="0" dirty="0">
                <a:latin typeface="NimbusRomNo9L-Regu"/>
              </a:rPr>
              <a:t>Obviously, the sequence representations are disordered due to the lack of structural information in the initial sequence embedding</a:t>
            </a:r>
            <a:endParaRPr lang="zh-CN" altLang="en-US" dirty="0"/>
          </a:p>
        </p:txBody>
      </p:sp>
      <p:sp>
        <p:nvSpPr>
          <p:cNvPr id="16" name="文本框 15">
            <a:extLst>
              <a:ext uri="{FF2B5EF4-FFF2-40B4-BE49-F238E27FC236}">
                <a16:creationId xmlns:a16="http://schemas.microsoft.com/office/drawing/2014/main" id="{DA87001C-33AD-8C07-B230-EEF341D7793A}"/>
              </a:ext>
            </a:extLst>
          </p:cNvPr>
          <p:cNvSpPr txBox="1"/>
          <p:nvPr/>
        </p:nvSpPr>
        <p:spPr>
          <a:xfrm>
            <a:off x="4749127" y="2405882"/>
            <a:ext cx="7174150" cy="646331"/>
          </a:xfrm>
          <a:prstGeom prst="rect">
            <a:avLst/>
          </a:prstGeom>
          <a:noFill/>
        </p:spPr>
        <p:txBody>
          <a:bodyPr wrap="square">
            <a:spAutoFit/>
          </a:bodyPr>
          <a:lstStyle/>
          <a:p>
            <a:pPr algn="l"/>
            <a:r>
              <a:rPr lang="en-US" altLang="zh-CN" sz="1800" b="0" i="0" u="none" strike="noStrike" baseline="0" dirty="0">
                <a:latin typeface="NimbusRomNo9L-Regu"/>
              </a:rPr>
              <a:t>train the sequence-based feature extractor and form the hidden features into two spaces, Euclidean and Riemannian SPD</a:t>
            </a:r>
            <a:r>
              <a:rPr lang="en-US" altLang="zh-CN" sz="1800" b="0" i="0" u="none" strike="noStrike" baseline="30000" dirty="0">
                <a:latin typeface="NimbusRomNo9L-Regu"/>
              </a:rPr>
              <a:t>(1)</a:t>
            </a:r>
            <a:endParaRPr lang="zh-CN" altLang="en-US" baseline="30000" dirty="0"/>
          </a:p>
        </p:txBody>
      </p:sp>
      <p:cxnSp>
        <p:nvCxnSpPr>
          <p:cNvPr id="18" name="直接箭头连接符 17">
            <a:extLst>
              <a:ext uri="{FF2B5EF4-FFF2-40B4-BE49-F238E27FC236}">
                <a16:creationId xmlns:a16="http://schemas.microsoft.com/office/drawing/2014/main" id="{B256BFC3-D718-2675-EE77-84E7A9D358D9}"/>
              </a:ext>
            </a:extLst>
          </p:cNvPr>
          <p:cNvCxnSpPr>
            <a:stCxn id="14" idx="2"/>
            <a:endCxn id="16" idx="0"/>
          </p:cNvCxnSpPr>
          <p:nvPr/>
        </p:nvCxnSpPr>
        <p:spPr>
          <a:xfrm>
            <a:off x="8325016" y="2080605"/>
            <a:ext cx="11186" cy="3252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文本框 19">
            <a:extLst>
              <a:ext uri="{FF2B5EF4-FFF2-40B4-BE49-F238E27FC236}">
                <a16:creationId xmlns:a16="http://schemas.microsoft.com/office/drawing/2014/main" id="{52434972-B98D-54B1-1EA0-602260851145}"/>
              </a:ext>
            </a:extLst>
          </p:cNvPr>
          <p:cNvSpPr txBox="1"/>
          <p:nvPr/>
        </p:nvSpPr>
        <p:spPr>
          <a:xfrm>
            <a:off x="3567703" y="6396335"/>
            <a:ext cx="8388824" cy="461665"/>
          </a:xfrm>
          <a:prstGeom prst="rect">
            <a:avLst/>
          </a:prstGeom>
          <a:noFill/>
        </p:spPr>
        <p:txBody>
          <a:bodyPr wrap="square">
            <a:spAutoFit/>
          </a:bodyPr>
          <a:lstStyle/>
          <a:p>
            <a:pPr algn="l"/>
            <a:r>
              <a:rPr lang="en-US" altLang="zh-CN" sz="1200" b="0" i="0" u="none" strike="noStrike" baseline="0" dirty="0">
                <a:latin typeface="NimbusRomNo9L-Regu"/>
              </a:rPr>
              <a:t>(1)The Riemannian SPD features are extracted by the pretrained extractor mentioned above, and the Euclidean features are extracted by a similar extractor, that uses zero padding to make the amino acid structure representations equal in length.</a:t>
            </a:r>
            <a:endParaRPr lang="zh-CN" altLang="en-US" sz="1200" dirty="0"/>
          </a:p>
        </p:txBody>
      </p:sp>
      <p:sp>
        <p:nvSpPr>
          <p:cNvPr id="22" name="文本框 21">
            <a:extLst>
              <a:ext uri="{FF2B5EF4-FFF2-40B4-BE49-F238E27FC236}">
                <a16:creationId xmlns:a16="http://schemas.microsoft.com/office/drawing/2014/main" id="{4DF48712-AA0A-CCE5-544E-3C5070940771}"/>
              </a:ext>
            </a:extLst>
          </p:cNvPr>
          <p:cNvSpPr txBox="1"/>
          <p:nvPr/>
        </p:nvSpPr>
        <p:spPr>
          <a:xfrm>
            <a:off x="4749127" y="3805788"/>
            <a:ext cx="6967238" cy="923330"/>
          </a:xfrm>
          <a:prstGeom prst="rect">
            <a:avLst/>
          </a:prstGeom>
          <a:noFill/>
        </p:spPr>
        <p:txBody>
          <a:bodyPr wrap="square">
            <a:spAutoFit/>
          </a:bodyPr>
          <a:lstStyle/>
          <a:p>
            <a:pPr algn="l"/>
            <a:r>
              <a:rPr lang="en-US" altLang="zh-CN" sz="1800" b="0" i="0" u="none" strike="noStrike" baseline="0" dirty="0">
                <a:latin typeface="NimbusRomNo9L-Regu"/>
              </a:rPr>
              <a:t>the Euclidean hidden feature scatter</a:t>
            </a:r>
            <a:r>
              <a:rPr lang="en-US" altLang="zh-CN" dirty="0">
                <a:latin typeface="NimbusRomNo9L-Regu"/>
              </a:rPr>
              <a:t> </a:t>
            </a:r>
            <a:r>
              <a:rPr lang="en-US" altLang="zh-CN" sz="1800" b="0" i="0" u="none" strike="noStrike" baseline="0" dirty="0">
                <a:latin typeface="NimbusRomNo9L-Regu"/>
              </a:rPr>
              <a:t>is slightly distorted by the original structural features, </a:t>
            </a:r>
            <a:r>
              <a:rPr lang="en-US" altLang="zh-CN" sz="1800" b="0" i="0" u="none" strike="noStrike" baseline="0" dirty="0">
                <a:latin typeface="NimbusRomNo9L-ReguItal"/>
              </a:rPr>
              <a:t>i.e.</a:t>
            </a:r>
            <a:r>
              <a:rPr lang="en-US" altLang="zh-CN" sz="1800" b="0" i="0" u="none" strike="noStrike" baseline="0" dirty="0">
                <a:latin typeface="NimbusRomNo9L-Regu"/>
              </a:rPr>
              <a:t>, there is a bias in the structural information when the protein features are transformed by the Euclidean extractor</a:t>
            </a:r>
            <a:endParaRPr lang="zh-CN" altLang="en-US" dirty="0"/>
          </a:p>
        </p:txBody>
      </p:sp>
    </p:spTree>
    <p:extLst>
      <p:ext uri="{BB962C8B-B14F-4D97-AF65-F5344CB8AC3E}">
        <p14:creationId xmlns:p14="http://schemas.microsoft.com/office/powerpoint/2010/main" val="55087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图片 4" descr="日历&#10;&#10;AI 生成的内容可能不正确。">
            <a:extLst>
              <a:ext uri="{FF2B5EF4-FFF2-40B4-BE49-F238E27FC236}">
                <a16:creationId xmlns:a16="http://schemas.microsoft.com/office/drawing/2014/main" id="{7DB1FC7F-E80E-8C96-BFDA-5B810BFBBECF}"/>
              </a:ext>
            </a:extLst>
          </p:cNvPr>
          <p:cNvPicPr>
            <a:picLocks noChangeAspect="1"/>
          </p:cNvPicPr>
          <p:nvPr/>
        </p:nvPicPr>
        <p:blipFill>
          <a:blip r:embed="rId3"/>
          <a:stretch>
            <a:fillRect/>
          </a:stretch>
        </p:blipFill>
        <p:spPr>
          <a:xfrm>
            <a:off x="0" y="0"/>
            <a:ext cx="7051984" cy="5571067"/>
          </a:xfrm>
          <a:prstGeom prst="rect">
            <a:avLst/>
          </a:prstGeom>
        </p:spPr>
      </p:pic>
      <p:sp>
        <p:nvSpPr>
          <p:cNvPr id="7" name="文本框 6">
            <a:extLst>
              <a:ext uri="{FF2B5EF4-FFF2-40B4-BE49-F238E27FC236}">
                <a16:creationId xmlns:a16="http://schemas.microsoft.com/office/drawing/2014/main" id="{5D4B8AA3-BB4E-29E2-2997-5A94B008FA50}"/>
              </a:ext>
            </a:extLst>
          </p:cNvPr>
          <p:cNvSpPr txBox="1"/>
          <p:nvPr/>
        </p:nvSpPr>
        <p:spPr>
          <a:xfrm>
            <a:off x="6942514" y="138128"/>
            <a:ext cx="5249486" cy="923330"/>
          </a:xfrm>
          <a:prstGeom prst="rect">
            <a:avLst/>
          </a:prstGeom>
          <a:noFill/>
        </p:spPr>
        <p:txBody>
          <a:bodyPr wrap="square">
            <a:spAutoFit/>
          </a:bodyPr>
          <a:lstStyle/>
          <a:p>
            <a:pPr algn="l"/>
            <a:r>
              <a:rPr lang="en-US" altLang="zh-CN" sz="1800" b="0" i="0" u="none" strike="noStrike" baseline="0" dirty="0">
                <a:latin typeface="NimbusRomNo9L-Regu"/>
              </a:rPr>
              <a:t>Based on the length-based Riemannian feature, we visualize two pairs of samples from </a:t>
            </a:r>
            <a:r>
              <a:rPr lang="en-US" altLang="zh-CN" sz="1800" b="0" i="0" u="none" strike="noStrike" baseline="0" dirty="0" err="1">
                <a:latin typeface="NimbusRomNo9L-Regu"/>
              </a:rPr>
              <a:t>BindingDB</a:t>
            </a:r>
            <a:r>
              <a:rPr lang="en-US" altLang="zh-CN" sz="1800" b="0" i="0" u="none" strike="noStrike" baseline="0" dirty="0">
                <a:latin typeface="NimbusRomNo9L-Regu"/>
              </a:rPr>
              <a:t> and Drug-Bank</a:t>
            </a:r>
            <a:endParaRPr lang="zh-CN" altLang="en-US" dirty="0"/>
          </a:p>
        </p:txBody>
      </p:sp>
      <p:sp>
        <p:nvSpPr>
          <p:cNvPr id="9" name="文本框 8">
            <a:extLst>
              <a:ext uri="{FF2B5EF4-FFF2-40B4-BE49-F238E27FC236}">
                <a16:creationId xmlns:a16="http://schemas.microsoft.com/office/drawing/2014/main" id="{93B0BE78-86E1-F54F-A22A-96BCD0A2C569}"/>
              </a:ext>
            </a:extLst>
          </p:cNvPr>
          <p:cNvSpPr txBox="1"/>
          <p:nvPr/>
        </p:nvSpPr>
        <p:spPr>
          <a:xfrm>
            <a:off x="6997248" y="1928624"/>
            <a:ext cx="5104823" cy="1200329"/>
          </a:xfrm>
          <a:prstGeom prst="rect">
            <a:avLst/>
          </a:prstGeom>
          <a:noFill/>
        </p:spPr>
        <p:txBody>
          <a:bodyPr wrap="square">
            <a:spAutoFit/>
          </a:bodyPr>
          <a:lstStyle/>
          <a:p>
            <a:pPr algn="l"/>
            <a:r>
              <a:rPr lang="en-US" altLang="zh-CN" sz="1800" b="0" i="0" u="none" strike="noStrike" baseline="0" dirty="0">
                <a:latin typeface="NimbusRomNo9L-Regu"/>
              </a:rPr>
              <a:t>It is easy to observe the interactive degree between the amino acids in the protein and the atoms in the drug by visualizing the length-based Riemannian feature</a:t>
            </a:r>
            <a:endParaRPr lang="zh-CN" altLang="en-US" dirty="0"/>
          </a:p>
        </p:txBody>
      </p:sp>
      <p:sp>
        <p:nvSpPr>
          <p:cNvPr id="11" name="文本框 10">
            <a:extLst>
              <a:ext uri="{FF2B5EF4-FFF2-40B4-BE49-F238E27FC236}">
                <a16:creationId xmlns:a16="http://schemas.microsoft.com/office/drawing/2014/main" id="{30604789-B04E-FE73-2432-28AA8A4B4BE6}"/>
              </a:ext>
            </a:extLst>
          </p:cNvPr>
          <p:cNvSpPr txBox="1"/>
          <p:nvPr/>
        </p:nvSpPr>
        <p:spPr>
          <a:xfrm>
            <a:off x="6997248" y="3888345"/>
            <a:ext cx="4995353" cy="923330"/>
          </a:xfrm>
          <a:prstGeom prst="rect">
            <a:avLst/>
          </a:prstGeom>
          <a:noFill/>
        </p:spPr>
        <p:txBody>
          <a:bodyPr wrap="square">
            <a:spAutoFit/>
          </a:bodyPr>
          <a:lstStyle/>
          <a:p>
            <a:pPr algn="l"/>
            <a:r>
              <a:rPr lang="en-US" altLang="zh-CN" sz="1800" b="0" i="0" u="none" strike="noStrike" baseline="0" dirty="0">
                <a:latin typeface="NimbusRomNo9L-Regu"/>
              </a:rPr>
              <a:t>On this basis, we visualize the structure of the protein and the drug, highlighting their</a:t>
            </a:r>
            <a:r>
              <a:rPr lang="en-US" altLang="zh-CN" dirty="0">
                <a:latin typeface="NimbusRomNo9L-Regu"/>
              </a:rPr>
              <a:t> </a:t>
            </a:r>
            <a:r>
              <a:rPr lang="en-US" altLang="zh-CN" sz="1800" b="0" i="0" u="none" strike="noStrike" baseline="0" dirty="0">
                <a:latin typeface="NimbusRomNo9L-Regu"/>
              </a:rPr>
              <a:t>high response regions in yellow and orange, respectively.</a:t>
            </a:r>
            <a:endParaRPr lang="zh-CN" altLang="en-US" dirty="0"/>
          </a:p>
        </p:txBody>
      </p:sp>
    </p:spTree>
    <p:extLst>
      <p:ext uri="{BB962C8B-B14F-4D97-AF65-F5344CB8AC3E}">
        <p14:creationId xmlns:p14="http://schemas.microsoft.com/office/powerpoint/2010/main" val="1852370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7FC42C21-8961-1B25-39D6-A3A604CD34C9}"/>
                  </a:ext>
                </a:extLst>
              </p:cNvPr>
              <p:cNvSpPr txBox="1"/>
              <p:nvPr/>
            </p:nvSpPr>
            <p:spPr>
              <a:xfrm>
                <a:off x="288758" y="3320717"/>
                <a:ext cx="37863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Ρ</m:t>
                      </m:r>
                    </m:oMath>
                  </m:oMathPara>
                </a14:m>
                <a:endParaRPr lang="zh-CN" altLang="en-US" dirty="0"/>
              </a:p>
            </p:txBody>
          </p:sp>
        </mc:Choice>
        <mc:Fallback>
          <p:sp>
            <p:nvSpPr>
              <p:cNvPr id="4" name="文本框 3">
                <a:extLst>
                  <a:ext uri="{FF2B5EF4-FFF2-40B4-BE49-F238E27FC236}">
                    <a16:creationId xmlns:a16="http://schemas.microsoft.com/office/drawing/2014/main" id="{7FC42C21-8961-1B25-39D6-A3A604CD34C9}"/>
                  </a:ext>
                </a:extLst>
              </p:cNvPr>
              <p:cNvSpPr txBox="1">
                <a:spLocks noRot="1" noChangeAspect="1" noMove="1" noResize="1" noEditPoints="1" noAdjustHandles="1" noChangeArrowheads="1" noChangeShapeType="1" noTextEdit="1"/>
              </p:cNvSpPr>
              <p:nvPr/>
            </p:nvSpPr>
            <p:spPr>
              <a:xfrm>
                <a:off x="288758" y="3320717"/>
                <a:ext cx="378630"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99A06BEF-B02B-41C0-E153-A20862DA0C43}"/>
                  </a:ext>
                </a:extLst>
              </p:cNvPr>
              <p:cNvSpPr txBox="1"/>
              <p:nvPr/>
            </p:nvSpPr>
            <p:spPr>
              <a:xfrm>
                <a:off x="284781" y="4523876"/>
                <a:ext cx="41421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m:t>
                      </m:r>
                    </m:oMath>
                  </m:oMathPara>
                </a14:m>
                <a:endParaRPr lang="zh-CN" altLang="en-US" dirty="0"/>
              </a:p>
            </p:txBody>
          </p:sp>
        </mc:Choice>
        <mc:Fallback>
          <p:sp>
            <p:nvSpPr>
              <p:cNvPr id="5" name="文本框 4">
                <a:extLst>
                  <a:ext uri="{FF2B5EF4-FFF2-40B4-BE49-F238E27FC236}">
                    <a16:creationId xmlns:a16="http://schemas.microsoft.com/office/drawing/2014/main" id="{99A06BEF-B02B-41C0-E153-A20862DA0C43}"/>
                  </a:ext>
                </a:extLst>
              </p:cNvPr>
              <p:cNvSpPr txBox="1">
                <a:spLocks noRot="1" noChangeAspect="1" noMove="1" noResize="1" noEditPoints="1" noAdjustHandles="1" noChangeArrowheads="1" noChangeShapeType="1" noTextEdit="1"/>
              </p:cNvSpPr>
              <p:nvPr/>
            </p:nvSpPr>
            <p:spPr>
              <a:xfrm>
                <a:off x="284781" y="4523876"/>
                <a:ext cx="414216" cy="369332"/>
              </a:xfrm>
              <a:prstGeom prst="rect">
                <a:avLst/>
              </a:prstGeom>
              <a:blipFill>
                <a:blip r:embed="rId3"/>
                <a:stretch>
                  <a:fillRect/>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D730321B-F4A1-A58F-C8EA-C546B2D5BE08}"/>
              </a:ext>
            </a:extLst>
          </p:cNvPr>
          <p:cNvSpPr txBox="1"/>
          <p:nvPr/>
        </p:nvSpPr>
        <p:spPr>
          <a:xfrm>
            <a:off x="0" y="229296"/>
            <a:ext cx="1401346" cy="646331"/>
          </a:xfrm>
          <a:prstGeom prst="rect">
            <a:avLst/>
          </a:prstGeom>
          <a:noFill/>
        </p:spPr>
        <p:txBody>
          <a:bodyPr wrap="none" rtlCol="0">
            <a:spAutoFit/>
          </a:bodyPr>
          <a:lstStyle/>
          <a:p>
            <a:r>
              <a:rPr lang="zh-CN" altLang="en-US" dirty="0"/>
              <a:t>近期工作： </a:t>
            </a:r>
            <a:endParaRPr lang="en-US" altLang="zh-CN" dirty="0"/>
          </a:p>
          <a:p>
            <a:r>
              <a:rPr lang="zh-CN" altLang="en-US" dirty="0"/>
              <a:t>优化模型</a:t>
            </a: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C1D4CB7C-B94F-4DF4-5204-17018D384DE6}"/>
                  </a:ext>
                </a:extLst>
              </p:cNvPr>
              <p:cNvSpPr txBox="1"/>
              <p:nvPr/>
            </p:nvSpPr>
            <p:spPr>
              <a:xfrm>
                <a:off x="2493046" y="2736638"/>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Ρ</m:t>
                      </m:r>
                    </m:oMath>
                  </m:oMathPara>
                </a14:m>
                <a:endParaRPr lang="zh-CN" altLang="en-US" dirty="0"/>
              </a:p>
            </p:txBody>
          </p:sp>
        </mc:Choice>
        <mc:Fallback>
          <p:sp>
            <p:nvSpPr>
              <p:cNvPr id="8" name="文本框 7">
                <a:extLst>
                  <a:ext uri="{FF2B5EF4-FFF2-40B4-BE49-F238E27FC236}">
                    <a16:creationId xmlns:a16="http://schemas.microsoft.com/office/drawing/2014/main" id="{C1D4CB7C-B94F-4DF4-5204-17018D384DE6}"/>
                  </a:ext>
                </a:extLst>
              </p:cNvPr>
              <p:cNvSpPr txBox="1">
                <a:spLocks noRot="1" noChangeAspect="1" noMove="1" noResize="1" noEditPoints="1" noAdjustHandles="1" noChangeArrowheads="1" noChangeShapeType="1" noTextEdit="1"/>
              </p:cNvSpPr>
              <p:nvPr/>
            </p:nvSpPr>
            <p:spPr>
              <a:xfrm>
                <a:off x="2493046" y="2736638"/>
                <a:ext cx="378630"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E7417739-5F21-3FDC-D5BF-471270A0F0EC}"/>
                  </a:ext>
                </a:extLst>
              </p:cNvPr>
              <p:cNvSpPr txBox="1"/>
              <p:nvPr/>
            </p:nvSpPr>
            <p:spPr>
              <a:xfrm>
                <a:off x="2422051" y="5286869"/>
                <a:ext cx="4142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𝐷</m:t>
                      </m:r>
                    </m:oMath>
                  </m:oMathPara>
                </a14:m>
                <a:endParaRPr lang="zh-CN" altLang="en-US" dirty="0"/>
              </a:p>
            </p:txBody>
          </p:sp>
        </mc:Choice>
        <mc:Fallback>
          <p:sp>
            <p:nvSpPr>
              <p:cNvPr id="9" name="文本框 8">
                <a:extLst>
                  <a:ext uri="{FF2B5EF4-FFF2-40B4-BE49-F238E27FC236}">
                    <a16:creationId xmlns:a16="http://schemas.microsoft.com/office/drawing/2014/main" id="{E7417739-5F21-3FDC-D5BF-471270A0F0EC}"/>
                  </a:ext>
                </a:extLst>
              </p:cNvPr>
              <p:cNvSpPr txBox="1">
                <a:spLocks noRot="1" noChangeAspect="1" noMove="1" noResize="1" noEditPoints="1" noAdjustHandles="1" noChangeArrowheads="1" noChangeShapeType="1" noTextEdit="1"/>
              </p:cNvSpPr>
              <p:nvPr/>
            </p:nvSpPr>
            <p:spPr>
              <a:xfrm>
                <a:off x="2422051" y="5286869"/>
                <a:ext cx="414216"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AB0653EF-D3DD-D401-3D0F-7E69C6361D48}"/>
                  </a:ext>
                </a:extLst>
              </p:cNvPr>
              <p:cNvSpPr txBox="1"/>
              <p:nvPr/>
            </p:nvSpPr>
            <p:spPr>
              <a:xfrm>
                <a:off x="1607050" y="3523023"/>
                <a:ext cx="506613" cy="37023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𝑆</m:t>
                          </m:r>
                        </m:sup>
                      </m:sSup>
                    </m:oMath>
                  </m:oMathPara>
                </a14:m>
                <a:endParaRPr lang="zh-CN" altLang="en-US" dirty="0"/>
              </a:p>
            </p:txBody>
          </p:sp>
        </mc:Choice>
        <mc:Fallback>
          <p:sp>
            <p:nvSpPr>
              <p:cNvPr id="10" name="文本框 9">
                <a:extLst>
                  <a:ext uri="{FF2B5EF4-FFF2-40B4-BE49-F238E27FC236}">
                    <a16:creationId xmlns:a16="http://schemas.microsoft.com/office/drawing/2014/main" id="{AB0653EF-D3DD-D401-3D0F-7E69C6361D48}"/>
                  </a:ext>
                </a:extLst>
              </p:cNvPr>
              <p:cNvSpPr txBox="1">
                <a:spLocks noRot="1" noChangeAspect="1" noMove="1" noResize="1" noEditPoints="1" noAdjustHandles="1" noChangeArrowheads="1" noChangeShapeType="1" noTextEdit="1"/>
              </p:cNvSpPr>
              <p:nvPr/>
            </p:nvSpPr>
            <p:spPr>
              <a:xfrm>
                <a:off x="1607050" y="3523023"/>
                <a:ext cx="506613" cy="370230"/>
              </a:xfrm>
              <a:prstGeom prst="rect">
                <a:avLst/>
              </a:prstGeom>
              <a:blipFill>
                <a:blip r:embed="rId6"/>
                <a:stretch>
                  <a:fillRect/>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7443CB5E-6668-C148-9041-ADA6524679C2}"/>
              </a:ext>
            </a:extLst>
          </p:cNvPr>
          <p:cNvCxnSpPr>
            <a:cxnSpLocks/>
            <a:stCxn id="10" idx="0"/>
          </p:cNvCxnSpPr>
          <p:nvPr/>
        </p:nvCxnSpPr>
        <p:spPr>
          <a:xfrm flipV="1">
            <a:off x="1860357" y="2962787"/>
            <a:ext cx="662392" cy="5602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3F1E9E2E-E96C-4C55-7E55-725231502066}"/>
                  </a:ext>
                </a:extLst>
              </p:cNvPr>
              <p:cNvSpPr txBox="1"/>
              <p:nvPr/>
            </p:nvSpPr>
            <p:spPr>
              <a:xfrm>
                <a:off x="2113663" y="3010574"/>
                <a:ext cx="4090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 name="文本框 13">
                <a:extLst>
                  <a:ext uri="{FF2B5EF4-FFF2-40B4-BE49-F238E27FC236}">
                    <a16:creationId xmlns:a16="http://schemas.microsoft.com/office/drawing/2014/main" id="{3F1E9E2E-E96C-4C55-7E55-725231502066}"/>
                  </a:ext>
                </a:extLst>
              </p:cNvPr>
              <p:cNvSpPr txBox="1">
                <a:spLocks noRot="1" noChangeAspect="1" noMove="1" noResize="1" noEditPoints="1" noAdjustHandles="1" noChangeArrowheads="1" noChangeShapeType="1" noTextEdit="1"/>
              </p:cNvSpPr>
              <p:nvPr/>
            </p:nvSpPr>
            <p:spPr>
              <a:xfrm>
                <a:off x="2113663" y="3010574"/>
                <a:ext cx="409086" cy="369332"/>
              </a:xfrm>
              <a:prstGeom prst="rect">
                <a:avLst/>
              </a:prstGeom>
              <a:blipFill>
                <a:blip r:embed="rId7"/>
                <a:stretch>
                  <a:fillRect/>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85938A64-EB99-88BC-85B0-B081868D0E00}"/>
              </a:ext>
            </a:extLst>
          </p:cNvPr>
          <p:cNvCxnSpPr>
            <a:cxnSpLocks/>
          </p:cNvCxnSpPr>
          <p:nvPr/>
        </p:nvCxnSpPr>
        <p:spPr>
          <a:xfrm>
            <a:off x="1922242" y="4887041"/>
            <a:ext cx="589480" cy="445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D393CFE8-CCF5-5053-2F20-F3F46C39E306}"/>
                  </a:ext>
                </a:extLst>
              </p:cNvPr>
              <p:cNvSpPr txBox="1"/>
              <p:nvPr/>
            </p:nvSpPr>
            <p:spPr>
              <a:xfrm>
                <a:off x="2938361" y="3474017"/>
                <a:ext cx="506613" cy="37023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𝑆</m:t>
                          </m:r>
                        </m:sup>
                      </m:sSup>
                    </m:oMath>
                  </m:oMathPara>
                </a14:m>
                <a:endParaRPr lang="zh-CN" altLang="en-US" dirty="0"/>
              </a:p>
            </p:txBody>
          </p:sp>
        </mc:Choice>
        <mc:Fallback>
          <p:sp>
            <p:nvSpPr>
              <p:cNvPr id="18" name="文本框 17">
                <a:extLst>
                  <a:ext uri="{FF2B5EF4-FFF2-40B4-BE49-F238E27FC236}">
                    <a16:creationId xmlns:a16="http://schemas.microsoft.com/office/drawing/2014/main" id="{D393CFE8-CCF5-5053-2F20-F3F46C39E306}"/>
                  </a:ext>
                </a:extLst>
              </p:cNvPr>
              <p:cNvSpPr txBox="1">
                <a:spLocks noRot="1" noChangeAspect="1" noMove="1" noResize="1" noEditPoints="1" noAdjustHandles="1" noChangeArrowheads="1" noChangeShapeType="1" noTextEdit="1"/>
              </p:cNvSpPr>
              <p:nvPr/>
            </p:nvSpPr>
            <p:spPr>
              <a:xfrm>
                <a:off x="2938361" y="3474017"/>
                <a:ext cx="506613" cy="37023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1E4E8D73-B0B2-153A-FD84-9049DBEF6B26}"/>
                  </a:ext>
                </a:extLst>
              </p:cNvPr>
              <p:cNvSpPr txBox="1"/>
              <p:nvPr/>
            </p:nvSpPr>
            <p:spPr>
              <a:xfrm>
                <a:off x="1532170" y="4548123"/>
                <a:ext cx="525336" cy="37023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𝑆</m:t>
                          </m:r>
                        </m:sup>
                      </m:sSup>
                    </m:oMath>
                  </m:oMathPara>
                </a14:m>
                <a:endParaRPr lang="zh-CN" altLang="en-US" dirty="0"/>
              </a:p>
            </p:txBody>
          </p:sp>
        </mc:Choice>
        <mc:Fallback>
          <p:sp>
            <p:nvSpPr>
              <p:cNvPr id="19" name="文本框 18">
                <a:extLst>
                  <a:ext uri="{FF2B5EF4-FFF2-40B4-BE49-F238E27FC236}">
                    <a16:creationId xmlns:a16="http://schemas.microsoft.com/office/drawing/2014/main" id="{1E4E8D73-B0B2-153A-FD84-9049DBEF6B26}"/>
                  </a:ext>
                </a:extLst>
              </p:cNvPr>
              <p:cNvSpPr txBox="1">
                <a:spLocks noRot="1" noChangeAspect="1" noMove="1" noResize="1" noEditPoints="1" noAdjustHandles="1" noChangeArrowheads="1" noChangeShapeType="1" noTextEdit="1"/>
              </p:cNvSpPr>
              <p:nvPr/>
            </p:nvSpPr>
            <p:spPr>
              <a:xfrm>
                <a:off x="1532170" y="4548123"/>
                <a:ext cx="525336" cy="370230"/>
              </a:xfrm>
              <a:prstGeom prst="rect">
                <a:avLst/>
              </a:prstGeom>
              <a:blipFill>
                <a:blip r:embed="rId9"/>
                <a:stretch>
                  <a:fillRect/>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2694DB32-9EAF-F612-BD54-784220958A36}"/>
              </a:ext>
            </a:extLst>
          </p:cNvPr>
          <p:cNvCxnSpPr/>
          <p:nvPr/>
        </p:nvCxnSpPr>
        <p:spPr>
          <a:xfrm>
            <a:off x="2751785" y="3029016"/>
            <a:ext cx="373153" cy="3693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6DB6AB62-B94D-7FCA-2F70-3F8CDDDD00F8}"/>
              </a:ext>
            </a:extLst>
          </p:cNvPr>
          <p:cNvCxnSpPr>
            <a:cxnSpLocks/>
          </p:cNvCxnSpPr>
          <p:nvPr/>
        </p:nvCxnSpPr>
        <p:spPr>
          <a:xfrm flipV="1">
            <a:off x="2748556" y="4955723"/>
            <a:ext cx="306476" cy="376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43A63A1A-92C7-5F0D-569E-98E5DE6B6501}"/>
                  </a:ext>
                </a:extLst>
              </p:cNvPr>
              <p:cNvSpPr txBox="1"/>
              <p:nvPr/>
            </p:nvSpPr>
            <p:spPr>
              <a:xfrm>
                <a:off x="2938361" y="4584233"/>
                <a:ext cx="525336" cy="37023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𝑆</m:t>
                          </m:r>
                        </m:sup>
                      </m:sSup>
                    </m:oMath>
                  </m:oMathPara>
                </a14:m>
                <a:endParaRPr lang="zh-CN" altLang="en-US" dirty="0"/>
              </a:p>
            </p:txBody>
          </p:sp>
        </mc:Choice>
        <mc:Fallback>
          <p:sp>
            <p:nvSpPr>
              <p:cNvPr id="27" name="文本框 26">
                <a:extLst>
                  <a:ext uri="{FF2B5EF4-FFF2-40B4-BE49-F238E27FC236}">
                    <a16:creationId xmlns:a16="http://schemas.microsoft.com/office/drawing/2014/main" id="{43A63A1A-92C7-5F0D-569E-98E5DE6B6501}"/>
                  </a:ext>
                </a:extLst>
              </p:cNvPr>
              <p:cNvSpPr txBox="1">
                <a:spLocks noRot="1" noChangeAspect="1" noMove="1" noResize="1" noEditPoints="1" noAdjustHandles="1" noChangeArrowheads="1" noChangeShapeType="1" noTextEdit="1"/>
              </p:cNvSpPr>
              <p:nvPr/>
            </p:nvSpPr>
            <p:spPr>
              <a:xfrm>
                <a:off x="2938361" y="4584233"/>
                <a:ext cx="525336" cy="37023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5DCF0888-3229-EA82-AED9-5F456FF4CA28}"/>
                  </a:ext>
                </a:extLst>
              </p:cNvPr>
              <p:cNvSpPr txBox="1"/>
              <p:nvPr/>
            </p:nvSpPr>
            <p:spPr>
              <a:xfrm>
                <a:off x="1747479" y="177614"/>
                <a:ext cx="2549150" cy="366770"/>
              </a:xfrm>
              <a:prstGeom prst="rect">
                <a:avLst/>
              </a:prstGeom>
              <a:noFill/>
            </p:spPr>
            <p:txBody>
              <a:bodyPr wrap="square">
                <a:spAutoFit/>
              </a:bodyPr>
              <a:lstStyle/>
              <a:p>
                <a:r>
                  <a:rPr lang="en-US" altLang="zh-CN" dirty="0"/>
                  <a:t>Protein Embedding: </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Ρ</m:t>
                    </m:r>
                  </m:oMath>
                </a14:m>
                <a:endParaRPr lang="zh-CN" altLang="en-US" dirty="0"/>
              </a:p>
            </p:txBody>
          </p:sp>
        </mc:Choice>
        <mc:Fallback>
          <p:sp>
            <p:nvSpPr>
              <p:cNvPr id="30" name="文本框 29">
                <a:extLst>
                  <a:ext uri="{FF2B5EF4-FFF2-40B4-BE49-F238E27FC236}">
                    <a16:creationId xmlns:a16="http://schemas.microsoft.com/office/drawing/2014/main" id="{5DCF0888-3229-EA82-AED9-5F456FF4CA28}"/>
                  </a:ext>
                </a:extLst>
              </p:cNvPr>
              <p:cNvSpPr txBox="1">
                <a:spLocks noRot="1" noChangeAspect="1" noMove="1" noResize="1" noEditPoints="1" noAdjustHandles="1" noChangeArrowheads="1" noChangeShapeType="1" noTextEdit="1"/>
              </p:cNvSpPr>
              <p:nvPr/>
            </p:nvSpPr>
            <p:spPr>
              <a:xfrm>
                <a:off x="1747479" y="177614"/>
                <a:ext cx="2549150" cy="366770"/>
              </a:xfrm>
              <a:prstGeom prst="rect">
                <a:avLst/>
              </a:prstGeom>
              <a:blipFill>
                <a:blip r:embed="rId11"/>
                <a:stretch>
                  <a:fillRect l="-2153" t="-8333"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a:extLst>
                  <a:ext uri="{FF2B5EF4-FFF2-40B4-BE49-F238E27FC236}">
                    <a16:creationId xmlns:a16="http://schemas.microsoft.com/office/drawing/2014/main" id="{AAA5263B-D2B6-8E13-CCBD-86F2BB4B1DED}"/>
                  </a:ext>
                </a:extLst>
              </p:cNvPr>
              <p:cNvSpPr txBox="1"/>
              <p:nvPr/>
            </p:nvSpPr>
            <p:spPr>
              <a:xfrm>
                <a:off x="1784046" y="620053"/>
                <a:ext cx="2512582" cy="369332"/>
              </a:xfrm>
              <a:prstGeom prst="rect">
                <a:avLst/>
              </a:prstGeom>
              <a:noFill/>
            </p:spPr>
            <p:txBody>
              <a:bodyPr wrap="square">
                <a:spAutoFit/>
              </a:bodyPr>
              <a:lstStyle/>
              <a:p>
                <a:r>
                  <a:rPr lang="en-US" altLang="zh-CN" dirty="0"/>
                  <a:t>Drug Embedding: </a:t>
                </a:r>
                <a14:m>
                  <m:oMath xmlns:m="http://schemas.openxmlformats.org/officeDocument/2006/math">
                    <m:r>
                      <a:rPr lang="en-US" altLang="zh-CN" b="0" i="1" smtClean="0">
                        <a:latin typeface="Cambria Math" panose="02040503050406030204" pitchFamily="18" charset="0"/>
                      </a:rPr>
                      <m:t>𝐷</m:t>
                    </m:r>
                  </m:oMath>
                </a14:m>
                <a:endParaRPr lang="zh-CN" altLang="en-US" dirty="0"/>
              </a:p>
            </p:txBody>
          </p:sp>
        </mc:Choice>
        <mc:Fallback>
          <p:sp>
            <p:nvSpPr>
              <p:cNvPr id="31" name="文本框 30">
                <a:extLst>
                  <a:ext uri="{FF2B5EF4-FFF2-40B4-BE49-F238E27FC236}">
                    <a16:creationId xmlns:a16="http://schemas.microsoft.com/office/drawing/2014/main" id="{AAA5263B-D2B6-8E13-CCBD-86F2BB4B1DED}"/>
                  </a:ext>
                </a:extLst>
              </p:cNvPr>
              <p:cNvSpPr txBox="1">
                <a:spLocks noRot="1" noChangeAspect="1" noMove="1" noResize="1" noEditPoints="1" noAdjustHandles="1" noChangeArrowheads="1" noChangeShapeType="1" noTextEdit="1"/>
              </p:cNvSpPr>
              <p:nvPr/>
            </p:nvSpPr>
            <p:spPr>
              <a:xfrm>
                <a:off x="1784046" y="620053"/>
                <a:ext cx="2512582" cy="369332"/>
              </a:xfrm>
              <a:prstGeom prst="rect">
                <a:avLst/>
              </a:prstGeom>
              <a:blipFill>
                <a:blip r:embed="rId12"/>
                <a:stretch>
                  <a:fillRect l="-2184"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a:extLst>
                  <a:ext uri="{FF2B5EF4-FFF2-40B4-BE49-F238E27FC236}">
                    <a16:creationId xmlns:a16="http://schemas.microsoft.com/office/drawing/2014/main" id="{14A8DAE3-7F36-DCF5-0F4D-A33597FC313F}"/>
                  </a:ext>
                </a:extLst>
              </p:cNvPr>
              <p:cNvSpPr txBox="1"/>
              <p:nvPr/>
            </p:nvSpPr>
            <p:spPr>
              <a:xfrm>
                <a:off x="1704429" y="1009507"/>
                <a:ext cx="2635250" cy="370230"/>
              </a:xfrm>
              <a:prstGeom prst="rect">
                <a:avLst/>
              </a:prstGeom>
              <a:noFill/>
            </p:spPr>
            <p:txBody>
              <a:bodyPr wrap="square">
                <a:spAutoFit/>
              </a:bodyPr>
              <a:lstStyle/>
              <a:p>
                <a:r>
                  <a:rPr lang="en-US" altLang="zh-CN" dirty="0"/>
                  <a:t>Protein substructure: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𝑆</m:t>
                        </m:r>
                      </m:sup>
                    </m:sSup>
                  </m:oMath>
                </a14:m>
                <a:endParaRPr lang="zh-CN" altLang="en-US" dirty="0"/>
              </a:p>
            </p:txBody>
          </p:sp>
        </mc:Choice>
        <mc:Fallback>
          <p:sp>
            <p:nvSpPr>
              <p:cNvPr id="33" name="文本框 32">
                <a:extLst>
                  <a:ext uri="{FF2B5EF4-FFF2-40B4-BE49-F238E27FC236}">
                    <a16:creationId xmlns:a16="http://schemas.microsoft.com/office/drawing/2014/main" id="{14A8DAE3-7F36-DCF5-0F4D-A33597FC313F}"/>
                  </a:ext>
                </a:extLst>
              </p:cNvPr>
              <p:cNvSpPr txBox="1">
                <a:spLocks noRot="1" noChangeAspect="1" noMove="1" noResize="1" noEditPoints="1" noAdjustHandles="1" noChangeArrowheads="1" noChangeShapeType="1" noTextEdit="1"/>
              </p:cNvSpPr>
              <p:nvPr/>
            </p:nvSpPr>
            <p:spPr>
              <a:xfrm>
                <a:off x="1704429" y="1009507"/>
                <a:ext cx="2635250" cy="370230"/>
              </a:xfrm>
              <a:prstGeom prst="rect">
                <a:avLst/>
              </a:prstGeom>
              <a:blipFill>
                <a:blip r:embed="rId13"/>
                <a:stretch>
                  <a:fillRect l="-2083"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a:extLst>
                  <a:ext uri="{FF2B5EF4-FFF2-40B4-BE49-F238E27FC236}">
                    <a16:creationId xmlns:a16="http://schemas.microsoft.com/office/drawing/2014/main" id="{310C450E-FFB8-8CEF-E4A0-8C3F6EC8717A}"/>
                  </a:ext>
                </a:extLst>
              </p:cNvPr>
              <p:cNvSpPr txBox="1"/>
              <p:nvPr/>
            </p:nvSpPr>
            <p:spPr>
              <a:xfrm>
                <a:off x="4240770" y="216449"/>
                <a:ext cx="2635250" cy="370230"/>
              </a:xfrm>
              <a:prstGeom prst="rect">
                <a:avLst/>
              </a:prstGeom>
              <a:noFill/>
            </p:spPr>
            <p:txBody>
              <a:bodyPr wrap="square">
                <a:spAutoFit/>
              </a:bodyPr>
              <a:lstStyle/>
              <a:p>
                <a:r>
                  <a:rPr lang="en-US" altLang="zh-CN" dirty="0"/>
                  <a:t>Drug substructure: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𝑆</m:t>
                        </m:r>
                      </m:sup>
                    </m:sSup>
                  </m:oMath>
                </a14:m>
                <a:endParaRPr lang="zh-CN" altLang="en-US" dirty="0"/>
              </a:p>
            </p:txBody>
          </p:sp>
        </mc:Choice>
        <mc:Fallback>
          <p:sp>
            <p:nvSpPr>
              <p:cNvPr id="34" name="文本框 33">
                <a:extLst>
                  <a:ext uri="{FF2B5EF4-FFF2-40B4-BE49-F238E27FC236}">
                    <a16:creationId xmlns:a16="http://schemas.microsoft.com/office/drawing/2014/main" id="{310C450E-FFB8-8CEF-E4A0-8C3F6EC8717A}"/>
                  </a:ext>
                </a:extLst>
              </p:cNvPr>
              <p:cNvSpPr txBox="1">
                <a:spLocks noRot="1" noChangeAspect="1" noMove="1" noResize="1" noEditPoints="1" noAdjustHandles="1" noChangeArrowheads="1" noChangeShapeType="1" noTextEdit="1"/>
              </p:cNvSpPr>
              <p:nvPr/>
            </p:nvSpPr>
            <p:spPr>
              <a:xfrm>
                <a:off x="4240770" y="216449"/>
                <a:ext cx="2635250" cy="370230"/>
              </a:xfrm>
              <a:prstGeom prst="rect">
                <a:avLst/>
              </a:prstGeom>
              <a:blipFill>
                <a:blip r:embed="rId14"/>
                <a:stretch>
                  <a:fillRect l="-2083"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a:extLst>
                  <a:ext uri="{FF2B5EF4-FFF2-40B4-BE49-F238E27FC236}">
                    <a16:creationId xmlns:a16="http://schemas.microsoft.com/office/drawing/2014/main" id="{06195D5C-BC10-EBC7-F521-53B40B0B9C77}"/>
                  </a:ext>
                </a:extLst>
              </p:cNvPr>
              <p:cNvSpPr txBox="1"/>
              <p:nvPr/>
            </p:nvSpPr>
            <p:spPr>
              <a:xfrm>
                <a:off x="4296628" y="601635"/>
                <a:ext cx="2635250" cy="370038"/>
              </a:xfrm>
              <a:prstGeom prst="rect">
                <a:avLst/>
              </a:prstGeom>
              <a:noFill/>
            </p:spPr>
            <p:txBody>
              <a:bodyPr wrap="square">
                <a:spAutoFit/>
              </a:bodyPr>
              <a:lstStyle/>
              <a:p>
                <a:r>
                  <a:rPr lang="en-US" altLang="zh-CN" dirty="0">
                    <a:latin typeface="NimbusRomNo9L-Regu"/>
                  </a:rPr>
                  <a:t>amino acids set</a:t>
                </a:r>
                <a:r>
                  <a:rPr lang="en-US" altLang="zh-CN" dirty="0"/>
                  <a:t>: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𝐴</m:t>
                        </m:r>
                      </m:sup>
                    </m:sSup>
                  </m:oMath>
                </a14:m>
                <a:endParaRPr lang="zh-CN" altLang="en-US" dirty="0"/>
              </a:p>
            </p:txBody>
          </p:sp>
        </mc:Choice>
        <mc:Fallback>
          <p:sp>
            <p:nvSpPr>
              <p:cNvPr id="35" name="文本框 34">
                <a:extLst>
                  <a:ext uri="{FF2B5EF4-FFF2-40B4-BE49-F238E27FC236}">
                    <a16:creationId xmlns:a16="http://schemas.microsoft.com/office/drawing/2014/main" id="{06195D5C-BC10-EBC7-F521-53B40B0B9C77}"/>
                  </a:ext>
                </a:extLst>
              </p:cNvPr>
              <p:cNvSpPr txBox="1">
                <a:spLocks noRot="1" noChangeAspect="1" noMove="1" noResize="1" noEditPoints="1" noAdjustHandles="1" noChangeArrowheads="1" noChangeShapeType="1" noTextEdit="1"/>
              </p:cNvSpPr>
              <p:nvPr/>
            </p:nvSpPr>
            <p:spPr>
              <a:xfrm>
                <a:off x="4296628" y="601635"/>
                <a:ext cx="2635250" cy="370038"/>
              </a:xfrm>
              <a:prstGeom prst="rect">
                <a:avLst/>
              </a:prstGeom>
              <a:blipFill>
                <a:blip r:embed="rId15"/>
                <a:stretch>
                  <a:fillRect l="-2083" t="-10000" b="-2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文本框 35">
                <a:extLst>
                  <a:ext uri="{FF2B5EF4-FFF2-40B4-BE49-F238E27FC236}">
                    <a16:creationId xmlns:a16="http://schemas.microsoft.com/office/drawing/2014/main" id="{DF700208-6BE5-51F2-F27A-37A0BB3A64CD}"/>
                  </a:ext>
                </a:extLst>
              </p:cNvPr>
              <p:cNvSpPr txBox="1"/>
              <p:nvPr/>
            </p:nvSpPr>
            <p:spPr>
              <a:xfrm>
                <a:off x="6734061" y="224857"/>
                <a:ext cx="2635250" cy="370038"/>
              </a:xfrm>
              <a:prstGeom prst="rect">
                <a:avLst/>
              </a:prstGeom>
              <a:noFill/>
            </p:spPr>
            <p:txBody>
              <a:bodyPr wrap="square">
                <a:spAutoFit/>
              </a:bodyPr>
              <a:lstStyle/>
              <a:p>
                <a:r>
                  <a:rPr lang="en-US" altLang="zh-CN" dirty="0">
                    <a:latin typeface="NimbusRomNo9L-Regu"/>
                  </a:rPr>
                  <a:t>atoms set</a:t>
                </a:r>
                <a:r>
                  <a:rPr lang="en-US" altLang="zh-CN" dirty="0"/>
                  <a:t>: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𝐴</m:t>
                        </m:r>
                      </m:sup>
                    </m:sSup>
                  </m:oMath>
                </a14:m>
                <a:endParaRPr lang="zh-CN" altLang="en-US" dirty="0"/>
              </a:p>
            </p:txBody>
          </p:sp>
        </mc:Choice>
        <mc:Fallback>
          <p:sp>
            <p:nvSpPr>
              <p:cNvPr id="36" name="文本框 35">
                <a:extLst>
                  <a:ext uri="{FF2B5EF4-FFF2-40B4-BE49-F238E27FC236}">
                    <a16:creationId xmlns:a16="http://schemas.microsoft.com/office/drawing/2014/main" id="{DF700208-6BE5-51F2-F27A-37A0BB3A64CD}"/>
                  </a:ext>
                </a:extLst>
              </p:cNvPr>
              <p:cNvSpPr txBox="1">
                <a:spLocks noRot="1" noChangeAspect="1" noMove="1" noResize="1" noEditPoints="1" noAdjustHandles="1" noChangeArrowheads="1" noChangeShapeType="1" noTextEdit="1"/>
              </p:cNvSpPr>
              <p:nvPr/>
            </p:nvSpPr>
            <p:spPr>
              <a:xfrm>
                <a:off x="6734061" y="224857"/>
                <a:ext cx="2635250" cy="370038"/>
              </a:xfrm>
              <a:prstGeom prst="rect">
                <a:avLst/>
              </a:prstGeom>
              <a:blipFill>
                <a:blip r:embed="rId16"/>
                <a:stretch>
                  <a:fillRect l="-2083" t="-9836" b="-245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文本框 36">
                <a:extLst>
                  <a:ext uri="{FF2B5EF4-FFF2-40B4-BE49-F238E27FC236}">
                    <a16:creationId xmlns:a16="http://schemas.microsoft.com/office/drawing/2014/main" id="{908A3067-CCDC-7EBE-5A9D-833797E99DD0}"/>
                  </a:ext>
                </a:extLst>
              </p:cNvPr>
              <p:cNvSpPr txBox="1"/>
              <p:nvPr/>
            </p:nvSpPr>
            <p:spPr>
              <a:xfrm>
                <a:off x="4349252" y="975085"/>
                <a:ext cx="2012089" cy="369332"/>
              </a:xfrm>
              <a:prstGeom prst="rect">
                <a:avLst/>
              </a:prstGeom>
              <a:noFill/>
            </p:spPr>
            <p:txBody>
              <a:bodyPr wrap="none" rtlCol="0">
                <a:spAutoFit/>
              </a:bodyPr>
              <a:lstStyle/>
              <a:p>
                <a:r>
                  <a:rPr lang="en-US" altLang="zh-CN" dirty="0"/>
                  <a:t>Cross-attention: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a14:m>
                <a:endParaRPr lang="zh-CN" altLang="en-US" dirty="0"/>
              </a:p>
            </p:txBody>
          </p:sp>
        </mc:Choice>
        <mc:Fallback>
          <p:sp>
            <p:nvSpPr>
              <p:cNvPr id="37" name="文本框 36">
                <a:extLst>
                  <a:ext uri="{FF2B5EF4-FFF2-40B4-BE49-F238E27FC236}">
                    <a16:creationId xmlns:a16="http://schemas.microsoft.com/office/drawing/2014/main" id="{908A3067-CCDC-7EBE-5A9D-833797E99DD0}"/>
                  </a:ext>
                </a:extLst>
              </p:cNvPr>
              <p:cNvSpPr txBox="1">
                <a:spLocks noRot="1" noChangeAspect="1" noMove="1" noResize="1" noEditPoints="1" noAdjustHandles="1" noChangeArrowheads="1" noChangeShapeType="1" noTextEdit="1"/>
              </p:cNvSpPr>
              <p:nvPr/>
            </p:nvSpPr>
            <p:spPr>
              <a:xfrm>
                <a:off x="4349252" y="975085"/>
                <a:ext cx="2012089" cy="369332"/>
              </a:xfrm>
              <a:prstGeom prst="rect">
                <a:avLst/>
              </a:prstGeom>
              <a:blipFill>
                <a:blip r:embed="rId17"/>
                <a:stretch>
                  <a:fillRect l="-2417" t="-9836" b="-245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a:extLst>
                  <a:ext uri="{FF2B5EF4-FFF2-40B4-BE49-F238E27FC236}">
                    <a16:creationId xmlns:a16="http://schemas.microsoft.com/office/drawing/2014/main" id="{BC98B364-E39C-4DAD-BDB4-FE18D39F65B6}"/>
                  </a:ext>
                </a:extLst>
              </p:cNvPr>
              <p:cNvSpPr txBox="1"/>
              <p:nvPr/>
            </p:nvSpPr>
            <p:spPr>
              <a:xfrm flipH="1">
                <a:off x="2051787" y="5056211"/>
                <a:ext cx="4571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38" name="文本框 37">
                <a:extLst>
                  <a:ext uri="{FF2B5EF4-FFF2-40B4-BE49-F238E27FC236}">
                    <a16:creationId xmlns:a16="http://schemas.microsoft.com/office/drawing/2014/main" id="{BC98B364-E39C-4DAD-BDB4-FE18D39F65B6}"/>
                  </a:ext>
                </a:extLst>
              </p:cNvPr>
              <p:cNvSpPr txBox="1">
                <a:spLocks noRot="1" noChangeAspect="1" noMove="1" noResize="1" noEditPoints="1" noAdjustHandles="1" noChangeArrowheads="1" noChangeShapeType="1" noTextEdit="1"/>
              </p:cNvSpPr>
              <p:nvPr/>
            </p:nvSpPr>
            <p:spPr>
              <a:xfrm flipH="1">
                <a:off x="2051787" y="5056211"/>
                <a:ext cx="45719" cy="369332"/>
              </a:xfrm>
              <a:prstGeom prst="rect">
                <a:avLst/>
              </a:prstGeom>
              <a:blipFill>
                <a:blip r:embed="rId18"/>
                <a:stretch>
                  <a:fillRect l="-100000" r="-4857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a:extLst>
                  <a:ext uri="{FF2B5EF4-FFF2-40B4-BE49-F238E27FC236}">
                    <a16:creationId xmlns:a16="http://schemas.microsoft.com/office/drawing/2014/main" id="{B366F09A-ACDF-C01D-209D-BEF40742261A}"/>
                  </a:ext>
                </a:extLst>
              </p:cNvPr>
              <p:cNvSpPr txBox="1"/>
              <p:nvPr/>
            </p:nvSpPr>
            <p:spPr>
              <a:xfrm>
                <a:off x="4584274" y="2687997"/>
                <a:ext cx="506614" cy="3702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𝑆</m:t>
                          </m:r>
                        </m:sup>
                      </m:sSup>
                    </m:oMath>
                  </m:oMathPara>
                </a14:m>
                <a:endParaRPr lang="zh-CN" altLang="en-US" dirty="0"/>
              </a:p>
            </p:txBody>
          </p:sp>
        </mc:Choice>
        <mc:Fallback>
          <p:sp>
            <p:nvSpPr>
              <p:cNvPr id="42" name="文本框 41">
                <a:extLst>
                  <a:ext uri="{FF2B5EF4-FFF2-40B4-BE49-F238E27FC236}">
                    <a16:creationId xmlns:a16="http://schemas.microsoft.com/office/drawing/2014/main" id="{B366F09A-ACDF-C01D-209D-BEF40742261A}"/>
                  </a:ext>
                </a:extLst>
              </p:cNvPr>
              <p:cNvSpPr txBox="1">
                <a:spLocks noRot="1" noChangeAspect="1" noMove="1" noResize="1" noEditPoints="1" noAdjustHandles="1" noChangeArrowheads="1" noChangeShapeType="1" noTextEdit="1"/>
              </p:cNvSpPr>
              <p:nvPr/>
            </p:nvSpPr>
            <p:spPr>
              <a:xfrm>
                <a:off x="4584274" y="2687997"/>
                <a:ext cx="506614" cy="370230"/>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a:extLst>
                  <a:ext uri="{FF2B5EF4-FFF2-40B4-BE49-F238E27FC236}">
                    <a16:creationId xmlns:a16="http://schemas.microsoft.com/office/drawing/2014/main" id="{7354EDA2-1F8A-786F-88A8-5A6A50A91B59}"/>
                  </a:ext>
                </a:extLst>
              </p:cNvPr>
              <p:cNvSpPr txBox="1"/>
              <p:nvPr/>
            </p:nvSpPr>
            <p:spPr>
              <a:xfrm>
                <a:off x="3698278" y="3474382"/>
                <a:ext cx="525464" cy="37003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𝐴</m:t>
                          </m:r>
                        </m:sup>
                      </m:sSup>
                    </m:oMath>
                  </m:oMathPara>
                </a14:m>
                <a:endParaRPr lang="zh-CN" altLang="en-US" dirty="0"/>
              </a:p>
            </p:txBody>
          </p:sp>
        </mc:Choice>
        <mc:Fallback>
          <p:sp>
            <p:nvSpPr>
              <p:cNvPr id="43" name="文本框 42">
                <a:extLst>
                  <a:ext uri="{FF2B5EF4-FFF2-40B4-BE49-F238E27FC236}">
                    <a16:creationId xmlns:a16="http://schemas.microsoft.com/office/drawing/2014/main" id="{7354EDA2-1F8A-786F-88A8-5A6A50A91B59}"/>
                  </a:ext>
                </a:extLst>
              </p:cNvPr>
              <p:cNvSpPr txBox="1">
                <a:spLocks noRot="1" noChangeAspect="1" noMove="1" noResize="1" noEditPoints="1" noAdjustHandles="1" noChangeArrowheads="1" noChangeShapeType="1" noTextEdit="1"/>
              </p:cNvSpPr>
              <p:nvPr/>
            </p:nvSpPr>
            <p:spPr>
              <a:xfrm>
                <a:off x="3698278" y="3474382"/>
                <a:ext cx="525464" cy="370038"/>
              </a:xfrm>
              <a:prstGeom prst="rect">
                <a:avLst/>
              </a:prstGeom>
              <a:blipFill>
                <a:blip r:embed="rId20"/>
                <a:stretch>
                  <a:fillRect/>
                </a:stretch>
              </a:blipFill>
            </p:spPr>
            <p:txBody>
              <a:bodyPr/>
              <a:lstStyle/>
              <a:p>
                <a:r>
                  <a:rPr lang="zh-CN" altLang="en-US">
                    <a:noFill/>
                  </a:rPr>
                  <a:t> </a:t>
                </a:r>
              </a:p>
            </p:txBody>
          </p:sp>
        </mc:Fallback>
      </mc:AlternateContent>
      <p:cxnSp>
        <p:nvCxnSpPr>
          <p:cNvPr id="44" name="直接箭头连接符 43">
            <a:extLst>
              <a:ext uri="{FF2B5EF4-FFF2-40B4-BE49-F238E27FC236}">
                <a16:creationId xmlns:a16="http://schemas.microsoft.com/office/drawing/2014/main" id="{5D790FE6-965C-7338-68D3-2BFBFD7DB4F4}"/>
              </a:ext>
            </a:extLst>
          </p:cNvPr>
          <p:cNvCxnSpPr>
            <a:cxnSpLocks/>
            <a:stCxn id="43" idx="0"/>
          </p:cNvCxnSpPr>
          <p:nvPr/>
        </p:nvCxnSpPr>
        <p:spPr>
          <a:xfrm flipV="1">
            <a:off x="3961010" y="2914146"/>
            <a:ext cx="652967" cy="5602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5" name="文本框 44">
                <a:extLst>
                  <a:ext uri="{FF2B5EF4-FFF2-40B4-BE49-F238E27FC236}">
                    <a16:creationId xmlns:a16="http://schemas.microsoft.com/office/drawing/2014/main" id="{8370417F-1EAF-E0AC-CE1A-04365C3A8B4C}"/>
                  </a:ext>
                </a:extLst>
              </p:cNvPr>
              <p:cNvSpPr txBox="1"/>
              <p:nvPr/>
            </p:nvSpPr>
            <p:spPr>
              <a:xfrm>
                <a:off x="4204891" y="2961933"/>
                <a:ext cx="4090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45" name="文本框 44">
                <a:extLst>
                  <a:ext uri="{FF2B5EF4-FFF2-40B4-BE49-F238E27FC236}">
                    <a16:creationId xmlns:a16="http://schemas.microsoft.com/office/drawing/2014/main" id="{8370417F-1EAF-E0AC-CE1A-04365C3A8B4C}"/>
                  </a:ext>
                </a:extLst>
              </p:cNvPr>
              <p:cNvSpPr txBox="1">
                <a:spLocks noRot="1" noChangeAspect="1" noMove="1" noResize="1" noEditPoints="1" noAdjustHandles="1" noChangeArrowheads="1" noChangeShapeType="1" noTextEdit="1"/>
              </p:cNvSpPr>
              <p:nvPr/>
            </p:nvSpPr>
            <p:spPr>
              <a:xfrm>
                <a:off x="4204891" y="2961933"/>
                <a:ext cx="409086" cy="369332"/>
              </a:xfrm>
              <a:prstGeom prst="rect">
                <a:avLst/>
              </a:prstGeom>
              <a:blipFill>
                <a:blip r:embed="rId2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文本框 45">
                <a:extLst>
                  <a:ext uri="{FF2B5EF4-FFF2-40B4-BE49-F238E27FC236}">
                    <a16:creationId xmlns:a16="http://schemas.microsoft.com/office/drawing/2014/main" id="{7E11A6AA-E1F5-3860-D260-A2013D68E1E9}"/>
                  </a:ext>
                </a:extLst>
              </p:cNvPr>
              <p:cNvSpPr txBox="1"/>
              <p:nvPr/>
            </p:nvSpPr>
            <p:spPr>
              <a:xfrm>
                <a:off x="5029589" y="3425376"/>
                <a:ext cx="525464" cy="37003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𝐴</m:t>
                          </m:r>
                        </m:sup>
                      </m:sSup>
                    </m:oMath>
                  </m:oMathPara>
                </a14:m>
                <a:endParaRPr lang="zh-CN" altLang="en-US" dirty="0"/>
              </a:p>
            </p:txBody>
          </p:sp>
        </mc:Choice>
        <mc:Fallback>
          <p:sp>
            <p:nvSpPr>
              <p:cNvPr id="46" name="文本框 45">
                <a:extLst>
                  <a:ext uri="{FF2B5EF4-FFF2-40B4-BE49-F238E27FC236}">
                    <a16:creationId xmlns:a16="http://schemas.microsoft.com/office/drawing/2014/main" id="{7E11A6AA-E1F5-3860-D260-A2013D68E1E9}"/>
                  </a:ext>
                </a:extLst>
              </p:cNvPr>
              <p:cNvSpPr txBox="1">
                <a:spLocks noRot="1" noChangeAspect="1" noMove="1" noResize="1" noEditPoints="1" noAdjustHandles="1" noChangeArrowheads="1" noChangeShapeType="1" noTextEdit="1"/>
              </p:cNvSpPr>
              <p:nvPr/>
            </p:nvSpPr>
            <p:spPr>
              <a:xfrm>
                <a:off x="5029589" y="3425376"/>
                <a:ext cx="525464" cy="370038"/>
              </a:xfrm>
              <a:prstGeom prst="rect">
                <a:avLst/>
              </a:prstGeom>
              <a:blipFill>
                <a:blip r:embed="rId22"/>
                <a:stretch>
                  <a:fillRect/>
                </a:stretch>
              </a:blipFill>
            </p:spPr>
            <p:txBody>
              <a:bodyPr/>
              <a:lstStyle/>
              <a:p>
                <a:r>
                  <a:rPr lang="zh-CN" altLang="en-US">
                    <a:noFill/>
                  </a:rPr>
                  <a:t> </a:t>
                </a:r>
              </a:p>
            </p:txBody>
          </p:sp>
        </mc:Fallback>
      </mc:AlternateContent>
      <p:cxnSp>
        <p:nvCxnSpPr>
          <p:cNvPr id="47" name="直接箭头连接符 46">
            <a:extLst>
              <a:ext uri="{FF2B5EF4-FFF2-40B4-BE49-F238E27FC236}">
                <a16:creationId xmlns:a16="http://schemas.microsoft.com/office/drawing/2014/main" id="{E8BC0EA5-DEB7-55E9-A648-8501FA121047}"/>
              </a:ext>
            </a:extLst>
          </p:cNvPr>
          <p:cNvCxnSpPr/>
          <p:nvPr/>
        </p:nvCxnSpPr>
        <p:spPr>
          <a:xfrm>
            <a:off x="4843013" y="2980375"/>
            <a:ext cx="373153" cy="3693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4" name="文本框 53">
                <a:extLst>
                  <a:ext uri="{FF2B5EF4-FFF2-40B4-BE49-F238E27FC236}">
                    <a16:creationId xmlns:a16="http://schemas.microsoft.com/office/drawing/2014/main" id="{6659EC89-7AFB-5EF7-75DD-580AC046A59E}"/>
                  </a:ext>
                </a:extLst>
              </p:cNvPr>
              <p:cNvSpPr txBox="1"/>
              <p:nvPr/>
            </p:nvSpPr>
            <p:spPr>
              <a:xfrm>
                <a:off x="4443071" y="5286869"/>
                <a:ext cx="525337" cy="3702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𝑆</m:t>
                          </m:r>
                        </m:sup>
                      </m:sSup>
                    </m:oMath>
                  </m:oMathPara>
                </a14:m>
                <a:endParaRPr lang="zh-CN" altLang="en-US" dirty="0"/>
              </a:p>
            </p:txBody>
          </p:sp>
        </mc:Choice>
        <mc:Fallback>
          <p:sp>
            <p:nvSpPr>
              <p:cNvPr id="54" name="文本框 53">
                <a:extLst>
                  <a:ext uri="{FF2B5EF4-FFF2-40B4-BE49-F238E27FC236}">
                    <a16:creationId xmlns:a16="http://schemas.microsoft.com/office/drawing/2014/main" id="{6659EC89-7AFB-5EF7-75DD-580AC046A59E}"/>
                  </a:ext>
                </a:extLst>
              </p:cNvPr>
              <p:cNvSpPr txBox="1">
                <a:spLocks noRot="1" noChangeAspect="1" noMove="1" noResize="1" noEditPoints="1" noAdjustHandles="1" noChangeArrowheads="1" noChangeShapeType="1" noTextEdit="1"/>
              </p:cNvSpPr>
              <p:nvPr/>
            </p:nvSpPr>
            <p:spPr>
              <a:xfrm>
                <a:off x="4443071" y="5286869"/>
                <a:ext cx="525337" cy="370230"/>
              </a:xfrm>
              <a:prstGeom prst="rect">
                <a:avLst/>
              </a:prstGeom>
              <a:blipFill>
                <a:blip r:embed="rId23"/>
                <a:stretch>
                  <a:fillRect/>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F613B844-5296-BA06-645D-5EAF5445929B}"/>
              </a:ext>
            </a:extLst>
          </p:cNvPr>
          <p:cNvCxnSpPr>
            <a:cxnSpLocks/>
          </p:cNvCxnSpPr>
          <p:nvPr/>
        </p:nvCxnSpPr>
        <p:spPr>
          <a:xfrm>
            <a:off x="3943262" y="4887041"/>
            <a:ext cx="589480" cy="445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6" name="文本框 55">
                <a:extLst>
                  <a:ext uri="{FF2B5EF4-FFF2-40B4-BE49-F238E27FC236}">
                    <a16:creationId xmlns:a16="http://schemas.microsoft.com/office/drawing/2014/main" id="{B2BF3DF8-2349-8768-7C6F-7A4F5D504929}"/>
                  </a:ext>
                </a:extLst>
              </p:cNvPr>
              <p:cNvSpPr txBox="1"/>
              <p:nvPr/>
            </p:nvSpPr>
            <p:spPr>
              <a:xfrm>
                <a:off x="3553190" y="4548123"/>
                <a:ext cx="544187" cy="37003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𝐴</m:t>
                          </m:r>
                        </m:sup>
                      </m:sSup>
                    </m:oMath>
                  </m:oMathPara>
                </a14:m>
                <a:endParaRPr lang="zh-CN" altLang="en-US" dirty="0"/>
              </a:p>
            </p:txBody>
          </p:sp>
        </mc:Choice>
        <mc:Fallback>
          <p:sp>
            <p:nvSpPr>
              <p:cNvPr id="56" name="文本框 55">
                <a:extLst>
                  <a:ext uri="{FF2B5EF4-FFF2-40B4-BE49-F238E27FC236}">
                    <a16:creationId xmlns:a16="http://schemas.microsoft.com/office/drawing/2014/main" id="{B2BF3DF8-2349-8768-7C6F-7A4F5D504929}"/>
                  </a:ext>
                </a:extLst>
              </p:cNvPr>
              <p:cNvSpPr txBox="1">
                <a:spLocks noRot="1" noChangeAspect="1" noMove="1" noResize="1" noEditPoints="1" noAdjustHandles="1" noChangeArrowheads="1" noChangeShapeType="1" noTextEdit="1"/>
              </p:cNvSpPr>
              <p:nvPr/>
            </p:nvSpPr>
            <p:spPr>
              <a:xfrm>
                <a:off x="3553190" y="4548123"/>
                <a:ext cx="544187" cy="370038"/>
              </a:xfrm>
              <a:prstGeom prst="rect">
                <a:avLst/>
              </a:prstGeom>
              <a:blipFill>
                <a:blip r:embed="rId24"/>
                <a:stretch>
                  <a:fillRect/>
                </a:stretch>
              </a:blipFill>
            </p:spPr>
            <p:txBody>
              <a:bodyPr/>
              <a:lstStyle/>
              <a:p>
                <a:r>
                  <a:rPr lang="zh-CN" altLang="en-US">
                    <a:noFill/>
                  </a:rPr>
                  <a:t> </a:t>
                </a:r>
              </a:p>
            </p:txBody>
          </p:sp>
        </mc:Fallback>
      </mc:AlternateContent>
      <p:cxnSp>
        <p:nvCxnSpPr>
          <p:cNvPr id="57" name="直接箭头连接符 56">
            <a:extLst>
              <a:ext uri="{FF2B5EF4-FFF2-40B4-BE49-F238E27FC236}">
                <a16:creationId xmlns:a16="http://schemas.microsoft.com/office/drawing/2014/main" id="{E0247222-0834-B4B1-886D-28EC498D545E}"/>
              </a:ext>
            </a:extLst>
          </p:cNvPr>
          <p:cNvCxnSpPr>
            <a:cxnSpLocks/>
          </p:cNvCxnSpPr>
          <p:nvPr/>
        </p:nvCxnSpPr>
        <p:spPr>
          <a:xfrm flipV="1">
            <a:off x="4769576" y="4955723"/>
            <a:ext cx="306476" cy="376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58" name="文本框 57">
                <a:extLst>
                  <a:ext uri="{FF2B5EF4-FFF2-40B4-BE49-F238E27FC236}">
                    <a16:creationId xmlns:a16="http://schemas.microsoft.com/office/drawing/2014/main" id="{5487B511-C38E-44C3-5AAD-2E82604EEBDB}"/>
                  </a:ext>
                </a:extLst>
              </p:cNvPr>
              <p:cNvSpPr txBox="1"/>
              <p:nvPr/>
            </p:nvSpPr>
            <p:spPr>
              <a:xfrm>
                <a:off x="4959381" y="4584233"/>
                <a:ext cx="544187" cy="37003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𝐴</m:t>
                          </m:r>
                        </m:sup>
                      </m:sSup>
                    </m:oMath>
                  </m:oMathPara>
                </a14:m>
                <a:endParaRPr lang="zh-CN" altLang="en-US" dirty="0"/>
              </a:p>
            </p:txBody>
          </p:sp>
        </mc:Choice>
        <mc:Fallback>
          <p:sp>
            <p:nvSpPr>
              <p:cNvPr id="58" name="文本框 57">
                <a:extLst>
                  <a:ext uri="{FF2B5EF4-FFF2-40B4-BE49-F238E27FC236}">
                    <a16:creationId xmlns:a16="http://schemas.microsoft.com/office/drawing/2014/main" id="{5487B511-C38E-44C3-5AAD-2E82604EEBDB}"/>
                  </a:ext>
                </a:extLst>
              </p:cNvPr>
              <p:cNvSpPr txBox="1">
                <a:spLocks noRot="1" noChangeAspect="1" noMove="1" noResize="1" noEditPoints="1" noAdjustHandles="1" noChangeArrowheads="1" noChangeShapeType="1" noTextEdit="1"/>
              </p:cNvSpPr>
              <p:nvPr/>
            </p:nvSpPr>
            <p:spPr>
              <a:xfrm>
                <a:off x="4959381" y="4584233"/>
                <a:ext cx="544187" cy="370038"/>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文本框 58">
                <a:extLst>
                  <a:ext uri="{FF2B5EF4-FFF2-40B4-BE49-F238E27FC236}">
                    <a16:creationId xmlns:a16="http://schemas.microsoft.com/office/drawing/2014/main" id="{5E524303-F6F9-9682-9F55-9189E361E79C}"/>
                  </a:ext>
                </a:extLst>
              </p:cNvPr>
              <p:cNvSpPr txBox="1"/>
              <p:nvPr/>
            </p:nvSpPr>
            <p:spPr>
              <a:xfrm flipH="1">
                <a:off x="4072807" y="5056211"/>
                <a:ext cx="4571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59" name="文本框 58">
                <a:extLst>
                  <a:ext uri="{FF2B5EF4-FFF2-40B4-BE49-F238E27FC236}">
                    <a16:creationId xmlns:a16="http://schemas.microsoft.com/office/drawing/2014/main" id="{5E524303-F6F9-9682-9F55-9189E361E79C}"/>
                  </a:ext>
                </a:extLst>
              </p:cNvPr>
              <p:cNvSpPr txBox="1">
                <a:spLocks noRot="1" noChangeAspect="1" noMove="1" noResize="1" noEditPoints="1" noAdjustHandles="1" noChangeArrowheads="1" noChangeShapeType="1" noTextEdit="1"/>
              </p:cNvSpPr>
              <p:nvPr/>
            </p:nvSpPr>
            <p:spPr>
              <a:xfrm flipH="1">
                <a:off x="4072807" y="5056211"/>
                <a:ext cx="45719" cy="369332"/>
              </a:xfrm>
              <a:prstGeom prst="rect">
                <a:avLst/>
              </a:prstGeom>
              <a:blipFill>
                <a:blip r:embed="rId26"/>
                <a:stretch>
                  <a:fillRect l="-87500" r="-412500"/>
                </a:stretch>
              </a:blipFill>
            </p:spPr>
            <p:txBody>
              <a:bodyPr/>
              <a:lstStyle/>
              <a:p>
                <a:r>
                  <a:rPr lang="zh-CN" altLang="en-US">
                    <a:noFill/>
                  </a:rPr>
                  <a:t> </a:t>
                </a:r>
              </a:p>
            </p:txBody>
          </p:sp>
        </mc:Fallback>
      </mc:AlternateContent>
      <p:cxnSp>
        <p:nvCxnSpPr>
          <p:cNvPr id="60" name="直接箭头连接符 59">
            <a:extLst>
              <a:ext uri="{FF2B5EF4-FFF2-40B4-BE49-F238E27FC236}">
                <a16:creationId xmlns:a16="http://schemas.microsoft.com/office/drawing/2014/main" id="{8BF2591E-07F7-7957-4874-AF8CA7B1B998}"/>
              </a:ext>
            </a:extLst>
          </p:cNvPr>
          <p:cNvCxnSpPr>
            <a:cxnSpLocks/>
          </p:cNvCxnSpPr>
          <p:nvPr/>
        </p:nvCxnSpPr>
        <p:spPr>
          <a:xfrm>
            <a:off x="3070399" y="3795414"/>
            <a:ext cx="34378" cy="788819"/>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62" name="文本框 61">
                <a:extLst>
                  <a:ext uri="{FF2B5EF4-FFF2-40B4-BE49-F238E27FC236}">
                    <a16:creationId xmlns:a16="http://schemas.microsoft.com/office/drawing/2014/main" id="{35A8F703-E212-2C46-2108-2F7E416E3EF5}"/>
                  </a:ext>
                </a:extLst>
              </p:cNvPr>
              <p:cNvSpPr txBox="1"/>
              <p:nvPr/>
            </p:nvSpPr>
            <p:spPr>
              <a:xfrm>
                <a:off x="2694355" y="3961381"/>
                <a:ext cx="40908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62" name="文本框 61">
                <a:extLst>
                  <a:ext uri="{FF2B5EF4-FFF2-40B4-BE49-F238E27FC236}">
                    <a16:creationId xmlns:a16="http://schemas.microsoft.com/office/drawing/2014/main" id="{35A8F703-E212-2C46-2108-2F7E416E3EF5}"/>
                  </a:ext>
                </a:extLst>
              </p:cNvPr>
              <p:cNvSpPr txBox="1">
                <a:spLocks noRot="1" noChangeAspect="1" noMove="1" noResize="1" noEditPoints="1" noAdjustHandles="1" noChangeArrowheads="1" noChangeShapeType="1" noTextEdit="1"/>
              </p:cNvSpPr>
              <p:nvPr/>
            </p:nvSpPr>
            <p:spPr>
              <a:xfrm>
                <a:off x="2694355" y="3961381"/>
                <a:ext cx="409086" cy="369332"/>
              </a:xfrm>
              <a:prstGeom prst="rect">
                <a:avLst/>
              </a:prstGeom>
              <a:blipFill>
                <a:blip r:embed="rId27"/>
                <a:stretch>
                  <a:fillRect/>
                </a:stretch>
              </a:blipFill>
            </p:spPr>
            <p:txBody>
              <a:bodyPr/>
              <a:lstStyle/>
              <a:p>
                <a:r>
                  <a:rPr lang="zh-CN" altLang="en-US">
                    <a:noFill/>
                  </a:rPr>
                  <a:t> </a:t>
                </a:r>
              </a:p>
            </p:txBody>
          </p:sp>
        </mc:Fallback>
      </mc:AlternateContent>
      <p:sp>
        <p:nvSpPr>
          <p:cNvPr id="63" name="任意多边形: 形状 62">
            <a:extLst>
              <a:ext uri="{FF2B5EF4-FFF2-40B4-BE49-F238E27FC236}">
                <a16:creationId xmlns:a16="http://schemas.microsoft.com/office/drawing/2014/main" id="{59A10329-A7F0-995A-0573-7F96AE2E403E}"/>
              </a:ext>
            </a:extLst>
          </p:cNvPr>
          <p:cNvSpPr/>
          <p:nvPr/>
        </p:nvSpPr>
        <p:spPr>
          <a:xfrm>
            <a:off x="3201030" y="4886868"/>
            <a:ext cx="2894970" cy="1562994"/>
          </a:xfrm>
          <a:custGeom>
            <a:avLst/>
            <a:gdLst>
              <a:gd name="connsiteX0" fmla="*/ 0 w 4217613"/>
              <a:gd name="connsiteY0" fmla="*/ 193510 h 1539353"/>
              <a:gd name="connsiteX1" fmla="*/ 320842 w 4217613"/>
              <a:gd name="connsiteY1" fmla="*/ 1300415 h 1539353"/>
              <a:gd name="connsiteX2" fmla="*/ 1732547 w 4217613"/>
              <a:gd name="connsiteY2" fmla="*/ 1444794 h 1539353"/>
              <a:gd name="connsiteX3" fmla="*/ 3978442 w 4217613"/>
              <a:gd name="connsiteY3" fmla="*/ 145384 h 1539353"/>
              <a:gd name="connsiteX4" fmla="*/ 4170947 w 4217613"/>
              <a:gd name="connsiteY4" fmla="*/ 17047 h 1539353"/>
              <a:gd name="connsiteX5" fmla="*/ 4138863 w 4217613"/>
              <a:gd name="connsiteY5" fmla="*/ 17047 h 1539353"/>
              <a:gd name="connsiteX6" fmla="*/ 4154905 w 4217613"/>
              <a:gd name="connsiteY6" fmla="*/ 81215 h 1539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613" h="1539353">
                <a:moveTo>
                  <a:pt x="0" y="193510"/>
                </a:moveTo>
                <a:cubicBezTo>
                  <a:pt x="16042" y="642689"/>
                  <a:pt x="32084" y="1091868"/>
                  <a:pt x="320842" y="1300415"/>
                </a:cubicBezTo>
                <a:cubicBezTo>
                  <a:pt x="609600" y="1508962"/>
                  <a:pt x="1122947" y="1637299"/>
                  <a:pt x="1732547" y="1444794"/>
                </a:cubicBezTo>
                <a:cubicBezTo>
                  <a:pt x="2342147" y="1252289"/>
                  <a:pt x="3572042" y="383342"/>
                  <a:pt x="3978442" y="145384"/>
                </a:cubicBezTo>
                <a:cubicBezTo>
                  <a:pt x="4384842" y="-92574"/>
                  <a:pt x="4144210" y="38436"/>
                  <a:pt x="4170947" y="17047"/>
                </a:cubicBezTo>
                <a:cubicBezTo>
                  <a:pt x="4197684" y="-4342"/>
                  <a:pt x="4141537" y="6352"/>
                  <a:pt x="4138863" y="17047"/>
                </a:cubicBezTo>
                <a:cubicBezTo>
                  <a:pt x="4136189" y="27742"/>
                  <a:pt x="4145547" y="54478"/>
                  <a:pt x="4154905" y="81215"/>
                </a:cubicBezTo>
              </a:path>
            </a:pathLst>
          </a:cu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4" name="文本框 63">
                <a:extLst>
                  <a:ext uri="{FF2B5EF4-FFF2-40B4-BE49-F238E27FC236}">
                    <a16:creationId xmlns:a16="http://schemas.microsoft.com/office/drawing/2014/main" id="{5B830844-BB3F-B12A-9FFA-614974A8AA4C}"/>
                  </a:ext>
                </a:extLst>
              </p:cNvPr>
              <p:cNvSpPr txBox="1"/>
              <p:nvPr/>
            </p:nvSpPr>
            <p:spPr>
              <a:xfrm>
                <a:off x="6705733" y="659179"/>
                <a:ext cx="2449966" cy="398764"/>
              </a:xfrm>
              <a:prstGeom prst="rect">
                <a:avLst/>
              </a:prstGeom>
              <a:noFill/>
            </p:spPr>
            <p:txBody>
              <a:bodyPr wrap="none" rtlCol="0">
                <a:spAutoFit/>
              </a:bodyPr>
              <a:lstStyle/>
              <a:p>
                <a:r>
                  <a:rPr lang="en-US" altLang="zh-CN" dirty="0"/>
                  <a:t>Feature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𝑆</m:t>
                        </m:r>
                      </m:sup>
                    </m:sSup>
                    <m:r>
                      <a:rPr lang="en-US" altLang="zh-CN" b="0"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𝑆</m:t>
                        </m:r>
                      </m:sup>
                    </m:sSup>
                  </m:oMath>
                </a14:m>
                <a:r>
                  <a:rPr lang="en-US" altLang="zh-CN" dirty="0"/>
                  <a:t>: </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oMath>
                </a14:m>
                <a:endParaRPr lang="zh-CN" altLang="en-US" dirty="0"/>
              </a:p>
            </p:txBody>
          </p:sp>
        </mc:Choice>
        <mc:Fallback>
          <p:sp>
            <p:nvSpPr>
              <p:cNvPr id="64" name="文本框 63">
                <a:extLst>
                  <a:ext uri="{FF2B5EF4-FFF2-40B4-BE49-F238E27FC236}">
                    <a16:creationId xmlns:a16="http://schemas.microsoft.com/office/drawing/2014/main" id="{5B830844-BB3F-B12A-9FFA-614974A8AA4C}"/>
                  </a:ext>
                </a:extLst>
              </p:cNvPr>
              <p:cNvSpPr txBox="1">
                <a:spLocks noRot="1" noChangeAspect="1" noMove="1" noResize="1" noEditPoints="1" noAdjustHandles="1" noChangeArrowheads="1" noChangeShapeType="1" noTextEdit="1"/>
              </p:cNvSpPr>
              <p:nvPr/>
            </p:nvSpPr>
            <p:spPr>
              <a:xfrm>
                <a:off x="6705733" y="659179"/>
                <a:ext cx="2449966" cy="398764"/>
              </a:xfrm>
              <a:prstGeom prst="rect">
                <a:avLst/>
              </a:prstGeom>
              <a:blipFill>
                <a:blip r:embed="rId28"/>
                <a:stretch>
                  <a:fillRect l="-1990" t="-6061" b="-1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5" name="文本框 64">
                <a:extLst>
                  <a:ext uri="{FF2B5EF4-FFF2-40B4-BE49-F238E27FC236}">
                    <a16:creationId xmlns:a16="http://schemas.microsoft.com/office/drawing/2014/main" id="{9A5D525C-D3A7-71F2-A528-0EE9BE0791E8}"/>
                  </a:ext>
                </a:extLst>
              </p:cNvPr>
              <p:cNvSpPr txBox="1"/>
              <p:nvPr/>
            </p:nvSpPr>
            <p:spPr>
              <a:xfrm>
                <a:off x="6676395" y="1057943"/>
                <a:ext cx="2449966" cy="398764"/>
              </a:xfrm>
              <a:prstGeom prst="rect">
                <a:avLst/>
              </a:prstGeom>
              <a:noFill/>
            </p:spPr>
            <p:txBody>
              <a:bodyPr wrap="none" rtlCol="0">
                <a:spAutoFit/>
              </a:bodyPr>
              <a:lstStyle/>
              <a:p>
                <a:r>
                  <a:rPr lang="en-US" altLang="zh-CN" dirty="0"/>
                  <a:t>Feature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𝑆</m:t>
                        </m:r>
                      </m:sup>
                    </m:sSup>
                    <m:r>
                      <a:rPr lang="en-US" altLang="zh-CN" b="0"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𝑆</m:t>
                        </m:r>
                      </m:sup>
                    </m:sSup>
                  </m:oMath>
                </a14:m>
                <a:r>
                  <a:rPr lang="en-US" altLang="zh-CN" dirty="0"/>
                  <a:t>: </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𝑠</m:t>
                        </m:r>
                      </m:sup>
                    </m:sSubSup>
                  </m:oMath>
                </a14:m>
                <a:endParaRPr lang="zh-CN" altLang="en-US" dirty="0"/>
              </a:p>
            </p:txBody>
          </p:sp>
        </mc:Choice>
        <mc:Fallback>
          <p:sp>
            <p:nvSpPr>
              <p:cNvPr id="65" name="文本框 64">
                <a:extLst>
                  <a:ext uri="{FF2B5EF4-FFF2-40B4-BE49-F238E27FC236}">
                    <a16:creationId xmlns:a16="http://schemas.microsoft.com/office/drawing/2014/main" id="{9A5D525C-D3A7-71F2-A528-0EE9BE0791E8}"/>
                  </a:ext>
                </a:extLst>
              </p:cNvPr>
              <p:cNvSpPr txBox="1">
                <a:spLocks noRot="1" noChangeAspect="1" noMove="1" noResize="1" noEditPoints="1" noAdjustHandles="1" noChangeArrowheads="1" noChangeShapeType="1" noTextEdit="1"/>
              </p:cNvSpPr>
              <p:nvPr/>
            </p:nvSpPr>
            <p:spPr>
              <a:xfrm>
                <a:off x="6676395" y="1057943"/>
                <a:ext cx="2449966" cy="398764"/>
              </a:xfrm>
              <a:prstGeom prst="rect">
                <a:avLst/>
              </a:prstGeom>
              <a:blipFill>
                <a:blip r:embed="rId29"/>
                <a:stretch>
                  <a:fillRect l="-1990" t="-7692" b="-184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文本框 65">
                <a:extLst>
                  <a:ext uri="{FF2B5EF4-FFF2-40B4-BE49-F238E27FC236}">
                    <a16:creationId xmlns:a16="http://schemas.microsoft.com/office/drawing/2014/main" id="{F506D1AD-D36F-EDB3-D960-F4F9F7B4D379}"/>
                  </a:ext>
                </a:extLst>
              </p:cNvPr>
              <p:cNvSpPr txBox="1"/>
              <p:nvPr/>
            </p:nvSpPr>
            <p:spPr>
              <a:xfrm>
                <a:off x="9388602" y="216449"/>
                <a:ext cx="2487669" cy="412292"/>
              </a:xfrm>
              <a:prstGeom prst="rect">
                <a:avLst/>
              </a:prstGeom>
              <a:noFill/>
            </p:spPr>
            <p:txBody>
              <a:bodyPr wrap="none" rtlCol="0">
                <a:spAutoFit/>
              </a:bodyPr>
              <a:lstStyle/>
              <a:p>
                <a:r>
                  <a:rPr lang="en-US" altLang="zh-CN" dirty="0"/>
                  <a:t>Feature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𝐴</m:t>
                        </m:r>
                      </m:sup>
                    </m:sSup>
                    <m:r>
                      <a:rPr lang="en-US" altLang="zh-CN" b="0"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𝐴</m:t>
                        </m:r>
                      </m:sup>
                    </m:sSup>
                  </m:oMath>
                </a14:m>
                <a:r>
                  <a:rPr lang="en-US" altLang="zh-CN" dirty="0"/>
                  <a:t>: </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𝐴</m:t>
                        </m:r>
                      </m:sup>
                    </m:sSubSup>
                  </m:oMath>
                </a14:m>
                <a:endParaRPr lang="zh-CN" altLang="en-US" dirty="0"/>
              </a:p>
            </p:txBody>
          </p:sp>
        </mc:Choice>
        <mc:Fallback>
          <p:sp>
            <p:nvSpPr>
              <p:cNvPr id="66" name="文本框 65">
                <a:extLst>
                  <a:ext uri="{FF2B5EF4-FFF2-40B4-BE49-F238E27FC236}">
                    <a16:creationId xmlns:a16="http://schemas.microsoft.com/office/drawing/2014/main" id="{F506D1AD-D36F-EDB3-D960-F4F9F7B4D379}"/>
                  </a:ext>
                </a:extLst>
              </p:cNvPr>
              <p:cNvSpPr txBox="1">
                <a:spLocks noRot="1" noChangeAspect="1" noMove="1" noResize="1" noEditPoints="1" noAdjustHandles="1" noChangeArrowheads="1" noChangeShapeType="1" noTextEdit="1"/>
              </p:cNvSpPr>
              <p:nvPr/>
            </p:nvSpPr>
            <p:spPr>
              <a:xfrm>
                <a:off x="9388602" y="216449"/>
                <a:ext cx="2487669" cy="412292"/>
              </a:xfrm>
              <a:prstGeom prst="rect">
                <a:avLst/>
              </a:prstGeom>
              <a:blipFill>
                <a:blip r:embed="rId30"/>
                <a:stretch>
                  <a:fillRect l="-1961" t="-4478" b="-179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7" name="文本框 66">
                <a:extLst>
                  <a:ext uri="{FF2B5EF4-FFF2-40B4-BE49-F238E27FC236}">
                    <a16:creationId xmlns:a16="http://schemas.microsoft.com/office/drawing/2014/main" id="{B0D87A3C-71B6-E0F3-AADC-59E2BF37088D}"/>
                  </a:ext>
                </a:extLst>
              </p:cNvPr>
              <p:cNvSpPr txBox="1"/>
              <p:nvPr/>
            </p:nvSpPr>
            <p:spPr>
              <a:xfrm>
                <a:off x="9388602" y="639069"/>
                <a:ext cx="2487669" cy="412292"/>
              </a:xfrm>
              <a:prstGeom prst="rect">
                <a:avLst/>
              </a:prstGeom>
              <a:noFill/>
            </p:spPr>
            <p:txBody>
              <a:bodyPr wrap="none" rtlCol="0">
                <a:spAutoFit/>
              </a:bodyPr>
              <a:lstStyle/>
              <a:p>
                <a:r>
                  <a:rPr lang="en-US" altLang="zh-CN" dirty="0"/>
                  <a:t>Feature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𝐴</m:t>
                        </m:r>
                      </m:sup>
                    </m:sSup>
                    <m:r>
                      <a:rPr lang="en-US" altLang="zh-CN" b="0"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𝐴</m:t>
                        </m:r>
                      </m:sup>
                    </m:sSup>
                  </m:oMath>
                </a14:m>
                <a:r>
                  <a:rPr lang="en-US" altLang="zh-CN" dirty="0"/>
                  <a:t>: </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𝐴</m:t>
                        </m:r>
                      </m:sup>
                    </m:sSubSup>
                  </m:oMath>
                </a14:m>
                <a:endParaRPr lang="zh-CN" altLang="en-US" dirty="0"/>
              </a:p>
            </p:txBody>
          </p:sp>
        </mc:Choice>
        <mc:Fallback>
          <p:sp>
            <p:nvSpPr>
              <p:cNvPr id="67" name="文本框 66">
                <a:extLst>
                  <a:ext uri="{FF2B5EF4-FFF2-40B4-BE49-F238E27FC236}">
                    <a16:creationId xmlns:a16="http://schemas.microsoft.com/office/drawing/2014/main" id="{B0D87A3C-71B6-E0F3-AADC-59E2BF37088D}"/>
                  </a:ext>
                </a:extLst>
              </p:cNvPr>
              <p:cNvSpPr txBox="1">
                <a:spLocks noRot="1" noChangeAspect="1" noMove="1" noResize="1" noEditPoints="1" noAdjustHandles="1" noChangeArrowheads="1" noChangeShapeType="1" noTextEdit="1"/>
              </p:cNvSpPr>
              <p:nvPr/>
            </p:nvSpPr>
            <p:spPr>
              <a:xfrm>
                <a:off x="9388602" y="639069"/>
                <a:ext cx="2487669" cy="412292"/>
              </a:xfrm>
              <a:prstGeom prst="rect">
                <a:avLst/>
              </a:prstGeom>
              <a:blipFill>
                <a:blip r:embed="rId31"/>
                <a:stretch>
                  <a:fillRect l="-1961" t="-4478" b="-179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 name="文本框 68">
                <a:extLst>
                  <a:ext uri="{FF2B5EF4-FFF2-40B4-BE49-F238E27FC236}">
                    <a16:creationId xmlns:a16="http://schemas.microsoft.com/office/drawing/2014/main" id="{C7177774-74B6-BD27-A043-04477A1AEBF4}"/>
                  </a:ext>
                </a:extLst>
              </p:cNvPr>
              <p:cNvSpPr txBox="1"/>
              <p:nvPr/>
            </p:nvSpPr>
            <p:spPr>
              <a:xfrm>
                <a:off x="5684643" y="4504693"/>
                <a:ext cx="1192985" cy="3987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𝑠</m:t>
                          </m:r>
                        </m:sup>
                      </m:sSubSup>
                    </m:oMath>
                  </m:oMathPara>
                </a14:m>
                <a:endParaRPr lang="zh-CN" altLang="en-US" dirty="0"/>
              </a:p>
            </p:txBody>
          </p:sp>
        </mc:Choice>
        <mc:Fallback>
          <p:sp>
            <p:nvSpPr>
              <p:cNvPr id="69" name="文本框 68">
                <a:extLst>
                  <a:ext uri="{FF2B5EF4-FFF2-40B4-BE49-F238E27FC236}">
                    <a16:creationId xmlns:a16="http://schemas.microsoft.com/office/drawing/2014/main" id="{C7177774-74B6-BD27-A043-04477A1AEBF4}"/>
                  </a:ext>
                </a:extLst>
              </p:cNvPr>
              <p:cNvSpPr txBox="1">
                <a:spLocks noRot="1" noChangeAspect="1" noMove="1" noResize="1" noEditPoints="1" noAdjustHandles="1" noChangeArrowheads="1" noChangeShapeType="1" noTextEdit="1"/>
              </p:cNvSpPr>
              <p:nvPr/>
            </p:nvSpPr>
            <p:spPr>
              <a:xfrm>
                <a:off x="5684643" y="4504693"/>
                <a:ext cx="1192985" cy="398764"/>
              </a:xfrm>
              <a:prstGeom prst="rect">
                <a:avLst/>
              </a:prstGeom>
              <a:blipFill>
                <a:blip r:embed="rId32"/>
                <a:stretch>
                  <a:fillRect b="-3077"/>
                </a:stretch>
              </a:blipFill>
            </p:spPr>
            <p:txBody>
              <a:bodyPr/>
              <a:lstStyle/>
              <a:p>
                <a:r>
                  <a:rPr lang="zh-CN" altLang="en-US">
                    <a:noFill/>
                  </a:rPr>
                  <a:t> </a:t>
                </a:r>
              </a:p>
            </p:txBody>
          </p:sp>
        </mc:Fallback>
      </mc:AlternateContent>
      <p:cxnSp>
        <p:nvCxnSpPr>
          <p:cNvPr id="70" name="直接箭头连接符 69">
            <a:extLst>
              <a:ext uri="{FF2B5EF4-FFF2-40B4-BE49-F238E27FC236}">
                <a16:creationId xmlns:a16="http://schemas.microsoft.com/office/drawing/2014/main" id="{3D7D75C5-C5E1-E6BB-AC7D-575E902EF797}"/>
              </a:ext>
            </a:extLst>
          </p:cNvPr>
          <p:cNvCxnSpPr>
            <a:cxnSpLocks/>
          </p:cNvCxnSpPr>
          <p:nvPr/>
        </p:nvCxnSpPr>
        <p:spPr>
          <a:xfrm flipV="1">
            <a:off x="3191667" y="3808880"/>
            <a:ext cx="0" cy="701787"/>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71" name="文本框 70">
                <a:extLst>
                  <a:ext uri="{FF2B5EF4-FFF2-40B4-BE49-F238E27FC236}">
                    <a16:creationId xmlns:a16="http://schemas.microsoft.com/office/drawing/2014/main" id="{7CF8FBAA-F9C4-F809-AEF3-9EBBB2246193}"/>
                  </a:ext>
                </a:extLst>
              </p:cNvPr>
              <p:cNvSpPr txBox="1"/>
              <p:nvPr/>
            </p:nvSpPr>
            <p:spPr>
              <a:xfrm>
                <a:off x="3059258" y="4015519"/>
                <a:ext cx="40908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71" name="文本框 70">
                <a:extLst>
                  <a:ext uri="{FF2B5EF4-FFF2-40B4-BE49-F238E27FC236}">
                    <a16:creationId xmlns:a16="http://schemas.microsoft.com/office/drawing/2014/main" id="{7CF8FBAA-F9C4-F809-AEF3-9EBBB2246193}"/>
                  </a:ext>
                </a:extLst>
              </p:cNvPr>
              <p:cNvSpPr txBox="1">
                <a:spLocks noRot="1" noChangeAspect="1" noMove="1" noResize="1" noEditPoints="1" noAdjustHandles="1" noChangeArrowheads="1" noChangeShapeType="1" noTextEdit="1"/>
              </p:cNvSpPr>
              <p:nvPr/>
            </p:nvSpPr>
            <p:spPr>
              <a:xfrm>
                <a:off x="3059258" y="4015519"/>
                <a:ext cx="409086" cy="369332"/>
              </a:xfrm>
              <a:prstGeom prst="rect">
                <a:avLst/>
              </a:prstGeom>
              <a:blipFill>
                <a:blip r:embed="rId33"/>
                <a:stretch>
                  <a:fillRect/>
                </a:stretch>
              </a:blipFill>
            </p:spPr>
            <p:txBody>
              <a:bodyPr/>
              <a:lstStyle/>
              <a:p>
                <a:r>
                  <a:rPr lang="zh-CN" altLang="en-US">
                    <a:noFill/>
                  </a:rPr>
                  <a:t> </a:t>
                </a:r>
              </a:p>
            </p:txBody>
          </p:sp>
        </mc:Fallback>
      </mc:AlternateContent>
      <p:sp>
        <p:nvSpPr>
          <p:cNvPr id="74" name="任意多边形: 形状 73">
            <a:extLst>
              <a:ext uri="{FF2B5EF4-FFF2-40B4-BE49-F238E27FC236}">
                <a16:creationId xmlns:a16="http://schemas.microsoft.com/office/drawing/2014/main" id="{D4A676F8-6BB2-B871-1184-67CCC7D8861F}"/>
              </a:ext>
            </a:extLst>
          </p:cNvPr>
          <p:cNvSpPr/>
          <p:nvPr/>
        </p:nvSpPr>
        <p:spPr>
          <a:xfrm>
            <a:off x="3256547" y="1702217"/>
            <a:ext cx="2748044" cy="1872203"/>
          </a:xfrm>
          <a:custGeom>
            <a:avLst/>
            <a:gdLst>
              <a:gd name="connsiteX0" fmla="*/ 0 w 2748044"/>
              <a:gd name="connsiteY0" fmla="*/ 1618499 h 1872203"/>
              <a:gd name="connsiteX1" fmla="*/ 545432 w 2748044"/>
              <a:gd name="connsiteY1" fmla="*/ 399299 h 1872203"/>
              <a:gd name="connsiteX2" fmla="*/ 1652337 w 2748044"/>
              <a:gd name="connsiteY2" fmla="*/ 78457 h 1872203"/>
              <a:gd name="connsiteX3" fmla="*/ 2646948 w 2748044"/>
              <a:gd name="connsiteY3" fmla="*/ 1714751 h 1872203"/>
              <a:gd name="connsiteX4" fmla="*/ 2662990 w 2748044"/>
              <a:gd name="connsiteY4" fmla="*/ 1714751 h 1872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8044" h="1872203">
                <a:moveTo>
                  <a:pt x="0" y="1618499"/>
                </a:moveTo>
                <a:cubicBezTo>
                  <a:pt x="135021" y="1137236"/>
                  <a:pt x="270043" y="655973"/>
                  <a:pt x="545432" y="399299"/>
                </a:cubicBezTo>
                <a:cubicBezTo>
                  <a:pt x="820821" y="142625"/>
                  <a:pt x="1302084" y="-140785"/>
                  <a:pt x="1652337" y="78457"/>
                </a:cubicBezTo>
                <a:cubicBezTo>
                  <a:pt x="2002590" y="297699"/>
                  <a:pt x="2646948" y="1714751"/>
                  <a:pt x="2646948" y="1714751"/>
                </a:cubicBezTo>
                <a:cubicBezTo>
                  <a:pt x="2815390" y="1987467"/>
                  <a:pt x="2739190" y="1851109"/>
                  <a:pt x="2662990" y="1714751"/>
                </a:cubicBezTo>
              </a:path>
            </a:pathLst>
          </a:cu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6" name="文本框 75">
                <a:extLst>
                  <a:ext uri="{FF2B5EF4-FFF2-40B4-BE49-F238E27FC236}">
                    <a16:creationId xmlns:a16="http://schemas.microsoft.com/office/drawing/2014/main" id="{353E0286-A62B-E8BC-B091-DA97D622413E}"/>
                  </a:ext>
                </a:extLst>
              </p:cNvPr>
              <p:cNvSpPr txBox="1"/>
              <p:nvPr/>
            </p:nvSpPr>
            <p:spPr>
              <a:xfrm>
                <a:off x="5886322" y="3357865"/>
                <a:ext cx="790073" cy="3987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𝑠</m:t>
                          </m:r>
                        </m:sup>
                      </m:sSubSup>
                    </m:oMath>
                  </m:oMathPara>
                </a14:m>
                <a:endParaRPr lang="zh-CN" altLang="en-US" dirty="0"/>
              </a:p>
            </p:txBody>
          </p:sp>
        </mc:Choice>
        <mc:Fallback>
          <p:sp>
            <p:nvSpPr>
              <p:cNvPr id="76" name="文本框 75">
                <a:extLst>
                  <a:ext uri="{FF2B5EF4-FFF2-40B4-BE49-F238E27FC236}">
                    <a16:creationId xmlns:a16="http://schemas.microsoft.com/office/drawing/2014/main" id="{353E0286-A62B-E8BC-B091-DA97D622413E}"/>
                  </a:ext>
                </a:extLst>
              </p:cNvPr>
              <p:cNvSpPr txBox="1">
                <a:spLocks noRot="1" noChangeAspect="1" noMove="1" noResize="1" noEditPoints="1" noAdjustHandles="1" noChangeArrowheads="1" noChangeShapeType="1" noTextEdit="1"/>
              </p:cNvSpPr>
              <p:nvPr/>
            </p:nvSpPr>
            <p:spPr>
              <a:xfrm>
                <a:off x="5886322" y="3357865"/>
                <a:ext cx="790073" cy="398764"/>
              </a:xfrm>
              <a:prstGeom prst="rect">
                <a:avLst/>
              </a:prstGeom>
              <a:blipFill>
                <a:blip r:embed="rId34"/>
                <a:stretch>
                  <a:fillRect b="-3077"/>
                </a:stretch>
              </a:blipFill>
            </p:spPr>
            <p:txBody>
              <a:bodyPr/>
              <a:lstStyle/>
              <a:p>
                <a:r>
                  <a:rPr lang="zh-CN" altLang="en-US">
                    <a:noFill/>
                  </a:rPr>
                  <a:t> </a:t>
                </a:r>
              </a:p>
            </p:txBody>
          </p:sp>
        </mc:Fallback>
      </mc:AlternateContent>
      <p:cxnSp>
        <p:nvCxnSpPr>
          <p:cNvPr id="77" name="直接箭头连接符 76">
            <a:extLst>
              <a:ext uri="{FF2B5EF4-FFF2-40B4-BE49-F238E27FC236}">
                <a16:creationId xmlns:a16="http://schemas.microsoft.com/office/drawing/2014/main" id="{9C6F3B75-6DEA-7911-0EB3-FF557AC0024E}"/>
              </a:ext>
            </a:extLst>
          </p:cNvPr>
          <p:cNvCxnSpPr>
            <a:cxnSpLocks/>
          </p:cNvCxnSpPr>
          <p:nvPr/>
        </p:nvCxnSpPr>
        <p:spPr>
          <a:xfrm>
            <a:off x="5176320" y="3778631"/>
            <a:ext cx="34378" cy="788819"/>
          </a:xfrm>
          <a:prstGeom prst="straightConnector1">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78" name="文本框 77">
                <a:extLst>
                  <a:ext uri="{FF2B5EF4-FFF2-40B4-BE49-F238E27FC236}">
                    <a16:creationId xmlns:a16="http://schemas.microsoft.com/office/drawing/2014/main" id="{DA7A2DC9-59A1-5AE7-FC29-D4649C6DD3C2}"/>
                  </a:ext>
                </a:extLst>
              </p:cNvPr>
              <p:cNvSpPr txBox="1"/>
              <p:nvPr/>
            </p:nvSpPr>
            <p:spPr>
              <a:xfrm>
                <a:off x="4800276" y="3944598"/>
                <a:ext cx="40908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78" name="文本框 77">
                <a:extLst>
                  <a:ext uri="{FF2B5EF4-FFF2-40B4-BE49-F238E27FC236}">
                    <a16:creationId xmlns:a16="http://schemas.microsoft.com/office/drawing/2014/main" id="{DA7A2DC9-59A1-5AE7-FC29-D4649C6DD3C2}"/>
                  </a:ext>
                </a:extLst>
              </p:cNvPr>
              <p:cNvSpPr txBox="1">
                <a:spLocks noRot="1" noChangeAspect="1" noMove="1" noResize="1" noEditPoints="1" noAdjustHandles="1" noChangeArrowheads="1" noChangeShapeType="1" noTextEdit="1"/>
              </p:cNvSpPr>
              <p:nvPr/>
            </p:nvSpPr>
            <p:spPr>
              <a:xfrm>
                <a:off x="4800276" y="3944598"/>
                <a:ext cx="409086" cy="369332"/>
              </a:xfrm>
              <a:prstGeom prst="rect">
                <a:avLst/>
              </a:prstGeom>
              <a:blipFill>
                <a:blip r:embed="rId35"/>
                <a:stretch>
                  <a:fillRect/>
                </a:stretch>
              </a:blipFill>
            </p:spPr>
            <p:txBody>
              <a:bodyPr/>
              <a:lstStyle/>
              <a:p>
                <a:r>
                  <a:rPr lang="zh-CN" altLang="en-US">
                    <a:noFill/>
                  </a:rPr>
                  <a:t> </a:t>
                </a:r>
              </a:p>
            </p:txBody>
          </p:sp>
        </mc:Fallback>
      </mc:AlternateContent>
      <p:cxnSp>
        <p:nvCxnSpPr>
          <p:cNvPr id="79" name="直接箭头连接符 78">
            <a:extLst>
              <a:ext uri="{FF2B5EF4-FFF2-40B4-BE49-F238E27FC236}">
                <a16:creationId xmlns:a16="http://schemas.microsoft.com/office/drawing/2014/main" id="{465F41DB-7FA1-1831-0E23-0F39687B209A}"/>
              </a:ext>
            </a:extLst>
          </p:cNvPr>
          <p:cNvCxnSpPr>
            <a:cxnSpLocks/>
          </p:cNvCxnSpPr>
          <p:nvPr/>
        </p:nvCxnSpPr>
        <p:spPr>
          <a:xfrm flipV="1">
            <a:off x="5297588" y="3792097"/>
            <a:ext cx="0" cy="701787"/>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80" name="文本框 79">
                <a:extLst>
                  <a:ext uri="{FF2B5EF4-FFF2-40B4-BE49-F238E27FC236}">
                    <a16:creationId xmlns:a16="http://schemas.microsoft.com/office/drawing/2014/main" id="{88059525-7AD1-EDF8-186C-A9355E7885F8}"/>
                  </a:ext>
                </a:extLst>
              </p:cNvPr>
              <p:cNvSpPr txBox="1"/>
              <p:nvPr/>
            </p:nvSpPr>
            <p:spPr>
              <a:xfrm>
                <a:off x="5165179" y="3998736"/>
                <a:ext cx="40908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80" name="文本框 79">
                <a:extLst>
                  <a:ext uri="{FF2B5EF4-FFF2-40B4-BE49-F238E27FC236}">
                    <a16:creationId xmlns:a16="http://schemas.microsoft.com/office/drawing/2014/main" id="{88059525-7AD1-EDF8-186C-A9355E7885F8}"/>
                  </a:ext>
                </a:extLst>
              </p:cNvPr>
              <p:cNvSpPr txBox="1">
                <a:spLocks noRot="1" noChangeAspect="1" noMove="1" noResize="1" noEditPoints="1" noAdjustHandles="1" noChangeArrowheads="1" noChangeShapeType="1" noTextEdit="1"/>
              </p:cNvSpPr>
              <p:nvPr/>
            </p:nvSpPr>
            <p:spPr>
              <a:xfrm>
                <a:off x="5165179" y="3998736"/>
                <a:ext cx="409086" cy="369332"/>
              </a:xfrm>
              <a:prstGeom prst="rect">
                <a:avLst/>
              </a:prstGeom>
              <a:blipFill>
                <a:blip r:embed="rId36"/>
                <a:stretch>
                  <a:fillRect/>
                </a:stretch>
              </a:blipFill>
            </p:spPr>
            <p:txBody>
              <a:bodyPr/>
              <a:lstStyle/>
              <a:p>
                <a:r>
                  <a:rPr lang="zh-CN" altLang="en-US">
                    <a:noFill/>
                  </a:rPr>
                  <a:t> </a:t>
                </a:r>
              </a:p>
            </p:txBody>
          </p:sp>
        </mc:Fallback>
      </mc:AlternateContent>
      <p:sp>
        <p:nvSpPr>
          <p:cNvPr id="81" name="任意多边形: 形状 80">
            <a:extLst>
              <a:ext uri="{FF2B5EF4-FFF2-40B4-BE49-F238E27FC236}">
                <a16:creationId xmlns:a16="http://schemas.microsoft.com/office/drawing/2014/main" id="{A4B7D6DF-E348-3E6A-D365-FDE1311BBA2B}"/>
              </a:ext>
            </a:extLst>
          </p:cNvPr>
          <p:cNvSpPr/>
          <p:nvPr/>
        </p:nvSpPr>
        <p:spPr>
          <a:xfrm>
            <a:off x="5309937" y="2341230"/>
            <a:ext cx="1796716" cy="1027612"/>
          </a:xfrm>
          <a:custGeom>
            <a:avLst/>
            <a:gdLst>
              <a:gd name="connsiteX0" fmla="*/ 0 w 1796716"/>
              <a:gd name="connsiteY0" fmla="*/ 883233 h 1027612"/>
              <a:gd name="connsiteX1" fmla="*/ 962526 w 1796716"/>
              <a:gd name="connsiteY1" fmla="*/ 917 h 1027612"/>
              <a:gd name="connsiteX2" fmla="*/ 1796716 w 1796716"/>
              <a:gd name="connsiteY2" fmla="*/ 1027612 h 1027612"/>
            </a:gdLst>
            <a:ahLst/>
            <a:cxnLst>
              <a:cxn ang="0">
                <a:pos x="connsiteX0" y="connsiteY0"/>
              </a:cxn>
              <a:cxn ang="0">
                <a:pos x="connsiteX1" y="connsiteY1"/>
              </a:cxn>
              <a:cxn ang="0">
                <a:pos x="connsiteX2" y="connsiteY2"/>
              </a:cxn>
            </a:cxnLst>
            <a:rect l="l" t="t" r="r" b="b"/>
            <a:pathLst>
              <a:path w="1796716" h="1027612">
                <a:moveTo>
                  <a:pt x="0" y="883233"/>
                </a:moveTo>
                <a:cubicBezTo>
                  <a:pt x="331536" y="430043"/>
                  <a:pt x="663073" y="-23146"/>
                  <a:pt x="962526" y="917"/>
                </a:cubicBezTo>
                <a:cubicBezTo>
                  <a:pt x="1261979" y="24980"/>
                  <a:pt x="1529347" y="526296"/>
                  <a:pt x="1796716" y="1027612"/>
                </a:cubicBezTo>
              </a:path>
            </a:pathLst>
          </a:cu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3" name="文本框 82">
                <a:extLst>
                  <a:ext uri="{FF2B5EF4-FFF2-40B4-BE49-F238E27FC236}">
                    <a16:creationId xmlns:a16="http://schemas.microsoft.com/office/drawing/2014/main" id="{BD5D61C8-FEC2-E15E-85CC-0A1AF4AE80E4}"/>
                  </a:ext>
                </a:extLst>
              </p:cNvPr>
              <p:cNvSpPr txBox="1"/>
              <p:nvPr/>
            </p:nvSpPr>
            <p:spPr>
              <a:xfrm>
                <a:off x="6335860" y="3371566"/>
                <a:ext cx="1452079" cy="4122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𝐴</m:t>
                          </m:r>
                        </m:sup>
                      </m:sSubSup>
                    </m:oMath>
                  </m:oMathPara>
                </a14:m>
                <a:endParaRPr lang="zh-CN" altLang="en-US" dirty="0"/>
              </a:p>
            </p:txBody>
          </p:sp>
        </mc:Choice>
        <mc:Fallback>
          <p:sp>
            <p:nvSpPr>
              <p:cNvPr id="83" name="文本框 82">
                <a:extLst>
                  <a:ext uri="{FF2B5EF4-FFF2-40B4-BE49-F238E27FC236}">
                    <a16:creationId xmlns:a16="http://schemas.microsoft.com/office/drawing/2014/main" id="{BD5D61C8-FEC2-E15E-85CC-0A1AF4AE80E4}"/>
                  </a:ext>
                </a:extLst>
              </p:cNvPr>
              <p:cNvSpPr txBox="1">
                <a:spLocks noRot="1" noChangeAspect="1" noMove="1" noResize="1" noEditPoints="1" noAdjustHandles="1" noChangeArrowheads="1" noChangeShapeType="1" noTextEdit="1"/>
              </p:cNvSpPr>
              <p:nvPr/>
            </p:nvSpPr>
            <p:spPr>
              <a:xfrm>
                <a:off x="6335860" y="3371566"/>
                <a:ext cx="1452079" cy="412292"/>
              </a:xfrm>
              <a:prstGeom prst="rect">
                <a:avLst/>
              </a:prstGeom>
              <a:blipFill>
                <a:blip r:embed="rId37"/>
                <a:stretch>
                  <a:fillRect b="-2941"/>
                </a:stretch>
              </a:blipFill>
            </p:spPr>
            <p:txBody>
              <a:bodyPr/>
              <a:lstStyle/>
              <a:p>
                <a:r>
                  <a:rPr lang="zh-CN" altLang="en-US">
                    <a:noFill/>
                  </a:rPr>
                  <a:t> </a:t>
                </a:r>
              </a:p>
            </p:txBody>
          </p:sp>
        </mc:Fallback>
      </mc:AlternateContent>
      <p:sp>
        <p:nvSpPr>
          <p:cNvPr id="84" name="任意多边形: 形状 83">
            <a:extLst>
              <a:ext uri="{FF2B5EF4-FFF2-40B4-BE49-F238E27FC236}">
                <a16:creationId xmlns:a16="http://schemas.microsoft.com/office/drawing/2014/main" id="{E7383993-489E-A990-8DB5-202D24346DA1}"/>
              </a:ext>
            </a:extLst>
          </p:cNvPr>
          <p:cNvSpPr/>
          <p:nvPr/>
        </p:nvSpPr>
        <p:spPr>
          <a:xfrm>
            <a:off x="5277853" y="4940968"/>
            <a:ext cx="1700463" cy="834309"/>
          </a:xfrm>
          <a:custGeom>
            <a:avLst/>
            <a:gdLst>
              <a:gd name="connsiteX0" fmla="*/ 0 w 1700463"/>
              <a:gd name="connsiteY0" fmla="*/ 0 h 834309"/>
              <a:gd name="connsiteX1" fmla="*/ 834189 w 1700463"/>
              <a:gd name="connsiteY1" fmla="*/ 834190 h 834309"/>
              <a:gd name="connsiteX2" fmla="*/ 1700463 w 1700463"/>
              <a:gd name="connsiteY2" fmla="*/ 48127 h 834309"/>
            </a:gdLst>
            <a:ahLst/>
            <a:cxnLst>
              <a:cxn ang="0">
                <a:pos x="connsiteX0" y="connsiteY0"/>
              </a:cxn>
              <a:cxn ang="0">
                <a:pos x="connsiteX1" y="connsiteY1"/>
              </a:cxn>
              <a:cxn ang="0">
                <a:pos x="connsiteX2" y="connsiteY2"/>
              </a:cxn>
            </a:cxnLst>
            <a:rect l="l" t="t" r="r" b="b"/>
            <a:pathLst>
              <a:path w="1700463" h="834309">
                <a:moveTo>
                  <a:pt x="0" y="0"/>
                </a:moveTo>
                <a:cubicBezTo>
                  <a:pt x="275389" y="413084"/>
                  <a:pt x="550779" y="826169"/>
                  <a:pt x="834189" y="834190"/>
                </a:cubicBezTo>
                <a:cubicBezTo>
                  <a:pt x="1117599" y="842211"/>
                  <a:pt x="1409031" y="445169"/>
                  <a:pt x="1700463" y="48127"/>
                </a:cubicBezTo>
              </a:path>
            </a:pathLst>
          </a:cu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6" name="文本框 85">
                <a:extLst>
                  <a:ext uri="{FF2B5EF4-FFF2-40B4-BE49-F238E27FC236}">
                    <a16:creationId xmlns:a16="http://schemas.microsoft.com/office/drawing/2014/main" id="{5B2E66BE-3236-1AC6-FC2D-DC46F2DD5D5E}"/>
                  </a:ext>
                </a:extLst>
              </p:cNvPr>
              <p:cNvSpPr txBox="1"/>
              <p:nvPr/>
            </p:nvSpPr>
            <p:spPr>
              <a:xfrm>
                <a:off x="6611457" y="4509921"/>
                <a:ext cx="894491" cy="4122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𝐴</m:t>
                          </m:r>
                        </m:sup>
                      </m:sSubSup>
                    </m:oMath>
                  </m:oMathPara>
                </a14:m>
                <a:endParaRPr lang="zh-CN" altLang="en-US" dirty="0"/>
              </a:p>
            </p:txBody>
          </p:sp>
        </mc:Choice>
        <mc:Fallback>
          <p:sp>
            <p:nvSpPr>
              <p:cNvPr id="86" name="文本框 85">
                <a:extLst>
                  <a:ext uri="{FF2B5EF4-FFF2-40B4-BE49-F238E27FC236}">
                    <a16:creationId xmlns:a16="http://schemas.microsoft.com/office/drawing/2014/main" id="{5B2E66BE-3236-1AC6-FC2D-DC46F2DD5D5E}"/>
                  </a:ext>
                </a:extLst>
              </p:cNvPr>
              <p:cNvSpPr txBox="1">
                <a:spLocks noRot="1" noChangeAspect="1" noMove="1" noResize="1" noEditPoints="1" noAdjustHandles="1" noChangeArrowheads="1" noChangeShapeType="1" noTextEdit="1"/>
              </p:cNvSpPr>
              <p:nvPr/>
            </p:nvSpPr>
            <p:spPr>
              <a:xfrm>
                <a:off x="6611457" y="4509921"/>
                <a:ext cx="894491" cy="412292"/>
              </a:xfrm>
              <a:prstGeom prst="rect">
                <a:avLst/>
              </a:prstGeom>
              <a:blipFill>
                <a:blip r:embed="rId38"/>
                <a:stretch>
                  <a:fillRect b="-2985"/>
                </a:stretch>
              </a:blipFill>
            </p:spPr>
            <p:txBody>
              <a:bodyPr/>
              <a:lstStyle/>
              <a:p>
                <a:r>
                  <a:rPr lang="zh-CN" altLang="en-US">
                    <a:noFill/>
                  </a:rPr>
                  <a:t> </a:t>
                </a:r>
              </a:p>
            </p:txBody>
          </p:sp>
        </mc:Fallback>
      </mc:AlternateContent>
      <p:sp>
        <p:nvSpPr>
          <p:cNvPr id="87" name="任意多边形: 形状 86">
            <a:extLst>
              <a:ext uri="{FF2B5EF4-FFF2-40B4-BE49-F238E27FC236}">
                <a16:creationId xmlns:a16="http://schemas.microsoft.com/office/drawing/2014/main" id="{B3A82141-79D3-C2F8-987F-98E4D14E7814}"/>
              </a:ext>
            </a:extLst>
          </p:cNvPr>
          <p:cNvSpPr/>
          <p:nvPr/>
        </p:nvSpPr>
        <p:spPr>
          <a:xfrm>
            <a:off x="6375400" y="4393414"/>
            <a:ext cx="508000" cy="165886"/>
          </a:xfrm>
          <a:custGeom>
            <a:avLst/>
            <a:gdLst>
              <a:gd name="connsiteX0" fmla="*/ 508000 w 508000"/>
              <a:gd name="connsiteY0" fmla="*/ 115086 h 165886"/>
              <a:gd name="connsiteX1" fmla="*/ 266700 w 508000"/>
              <a:gd name="connsiteY1" fmla="*/ 786 h 165886"/>
              <a:gd name="connsiteX2" fmla="*/ 0 w 508000"/>
              <a:gd name="connsiteY2" fmla="*/ 165886 h 165886"/>
            </a:gdLst>
            <a:ahLst/>
            <a:cxnLst>
              <a:cxn ang="0">
                <a:pos x="connsiteX0" y="connsiteY0"/>
              </a:cxn>
              <a:cxn ang="0">
                <a:pos x="connsiteX1" y="connsiteY1"/>
              </a:cxn>
              <a:cxn ang="0">
                <a:pos x="connsiteX2" y="connsiteY2"/>
              </a:cxn>
            </a:cxnLst>
            <a:rect l="l" t="t" r="r" b="b"/>
            <a:pathLst>
              <a:path w="508000" h="165886">
                <a:moveTo>
                  <a:pt x="508000" y="115086"/>
                </a:moveTo>
                <a:cubicBezTo>
                  <a:pt x="429683" y="53702"/>
                  <a:pt x="351367" y="-7681"/>
                  <a:pt x="266700" y="786"/>
                </a:cubicBezTo>
                <a:cubicBezTo>
                  <a:pt x="182033" y="9253"/>
                  <a:pt x="91016" y="87569"/>
                  <a:pt x="0" y="16588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8" name="文本框 87">
                <a:extLst>
                  <a:ext uri="{FF2B5EF4-FFF2-40B4-BE49-F238E27FC236}">
                    <a16:creationId xmlns:a16="http://schemas.microsoft.com/office/drawing/2014/main" id="{8826BEB7-E814-AFD5-E3F8-3CC9F7D9CF43}"/>
                  </a:ext>
                </a:extLst>
              </p:cNvPr>
              <p:cNvSpPr txBox="1"/>
              <p:nvPr/>
            </p:nvSpPr>
            <p:spPr>
              <a:xfrm>
                <a:off x="6450643" y="4305690"/>
                <a:ext cx="40908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88" name="文本框 87">
                <a:extLst>
                  <a:ext uri="{FF2B5EF4-FFF2-40B4-BE49-F238E27FC236}">
                    <a16:creationId xmlns:a16="http://schemas.microsoft.com/office/drawing/2014/main" id="{8826BEB7-E814-AFD5-E3F8-3CC9F7D9CF43}"/>
                  </a:ext>
                </a:extLst>
              </p:cNvPr>
              <p:cNvSpPr txBox="1">
                <a:spLocks noRot="1" noChangeAspect="1" noMove="1" noResize="1" noEditPoints="1" noAdjustHandles="1" noChangeArrowheads="1" noChangeShapeType="1" noTextEdit="1"/>
              </p:cNvSpPr>
              <p:nvPr/>
            </p:nvSpPr>
            <p:spPr>
              <a:xfrm>
                <a:off x="6450643" y="4305690"/>
                <a:ext cx="409086" cy="369332"/>
              </a:xfrm>
              <a:prstGeom prst="rect">
                <a:avLst/>
              </a:prstGeom>
              <a:blipFill>
                <a:blip r:embed="rId39"/>
                <a:stretch>
                  <a:fillRect/>
                </a:stretch>
              </a:blipFill>
            </p:spPr>
            <p:txBody>
              <a:bodyPr/>
              <a:lstStyle/>
              <a:p>
                <a:r>
                  <a:rPr lang="zh-CN" altLang="en-US">
                    <a:noFill/>
                  </a:rPr>
                  <a:t> </a:t>
                </a:r>
              </a:p>
            </p:txBody>
          </p:sp>
        </mc:Fallback>
      </mc:AlternateContent>
      <p:sp>
        <p:nvSpPr>
          <p:cNvPr id="89" name="任意多边形: 形状 88">
            <a:extLst>
              <a:ext uri="{FF2B5EF4-FFF2-40B4-BE49-F238E27FC236}">
                <a16:creationId xmlns:a16="http://schemas.microsoft.com/office/drawing/2014/main" id="{B1F4396F-16E7-B787-0CCE-CA6331225AB6}"/>
              </a:ext>
            </a:extLst>
          </p:cNvPr>
          <p:cNvSpPr/>
          <p:nvPr/>
        </p:nvSpPr>
        <p:spPr>
          <a:xfrm>
            <a:off x="6248400" y="4813300"/>
            <a:ext cx="1638300" cy="573146"/>
          </a:xfrm>
          <a:custGeom>
            <a:avLst/>
            <a:gdLst>
              <a:gd name="connsiteX0" fmla="*/ 0 w 1638300"/>
              <a:gd name="connsiteY0" fmla="*/ 139700 h 573146"/>
              <a:gd name="connsiteX1" fmla="*/ 901700 w 1638300"/>
              <a:gd name="connsiteY1" fmla="*/ 571500 h 573146"/>
              <a:gd name="connsiteX2" fmla="*/ 1638300 w 1638300"/>
              <a:gd name="connsiteY2" fmla="*/ 0 h 573146"/>
            </a:gdLst>
            <a:ahLst/>
            <a:cxnLst>
              <a:cxn ang="0">
                <a:pos x="connsiteX0" y="connsiteY0"/>
              </a:cxn>
              <a:cxn ang="0">
                <a:pos x="connsiteX1" y="connsiteY1"/>
              </a:cxn>
              <a:cxn ang="0">
                <a:pos x="connsiteX2" y="connsiteY2"/>
              </a:cxn>
            </a:cxnLst>
            <a:rect l="l" t="t" r="r" b="b"/>
            <a:pathLst>
              <a:path w="1638300" h="573146">
                <a:moveTo>
                  <a:pt x="0" y="139700"/>
                </a:moveTo>
                <a:cubicBezTo>
                  <a:pt x="314325" y="367241"/>
                  <a:pt x="628650" y="594783"/>
                  <a:pt x="901700" y="571500"/>
                </a:cubicBezTo>
                <a:cubicBezTo>
                  <a:pt x="1174750" y="548217"/>
                  <a:pt x="1406525" y="274108"/>
                  <a:pt x="1638300"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1" name="文本框 90">
                <a:extLst>
                  <a:ext uri="{FF2B5EF4-FFF2-40B4-BE49-F238E27FC236}">
                    <a16:creationId xmlns:a16="http://schemas.microsoft.com/office/drawing/2014/main" id="{1A80A5B0-C00F-7397-8FCD-53C2E3392CC4}"/>
                  </a:ext>
                </a:extLst>
              </p:cNvPr>
              <p:cNvSpPr txBox="1"/>
              <p:nvPr/>
            </p:nvSpPr>
            <p:spPr>
              <a:xfrm>
                <a:off x="7535679" y="4425863"/>
                <a:ext cx="790074" cy="4122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𝑑</m:t>
                          </m:r>
                        </m:sub>
                        <m:sup>
                          <m:r>
                            <a:rPr lang="en-US" altLang="zh-CN" b="0" i="1" smtClean="0">
                              <a:latin typeface="Cambria Math" panose="02040503050406030204" pitchFamily="18" charset="0"/>
                            </a:rPr>
                            <m:t>𝐴</m:t>
                          </m:r>
                        </m:sup>
                      </m:sSubSup>
                    </m:oMath>
                  </m:oMathPara>
                </a14:m>
                <a:endParaRPr lang="zh-CN" altLang="en-US" dirty="0"/>
              </a:p>
            </p:txBody>
          </p:sp>
        </mc:Choice>
        <mc:Fallback>
          <p:sp>
            <p:nvSpPr>
              <p:cNvPr id="91" name="文本框 90">
                <a:extLst>
                  <a:ext uri="{FF2B5EF4-FFF2-40B4-BE49-F238E27FC236}">
                    <a16:creationId xmlns:a16="http://schemas.microsoft.com/office/drawing/2014/main" id="{1A80A5B0-C00F-7397-8FCD-53C2E3392CC4}"/>
                  </a:ext>
                </a:extLst>
              </p:cNvPr>
              <p:cNvSpPr txBox="1">
                <a:spLocks noRot="1" noChangeAspect="1" noMove="1" noResize="1" noEditPoints="1" noAdjustHandles="1" noChangeArrowheads="1" noChangeShapeType="1" noTextEdit="1"/>
              </p:cNvSpPr>
              <p:nvPr/>
            </p:nvSpPr>
            <p:spPr>
              <a:xfrm>
                <a:off x="7535679" y="4425863"/>
                <a:ext cx="790074" cy="412292"/>
              </a:xfrm>
              <a:prstGeom prst="rect">
                <a:avLst/>
              </a:prstGeom>
              <a:blipFill>
                <a:blip r:embed="rId40"/>
                <a:stretch>
                  <a:fillRect b="-2941"/>
                </a:stretch>
              </a:blipFill>
            </p:spPr>
            <p:txBody>
              <a:bodyPr/>
              <a:lstStyle/>
              <a:p>
                <a:r>
                  <a:rPr lang="zh-CN" altLang="en-US">
                    <a:noFill/>
                  </a:rPr>
                  <a:t> </a:t>
                </a:r>
              </a:p>
            </p:txBody>
          </p:sp>
        </mc:Fallback>
      </mc:AlternateContent>
      <p:sp>
        <p:nvSpPr>
          <p:cNvPr id="92" name="任意多边形: 形状 91">
            <a:extLst>
              <a:ext uri="{FF2B5EF4-FFF2-40B4-BE49-F238E27FC236}">
                <a16:creationId xmlns:a16="http://schemas.microsoft.com/office/drawing/2014/main" id="{BCD4E84E-0B85-9115-4D4F-0882A77E8A57}"/>
              </a:ext>
            </a:extLst>
          </p:cNvPr>
          <p:cNvSpPr/>
          <p:nvPr/>
        </p:nvSpPr>
        <p:spPr>
          <a:xfrm>
            <a:off x="6216392" y="3721100"/>
            <a:ext cx="679708" cy="139831"/>
          </a:xfrm>
          <a:custGeom>
            <a:avLst/>
            <a:gdLst>
              <a:gd name="connsiteX0" fmla="*/ 679708 w 679708"/>
              <a:gd name="connsiteY0" fmla="*/ 0 h 139831"/>
              <a:gd name="connsiteX1" fmla="*/ 463808 w 679708"/>
              <a:gd name="connsiteY1" fmla="*/ 139700 h 139831"/>
              <a:gd name="connsiteX2" fmla="*/ 44708 w 679708"/>
              <a:gd name="connsiteY2" fmla="*/ 25400 h 139831"/>
              <a:gd name="connsiteX3" fmla="*/ 32008 w 679708"/>
              <a:gd name="connsiteY3" fmla="*/ 25400 h 139831"/>
            </a:gdLst>
            <a:ahLst/>
            <a:cxnLst>
              <a:cxn ang="0">
                <a:pos x="connsiteX0" y="connsiteY0"/>
              </a:cxn>
              <a:cxn ang="0">
                <a:pos x="connsiteX1" y="connsiteY1"/>
              </a:cxn>
              <a:cxn ang="0">
                <a:pos x="connsiteX2" y="connsiteY2"/>
              </a:cxn>
              <a:cxn ang="0">
                <a:pos x="connsiteX3" y="connsiteY3"/>
              </a:cxn>
            </a:cxnLst>
            <a:rect l="l" t="t" r="r" b="b"/>
            <a:pathLst>
              <a:path w="679708" h="139831">
                <a:moveTo>
                  <a:pt x="679708" y="0"/>
                </a:moveTo>
                <a:cubicBezTo>
                  <a:pt x="624674" y="67733"/>
                  <a:pt x="569641" y="135467"/>
                  <a:pt x="463808" y="139700"/>
                </a:cubicBezTo>
                <a:cubicBezTo>
                  <a:pt x="357975" y="143933"/>
                  <a:pt x="116675" y="44450"/>
                  <a:pt x="44708" y="25400"/>
                </a:cubicBezTo>
                <a:cubicBezTo>
                  <a:pt x="-27259" y="6350"/>
                  <a:pt x="2374" y="15875"/>
                  <a:pt x="32008" y="254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3" name="文本框 92">
                <a:extLst>
                  <a:ext uri="{FF2B5EF4-FFF2-40B4-BE49-F238E27FC236}">
                    <a16:creationId xmlns:a16="http://schemas.microsoft.com/office/drawing/2014/main" id="{978F3583-369A-0892-75F2-85075BAAB8AF}"/>
                  </a:ext>
                </a:extLst>
              </p:cNvPr>
              <p:cNvSpPr txBox="1"/>
              <p:nvPr/>
            </p:nvSpPr>
            <p:spPr>
              <a:xfrm>
                <a:off x="6450643" y="3772330"/>
                <a:ext cx="409086"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93" name="文本框 92">
                <a:extLst>
                  <a:ext uri="{FF2B5EF4-FFF2-40B4-BE49-F238E27FC236}">
                    <a16:creationId xmlns:a16="http://schemas.microsoft.com/office/drawing/2014/main" id="{978F3583-369A-0892-75F2-85075BAAB8AF}"/>
                  </a:ext>
                </a:extLst>
              </p:cNvPr>
              <p:cNvSpPr txBox="1">
                <a:spLocks noRot="1" noChangeAspect="1" noMove="1" noResize="1" noEditPoints="1" noAdjustHandles="1" noChangeArrowheads="1" noChangeShapeType="1" noTextEdit="1"/>
              </p:cNvSpPr>
              <p:nvPr/>
            </p:nvSpPr>
            <p:spPr>
              <a:xfrm>
                <a:off x="6450643" y="3772330"/>
                <a:ext cx="409086" cy="369332"/>
              </a:xfrm>
              <a:prstGeom prst="rect">
                <a:avLst/>
              </a:prstGeom>
              <a:blipFill>
                <a:blip r:embed="rId41"/>
                <a:stretch>
                  <a:fillRect/>
                </a:stretch>
              </a:blipFill>
            </p:spPr>
            <p:txBody>
              <a:bodyPr/>
              <a:lstStyle/>
              <a:p>
                <a:r>
                  <a:rPr lang="zh-CN" altLang="en-US">
                    <a:noFill/>
                  </a:rPr>
                  <a:t> </a:t>
                </a:r>
              </a:p>
            </p:txBody>
          </p:sp>
        </mc:Fallback>
      </mc:AlternateContent>
      <p:sp>
        <p:nvSpPr>
          <p:cNvPr id="94" name="任意多边形: 形状 93">
            <a:extLst>
              <a:ext uri="{FF2B5EF4-FFF2-40B4-BE49-F238E27FC236}">
                <a16:creationId xmlns:a16="http://schemas.microsoft.com/office/drawing/2014/main" id="{B41C0650-82AB-AAF9-7098-11205002CDBE}"/>
              </a:ext>
            </a:extLst>
          </p:cNvPr>
          <p:cNvSpPr/>
          <p:nvPr/>
        </p:nvSpPr>
        <p:spPr>
          <a:xfrm>
            <a:off x="6261100" y="3034679"/>
            <a:ext cx="1473200" cy="432421"/>
          </a:xfrm>
          <a:custGeom>
            <a:avLst/>
            <a:gdLst>
              <a:gd name="connsiteX0" fmla="*/ 0 w 1473200"/>
              <a:gd name="connsiteY0" fmla="*/ 356221 h 432421"/>
              <a:gd name="connsiteX1" fmla="*/ 812800 w 1473200"/>
              <a:gd name="connsiteY1" fmla="*/ 621 h 432421"/>
              <a:gd name="connsiteX2" fmla="*/ 1473200 w 1473200"/>
              <a:gd name="connsiteY2" fmla="*/ 432421 h 432421"/>
            </a:gdLst>
            <a:ahLst/>
            <a:cxnLst>
              <a:cxn ang="0">
                <a:pos x="connsiteX0" y="connsiteY0"/>
              </a:cxn>
              <a:cxn ang="0">
                <a:pos x="connsiteX1" y="connsiteY1"/>
              </a:cxn>
              <a:cxn ang="0">
                <a:pos x="connsiteX2" y="connsiteY2"/>
              </a:cxn>
            </a:cxnLst>
            <a:rect l="l" t="t" r="r" b="b"/>
            <a:pathLst>
              <a:path w="1473200" h="432421">
                <a:moveTo>
                  <a:pt x="0" y="356221"/>
                </a:moveTo>
                <a:cubicBezTo>
                  <a:pt x="283633" y="172071"/>
                  <a:pt x="567267" y="-12079"/>
                  <a:pt x="812800" y="621"/>
                </a:cubicBezTo>
                <a:cubicBezTo>
                  <a:pt x="1058333" y="13321"/>
                  <a:pt x="1265766" y="222871"/>
                  <a:pt x="1473200" y="43242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6" name="文本框 95">
                <a:extLst>
                  <a:ext uri="{FF2B5EF4-FFF2-40B4-BE49-F238E27FC236}">
                    <a16:creationId xmlns:a16="http://schemas.microsoft.com/office/drawing/2014/main" id="{25BA34D6-8718-2C45-A761-0041965E383B}"/>
                  </a:ext>
                </a:extLst>
              </p:cNvPr>
              <p:cNvSpPr txBox="1"/>
              <p:nvPr/>
            </p:nvSpPr>
            <p:spPr>
              <a:xfrm>
                <a:off x="7510549" y="3412355"/>
                <a:ext cx="752302" cy="4122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sub>
                        <m:sup>
                          <m:r>
                            <a:rPr lang="en-US" altLang="zh-CN" b="0" i="1" smtClean="0">
                              <a:latin typeface="Cambria Math" panose="02040503050406030204" pitchFamily="18" charset="0"/>
                            </a:rPr>
                            <m:t>𝐴</m:t>
                          </m:r>
                        </m:sup>
                      </m:sSubSup>
                    </m:oMath>
                  </m:oMathPara>
                </a14:m>
                <a:endParaRPr lang="zh-CN" altLang="en-US" dirty="0"/>
              </a:p>
            </p:txBody>
          </p:sp>
        </mc:Choice>
        <mc:Fallback>
          <p:sp>
            <p:nvSpPr>
              <p:cNvPr id="96" name="文本框 95">
                <a:extLst>
                  <a:ext uri="{FF2B5EF4-FFF2-40B4-BE49-F238E27FC236}">
                    <a16:creationId xmlns:a16="http://schemas.microsoft.com/office/drawing/2014/main" id="{25BA34D6-8718-2C45-A761-0041965E383B}"/>
                  </a:ext>
                </a:extLst>
              </p:cNvPr>
              <p:cNvSpPr txBox="1">
                <a:spLocks noRot="1" noChangeAspect="1" noMove="1" noResize="1" noEditPoints="1" noAdjustHandles="1" noChangeArrowheads="1" noChangeShapeType="1" noTextEdit="1"/>
              </p:cNvSpPr>
              <p:nvPr/>
            </p:nvSpPr>
            <p:spPr>
              <a:xfrm>
                <a:off x="7510549" y="3412355"/>
                <a:ext cx="752302" cy="412292"/>
              </a:xfrm>
              <a:prstGeom prst="rect">
                <a:avLst/>
              </a:prstGeom>
              <a:blipFill>
                <a:blip r:embed="rId42"/>
                <a:stretch>
                  <a:fillRect b="-2985"/>
                </a:stretch>
              </a:blipFill>
            </p:spPr>
            <p:txBody>
              <a:bodyPr/>
              <a:lstStyle/>
              <a:p>
                <a:r>
                  <a:rPr lang="zh-CN" altLang="en-US">
                    <a:noFill/>
                  </a:rPr>
                  <a:t> </a:t>
                </a:r>
              </a:p>
            </p:txBody>
          </p:sp>
        </mc:Fallback>
      </mc:AlternateContent>
      <p:sp>
        <p:nvSpPr>
          <p:cNvPr id="97" name="任意多边形: 形状 96">
            <a:extLst>
              <a:ext uri="{FF2B5EF4-FFF2-40B4-BE49-F238E27FC236}">
                <a16:creationId xmlns:a16="http://schemas.microsoft.com/office/drawing/2014/main" id="{FCD92558-7EC9-A11A-9A45-982F8BD0958A}"/>
              </a:ext>
            </a:extLst>
          </p:cNvPr>
          <p:cNvSpPr/>
          <p:nvPr/>
        </p:nvSpPr>
        <p:spPr>
          <a:xfrm>
            <a:off x="8305800" y="3708400"/>
            <a:ext cx="279424" cy="889000"/>
          </a:xfrm>
          <a:custGeom>
            <a:avLst/>
            <a:gdLst>
              <a:gd name="connsiteX0" fmla="*/ 0 w 279424"/>
              <a:gd name="connsiteY0" fmla="*/ 0 h 889000"/>
              <a:gd name="connsiteX1" fmla="*/ 279400 w 279424"/>
              <a:gd name="connsiteY1" fmla="*/ 381000 h 889000"/>
              <a:gd name="connsiteX2" fmla="*/ 12700 w 279424"/>
              <a:gd name="connsiteY2" fmla="*/ 889000 h 889000"/>
            </a:gdLst>
            <a:ahLst/>
            <a:cxnLst>
              <a:cxn ang="0">
                <a:pos x="connsiteX0" y="connsiteY0"/>
              </a:cxn>
              <a:cxn ang="0">
                <a:pos x="connsiteX1" y="connsiteY1"/>
              </a:cxn>
              <a:cxn ang="0">
                <a:pos x="connsiteX2" y="connsiteY2"/>
              </a:cxn>
            </a:cxnLst>
            <a:rect l="l" t="t" r="r" b="b"/>
            <a:pathLst>
              <a:path w="279424" h="889000">
                <a:moveTo>
                  <a:pt x="0" y="0"/>
                </a:moveTo>
                <a:cubicBezTo>
                  <a:pt x="138641" y="116416"/>
                  <a:pt x="277283" y="232833"/>
                  <a:pt x="279400" y="381000"/>
                </a:cubicBezTo>
                <a:cubicBezTo>
                  <a:pt x="281517" y="529167"/>
                  <a:pt x="147108" y="709083"/>
                  <a:pt x="12700" y="8890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9" name="文本框 98">
                <a:extLst>
                  <a:ext uri="{FF2B5EF4-FFF2-40B4-BE49-F238E27FC236}">
                    <a16:creationId xmlns:a16="http://schemas.microsoft.com/office/drawing/2014/main" id="{7D231FCF-2ACB-84AC-44F6-DC116D409641}"/>
                  </a:ext>
                </a:extLst>
              </p:cNvPr>
              <p:cNvSpPr txBox="1"/>
              <p:nvPr/>
            </p:nvSpPr>
            <p:spPr>
              <a:xfrm>
                <a:off x="8564697" y="3863996"/>
                <a:ext cx="7289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Ρ</m:t>
                      </m:r>
                      <m:r>
                        <a:rPr lang="en-US" altLang="zh-CN" b="0" i="1" smtClean="0">
                          <a:latin typeface="Cambria Math" panose="02040503050406030204" pitchFamily="18" charset="0"/>
                          <a:ea typeface="Cambria Math" panose="02040503050406030204" pitchFamily="18" charset="0"/>
                        </a:rPr>
                        <m:t>𝑟𝑒𝑑𝑖𝑐𝑡𝑒𝑑</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𝐿𝑎𝑏𝑒𝑙</m:t>
                      </m:r>
                    </m:oMath>
                  </m:oMathPara>
                </a14:m>
                <a:endParaRPr lang="zh-CN" altLang="en-US" dirty="0"/>
              </a:p>
            </p:txBody>
          </p:sp>
        </mc:Choice>
        <mc:Fallback>
          <p:sp>
            <p:nvSpPr>
              <p:cNvPr id="99" name="文本框 98">
                <a:extLst>
                  <a:ext uri="{FF2B5EF4-FFF2-40B4-BE49-F238E27FC236}">
                    <a16:creationId xmlns:a16="http://schemas.microsoft.com/office/drawing/2014/main" id="{7D231FCF-2ACB-84AC-44F6-DC116D409641}"/>
                  </a:ext>
                </a:extLst>
              </p:cNvPr>
              <p:cNvSpPr txBox="1">
                <a:spLocks noRot="1" noChangeAspect="1" noMove="1" noResize="1" noEditPoints="1" noAdjustHandles="1" noChangeArrowheads="1" noChangeShapeType="1" noTextEdit="1"/>
              </p:cNvSpPr>
              <p:nvPr/>
            </p:nvSpPr>
            <p:spPr>
              <a:xfrm>
                <a:off x="8564697" y="3863996"/>
                <a:ext cx="728912" cy="369332"/>
              </a:xfrm>
              <a:prstGeom prst="rect">
                <a:avLst/>
              </a:prstGeom>
              <a:blipFill>
                <a:blip r:embed="rId43"/>
                <a:stretch>
                  <a:fillRect r="-14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37768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3181</TotalTime>
  <Words>2258</Words>
  <Application>Microsoft Office PowerPoint</Application>
  <PresentationFormat>宽屏</PresentationFormat>
  <Paragraphs>213</Paragraphs>
  <Slides>17</Slides>
  <Notes>11</Notes>
  <HiddenSlides>2</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17</vt:i4>
      </vt:variant>
    </vt:vector>
  </HeadingPairs>
  <TitlesOfParts>
    <vt:vector size="33" baseType="lpstr">
      <vt:lpstr>CharterBT-Roman</vt:lpstr>
      <vt:lpstr>CMMI10</vt:lpstr>
      <vt:lpstr>CMR10</vt:lpstr>
      <vt:lpstr>NimbusRomNo9L-Regu</vt:lpstr>
      <vt:lpstr>NimbusRomNo9L-ReguItal</vt:lpstr>
      <vt:lpstr>NotoSansCJKsc-Regular</vt:lpstr>
      <vt:lpstr>NotoSansCJKsc-Regular,Italic</vt:lpstr>
      <vt:lpstr>TeXGyreTermes-Regular</vt:lpstr>
      <vt:lpstr>TimesNewRomanPS-ItalicMT</vt:lpstr>
      <vt:lpstr>TimesNewRomanPSMT</vt:lpstr>
      <vt:lpstr>等线</vt:lpstr>
      <vt:lpstr>等线 Light</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牛　文涛</dc:creator>
  <cp:lastModifiedBy>牛　文涛</cp:lastModifiedBy>
  <cp:revision>478</cp:revision>
  <dcterms:created xsi:type="dcterms:W3CDTF">2025-05-14T01:23:20Z</dcterms:created>
  <dcterms:modified xsi:type="dcterms:W3CDTF">2025-05-16T06:25:14Z</dcterms:modified>
</cp:coreProperties>
</file>