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8" r:id="rId3"/>
    <p:sldId id="259" r:id="rId4"/>
    <p:sldId id="260" r:id="rId5"/>
    <p:sldId id="263" r:id="rId6"/>
    <p:sldId id="264" r:id="rId7"/>
    <p:sldId id="265" r:id="rId8"/>
    <p:sldId id="266" r:id="rId9"/>
    <p:sldId id="267" r:id="rId10"/>
    <p:sldId id="271" r:id="rId11"/>
    <p:sldId id="268" r:id="rId12"/>
    <p:sldId id="262"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833" autoAdjust="0"/>
  </p:normalViewPr>
  <p:slideViewPr>
    <p:cSldViewPr snapToGrid="0">
      <p:cViewPr varScale="1">
        <p:scale>
          <a:sx n="79" d="100"/>
          <a:sy n="79" d="100"/>
        </p:scale>
        <p:origin x="5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Noto Sans JP" panose="020B0200000000000000" pitchFamily="34" charset="-122"/>
                <a:ea typeface="Noto Sans JP" panose="020B0200000000000000"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Noto Sans JP" panose="020B0200000000000000" pitchFamily="34" charset="-122"/>
                <a:ea typeface="Noto Sans JP" panose="020B0200000000000000" pitchFamily="34" charset="-122"/>
              </a:defRPr>
            </a:lvl1pPr>
          </a:lstStyle>
          <a:p>
            <a:fld id="{128F3AD1-9F68-4520-8DA3-E90BF3ADF08C}" type="datetimeFigureOut">
              <a:rPr lang="zh-CN" altLang="en-US" smtClean="0"/>
              <a:pPr/>
              <a:t>2025/6/4</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Noto Sans JP" panose="020B0200000000000000" pitchFamily="34" charset="-122"/>
                <a:ea typeface="Noto Sans JP" panose="020B0200000000000000"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Noto Sans JP" panose="020B0200000000000000" pitchFamily="34" charset="-122"/>
                <a:ea typeface="Noto Sans JP" panose="020B0200000000000000" pitchFamily="34" charset="-122"/>
              </a:defRPr>
            </a:lvl1pPr>
          </a:lstStyle>
          <a:p>
            <a:fld id="{F9600E1B-4003-47CD-92FB-2D59D38F5D9B}" type="slidenum">
              <a:rPr lang="zh-CN" altLang="en-US" smtClean="0"/>
              <a:pPr/>
              <a:t>‹#›</a:t>
            </a:fld>
            <a:endParaRPr lang="zh-CN" altLang="en-US" dirty="0"/>
          </a:p>
        </p:txBody>
      </p:sp>
    </p:spTree>
    <p:extLst>
      <p:ext uri="{BB962C8B-B14F-4D97-AF65-F5344CB8AC3E}">
        <p14:creationId xmlns:p14="http://schemas.microsoft.com/office/powerpoint/2010/main" val="1502570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Noto Sans JP" panose="020B0200000000000000" pitchFamily="34" charset="-122"/>
        <a:ea typeface="Noto Sans JP" panose="020B0200000000000000" pitchFamily="34" charset="-122"/>
        <a:cs typeface="+mn-cs"/>
      </a:defRPr>
    </a:lvl1pPr>
    <a:lvl2pPr marL="457200" algn="l" defTabSz="914400" rtl="0" eaLnBrk="1" latinLnBrk="0" hangingPunct="1">
      <a:defRPr sz="1200" kern="1200">
        <a:solidFill>
          <a:schemeClr val="tx1"/>
        </a:solidFill>
        <a:latin typeface="Noto Sans JP" panose="020B0200000000000000" pitchFamily="34" charset="-122"/>
        <a:ea typeface="Noto Sans JP" panose="020B0200000000000000" pitchFamily="34" charset="-122"/>
        <a:cs typeface="+mn-cs"/>
      </a:defRPr>
    </a:lvl2pPr>
    <a:lvl3pPr marL="914400" algn="l" defTabSz="914400" rtl="0" eaLnBrk="1" latinLnBrk="0" hangingPunct="1">
      <a:defRPr sz="1200" kern="1200">
        <a:solidFill>
          <a:schemeClr val="tx1"/>
        </a:solidFill>
        <a:latin typeface="Noto Sans JP" panose="020B0200000000000000" pitchFamily="34" charset="-122"/>
        <a:ea typeface="Noto Sans JP" panose="020B0200000000000000" pitchFamily="34" charset="-122"/>
        <a:cs typeface="+mn-cs"/>
      </a:defRPr>
    </a:lvl3pPr>
    <a:lvl4pPr marL="1371600" algn="l" defTabSz="914400" rtl="0" eaLnBrk="1" latinLnBrk="0" hangingPunct="1">
      <a:defRPr sz="1200" kern="1200">
        <a:solidFill>
          <a:schemeClr val="tx1"/>
        </a:solidFill>
        <a:latin typeface="Noto Sans JP" panose="020B0200000000000000" pitchFamily="34" charset="-122"/>
        <a:ea typeface="Noto Sans JP" panose="020B0200000000000000" pitchFamily="34" charset="-122"/>
        <a:cs typeface="+mn-cs"/>
      </a:defRPr>
    </a:lvl4pPr>
    <a:lvl5pPr marL="1828800" algn="l" defTabSz="914400" rtl="0" eaLnBrk="1" latinLnBrk="0" hangingPunct="1">
      <a:defRPr sz="1200" kern="1200">
        <a:solidFill>
          <a:schemeClr val="tx1"/>
        </a:solidFill>
        <a:latin typeface="Noto Sans JP" panose="020B0200000000000000" pitchFamily="34" charset="-122"/>
        <a:ea typeface="Noto Sans JP" panose="020B0200000000000000"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Hello everyone, today I will be presenting a paper published at AAAI 2025, titled:</a:t>
            </a:r>
            <a:br>
              <a:rPr lang="en-US" altLang="zh-CN" dirty="0"/>
            </a:br>
            <a:r>
              <a:rPr lang="en-US" altLang="zh-CN" b="1" dirty="0"/>
              <a:t>"R-DTI: Drug Target Interaction Prediction Based on Second-Order Relevance Exploration."</a:t>
            </a:r>
            <a:endParaRPr lang="en-US" altLang="zh-CN" dirty="0"/>
          </a:p>
          <a:p>
            <a:r>
              <a:rPr lang="en-US" altLang="zh-CN" dirty="0"/>
              <a:t>The main contributions of this paper are as follows:</a:t>
            </a:r>
          </a:p>
          <a:p>
            <a:r>
              <a:rPr lang="en-US" altLang="zh-CN" dirty="0"/>
              <a:t>On one hand, current protein sequence-based feature extractors struggle to capture the complex structural characteristics of proteins. To address this, the authors construct a pretrained structure-aware extractor to explore atomic-level correlations for each amino acid, and further design a Riemannian network that preserves structural relationships between features, thereby enhancing the existing protein representation framework.</a:t>
            </a:r>
          </a:p>
          <a:p>
            <a:r>
              <a:rPr lang="en-US" altLang="zh-CN" dirty="0"/>
              <a:t>On the other hand, due to the substantial gap between protein and drug features, it is challenging to design a classifier with strong generalization capability. To overcome this, the authors develop a Riemannian classifier that leverages second-order protein-drug correlations within a unified feature space.</a:t>
            </a:r>
          </a:p>
        </p:txBody>
      </p:sp>
      <p:sp>
        <p:nvSpPr>
          <p:cNvPr id="4" name="灯片编号占位符 3"/>
          <p:cNvSpPr>
            <a:spLocks noGrp="1"/>
          </p:cNvSpPr>
          <p:nvPr>
            <p:ph type="sldNum" sz="quarter" idx="5"/>
          </p:nvPr>
        </p:nvSpPr>
        <p:spPr/>
        <p:txBody>
          <a:bodyPr/>
          <a:lstStyle/>
          <a:p>
            <a:fld id="{F9600E1B-4003-47CD-92FB-2D59D38F5D9B}" type="slidenum">
              <a:rPr lang="zh-CN" altLang="en-US" smtClean="0"/>
              <a:t>1</a:t>
            </a:fld>
            <a:endParaRPr lang="zh-CN" altLang="en-US"/>
          </a:p>
        </p:txBody>
      </p:sp>
    </p:spTree>
    <p:extLst>
      <p:ext uri="{BB962C8B-B14F-4D97-AF65-F5344CB8AC3E}">
        <p14:creationId xmlns:p14="http://schemas.microsoft.com/office/powerpoint/2010/main" val="4041309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cs typeface="+mn-cs"/>
              </a:rPr>
              <a:t>The fundamental motivation behind these improvements lies in the observation that the three-dimensional structure of a protein is inherently a non-Euclidean geometric object, which can be regarded as a manifold — specifically, a Riemannian manifold.</a:t>
            </a:r>
            <a:br>
              <a:rPr lang="en-US" altLang="zh-CN" sz="1200" kern="1200" dirty="0">
                <a:solidFill>
                  <a:schemeClr val="tx1"/>
                </a:solidFill>
                <a:effectLst/>
                <a:cs typeface="+mn-cs"/>
              </a:rPr>
            </a:br>
            <a:r>
              <a:rPr lang="en-US" altLang="zh-CN" sz="1200" kern="1200" dirty="0">
                <a:solidFill>
                  <a:schemeClr val="tx1"/>
                </a:solidFill>
                <a:effectLst/>
                <a:cs typeface="+mn-cs"/>
              </a:rPr>
              <a:t>A Riemannian manifold can be composed of multiple symmetric positive definite (SPD) matrices.</a:t>
            </a:r>
            <a:endParaRPr lang="zh-CN" altLang="zh-CN" sz="1200" kern="1200" dirty="0">
              <a:solidFill>
                <a:schemeClr val="tx1"/>
              </a:solidFill>
              <a:effectLst/>
              <a:cs typeface="+mn-cs"/>
            </a:endParaRPr>
          </a:p>
        </p:txBody>
      </p:sp>
      <p:sp>
        <p:nvSpPr>
          <p:cNvPr id="4" name="灯片编号占位符 3"/>
          <p:cNvSpPr>
            <a:spLocks noGrp="1"/>
          </p:cNvSpPr>
          <p:nvPr>
            <p:ph type="sldNum" sz="quarter" idx="5"/>
          </p:nvPr>
        </p:nvSpPr>
        <p:spPr/>
        <p:txBody>
          <a:bodyPr/>
          <a:lstStyle/>
          <a:p>
            <a:fld id="{F9600E1B-4003-47CD-92FB-2D59D38F5D9B}" type="slidenum">
              <a:rPr lang="zh-CN" altLang="en-US" smtClean="0"/>
              <a:t>2</a:t>
            </a:fld>
            <a:endParaRPr lang="zh-CN" altLang="en-US"/>
          </a:p>
        </p:txBody>
      </p:sp>
    </p:spTree>
    <p:extLst>
      <p:ext uri="{BB962C8B-B14F-4D97-AF65-F5344CB8AC3E}">
        <p14:creationId xmlns:p14="http://schemas.microsoft.com/office/powerpoint/2010/main" val="3296057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cs typeface="+mn-cs"/>
              </a:rPr>
              <a:t>To better extract the structural features of proteins, the authors construct the covariance matrix of amino acid vectors to emphasize the second-order correlations within the protein. Subsequently, a small identity matrix perturbation is added to transform the covariance matrix into a symmetric positive definite (SPD) matrix.</a:t>
            </a:r>
            <a:endParaRPr lang="zh-CN" altLang="zh-CN" sz="1200" kern="1200" dirty="0">
              <a:solidFill>
                <a:schemeClr val="tx1"/>
              </a:solidFill>
              <a:effectLst/>
              <a:cs typeface="+mn-cs"/>
            </a:endParaRPr>
          </a:p>
          <a:p>
            <a:br>
              <a:rPr lang="en-US" altLang="zh-CN" sz="1800" b="0" i="0" u="none" strike="noStrike" baseline="0" dirty="0">
                <a:latin typeface="NotoSansCJKsc-Regular"/>
              </a:rPr>
            </a:br>
            <a:endParaRPr lang="zh-CN" altLang="en-US" dirty="0"/>
          </a:p>
        </p:txBody>
      </p:sp>
      <p:sp>
        <p:nvSpPr>
          <p:cNvPr id="4" name="灯片编号占位符 3"/>
          <p:cNvSpPr>
            <a:spLocks noGrp="1"/>
          </p:cNvSpPr>
          <p:nvPr>
            <p:ph type="sldNum" sz="quarter" idx="5"/>
          </p:nvPr>
        </p:nvSpPr>
        <p:spPr/>
        <p:txBody>
          <a:bodyPr/>
          <a:lstStyle/>
          <a:p>
            <a:fld id="{F9600E1B-4003-47CD-92FB-2D59D38F5D9B}" type="slidenum">
              <a:rPr lang="zh-CN" altLang="en-US" smtClean="0"/>
              <a:t>3</a:t>
            </a:fld>
            <a:endParaRPr lang="zh-CN" altLang="en-US"/>
          </a:p>
        </p:txBody>
      </p:sp>
    </p:spTree>
    <p:extLst>
      <p:ext uri="{BB962C8B-B14F-4D97-AF65-F5344CB8AC3E}">
        <p14:creationId xmlns:p14="http://schemas.microsoft.com/office/powerpoint/2010/main" val="851574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cs typeface="+mn-cs"/>
              </a:rPr>
              <a:t>Regarding the construction of the protein sequence feature extractor, on one hand, the authors represent a protein as a set of SPD matrices and employ an SPD-GNN to update each SPD matrix in the set, where each SPD matrix corresponds to a specific amino acid in the protein. Through these operations, the structural hidden features of the protein are effectively captured.</a:t>
            </a:r>
            <a:endParaRPr lang="zh-CN" altLang="en-US" dirty="0"/>
          </a:p>
        </p:txBody>
      </p:sp>
      <p:sp>
        <p:nvSpPr>
          <p:cNvPr id="4" name="灯片编号占位符 3"/>
          <p:cNvSpPr>
            <a:spLocks noGrp="1"/>
          </p:cNvSpPr>
          <p:nvPr>
            <p:ph type="sldNum" sz="quarter" idx="5"/>
          </p:nvPr>
        </p:nvSpPr>
        <p:spPr/>
        <p:txBody>
          <a:bodyPr/>
          <a:lstStyle/>
          <a:p>
            <a:fld id="{F9600E1B-4003-47CD-92FB-2D59D38F5D9B}" type="slidenum">
              <a:rPr lang="zh-CN" altLang="en-US" smtClean="0"/>
              <a:t>4</a:t>
            </a:fld>
            <a:endParaRPr lang="zh-CN" altLang="en-US"/>
          </a:p>
        </p:txBody>
      </p:sp>
    </p:spTree>
    <p:extLst>
      <p:ext uri="{BB962C8B-B14F-4D97-AF65-F5344CB8AC3E}">
        <p14:creationId xmlns:p14="http://schemas.microsoft.com/office/powerpoint/2010/main" val="134869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cs typeface="+mn-cs"/>
              </a:rPr>
              <a:t>On the other hand, the protein encoding is processed through a </a:t>
            </a:r>
            <a:r>
              <a:rPr lang="en-US" altLang="zh-CN" sz="1200" kern="1200" dirty="0" err="1">
                <a:solidFill>
                  <a:schemeClr val="tx1"/>
                </a:solidFill>
                <a:effectLst/>
                <a:cs typeface="+mn-cs"/>
              </a:rPr>
              <a:t>DenseNet</a:t>
            </a:r>
            <a:r>
              <a:rPr lang="en-US" altLang="zh-CN" sz="1200" kern="1200" dirty="0">
                <a:solidFill>
                  <a:schemeClr val="tx1"/>
                </a:solidFill>
                <a:effectLst/>
                <a:cs typeface="+mn-cs"/>
              </a:rPr>
              <a:t> followed by an SPD Transform to obtain the hidden feature. This hidden feature is then fed into a Reconstructor to compute the reconstruction loss (loss1) with respect to the true spatial coordinates. Additionally, contrastive learning is performed between the hidden feature and the structural hidden feature to obtain loss2. The combined loss from loss1 and loss2 is used to train the protein sequence feature extractor.</a:t>
            </a:r>
            <a:endParaRPr lang="zh-CN" altLang="en-US" dirty="0"/>
          </a:p>
        </p:txBody>
      </p:sp>
      <p:sp>
        <p:nvSpPr>
          <p:cNvPr id="4" name="灯片编号占位符 3"/>
          <p:cNvSpPr>
            <a:spLocks noGrp="1"/>
          </p:cNvSpPr>
          <p:nvPr>
            <p:ph type="sldNum" sz="quarter" idx="5"/>
          </p:nvPr>
        </p:nvSpPr>
        <p:spPr/>
        <p:txBody>
          <a:bodyPr/>
          <a:lstStyle/>
          <a:p>
            <a:fld id="{F9600E1B-4003-47CD-92FB-2D59D38F5D9B}" type="slidenum">
              <a:rPr lang="zh-CN" altLang="en-US" smtClean="0"/>
              <a:t>5</a:t>
            </a:fld>
            <a:endParaRPr lang="zh-CN" altLang="en-US"/>
          </a:p>
        </p:txBody>
      </p:sp>
    </p:spTree>
    <p:extLst>
      <p:ext uri="{BB962C8B-B14F-4D97-AF65-F5344CB8AC3E}">
        <p14:creationId xmlns:p14="http://schemas.microsoft.com/office/powerpoint/2010/main" val="2611773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cs typeface="+mn-cs"/>
              </a:rPr>
              <a:t>A pre-trained protein sequence feature extractor is used to extract structural information features from the protein encoding. In addition, sequence information features of the protein are obtained through Prot-Bert followed by a </a:t>
            </a:r>
            <a:r>
              <a:rPr lang="en-US" altLang="zh-CN" sz="1200" kern="1200" dirty="0" err="1">
                <a:solidFill>
                  <a:schemeClr val="tx1"/>
                </a:solidFill>
                <a:effectLst/>
                <a:cs typeface="+mn-cs"/>
              </a:rPr>
              <a:t>DenseNet</a:t>
            </a:r>
            <a:r>
              <a:rPr lang="en-US" altLang="zh-CN" sz="1200" kern="1200" dirty="0">
                <a:solidFill>
                  <a:schemeClr val="tx1"/>
                </a:solidFill>
                <a:effectLst/>
                <a:cs typeface="+mn-cs"/>
              </a:rPr>
              <a:t>. The two modalities of protein features are concatenated to obtain a more informative and comprehensive protein representation.</a:t>
            </a:r>
            <a:endParaRPr lang="zh-CN" altLang="zh-CN" sz="1200" kern="1200" dirty="0">
              <a:solidFill>
                <a:schemeClr val="tx1"/>
              </a:solidFill>
              <a:effectLst/>
              <a:cs typeface="+mn-cs"/>
            </a:endParaRPr>
          </a:p>
          <a:p>
            <a:endParaRPr lang="zh-CN" altLang="en-US" dirty="0"/>
          </a:p>
        </p:txBody>
      </p:sp>
      <p:sp>
        <p:nvSpPr>
          <p:cNvPr id="4" name="灯片编号占位符 3"/>
          <p:cNvSpPr>
            <a:spLocks noGrp="1"/>
          </p:cNvSpPr>
          <p:nvPr>
            <p:ph type="sldNum" sz="quarter" idx="5"/>
          </p:nvPr>
        </p:nvSpPr>
        <p:spPr/>
        <p:txBody>
          <a:bodyPr/>
          <a:lstStyle/>
          <a:p>
            <a:fld id="{F9600E1B-4003-47CD-92FB-2D59D38F5D9B}" type="slidenum">
              <a:rPr lang="zh-CN" altLang="en-US" smtClean="0"/>
              <a:t>6</a:t>
            </a:fld>
            <a:endParaRPr lang="zh-CN" altLang="en-US"/>
          </a:p>
        </p:txBody>
      </p:sp>
    </p:spTree>
    <p:extLst>
      <p:ext uri="{BB962C8B-B14F-4D97-AF65-F5344CB8AC3E}">
        <p14:creationId xmlns:p14="http://schemas.microsoft.com/office/powerpoint/2010/main" val="4032372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cs typeface="+mn-cs"/>
              </a:rPr>
              <a:t>On the other hand, the drug sequence is processed using </a:t>
            </a:r>
            <a:r>
              <a:rPr lang="en-US" altLang="zh-CN" sz="1200" kern="1200" dirty="0" err="1">
                <a:solidFill>
                  <a:schemeClr val="tx1"/>
                </a:solidFill>
                <a:effectLst/>
                <a:cs typeface="+mn-cs"/>
              </a:rPr>
              <a:t>RDKit</a:t>
            </a:r>
            <a:r>
              <a:rPr lang="en-US" altLang="zh-CN" sz="1200" kern="1200" dirty="0">
                <a:solidFill>
                  <a:schemeClr val="tx1"/>
                </a:solidFill>
                <a:effectLst/>
                <a:cs typeface="+mn-cs"/>
              </a:rPr>
              <a:t>—an open-source toolkit for cheminformatics—along with a Molecular Graph Attention block to obtain its structural information features. Additionally, the drug sequence is passed through SMILES-BERT and a </a:t>
            </a:r>
            <a:r>
              <a:rPr lang="en-US" altLang="zh-CN" sz="1200" kern="1200" dirty="0" err="1">
                <a:solidFill>
                  <a:schemeClr val="tx1"/>
                </a:solidFill>
                <a:effectLst/>
                <a:cs typeface="+mn-cs"/>
              </a:rPr>
              <a:t>DenseNet</a:t>
            </a:r>
            <a:r>
              <a:rPr lang="en-US" altLang="zh-CN" sz="1200" kern="1200" dirty="0">
                <a:solidFill>
                  <a:schemeClr val="tx1"/>
                </a:solidFill>
                <a:effectLst/>
                <a:cs typeface="+mn-cs"/>
              </a:rPr>
              <a:t> to extract its sequence information features. These two modalities of drug features are fused via a Cross-Attention mechanism and then concatenated to produce a more informative and comprehensive drug representation.</a:t>
            </a:r>
            <a:endParaRPr lang="zh-CN" altLang="zh-CN" sz="1200" kern="1200" dirty="0">
              <a:solidFill>
                <a:schemeClr val="tx1"/>
              </a:solidFill>
              <a:effectLst/>
              <a:cs typeface="+mn-cs"/>
            </a:endParaRPr>
          </a:p>
          <a:p>
            <a:endParaRPr lang="zh-CN" altLang="en-US" dirty="0"/>
          </a:p>
        </p:txBody>
      </p:sp>
      <p:sp>
        <p:nvSpPr>
          <p:cNvPr id="4" name="灯片编号占位符 3"/>
          <p:cNvSpPr>
            <a:spLocks noGrp="1"/>
          </p:cNvSpPr>
          <p:nvPr>
            <p:ph type="sldNum" sz="quarter" idx="5"/>
          </p:nvPr>
        </p:nvSpPr>
        <p:spPr/>
        <p:txBody>
          <a:bodyPr/>
          <a:lstStyle/>
          <a:p>
            <a:fld id="{F9600E1B-4003-47CD-92FB-2D59D38F5D9B}" type="slidenum">
              <a:rPr lang="zh-CN" altLang="en-US" smtClean="0"/>
              <a:t>7</a:t>
            </a:fld>
            <a:endParaRPr lang="zh-CN" altLang="en-US"/>
          </a:p>
        </p:txBody>
      </p:sp>
    </p:spTree>
    <p:extLst>
      <p:ext uri="{BB962C8B-B14F-4D97-AF65-F5344CB8AC3E}">
        <p14:creationId xmlns:p14="http://schemas.microsoft.com/office/powerpoint/2010/main" val="2924479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cs typeface="+mn-cs"/>
              </a:rPr>
              <a:t>The authors map the previously obtained protein features and drug features through fully connected layers to obtain a joint feature. Subsequently, an SPD matrix is computed from the joint feature to serve as its Riemannian representation. Finally, the Riemannian feature is transformed into a vector representation, and an MLP is employed to predict the interaction between the protein and the drug.</a:t>
            </a:r>
            <a:endParaRPr lang="zh-CN" altLang="zh-CN" sz="1200" kern="1200" dirty="0">
              <a:solidFill>
                <a:schemeClr val="tx1"/>
              </a:solidFill>
              <a:effectLst/>
              <a:cs typeface="+mn-cs"/>
            </a:endParaRPr>
          </a:p>
          <a:p>
            <a:endParaRPr lang="zh-CN" altLang="en-US" dirty="0"/>
          </a:p>
        </p:txBody>
      </p:sp>
      <p:sp>
        <p:nvSpPr>
          <p:cNvPr id="4" name="灯片编号占位符 3"/>
          <p:cNvSpPr>
            <a:spLocks noGrp="1"/>
          </p:cNvSpPr>
          <p:nvPr>
            <p:ph type="sldNum" sz="quarter" idx="5"/>
          </p:nvPr>
        </p:nvSpPr>
        <p:spPr/>
        <p:txBody>
          <a:bodyPr/>
          <a:lstStyle/>
          <a:p>
            <a:fld id="{F9600E1B-4003-47CD-92FB-2D59D38F5D9B}" type="slidenum">
              <a:rPr lang="zh-CN" altLang="en-US" smtClean="0"/>
              <a:t>8</a:t>
            </a:fld>
            <a:endParaRPr lang="zh-CN" altLang="en-US"/>
          </a:p>
        </p:txBody>
      </p:sp>
    </p:spTree>
    <p:extLst>
      <p:ext uri="{BB962C8B-B14F-4D97-AF65-F5344CB8AC3E}">
        <p14:creationId xmlns:p14="http://schemas.microsoft.com/office/powerpoint/2010/main" val="1424235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cs typeface="+mn-cs"/>
              </a:rPr>
              <a:t>The authors find that most of these methods perform worse in the Unseen target subset than in the Unseen drug subset, indicating that their learned parameters are biased towards the proteins to some extent. However, R-DTI using Riemannian SPD features, which is the covariance matrix of the joint protein and drug features, can effectively improve its generalization in the Unseen target subset.</a:t>
            </a:r>
            <a:br>
              <a:rPr lang="en-US" altLang="zh-CN" sz="1200" kern="1200" dirty="0">
                <a:solidFill>
                  <a:schemeClr val="tx1"/>
                </a:solidFill>
                <a:effectLst/>
                <a:cs typeface="+mn-cs"/>
              </a:rPr>
            </a:br>
            <a:r>
              <a:rPr lang="en-US" altLang="zh-CN" sz="1200" kern="1200" dirty="0">
                <a:solidFill>
                  <a:schemeClr val="tx1"/>
                </a:solidFill>
                <a:effectLst/>
                <a:cs typeface="+mn-cs"/>
              </a:rPr>
              <a:t>AUC-ROC is used to evaluate the overall ability of a model to distinguish between positive and negative classes, with higher values indicating stronger discriminative capability. AUC-PR reflects the model's combined performance in terms of precision and recall, with higher values indicating better identification of positive samples while minimizing false positives.</a:t>
            </a:r>
            <a:endParaRPr lang="zh-CN" altLang="zh-CN" sz="1200" kern="1200" dirty="0">
              <a:solidFill>
                <a:schemeClr val="tx1"/>
              </a:solidFill>
              <a:effectLst/>
              <a:cs typeface="+mn-cs"/>
            </a:endParaRPr>
          </a:p>
          <a:p>
            <a:r>
              <a:rPr lang="en-US" altLang="zh-CN" sz="1200" kern="1200" dirty="0">
                <a:solidFill>
                  <a:schemeClr val="tx1"/>
                </a:solidFill>
                <a:effectLst/>
                <a:cs typeface="+mn-cs"/>
              </a:rPr>
              <a:t>As shown in the table above, the proposed R-DTI method outperforms all other methods across most evaluation metrics, particularly on the </a:t>
            </a:r>
            <a:r>
              <a:rPr lang="en-US" altLang="zh-CN" sz="1200" kern="1200" dirty="0" err="1">
                <a:solidFill>
                  <a:schemeClr val="tx1"/>
                </a:solidFill>
                <a:effectLst/>
                <a:cs typeface="+mn-cs"/>
              </a:rPr>
              <a:t>BindingDB</a:t>
            </a:r>
            <a:r>
              <a:rPr lang="en-US" altLang="zh-CN" sz="1200" kern="1200" dirty="0">
                <a:solidFill>
                  <a:schemeClr val="tx1"/>
                </a:solidFill>
                <a:effectLst/>
                <a:cs typeface="+mn-cs"/>
              </a:rPr>
              <a:t> and </a:t>
            </a:r>
            <a:r>
              <a:rPr lang="en-US" altLang="zh-CN" sz="1200" kern="1200" dirty="0" err="1">
                <a:solidFill>
                  <a:schemeClr val="tx1"/>
                </a:solidFill>
                <a:effectLst/>
                <a:cs typeface="+mn-cs"/>
              </a:rPr>
              <a:t>DrugBank</a:t>
            </a:r>
            <a:r>
              <a:rPr lang="en-US" altLang="zh-CN" sz="1200" kern="1200" dirty="0">
                <a:solidFill>
                  <a:schemeClr val="tx1"/>
                </a:solidFill>
                <a:effectLst/>
                <a:cs typeface="+mn-cs"/>
              </a:rPr>
              <a:t> datasets. Specifically, R-DTI achieves performance gains of 1.4% and 1.0% in terms of AUC-ROC and AUC-PR, respectively, compared to the second-best method, PSC-CPI, on the </a:t>
            </a:r>
            <a:r>
              <a:rPr lang="en-US" altLang="zh-CN" sz="1200" kern="1200" dirty="0" err="1">
                <a:solidFill>
                  <a:schemeClr val="tx1"/>
                </a:solidFill>
                <a:effectLst/>
                <a:cs typeface="+mn-cs"/>
              </a:rPr>
              <a:t>BindingDB</a:t>
            </a:r>
            <a:r>
              <a:rPr lang="en-US" altLang="zh-CN" sz="1200" kern="1200" dirty="0">
                <a:solidFill>
                  <a:schemeClr val="tx1"/>
                </a:solidFill>
                <a:effectLst/>
                <a:cs typeface="+mn-cs"/>
              </a:rPr>
              <a:t> dataset. Similarly, on the </a:t>
            </a:r>
            <a:r>
              <a:rPr lang="en-US" altLang="zh-CN" sz="1200" kern="1200" dirty="0" err="1">
                <a:solidFill>
                  <a:schemeClr val="tx1"/>
                </a:solidFill>
                <a:effectLst/>
                <a:cs typeface="+mn-cs"/>
              </a:rPr>
              <a:t>DrugBank</a:t>
            </a:r>
            <a:r>
              <a:rPr lang="en-US" altLang="zh-CN" sz="1200" kern="1200" dirty="0">
                <a:solidFill>
                  <a:schemeClr val="tx1"/>
                </a:solidFill>
                <a:effectLst/>
                <a:cs typeface="+mn-cs"/>
              </a:rPr>
              <a:t> dataset, R-DTI surpasses PSC-CPI by 1.9% in AUC-ROC and 1.5% in AUC-PR, demonstrating the superior effectiveness of the proposed method. On small-sample datasets such as Human and C. elegans, the R-DTI model also maintains consistently strong performance. </a:t>
            </a:r>
            <a:endParaRPr lang="zh-CN" altLang="zh-CN" sz="1200" kern="1200" dirty="0">
              <a:solidFill>
                <a:schemeClr val="tx1"/>
              </a:solidFill>
              <a:effectLst/>
              <a:cs typeface="+mn-cs"/>
            </a:endParaRPr>
          </a:p>
          <a:p>
            <a:endParaRPr lang="zh-CN" altLang="zh-CN" sz="1200" kern="1200" dirty="0">
              <a:solidFill>
                <a:schemeClr val="tx1"/>
              </a:solidFill>
              <a:effectLst/>
              <a:cs typeface="+mn-cs"/>
            </a:endParaRPr>
          </a:p>
        </p:txBody>
      </p:sp>
      <p:sp>
        <p:nvSpPr>
          <p:cNvPr id="4" name="灯片编号占位符 3"/>
          <p:cNvSpPr>
            <a:spLocks noGrp="1"/>
          </p:cNvSpPr>
          <p:nvPr>
            <p:ph type="sldNum" sz="quarter" idx="5"/>
          </p:nvPr>
        </p:nvSpPr>
        <p:spPr/>
        <p:txBody>
          <a:bodyPr/>
          <a:lstStyle/>
          <a:p>
            <a:fld id="{F9600E1B-4003-47CD-92FB-2D59D38F5D9B}" type="slidenum">
              <a:rPr lang="zh-CN" altLang="en-US" smtClean="0"/>
              <a:t>9</a:t>
            </a:fld>
            <a:endParaRPr lang="zh-CN" altLang="en-US"/>
          </a:p>
        </p:txBody>
      </p:sp>
    </p:spTree>
    <p:extLst>
      <p:ext uri="{BB962C8B-B14F-4D97-AF65-F5344CB8AC3E}">
        <p14:creationId xmlns:p14="http://schemas.microsoft.com/office/powerpoint/2010/main" val="119451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cs typeface="+mn-cs"/>
              </a:rPr>
              <a:t>Based on the length-based Riemannian feature, the authors visualize two pairs of samples from </a:t>
            </a:r>
            <a:r>
              <a:rPr lang="en-US" altLang="zh-CN" sz="1200" kern="1200" dirty="0" err="1">
                <a:solidFill>
                  <a:schemeClr val="tx1"/>
                </a:solidFill>
                <a:effectLst/>
                <a:cs typeface="+mn-cs"/>
              </a:rPr>
              <a:t>BindingDB</a:t>
            </a:r>
            <a:r>
              <a:rPr lang="en-US" altLang="zh-CN" sz="1200" kern="1200" dirty="0">
                <a:solidFill>
                  <a:schemeClr val="tx1"/>
                </a:solidFill>
                <a:effectLst/>
                <a:cs typeface="+mn-cs"/>
              </a:rPr>
              <a:t> and Drug-Bank</a:t>
            </a:r>
            <a:endParaRPr lang="zh-CN" altLang="zh-CN" sz="1200" kern="1200" dirty="0">
              <a:solidFill>
                <a:schemeClr val="tx1"/>
              </a:solidFill>
              <a:effectLst/>
              <a:cs typeface="+mn-cs"/>
            </a:endParaRPr>
          </a:p>
          <a:p>
            <a:r>
              <a:rPr lang="en-US" altLang="zh-CN" sz="1200" kern="1200" dirty="0">
                <a:solidFill>
                  <a:schemeClr val="tx1"/>
                </a:solidFill>
                <a:effectLst/>
                <a:cs typeface="+mn-cs"/>
              </a:rPr>
              <a:t>It is easy to observe the interactive degree between the amino acids in the protein and the atoms in the drug by visualizing the length-based Riemannian feature</a:t>
            </a:r>
            <a:endParaRPr lang="zh-CN" altLang="zh-CN" sz="1200" kern="1200" dirty="0">
              <a:solidFill>
                <a:schemeClr val="tx1"/>
              </a:solidFill>
              <a:effectLst/>
              <a:cs typeface="+mn-cs"/>
            </a:endParaRPr>
          </a:p>
          <a:p>
            <a:r>
              <a:rPr lang="en-US" altLang="zh-CN" sz="1200" kern="1200" dirty="0">
                <a:solidFill>
                  <a:schemeClr val="tx1"/>
                </a:solidFill>
                <a:effectLst/>
                <a:cs typeface="+mn-cs"/>
              </a:rPr>
              <a:t>On this basis, they visualize the structure of the protein and the drug, highlighting their high response regions in yellow and orange, respectively.</a:t>
            </a:r>
            <a:endParaRPr lang="zh-CN" altLang="zh-CN" sz="1200" kern="1200" dirty="0">
              <a:solidFill>
                <a:schemeClr val="tx1"/>
              </a:solidFill>
              <a:effectLst/>
              <a:cs typeface="+mn-cs"/>
            </a:endParaRPr>
          </a:p>
        </p:txBody>
      </p:sp>
      <p:sp>
        <p:nvSpPr>
          <p:cNvPr id="4" name="灯片编号占位符 3"/>
          <p:cNvSpPr>
            <a:spLocks noGrp="1"/>
          </p:cNvSpPr>
          <p:nvPr>
            <p:ph type="sldNum" sz="quarter" idx="5"/>
          </p:nvPr>
        </p:nvSpPr>
        <p:spPr/>
        <p:txBody>
          <a:bodyPr/>
          <a:lstStyle/>
          <a:p>
            <a:fld id="{F9600E1B-4003-47CD-92FB-2D59D38F5D9B}" type="slidenum">
              <a:rPr lang="zh-CN" altLang="en-US" smtClean="0"/>
              <a:t>10</a:t>
            </a:fld>
            <a:endParaRPr lang="zh-CN" altLang="en-US"/>
          </a:p>
        </p:txBody>
      </p:sp>
    </p:spTree>
    <p:extLst>
      <p:ext uri="{BB962C8B-B14F-4D97-AF65-F5344CB8AC3E}">
        <p14:creationId xmlns:p14="http://schemas.microsoft.com/office/powerpoint/2010/main" val="3381950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保证输出仍是 </a:t>
                </a:r>
                <a:r>
                  <a:rPr lang="en-US" altLang="zh-CN" dirty="0"/>
                  <a:t>SPD </a:t>
                </a:r>
                <a:r>
                  <a:rPr lang="zh-CN" altLang="en-US" dirty="0"/>
                  <a:t>矩阵（因为变换保持对称性和正定性）</a:t>
                </a:r>
                <a:br>
                  <a:rPr lang="en-US" altLang="zh-CN" dirty="0"/>
                </a:br>
                <a:r>
                  <a:rPr lang="zh-CN" altLang="en-US" dirty="0"/>
                  <a:t>特征变换：在欧几里得空间中 </a:t>
                </a:r>
                <a:r>
                  <a:rPr lang="en-US" altLang="zh-CN" dirty="0"/>
                  <a:t>MLP </a:t>
                </a:r>
                <a:r>
                  <a:rPr lang="zh-CN" altLang="en-US" dirty="0"/>
                  <a:t>是线性层 </a:t>
                </a:r>
                <a:r>
                  <a:rPr lang="en-US" altLang="zh-CN" dirty="0"/>
                  <a:t>+ </a:t>
                </a:r>
                <a:r>
                  <a:rPr lang="zh-CN" altLang="en-US" dirty="0"/>
                  <a:t>激活；</a:t>
                </a:r>
                <a:br>
                  <a:rPr lang="zh-CN" altLang="en-US" dirty="0"/>
                </a:br>
                <a:r>
                  <a:rPr lang="zh-CN" altLang="en-US" dirty="0"/>
                  <a:t>在 </a:t>
                </a:r>
                <a:r>
                  <a:rPr lang="en-US" altLang="zh-CN" dirty="0"/>
                  <a:t>SPD </a:t>
                </a:r>
                <a:r>
                  <a:rPr lang="zh-CN" altLang="en-US" dirty="0"/>
                  <a:t>流形中，</a:t>
                </a:r>
                <a:r>
                  <a:rPr lang="en-US" altLang="zh-CN" dirty="0"/>
                  <a:t>(SPD Transform)*n</a:t>
                </a:r>
                <a:r>
                  <a:rPr lang="zh-CN" altLang="en-US" dirty="0"/>
                  <a:t> </a:t>
                </a:r>
                <a:r>
                  <a:rPr lang="en-US" altLang="zh-CN" dirty="0"/>
                  <a:t> </a:t>
                </a:r>
                <a:r>
                  <a:rPr lang="zh-CN" altLang="en-US" dirty="0"/>
                  <a:t>是连续的黎曼变换。</a:t>
                </a:r>
                <a:endParaRPr lang="en-US" altLang="zh-CN" dirty="0"/>
              </a:p>
              <a:p>
                <a:r>
                  <a:rPr lang="zh-CN" altLang="en-US" dirty="0"/>
                  <a:t>氨基酸</a:t>
                </a:r>
                <a:r>
                  <a:rPr lang="en-US" altLang="zh-CN" dirty="0"/>
                  <a:t>(</a:t>
                </a:r>
                <a:r>
                  <a:rPr lang="zh-CN" altLang="en-US" dirty="0"/>
                  <a:t>节点</a:t>
                </a:r>
                <a:r>
                  <a:rPr lang="en-US" altLang="zh-CN" dirty="0"/>
                  <a:t>)</a:t>
                </a:r>
                <a:r>
                  <a:rPr lang="zh-CN" altLang="en-US" dirty="0"/>
                  <a:t>特征在每一层的更新方式如下</a:t>
                </a:r>
                <a:r>
                  <a:rPr lang="en-US" altLang="zh-CN" dirty="0"/>
                  <a:t>:</a:t>
                </a:r>
              </a:p>
              <a:p>
                <a:r>
                  <a:rPr lang="zh-CN" altLang="en-US" dirty="0"/>
                  <a:t>获取第</a:t>
                </a:r>
                <a:r>
                  <a:rPr lang="en-US" altLang="zh-CN" dirty="0"/>
                  <a:t>l</a:t>
                </a:r>
                <a:r>
                  <a:rPr lang="zh-CN" altLang="en-US" dirty="0"/>
                  <a:t>层，氨基酸</a:t>
                </a:r>
                <a:r>
                  <a:rPr lang="en-US" altLang="zh-CN" dirty="0"/>
                  <a:t>j</a:t>
                </a:r>
                <a:r>
                  <a:rPr lang="zh-CN" altLang="en-US" dirty="0"/>
                  <a:t>到氨基酸</a:t>
                </a:r>
                <a:r>
                  <a:rPr lang="en-US" altLang="zh-CN" dirty="0" err="1"/>
                  <a:t>i</a:t>
                </a:r>
                <a:r>
                  <a:rPr lang="zh-CN" altLang="en-US" dirty="0"/>
                  <a:t>的边</a:t>
                </a:r>
                <a:r>
                  <a:rPr lang="en-US" altLang="zh-CN" dirty="0" err="1"/>
                  <a:t>mij</a:t>
                </a:r>
                <a:r>
                  <a:rPr lang="zh-CN" altLang="en-US" dirty="0"/>
                  <a:t>上的信息</a:t>
                </a:r>
                <a:br>
                  <a:rPr lang="en-US" altLang="zh-CN" dirty="0"/>
                </a:br>
                <a:r>
                  <a:rPr lang="zh-CN" altLang="en-US" dirty="0"/>
                  <a:t>聚合以氨基酸</a:t>
                </a:r>
                <a:r>
                  <a:rPr lang="en-US" altLang="zh-CN" dirty="0" err="1"/>
                  <a:t>i</a:t>
                </a:r>
                <a:r>
                  <a:rPr lang="zh-CN" altLang="en-US" dirty="0"/>
                  <a:t>为目标节点的边的所有信息，以获得氨基酸</a:t>
                </a:r>
                <a:r>
                  <a:rPr lang="en-US" altLang="zh-CN" dirty="0" err="1"/>
                  <a:t>i</a:t>
                </a:r>
                <a:r>
                  <a:rPr lang="zh-CN" altLang="en-US" dirty="0"/>
                  <a:t>的邻居汇总表示</a:t>
                </a:r>
                <a:endParaRPr lang="en-US" altLang="zh-CN" dirty="0"/>
              </a:p>
              <a:p>
                <a:r>
                  <a:rPr lang="zh-CN" altLang="en-US" dirty="0"/>
                  <a:t>获取第</a:t>
                </a:r>
                <a:r>
                  <a:rPr lang="en-US" altLang="zh-CN" dirty="0"/>
                  <a:t>L+1</a:t>
                </a:r>
                <a:r>
                  <a:rPr lang="zh-CN" altLang="en-US" dirty="0"/>
                  <a:t>层，氨基酸</a:t>
                </a:r>
                <a:r>
                  <a:rPr lang="en-US" altLang="zh-CN" dirty="0" err="1"/>
                  <a:t>i</a:t>
                </a:r>
                <a:r>
                  <a:rPr lang="zh-CN" altLang="en-US" dirty="0"/>
                  <a:t>的特征，</a:t>
                </a:r>
                <a:br>
                  <a:rPr lang="en-US" altLang="zh-CN" dirty="0"/>
                </a:br>
                <a:r>
                  <a:rPr lang="zh-CN" altLang="en-US" dirty="0"/>
                  <a:t>协方差矩阵中的某些特征值可能非常小，接近 </a:t>
                </a:r>
                <a:r>
                  <a:rPr lang="en-US" altLang="zh-CN" dirty="0"/>
                  <a:t>0</a:t>
                </a:r>
                <a:r>
                  <a:rPr lang="zh-CN" altLang="en-US" dirty="0"/>
                  <a:t>，会导致数值不稳定或不可逆。因此，</a:t>
                </a: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𝑟</m:t>
                        </m:r>
                      </m:sub>
                      <m:sup>
                        <m:r>
                          <a:rPr lang="en-US" altLang="zh-CN" b="0" i="1" smtClean="0">
                            <a:latin typeface="Cambria Math" panose="02040503050406030204" pitchFamily="18" charset="0"/>
                          </a:rPr>
                          <m:t>𝑙</m:t>
                        </m:r>
                      </m:sup>
                    </m:sSubSup>
                  </m:oMath>
                </a14:m>
                <a:r>
                  <a:rPr lang="en-US" altLang="zh-CN" dirty="0"/>
                  <a:t> </a:t>
                </a:r>
                <a:r>
                  <a:rPr lang="zh-CN" altLang="en-US" dirty="0"/>
                  <a:t>层用于保证所有特征值大于某个正数 </a:t>
                </a:r>
                <a:r>
                  <a:rPr lang="en-US" altLang="zh-CN" dirty="0"/>
                  <a:t>ε</a:t>
                </a:r>
                <a:r>
                  <a:rPr lang="zh-CN" altLang="en-US" dirty="0"/>
                  <a:t>，</a:t>
                </a:r>
                <a:endParaRPr lang="en-US" altLang="zh-CN" dirty="0"/>
              </a:p>
              <a:p>
                <a:r>
                  <a:rPr lang="zh-CN" altLang="en-US" dirty="0"/>
                  <a:t>使得矩阵严格正定，保持在 </a:t>
                </a:r>
                <a:r>
                  <a:rPr lang="en-US" altLang="zh-CN" dirty="0"/>
                  <a:t>SPD </a:t>
                </a:r>
                <a:r>
                  <a:rPr lang="zh-CN" altLang="en-US" dirty="0"/>
                  <a:t>流形内。</a:t>
                </a:r>
              </a:p>
            </p:txBody>
          </p:sp>
        </mc:Choice>
        <mc:Fallback xmlns="">
          <p:sp>
            <p:nvSpPr>
              <p:cNvPr id="3" name="备注占位符 2"/>
              <p:cNvSpPr>
                <a:spLocks noGrp="1"/>
              </p:cNvSpPr>
              <p:nvPr>
                <p:ph type="body" idx="1"/>
              </p:nvPr>
            </p:nvSpPr>
            <p:spPr/>
            <p:txBody>
              <a:bodyPr/>
              <a:lstStyle/>
              <a:p>
                <a:r>
                  <a:rPr lang="zh-CN" altLang="en-US" dirty="0"/>
                  <a:t>保证输出仍是 </a:t>
                </a:r>
                <a:r>
                  <a:rPr lang="en-US" altLang="zh-CN" dirty="0"/>
                  <a:t>SPD </a:t>
                </a:r>
                <a:r>
                  <a:rPr lang="zh-CN" altLang="en-US" dirty="0"/>
                  <a:t>矩阵（因为变换保持对称性和正定性）</a:t>
                </a:r>
                <a:br>
                  <a:rPr lang="en-US" altLang="zh-CN" dirty="0"/>
                </a:br>
                <a:r>
                  <a:rPr lang="zh-CN" altLang="en-US" dirty="0"/>
                  <a:t>特征变换：在欧几里得空间中 </a:t>
                </a:r>
                <a:r>
                  <a:rPr lang="en-US" altLang="zh-CN" dirty="0"/>
                  <a:t>MLP </a:t>
                </a:r>
                <a:r>
                  <a:rPr lang="zh-CN" altLang="en-US" dirty="0"/>
                  <a:t>是线性层 </a:t>
                </a:r>
                <a:r>
                  <a:rPr lang="en-US" altLang="zh-CN" dirty="0"/>
                  <a:t>+ </a:t>
                </a:r>
                <a:r>
                  <a:rPr lang="zh-CN" altLang="en-US" dirty="0"/>
                  <a:t>激活；</a:t>
                </a:r>
                <a:br>
                  <a:rPr lang="zh-CN" altLang="en-US" dirty="0"/>
                </a:br>
                <a:r>
                  <a:rPr lang="zh-CN" altLang="en-US" dirty="0"/>
                  <a:t>在 </a:t>
                </a:r>
                <a:r>
                  <a:rPr lang="en-US" altLang="zh-CN" dirty="0"/>
                  <a:t>SPD </a:t>
                </a:r>
                <a:r>
                  <a:rPr lang="zh-CN" altLang="en-US" dirty="0"/>
                  <a:t>流形中，</a:t>
                </a:r>
                <a:r>
                  <a:rPr lang="en-US" altLang="zh-CN" dirty="0"/>
                  <a:t>(SPD Transform)*n</a:t>
                </a:r>
                <a:r>
                  <a:rPr lang="zh-CN" altLang="en-US" dirty="0"/>
                  <a:t> </a:t>
                </a:r>
                <a:r>
                  <a:rPr lang="en-US" altLang="zh-CN" dirty="0"/>
                  <a:t> </a:t>
                </a:r>
                <a:r>
                  <a:rPr lang="zh-CN" altLang="en-US" dirty="0"/>
                  <a:t>是连续的黎曼变换。</a:t>
                </a:r>
                <a:endParaRPr lang="en-US" altLang="zh-CN" dirty="0"/>
              </a:p>
              <a:p>
                <a:r>
                  <a:rPr lang="zh-CN" altLang="en-US" dirty="0"/>
                  <a:t>氨基酸</a:t>
                </a:r>
                <a:r>
                  <a:rPr lang="en-US" altLang="zh-CN" dirty="0"/>
                  <a:t>(</a:t>
                </a:r>
                <a:r>
                  <a:rPr lang="zh-CN" altLang="en-US" dirty="0"/>
                  <a:t>节点</a:t>
                </a:r>
                <a:r>
                  <a:rPr lang="en-US" altLang="zh-CN" dirty="0"/>
                  <a:t>)</a:t>
                </a:r>
                <a:r>
                  <a:rPr lang="zh-CN" altLang="en-US" dirty="0"/>
                  <a:t>特征在每一层的更新方式如下</a:t>
                </a:r>
                <a:r>
                  <a:rPr lang="en-US" altLang="zh-CN" dirty="0"/>
                  <a:t>:</a:t>
                </a:r>
              </a:p>
              <a:p>
                <a:r>
                  <a:rPr lang="zh-CN" altLang="en-US" dirty="0"/>
                  <a:t>获取第</a:t>
                </a:r>
                <a:r>
                  <a:rPr lang="en-US" altLang="zh-CN" dirty="0"/>
                  <a:t>l</a:t>
                </a:r>
                <a:r>
                  <a:rPr lang="zh-CN" altLang="en-US" dirty="0"/>
                  <a:t>层，氨基酸</a:t>
                </a:r>
                <a:r>
                  <a:rPr lang="en-US" altLang="zh-CN" dirty="0"/>
                  <a:t>j</a:t>
                </a:r>
                <a:r>
                  <a:rPr lang="zh-CN" altLang="en-US" dirty="0"/>
                  <a:t>到氨基酸</a:t>
                </a:r>
                <a:r>
                  <a:rPr lang="en-US" altLang="zh-CN" dirty="0" err="1"/>
                  <a:t>i</a:t>
                </a:r>
                <a:r>
                  <a:rPr lang="zh-CN" altLang="en-US" dirty="0"/>
                  <a:t>的边</a:t>
                </a:r>
                <a:r>
                  <a:rPr lang="en-US" altLang="zh-CN" dirty="0" err="1"/>
                  <a:t>mij</a:t>
                </a:r>
                <a:r>
                  <a:rPr lang="zh-CN" altLang="en-US" dirty="0"/>
                  <a:t>上的信息</a:t>
                </a:r>
                <a:br>
                  <a:rPr lang="en-US" altLang="zh-CN" dirty="0"/>
                </a:br>
                <a:r>
                  <a:rPr lang="zh-CN" altLang="en-US" dirty="0"/>
                  <a:t>聚合以氨基酸</a:t>
                </a:r>
                <a:r>
                  <a:rPr lang="en-US" altLang="zh-CN" dirty="0" err="1"/>
                  <a:t>i</a:t>
                </a:r>
                <a:r>
                  <a:rPr lang="zh-CN" altLang="en-US" dirty="0"/>
                  <a:t>为目标节点的边的所有信息，以获得氨基酸</a:t>
                </a:r>
                <a:r>
                  <a:rPr lang="en-US" altLang="zh-CN" dirty="0" err="1"/>
                  <a:t>i</a:t>
                </a:r>
                <a:r>
                  <a:rPr lang="zh-CN" altLang="en-US" dirty="0"/>
                  <a:t>的邻居汇总表示</a:t>
                </a:r>
                <a:endParaRPr lang="en-US" altLang="zh-CN" dirty="0"/>
              </a:p>
              <a:p>
                <a:r>
                  <a:rPr lang="zh-CN" altLang="en-US" dirty="0"/>
                  <a:t>获取第</a:t>
                </a:r>
                <a:r>
                  <a:rPr lang="en-US" altLang="zh-CN" dirty="0"/>
                  <a:t>L+1</a:t>
                </a:r>
                <a:r>
                  <a:rPr lang="zh-CN" altLang="en-US" dirty="0"/>
                  <a:t>层，氨基酸</a:t>
                </a:r>
                <a:r>
                  <a:rPr lang="en-US" altLang="zh-CN" dirty="0" err="1"/>
                  <a:t>i</a:t>
                </a:r>
                <a:r>
                  <a:rPr lang="zh-CN" altLang="en-US" dirty="0"/>
                  <a:t>的特征，</a:t>
                </a:r>
                <a:br>
                  <a:rPr lang="en-US" altLang="zh-CN" dirty="0"/>
                </a:br>
                <a:r>
                  <a:rPr lang="zh-CN" altLang="en-US" dirty="0"/>
                  <a:t>协方差矩阵中的某些特征值可能非常小，接近 </a:t>
                </a:r>
                <a:r>
                  <a:rPr lang="en-US" altLang="zh-CN" dirty="0"/>
                  <a:t>0</a:t>
                </a:r>
                <a:r>
                  <a:rPr lang="zh-CN" altLang="en-US" dirty="0"/>
                  <a:t>，会导致数值不稳定或不可逆。因此，</a:t>
                </a:r>
                <a:r>
                  <a:rPr lang="en-US" altLang="zh-CN" b="0" i="0">
                    <a:latin typeface="Cambria Math" panose="02040503050406030204" pitchFamily="18" charset="0"/>
                  </a:rPr>
                  <a:t>𝑓_𝑟^𝑙</a:t>
                </a:r>
                <a:r>
                  <a:rPr lang="en-US" altLang="zh-CN" dirty="0"/>
                  <a:t> </a:t>
                </a:r>
                <a:r>
                  <a:rPr lang="zh-CN" altLang="en-US" dirty="0"/>
                  <a:t>层用于保证所有特征值大于某个正数 </a:t>
                </a:r>
                <a:r>
                  <a:rPr lang="en-US" altLang="zh-CN" dirty="0"/>
                  <a:t>ε</a:t>
                </a:r>
                <a:r>
                  <a:rPr lang="zh-CN" altLang="en-US" dirty="0"/>
                  <a:t>，</a:t>
                </a:r>
                <a:endParaRPr lang="en-US" altLang="zh-CN" dirty="0"/>
              </a:p>
              <a:p>
                <a:r>
                  <a:rPr lang="zh-CN" altLang="en-US" dirty="0"/>
                  <a:t>使得矩阵严格正定，保持在 </a:t>
                </a:r>
                <a:r>
                  <a:rPr lang="en-US" altLang="zh-CN" dirty="0"/>
                  <a:t>SPD </a:t>
                </a:r>
                <a:r>
                  <a:rPr lang="zh-CN" altLang="en-US" dirty="0"/>
                  <a:t>流形内。</a:t>
                </a:r>
              </a:p>
            </p:txBody>
          </p:sp>
        </mc:Fallback>
      </mc:AlternateContent>
      <p:sp>
        <p:nvSpPr>
          <p:cNvPr id="4" name="灯片编号占位符 3"/>
          <p:cNvSpPr>
            <a:spLocks noGrp="1"/>
          </p:cNvSpPr>
          <p:nvPr>
            <p:ph type="sldNum" sz="quarter" idx="5"/>
          </p:nvPr>
        </p:nvSpPr>
        <p:spPr/>
        <p:txBody>
          <a:bodyPr/>
          <a:lstStyle/>
          <a:p>
            <a:fld id="{F9600E1B-4003-47CD-92FB-2D59D38F5D9B}" type="slidenum">
              <a:rPr lang="zh-CN" altLang="en-US" smtClean="0"/>
              <a:t>12</a:t>
            </a:fld>
            <a:endParaRPr lang="zh-CN" altLang="en-US"/>
          </a:p>
        </p:txBody>
      </p:sp>
    </p:spTree>
    <p:extLst>
      <p:ext uri="{BB962C8B-B14F-4D97-AF65-F5344CB8AC3E}">
        <p14:creationId xmlns:p14="http://schemas.microsoft.com/office/powerpoint/2010/main" val="2909738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539E71-00AA-8600-CE97-BEAEC5E4F94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A1F5959-C953-49BF-DD1E-1E9E6343BC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DB9C8D6-498F-F215-2987-29757CB053C3}"/>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5" name="页脚占位符 4">
            <a:extLst>
              <a:ext uri="{FF2B5EF4-FFF2-40B4-BE49-F238E27FC236}">
                <a16:creationId xmlns:a16="http://schemas.microsoft.com/office/drawing/2014/main" id="{486F4D55-D399-C10C-0EE0-54F720595BA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BF9D1CF-0B07-C8BE-289E-101DA161CE8B}"/>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541665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95425C-4F15-CD85-574D-A35B4D06C06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29F0591-5C83-4F67-F431-F78BA3AD736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6FE44B2-0B68-4010-F985-2D3132610ABF}"/>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5" name="页脚占位符 4">
            <a:extLst>
              <a:ext uri="{FF2B5EF4-FFF2-40B4-BE49-F238E27FC236}">
                <a16:creationId xmlns:a16="http://schemas.microsoft.com/office/drawing/2014/main" id="{1E84E693-C42F-6FD4-F97D-60AE1BFBAE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682A04-6488-1528-1A83-D9BABB2560AC}"/>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2982518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EDFE96-D9EA-31C5-51E0-5BAFD2ACF44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FF8FC1C-8D7D-0924-4CB7-F9088F7B75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1BA1D1A-A344-1ABE-924D-BFA0EFD9F6F8}"/>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5" name="页脚占位符 4">
            <a:extLst>
              <a:ext uri="{FF2B5EF4-FFF2-40B4-BE49-F238E27FC236}">
                <a16:creationId xmlns:a16="http://schemas.microsoft.com/office/drawing/2014/main" id="{4F8872E1-3E52-59C2-D53A-471D160853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E07DB3-F08C-4E4C-7A4B-CBFA75974F3E}"/>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409677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5F8BA0-2C13-1749-230C-BCC93CD2F7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9CBC1DB-6692-7015-5E18-804F95FDA98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3819824-5812-FDD9-78D5-2A9D42116C2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A15B5BD-AA17-C50A-C5BF-E046FA670007}"/>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6" name="页脚占位符 5">
            <a:extLst>
              <a:ext uri="{FF2B5EF4-FFF2-40B4-BE49-F238E27FC236}">
                <a16:creationId xmlns:a16="http://schemas.microsoft.com/office/drawing/2014/main" id="{8E749819-5FC3-59B6-DA1D-472FF60DF72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EE08D7-D70A-387C-78AB-D82CE2F884D9}"/>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2823535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C3C02-5642-4B66-0981-8E8CF83C40D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21A8C89-B3BD-8E7D-B51B-E0FE97686B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AE642F5-7BF2-DE47-D6F9-2083F243442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391DA33-AFB4-3355-B749-8F8A6F766D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2ECC200-5704-B88B-7162-DC83E8E09A3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B4979AF-176F-942F-04AA-CA6FFE94636F}"/>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8" name="页脚占位符 7">
            <a:extLst>
              <a:ext uri="{FF2B5EF4-FFF2-40B4-BE49-F238E27FC236}">
                <a16:creationId xmlns:a16="http://schemas.microsoft.com/office/drawing/2014/main" id="{C2B96A4F-E5C0-1A98-1827-D475B7ED9C1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DEA88F1-C82C-8E37-BE25-5990CBF62E5B}"/>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3087501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E78895-2734-CD72-4AF2-4625748A14D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B1B8E61-DBD1-35BD-0EA1-A04E204BF160}"/>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4" name="页脚占位符 3">
            <a:extLst>
              <a:ext uri="{FF2B5EF4-FFF2-40B4-BE49-F238E27FC236}">
                <a16:creationId xmlns:a16="http://schemas.microsoft.com/office/drawing/2014/main" id="{C2633F45-A6B1-43ED-88AD-B9741686566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5A28EF-B061-D565-E314-E28219DCE346}"/>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153796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1A57054-7BF9-3963-108C-916CB002E9AA}"/>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3" name="页脚占位符 2">
            <a:extLst>
              <a:ext uri="{FF2B5EF4-FFF2-40B4-BE49-F238E27FC236}">
                <a16:creationId xmlns:a16="http://schemas.microsoft.com/office/drawing/2014/main" id="{52148E5B-AFC2-D879-557B-AEA13E57B73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A92A496-7550-EBB7-791E-B8E51F03B8AC}"/>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2373872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22F4DE-5A4A-6055-25D3-BF4E7E7F2DB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4B9C10A-5764-DE26-3BE6-AECD75BC14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A41830E-5B63-FACE-D52D-1F6437ADE2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8810224-4685-D094-2F74-B2CD1CC63140}"/>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6" name="页脚占位符 5">
            <a:extLst>
              <a:ext uri="{FF2B5EF4-FFF2-40B4-BE49-F238E27FC236}">
                <a16:creationId xmlns:a16="http://schemas.microsoft.com/office/drawing/2014/main" id="{7FEA2305-F2AF-F49B-30DA-B83EBD4AE70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059C91C-5B74-0B05-EC7A-5F654E5AFC3D}"/>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759606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6DAFBA-74F7-07AF-D2DB-B643A42F746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3F6938C-A50C-C51D-A1AA-B2D3AA7AA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79794D6-8183-0B7A-B184-145BA19E59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5359489-063F-1637-7F0F-6D1000C8169C}"/>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6" name="页脚占位符 5">
            <a:extLst>
              <a:ext uri="{FF2B5EF4-FFF2-40B4-BE49-F238E27FC236}">
                <a16:creationId xmlns:a16="http://schemas.microsoft.com/office/drawing/2014/main" id="{9A3BA4C9-A6F3-890C-EA96-D6881404F12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3B7222F-488C-578D-E012-602688DBEA81}"/>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3975350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94066-B866-B5D9-731A-FFB74F94378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3200019-2ED0-E3E5-A24A-C058416358D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935A21-D623-3BA5-6651-552E1D77DC82}"/>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5" name="页脚占位符 4">
            <a:extLst>
              <a:ext uri="{FF2B5EF4-FFF2-40B4-BE49-F238E27FC236}">
                <a16:creationId xmlns:a16="http://schemas.microsoft.com/office/drawing/2014/main" id="{0C4A77CC-A57F-C34A-DB39-4B63184131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4D0CA71-BB51-5D60-198B-7F7DFB36688E}"/>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2635424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AA27F3C-58EA-65F3-B1CC-185E1BD026A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E1CF5C5-6EA8-817D-9E70-6A3F1E337FD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9CCCA79-A7D4-A29C-67F3-DF406FEF1F8A}"/>
              </a:ext>
            </a:extLst>
          </p:cNvPr>
          <p:cNvSpPr>
            <a:spLocks noGrp="1"/>
          </p:cNvSpPr>
          <p:nvPr>
            <p:ph type="dt" sz="half" idx="10"/>
          </p:nvPr>
        </p:nvSpPr>
        <p:spPr/>
        <p:txBody>
          <a:bodyPr/>
          <a:lstStyle/>
          <a:p>
            <a:fld id="{DBD0F83E-52B0-4FA7-AE66-001D928785BF}" type="datetimeFigureOut">
              <a:rPr lang="zh-CN" altLang="en-US" smtClean="0"/>
              <a:t>2025/6/4</a:t>
            </a:fld>
            <a:endParaRPr lang="zh-CN" altLang="en-US"/>
          </a:p>
        </p:txBody>
      </p:sp>
      <p:sp>
        <p:nvSpPr>
          <p:cNvPr id="5" name="页脚占位符 4">
            <a:extLst>
              <a:ext uri="{FF2B5EF4-FFF2-40B4-BE49-F238E27FC236}">
                <a16:creationId xmlns:a16="http://schemas.microsoft.com/office/drawing/2014/main" id="{E4422BF7-06AC-C1E9-17B3-71D66427D8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D7CAACD-0328-A779-99A8-636FF8740D5E}"/>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631725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BD72F39-E6C4-24D0-D155-1E297BF024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17DAB2C-6D81-281C-6648-DF98AEE740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271A7044-0130-2C49-E385-4D3491B367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Noto Sans JP" panose="020B0200000000000000" pitchFamily="34" charset="-122"/>
                <a:ea typeface="Noto Sans JP" panose="020B0200000000000000" pitchFamily="34" charset="-122"/>
              </a:defRPr>
            </a:lvl1pPr>
          </a:lstStyle>
          <a:p>
            <a:fld id="{DBD0F83E-52B0-4FA7-AE66-001D928785BF}" type="datetimeFigureOut">
              <a:rPr lang="zh-CN" altLang="en-US" smtClean="0"/>
              <a:pPr/>
              <a:t>2025/6/4</a:t>
            </a:fld>
            <a:endParaRPr lang="zh-CN" altLang="en-US" dirty="0"/>
          </a:p>
        </p:txBody>
      </p:sp>
      <p:sp>
        <p:nvSpPr>
          <p:cNvPr id="5" name="页脚占位符 4">
            <a:extLst>
              <a:ext uri="{FF2B5EF4-FFF2-40B4-BE49-F238E27FC236}">
                <a16:creationId xmlns:a16="http://schemas.microsoft.com/office/drawing/2014/main" id="{50197CAC-711E-0BAF-84E4-823B428A6C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Noto Sans JP" panose="020B0200000000000000" pitchFamily="34" charset="-122"/>
                <a:ea typeface="Noto Sans JP" panose="020B0200000000000000" pitchFamily="34" charset="-122"/>
              </a:defRPr>
            </a:lvl1pPr>
          </a:lstStyle>
          <a:p>
            <a:endParaRPr lang="zh-CN" altLang="en-US" dirty="0"/>
          </a:p>
        </p:txBody>
      </p:sp>
      <p:sp>
        <p:nvSpPr>
          <p:cNvPr id="6" name="灯片编号占位符 5">
            <a:extLst>
              <a:ext uri="{FF2B5EF4-FFF2-40B4-BE49-F238E27FC236}">
                <a16:creationId xmlns:a16="http://schemas.microsoft.com/office/drawing/2014/main" id="{2B5BD4BE-AFC5-116F-375C-BEB6994641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Noto Sans JP" panose="020B0200000000000000" pitchFamily="34" charset="-122"/>
                <a:ea typeface="Noto Sans JP" panose="020B0200000000000000" pitchFamily="34" charset="-122"/>
              </a:defRPr>
            </a:lvl1pPr>
          </a:lstStyle>
          <a:p>
            <a:fld id="{6CA42A35-5995-436A-8AF6-95892E4489E5}" type="slidenum">
              <a:rPr lang="zh-CN" altLang="en-US" smtClean="0"/>
              <a:pPr/>
              <a:t>‹#›</a:t>
            </a:fld>
            <a:endParaRPr lang="zh-CN" altLang="en-US" dirty="0"/>
          </a:p>
        </p:txBody>
      </p:sp>
    </p:spTree>
    <p:extLst>
      <p:ext uri="{BB962C8B-B14F-4D97-AF65-F5344CB8AC3E}">
        <p14:creationId xmlns:p14="http://schemas.microsoft.com/office/powerpoint/2010/main" val="20182740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Noto Sans JP" panose="020B0200000000000000" pitchFamily="34" charset="-122"/>
          <a:ea typeface="Noto Sans JP" panose="020B02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Noto Sans JP" panose="020B0200000000000000" pitchFamily="34" charset="-122"/>
          <a:ea typeface="Noto Sans JP" panose="020B02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Noto Sans JP" panose="020B0200000000000000" pitchFamily="34" charset="-122"/>
          <a:ea typeface="Noto Sans JP" panose="020B02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Noto Sans JP" panose="020B0200000000000000" pitchFamily="34" charset="-122"/>
          <a:ea typeface="Noto Sans JP" panose="020B02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Noto Sans JP" panose="020B0200000000000000" pitchFamily="34" charset="-122"/>
          <a:ea typeface="Noto Sans JP" panose="020B02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7.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1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E790B5E-E256-5380-5866-9BB5417AD7B8}"/>
              </a:ext>
            </a:extLst>
          </p:cNvPr>
          <p:cNvSpPr txBox="1"/>
          <p:nvPr/>
        </p:nvSpPr>
        <p:spPr>
          <a:xfrm>
            <a:off x="2245489" y="1261641"/>
            <a:ext cx="8866207" cy="646331"/>
          </a:xfrm>
          <a:prstGeom prst="rect">
            <a:avLst/>
          </a:prstGeom>
          <a:noFill/>
        </p:spPr>
        <p:txBody>
          <a:bodyPr wrap="square" rtlCol="0">
            <a:spAutoFit/>
          </a:bodyPr>
          <a:lstStyle/>
          <a:p>
            <a:pPr algn="l"/>
            <a:r>
              <a:rPr lang="en-US" altLang="zh-CN" dirty="0">
                <a:latin typeface="Noto Sans JP" panose="020B0200000000000000" pitchFamily="34" charset="-122"/>
                <a:ea typeface="Noto Sans JP" panose="020B0200000000000000" pitchFamily="34" charset="-122"/>
                <a:cs typeface="Times New Roman" panose="02020603050405020304" pitchFamily="18" charset="0"/>
              </a:rPr>
              <a:t>R-DTI: Drug Target Interaction Prediction Based on Second-Order Relevance Exploration</a:t>
            </a:r>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6C576BBA-EB4C-7882-F216-152CBCB4849B}"/>
              </a:ext>
            </a:extLst>
          </p:cNvPr>
          <p:cNvSpPr txBox="1"/>
          <p:nvPr/>
        </p:nvSpPr>
        <p:spPr>
          <a:xfrm>
            <a:off x="2769244" y="714620"/>
            <a:ext cx="8342452" cy="369332"/>
          </a:xfrm>
          <a:prstGeom prst="rect">
            <a:avLst/>
          </a:prstGeom>
          <a:noFill/>
        </p:spPr>
        <p:txBody>
          <a:bodyPr wrap="square">
            <a:spAutoFit/>
          </a:bodyPr>
          <a:lstStyle/>
          <a:p>
            <a:r>
              <a:rPr lang="en-US" altLang="zh-CN" sz="1800" b="0" i="0" u="none" strike="noStrike" baseline="0" dirty="0">
                <a:latin typeface="Noto Sans JP" panose="020B0200000000000000" pitchFamily="34" charset="-122"/>
                <a:ea typeface="Noto Sans JP" panose="020B0200000000000000" pitchFamily="34" charset="-122"/>
                <a:cs typeface="Times New Roman" panose="02020603050405020304" pitchFamily="18" charset="0"/>
              </a:rPr>
              <a:t>The Thirty-Ninth AAAI Conference on Artificial Intelligence (AAAI-25)</a:t>
            </a:r>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17482884-C6FD-FE70-705B-8402669C78AF}"/>
              </a:ext>
            </a:extLst>
          </p:cNvPr>
          <p:cNvSpPr txBox="1"/>
          <p:nvPr/>
        </p:nvSpPr>
        <p:spPr>
          <a:xfrm>
            <a:off x="431158" y="2679143"/>
            <a:ext cx="4676172" cy="923330"/>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cs typeface="Times New Roman" panose="02020603050405020304" pitchFamily="18" charset="0"/>
              </a:rPr>
              <a:t>the complex protein structures cannot be well represented by current protein sequence-based feature extractors</a:t>
            </a:r>
          </a:p>
        </p:txBody>
      </p:sp>
      <p:sp>
        <p:nvSpPr>
          <p:cNvPr id="10" name="文本框 9">
            <a:extLst>
              <a:ext uri="{FF2B5EF4-FFF2-40B4-BE49-F238E27FC236}">
                <a16:creationId xmlns:a16="http://schemas.microsoft.com/office/drawing/2014/main" id="{4A41BD64-105A-CF88-8903-7637A671F275}"/>
              </a:ext>
            </a:extLst>
          </p:cNvPr>
          <p:cNvSpPr txBox="1"/>
          <p:nvPr/>
        </p:nvSpPr>
        <p:spPr>
          <a:xfrm>
            <a:off x="431158" y="4523648"/>
            <a:ext cx="4676172" cy="1200329"/>
          </a:xfrm>
          <a:prstGeom prst="rect">
            <a:avLst/>
          </a:prstGeom>
          <a:noFill/>
        </p:spPr>
        <p:txBody>
          <a:bodyPr wrap="square">
            <a:spAutoFit/>
          </a:bodyPr>
          <a:lstStyle/>
          <a:p>
            <a:pPr algn="l"/>
            <a:r>
              <a:rPr lang="en-US" altLang="zh-CN" sz="1800" b="0" i="0" u="none" strike="noStrike" baseline="0" dirty="0">
                <a:latin typeface="Noto Sans JP" panose="020B0200000000000000" pitchFamily="34" charset="-122"/>
                <a:ea typeface="Noto Sans JP" panose="020B0200000000000000" pitchFamily="34" charset="-122"/>
                <a:cs typeface="Times New Roman" panose="02020603050405020304" pitchFamily="18" charset="0"/>
              </a:rPr>
              <a:t>the gap between protein and drug features increases the vulnerability of the obtained classifier thus degrading the prediction robustness</a:t>
            </a:r>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E33D0DDF-FE5B-01B4-ED1A-4507655621D4}"/>
              </a:ext>
            </a:extLst>
          </p:cNvPr>
          <p:cNvSpPr txBox="1"/>
          <p:nvPr/>
        </p:nvSpPr>
        <p:spPr>
          <a:xfrm>
            <a:off x="6678592" y="2217478"/>
            <a:ext cx="4676172" cy="923330"/>
          </a:xfrm>
          <a:prstGeom prst="rect">
            <a:avLst/>
          </a:prstGeom>
          <a:noFill/>
        </p:spPr>
        <p:txBody>
          <a:bodyPr wrap="square">
            <a:spAutoFit/>
          </a:bodyPr>
          <a:lstStyle/>
          <a:p>
            <a:pPr algn="l"/>
            <a:r>
              <a:rPr lang="en-US" altLang="zh-CN" dirty="0">
                <a:latin typeface="Noto Sans JP" panose="020B0200000000000000" pitchFamily="34" charset="-122"/>
                <a:ea typeface="Noto Sans JP" panose="020B0200000000000000" pitchFamily="34" charset="-122"/>
                <a:cs typeface="Times New Roman" panose="02020603050405020304" pitchFamily="18" charset="0"/>
              </a:rPr>
              <a:t>(1) </a:t>
            </a:r>
            <a:r>
              <a:rPr lang="en-US" altLang="zh-CN" sz="1800" b="0" i="0" u="none" strike="noStrike" baseline="0" dirty="0">
                <a:latin typeface="Noto Sans JP" panose="020B0200000000000000" pitchFamily="34" charset="-122"/>
                <a:ea typeface="Noto Sans JP" panose="020B0200000000000000" pitchFamily="34" charset="-122"/>
                <a:cs typeface="Times New Roman" panose="02020603050405020304" pitchFamily="18" charset="0"/>
              </a:rPr>
              <a:t>construct </a:t>
            </a:r>
            <a:r>
              <a:rPr lang="en-US" altLang="zh-CN" sz="1800" b="1" i="0" u="none" strike="noStrike" baseline="0" dirty="0">
                <a:latin typeface="Noto Sans JP" panose="020B0200000000000000" pitchFamily="34" charset="-122"/>
                <a:ea typeface="Noto Sans JP" panose="020B0200000000000000" pitchFamily="34" charset="-122"/>
                <a:cs typeface="Times New Roman" panose="02020603050405020304" pitchFamily="18" charset="0"/>
              </a:rPr>
              <a:t>a pre-trained structural feature extractor</a:t>
            </a:r>
            <a:r>
              <a:rPr lang="en-US" altLang="zh-CN" sz="1800" b="0" i="0" u="none" strike="noStrike" baseline="0" dirty="0">
                <a:latin typeface="Noto Sans JP" panose="020B0200000000000000" pitchFamily="34" charset="-122"/>
                <a:ea typeface="Noto Sans JP" panose="020B0200000000000000" pitchFamily="34" charset="-122"/>
                <a:cs typeface="Times New Roman" panose="02020603050405020304" pitchFamily="18" charset="0"/>
              </a:rPr>
              <a:t> that mines the atomic relevance of each amino acid</a:t>
            </a:r>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p:sp>
        <p:nvSpPr>
          <p:cNvPr id="13" name="文本框 12">
            <a:extLst>
              <a:ext uri="{FF2B5EF4-FFF2-40B4-BE49-F238E27FC236}">
                <a16:creationId xmlns:a16="http://schemas.microsoft.com/office/drawing/2014/main" id="{116BD281-505F-0F9E-05A4-A2F6FDEE7BB0}"/>
              </a:ext>
            </a:extLst>
          </p:cNvPr>
          <p:cNvSpPr txBox="1"/>
          <p:nvPr/>
        </p:nvSpPr>
        <p:spPr>
          <a:xfrm>
            <a:off x="6678592" y="3232905"/>
            <a:ext cx="4676172" cy="1200329"/>
          </a:xfrm>
          <a:prstGeom prst="rect">
            <a:avLst/>
          </a:prstGeom>
          <a:noFill/>
        </p:spPr>
        <p:txBody>
          <a:bodyPr wrap="square">
            <a:spAutoFit/>
          </a:bodyPr>
          <a:lstStyle/>
          <a:p>
            <a:pPr algn="l"/>
            <a:r>
              <a:rPr lang="en-US" altLang="zh-CN" dirty="0">
                <a:latin typeface="Noto Sans JP" panose="020B0200000000000000" pitchFamily="34" charset="-122"/>
                <a:ea typeface="Noto Sans JP" panose="020B0200000000000000" pitchFamily="34" charset="-122"/>
                <a:cs typeface="Times New Roman" panose="02020603050405020304" pitchFamily="18" charset="0"/>
              </a:rPr>
              <a:t>(2) </a:t>
            </a:r>
            <a:r>
              <a:rPr lang="en-US" altLang="zh-CN" sz="1800" b="0" i="0" u="none" strike="noStrike" baseline="0" dirty="0">
                <a:latin typeface="Noto Sans JP" panose="020B0200000000000000" pitchFamily="34" charset="-122"/>
                <a:ea typeface="Noto Sans JP" panose="020B0200000000000000" pitchFamily="34" charset="-122"/>
                <a:cs typeface="Times New Roman" panose="02020603050405020304" pitchFamily="18" charset="0"/>
              </a:rPr>
              <a:t>An inter-feature structure-preserved </a:t>
            </a:r>
            <a:r>
              <a:rPr lang="en-US" altLang="zh-CN" sz="1800" b="1" i="0" u="none" strike="noStrike" baseline="0" dirty="0">
                <a:latin typeface="Noto Sans JP" panose="020B0200000000000000" pitchFamily="34" charset="-122"/>
                <a:ea typeface="Noto Sans JP" panose="020B0200000000000000" pitchFamily="34" charset="-122"/>
                <a:cs typeface="Times New Roman" panose="02020603050405020304" pitchFamily="18" charset="0"/>
              </a:rPr>
              <a:t>Riemannian network </a:t>
            </a:r>
            <a:r>
              <a:rPr lang="en-US" altLang="zh-CN" sz="1800" b="0" i="0" u="none" strike="noStrike" baseline="0" dirty="0">
                <a:latin typeface="Noto Sans JP" panose="020B0200000000000000" pitchFamily="34" charset="-122"/>
                <a:ea typeface="Noto Sans JP" panose="020B0200000000000000" pitchFamily="34" charset="-122"/>
                <a:cs typeface="Times New Roman" panose="02020603050405020304" pitchFamily="18" charset="0"/>
              </a:rPr>
              <a:t>is designed to expand the existing protein extraction patterns</a:t>
            </a:r>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p:sp>
        <p:nvSpPr>
          <p:cNvPr id="15" name="文本框 14">
            <a:extLst>
              <a:ext uri="{FF2B5EF4-FFF2-40B4-BE49-F238E27FC236}">
                <a16:creationId xmlns:a16="http://schemas.microsoft.com/office/drawing/2014/main" id="{E07E5AA4-6311-DE31-34E6-C6F4A9EF1E22}"/>
              </a:ext>
            </a:extLst>
          </p:cNvPr>
          <p:cNvSpPr txBox="1"/>
          <p:nvPr/>
        </p:nvSpPr>
        <p:spPr>
          <a:xfrm>
            <a:off x="6713065" y="4673029"/>
            <a:ext cx="4916346" cy="923330"/>
          </a:xfrm>
          <a:prstGeom prst="rect">
            <a:avLst/>
          </a:prstGeom>
          <a:noFill/>
        </p:spPr>
        <p:txBody>
          <a:bodyPr wrap="square">
            <a:spAutoFit/>
          </a:bodyPr>
          <a:lstStyle/>
          <a:p>
            <a:pPr algn="l"/>
            <a:r>
              <a:rPr lang="en-US" altLang="zh-CN" dirty="0">
                <a:latin typeface="Noto Sans JP" panose="020B0200000000000000" pitchFamily="34" charset="-122"/>
                <a:ea typeface="Noto Sans JP" panose="020B0200000000000000" pitchFamily="34" charset="-122"/>
                <a:cs typeface="Times New Roman" panose="02020603050405020304" pitchFamily="18" charset="0"/>
              </a:rPr>
              <a:t>(3) </a:t>
            </a:r>
            <a:r>
              <a:rPr lang="en-US" altLang="zh-CN" sz="1800" b="0" i="0" u="none" strike="noStrike" baseline="0" dirty="0">
                <a:latin typeface="Noto Sans JP" panose="020B0200000000000000" pitchFamily="34" charset="-122"/>
                <a:ea typeface="Noto Sans JP" panose="020B0200000000000000" pitchFamily="34" charset="-122"/>
                <a:cs typeface="Times New Roman" panose="02020603050405020304" pitchFamily="18" charset="0"/>
              </a:rPr>
              <a:t>develop </a:t>
            </a:r>
            <a:r>
              <a:rPr lang="en-US" altLang="zh-CN" sz="1800" b="1" i="0" u="none" strike="noStrike" baseline="0" dirty="0">
                <a:latin typeface="Noto Sans JP" panose="020B0200000000000000" pitchFamily="34" charset="-122"/>
                <a:ea typeface="Noto Sans JP" panose="020B0200000000000000" pitchFamily="34" charset="-122"/>
                <a:cs typeface="Times New Roman" panose="02020603050405020304" pitchFamily="18" charset="0"/>
              </a:rPr>
              <a:t>a Riemannian classifier </a:t>
            </a:r>
            <a:r>
              <a:rPr lang="en-US" altLang="zh-CN" sz="1800" b="0" i="0" u="none" strike="noStrike" baseline="0" dirty="0">
                <a:latin typeface="Noto Sans JP" panose="020B0200000000000000" pitchFamily="34" charset="-122"/>
                <a:ea typeface="Noto Sans JP" panose="020B0200000000000000" pitchFamily="34" charset="-122"/>
                <a:cs typeface="Times New Roman" panose="02020603050405020304" pitchFamily="18" charset="0"/>
              </a:rPr>
              <a:t>that uses the second-order protein-drug relevance with a unified feature space</a:t>
            </a:r>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p:cxnSp>
        <p:nvCxnSpPr>
          <p:cNvPr id="18" name="直接箭头连接符 17">
            <a:extLst>
              <a:ext uri="{FF2B5EF4-FFF2-40B4-BE49-F238E27FC236}">
                <a16:creationId xmlns:a16="http://schemas.microsoft.com/office/drawing/2014/main" id="{282E1ECC-885D-3EF9-3543-0BD526711045}"/>
              </a:ext>
            </a:extLst>
          </p:cNvPr>
          <p:cNvCxnSpPr/>
          <p:nvPr/>
        </p:nvCxnSpPr>
        <p:spPr>
          <a:xfrm flipV="1">
            <a:off x="5370653" y="2558005"/>
            <a:ext cx="1157469" cy="4051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直接箭头连接符 18">
            <a:extLst>
              <a:ext uri="{FF2B5EF4-FFF2-40B4-BE49-F238E27FC236}">
                <a16:creationId xmlns:a16="http://schemas.microsoft.com/office/drawing/2014/main" id="{AB9D2B7A-1A8D-9529-FA99-27B7644A4E89}"/>
              </a:ext>
            </a:extLst>
          </p:cNvPr>
          <p:cNvCxnSpPr>
            <a:cxnSpLocks/>
          </p:cNvCxnSpPr>
          <p:nvPr/>
        </p:nvCxnSpPr>
        <p:spPr>
          <a:xfrm>
            <a:off x="5370652" y="3140808"/>
            <a:ext cx="1157469" cy="4982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直接箭头连接符 22">
            <a:extLst>
              <a:ext uri="{FF2B5EF4-FFF2-40B4-BE49-F238E27FC236}">
                <a16:creationId xmlns:a16="http://schemas.microsoft.com/office/drawing/2014/main" id="{B68D9E37-048F-1C12-CC3C-8EAD2046DD7B}"/>
              </a:ext>
            </a:extLst>
          </p:cNvPr>
          <p:cNvCxnSpPr>
            <a:cxnSpLocks/>
          </p:cNvCxnSpPr>
          <p:nvPr/>
        </p:nvCxnSpPr>
        <p:spPr>
          <a:xfrm>
            <a:off x="5251531" y="5074814"/>
            <a:ext cx="131733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文本框 24">
            <a:extLst>
              <a:ext uri="{FF2B5EF4-FFF2-40B4-BE49-F238E27FC236}">
                <a16:creationId xmlns:a16="http://schemas.microsoft.com/office/drawing/2014/main" id="{818DB50E-74BA-7F0A-1D0F-C7F56359D7F6}"/>
              </a:ext>
            </a:extLst>
          </p:cNvPr>
          <p:cNvSpPr txBox="1"/>
          <p:nvPr/>
        </p:nvSpPr>
        <p:spPr>
          <a:xfrm>
            <a:off x="10083638" y="6145761"/>
            <a:ext cx="1511300" cy="369332"/>
          </a:xfrm>
          <a:prstGeom prst="rect">
            <a:avLst/>
          </a:prstGeom>
          <a:noFill/>
        </p:spPr>
        <p:txBody>
          <a:bodyPr wrap="square">
            <a:spAutoFit/>
          </a:bodyPr>
          <a:lstStyle/>
          <a:p>
            <a:r>
              <a:rPr lang="en-US" altLang="zh-CN" dirty="0">
                <a:latin typeface="Noto Sans JP" panose="020B0200000000000000" pitchFamily="34" charset="-122"/>
                <a:ea typeface="Noto Sans JP" panose="020B0200000000000000" pitchFamily="34" charset="-122"/>
                <a:cs typeface="Times New Roman" panose="02020603050405020304" pitchFamily="18" charset="0"/>
              </a:rPr>
              <a:t>Niu </a:t>
            </a:r>
            <a:r>
              <a:rPr lang="en-US" altLang="zh-CN" dirty="0" err="1">
                <a:latin typeface="Noto Sans JP" panose="020B0200000000000000" pitchFamily="34" charset="-122"/>
                <a:ea typeface="Noto Sans JP" panose="020B0200000000000000" pitchFamily="34" charset="-122"/>
                <a:cs typeface="Times New Roman" panose="02020603050405020304" pitchFamily="18" charset="0"/>
              </a:rPr>
              <a:t>Wentao</a:t>
            </a:r>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p:pic>
        <p:nvPicPr>
          <p:cNvPr id="1026" name="Picture 2" descr="富山大学">
            <a:extLst>
              <a:ext uri="{FF2B5EF4-FFF2-40B4-BE49-F238E27FC236}">
                <a16:creationId xmlns:a16="http://schemas.microsoft.com/office/drawing/2014/main" id="{0CA8BC44-B516-1D4C-226C-6AE9DA06CA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64" y="98199"/>
            <a:ext cx="2666880" cy="610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6227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650AF56-5D1D-6619-32A3-8A65222965F7}"/>
              </a:ext>
            </a:extLst>
          </p:cNvPr>
          <p:cNvSpPr txBox="1"/>
          <p:nvPr/>
        </p:nvSpPr>
        <p:spPr>
          <a:xfrm>
            <a:off x="203200" y="209801"/>
            <a:ext cx="7590971" cy="369332"/>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cs typeface="Times New Roman" panose="02020603050405020304" pitchFamily="18" charset="0"/>
              </a:rPr>
              <a:t>The authors use SPD matrices to construct Riemannian manifolds.</a:t>
            </a:r>
          </a:p>
        </p:txBody>
      </p:sp>
      <p:sp>
        <p:nvSpPr>
          <p:cNvPr id="4" name="文本框 3">
            <a:extLst>
              <a:ext uri="{FF2B5EF4-FFF2-40B4-BE49-F238E27FC236}">
                <a16:creationId xmlns:a16="http://schemas.microsoft.com/office/drawing/2014/main" id="{1441B5FE-8D7D-2711-2185-9DA636E97F51}"/>
              </a:ext>
            </a:extLst>
          </p:cNvPr>
          <p:cNvSpPr txBox="1"/>
          <p:nvPr/>
        </p:nvSpPr>
        <p:spPr>
          <a:xfrm>
            <a:off x="203200" y="754742"/>
            <a:ext cx="6207148" cy="369332"/>
          </a:xfrm>
          <a:prstGeom prst="rect">
            <a:avLst/>
          </a:prstGeom>
          <a:noFill/>
        </p:spPr>
        <p:txBody>
          <a:bodyPr wrap="none" rtlCol="0">
            <a:spAutoFit/>
          </a:bodyPr>
          <a:lstStyle/>
          <a:p>
            <a:r>
              <a:rPr lang="en-US" altLang="zh-CN" dirty="0">
                <a:latin typeface="Noto Sans JP" panose="020B0200000000000000" pitchFamily="34" charset="-122"/>
                <a:ea typeface="Noto Sans JP" panose="020B0200000000000000" pitchFamily="34" charset="-122"/>
                <a:cs typeface="Times New Roman" panose="02020603050405020304" pitchFamily="18" charset="0"/>
              </a:rPr>
              <a:t>Why does the SPD matrix form a Riemannian manifold？</a:t>
            </a:r>
            <a:endParaRPr lang="zh-CN" altLang="en-US" b="1" dirty="0">
              <a:latin typeface="Noto Sans JP" panose="020B0200000000000000" pitchFamily="34" charset="-122"/>
              <a:ea typeface="Noto Sans JP" panose="020B0200000000000000"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23AF05B-EB3F-0292-299E-9BD589FC66AC}"/>
                  </a:ext>
                </a:extLst>
              </p:cNvPr>
              <p:cNvSpPr txBox="1"/>
              <p:nvPr/>
            </p:nvSpPr>
            <p:spPr>
              <a:xfrm>
                <a:off x="3744170" y="1346200"/>
                <a:ext cx="451162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m:t>
                          </m:r>
                        </m:sub>
                        <m:sup>
                          <m:r>
                            <a:rPr lang="en-US" altLang="zh-CN" b="0" i="1" smtClean="0">
                              <a:latin typeface="Cambria Math" panose="02040503050406030204" pitchFamily="18" charset="0"/>
                            </a:rPr>
                            <m:t>𝑛</m:t>
                          </m:r>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sup>
                      </m:sSup>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𝑋</m:t>
                          </m:r>
                        </m:e>
                        <m:sup>
                          <m:r>
                            <a:rPr lang="en-US" altLang="zh-CN" b="0" i="1" smtClean="0">
                              <a:latin typeface="Cambria Math" panose="02040503050406030204" pitchFamily="18" charset="0"/>
                              <a:ea typeface="Cambria Math" panose="02040503050406030204" pitchFamily="18" charset="0"/>
                            </a:rPr>
                            <m:t>𝑇</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𝑋</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𝑥</m:t>
                          </m:r>
                        </m:e>
                        <m:sup>
                          <m:r>
                            <a:rPr lang="en-US" altLang="zh-CN" b="0" i="1" smtClean="0">
                              <a:latin typeface="Cambria Math" panose="02040503050406030204" pitchFamily="18" charset="0"/>
                              <a:ea typeface="Cambria Math" panose="02040503050406030204" pitchFamily="18" charset="0"/>
                            </a:rPr>
                            <m:t>𝑇</m:t>
                          </m:r>
                        </m:sup>
                      </m:sSup>
                      <m:r>
                        <a:rPr lang="en-US" altLang="zh-CN" b="0" i="1" smtClean="0">
                          <a:latin typeface="Cambria Math" panose="02040503050406030204" pitchFamily="18" charset="0"/>
                          <a:ea typeface="Cambria Math" panose="02040503050406030204" pitchFamily="18" charset="0"/>
                        </a:rPr>
                        <m:t>𝑋𝑥</m:t>
                      </m:r>
                      <m:r>
                        <a:rPr lang="en-US" altLang="zh-CN" b="0" i="1" smtClean="0">
                          <a:latin typeface="Cambria Math" panose="02040503050406030204" pitchFamily="18" charset="0"/>
                          <a:ea typeface="Cambria Math" panose="02040503050406030204" pitchFamily="18" charset="0"/>
                        </a:rPr>
                        <m:t>&gt;0  ∀</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≠0}</m:t>
                      </m:r>
                    </m:oMath>
                  </m:oMathPara>
                </a14:m>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923AF05B-EB3F-0292-299E-9BD589FC66AC}"/>
                  </a:ext>
                </a:extLst>
              </p:cNvPr>
              <p:cNvSpPr txBox="1">
                <a:spLocks noRot="1" noChangeAspect="1" noMove="1" noResize="1" noEditPoints="1" noAdjustHandles="1" noChangeArrowheads="1" noChangeShapeType="1" noTextEdit="1"/>
              </p:cNvSpPr>
              <p:nvPr/>
            </p:nvSpPr>
            <p:spPr>
              <a:xfrm>
                <a:off x="3744170" y="1346200"/>
                <a:ext cx="4511620" cy="276999"/>
              </a:xfrm>
              <a:prstGeom prst="rect">
                <a:avLst/>
              </a:prstGeom>
              <a:blipFill>
                <a:blip r:embed="rId3"/>
                <a:stretch>
                  <a:fillRect l="-541" t="-28889" r="-3378" b="-5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2BA3514D-58AB-7A4E-8805-3CC4AF92F3BF}"/>
                  </a:ext>
                </a:extLst>
              </p:cNvPr>
              <p:cNvSpPr txBox="1"/>
              <p:nvPr/>
            </p:nvSpPr>
            <p:spPr>
              <a:xfrm>
                <a:off x="203200" y="1966072"/>
                <a:ext cx="9144000" cy="369332"/>
              </a:xfrm>
              <a:prstGeom prst="rect">
                <a:avLst/>
              </a:prstGeom>
              <a:noFill/>
            </p:spPr>
            <p:txBody>
              <a:bodyPr wrap="square">
                <a:spAutoFit/>
              </a:bodyPr>
              <a:lstStyle/>
              <a:p>
                <a:r>
                  <a:rPr lang="en-US" altLang="zh-CN" dirty="0">
                    <a:latin typeface="Noto Sans JP" panose="020B0200000000000000" pitchFamily="34" charset="-122"/>
                    <a:ea typeface="Noto Sans JP" panose="020B0200000000000000" pitchFamily="34" charset="-122"/>
                    <a:cs typeface="Times New Roman" panose="02020603050405020304" pitchFamily="18" charset="0"/>
                  </a:rPr>
                  <a:t>This set is all the symmetric positive definite matrices of  </a:t>
                </a:r>
                <a14:m>
                  <m:oMath xmlns:m="http://schemas.openxmlformats.org/officeDocument/2006/math">
                    <m:r>
                      <a:rPr lang="en-US" altLang="zh-CN" b="0" i="1" smtClean="0">
                        <a:latin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oMath>
                </a14:m>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2BA3514D-58AB-7A4E-8805-3CC4AF92F3BF}"/>
                  </a:ext>
                </a:extLst>
              </p:cNvPr>
              <p:cNvSpPr txBox="1">
                <a:spLocks noRot="1" noChangeAspect="1" noMove="1" noResize="1" noEditPoints="1" noAdjustHandles="1" noChangeArrowheads="1" noChangeShapeType="1" noTextEdit="1"/>
              </p:cNvSpPr>
              <p:nvPr/>
            </p:nvSpPr>
            <p:spPr>
              <a:xfrm>
                <a:off x="203200" y="1966072"/>
                <a:ext cx="9144000" cy="369332"/>
              </a:xfrm>
              <a:prstGeom prst="rect">
                <a:avLst/>
              </a:prstGeom>
              <a:blipFill>
                <a:blip r:embed="rId4"/>
                <a:stretch>
                  <a:fillRect l="-533" t="-10000" b="-26667"/>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F909D02A-0533-D250-9481-C9E5E6BE6F80}"/>
              </a:ext>
            </a:extLst>
          </p:cNvPr>
          <p:cNvSpPr txBox="1"/>
          <p:nvPr/>
        </p:nvSpPr>
        <p:spPr>
          <a:xfrm>
            <a:off x="203200" y="2465197"/>
            <a:ext cx="8458200" cy="1200329"/>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cs typeface="Times New Roman" panose="02020603050405020304" pitchFamily="18" charset="0"/>
              </a:rPr>
              <a:t>This set satisfies the following properties:</a:t>
            </a:r>
            <a:endParaRPr lang="en-US" altLang="zh-CN" dirty="0">
              <a:latin typeface="Noto Sans JP" panose="020B0200000000000000" pitchFamily="34" charset="-122"/>
              <a:ea typeface="Noto Sans JP" panose="020B0200000000000000" pitchFamily="34" charset="-122"/>
              <a:cs typeface="Times New Roman" panose="02020603050405020304" pitchFamily="18" charset="0"/>
            </a:endParaRPr>
          </a:p>
          <a:p>
            <a:r>
              <a:rPr lang="zh-CN" altLang="en-US" dirty="0">
                <a:latin typeface="Noto Sans JP" panose="020B0200000000000000" pitchFamily="34" charset="-122"/>
                <a:ea typeface="Noto Sans JP" panose="020B0200000000000000" pitchFamily="34" charset="-122"/>
                <a:cs typeface="Times New Roman" panose="02020603050405020304" pitchFamily="18" charset="0"/>
              </a:rPr>
              <a:t>It is an open series.</a:t>
            </a:r>
            <a:endParaRPr lang="en-US" altLang="zh-CN" dirty="0">
              <a:latin typeface="Noto Sans JP" panose="020B0200000000000000" pitchFamily="34" charset="-122"/>
              <a:ea typeface="Noto Sans JP" panose="020B0200000000000000" pitchFamily="34" charset="-122"/>
              <a:cs typeface="Times New Roman" panose="02020603050405020304" pitchFamily="18" charset="0"/>
            </a:endParaRPr>
          </a:p>
          <a:p>
            <a:r>
              <a:rPr lang="zh-CN" altLang="en-US" dirty="0">
                <a:latin typeface="Noto Sans JP" panose="020B0200000000000000" pitchFamily="34" charset="-122"/>
                <a:ea typeface="Noto Sans JP" panose="020B0200000000000000" pitchFamily="34" charset="-122"/>
                <a:cs typeface="Times New Roman" panose="02020603050405020304" pitchFamily="18" charset="0"/>
              </a:rPr>
              <a:t>It is a smooth manifold (which can be differentiated)</a:t>
            </a:r>
            <a:endParaRPr lang="en-US" altLang="zh-CN" dirty="0">
              <a:latin typeface="Noto Sans JP" panose="020B0200000000000000" pitchFamily="34" charset="-122"/>
              <a:ea typeface="Noto Sans JP" panose="020B0200000000000000" pitchFamily="34" charset="-122"/>
              <a:cs typeface="Times New Roman" panose="02020603050405020304" pitchFamily="18" charset="0"/>
            </a:endParaRPr>
          </a:p>
          <a:p>
            <a:r>
              <a:rPr lang="zh-CN" altLang="en-US" dirty="0">
                <a:latin typeface="Noto Sans JP" panose="020B0200000000000000" pitchFamily="34" charset="-122"/>
                <a:ea typeface="Noto Sans JP" panose="020B0200000000000000" pitchFamily="34" charset="-122"/>
                <a:cs typeface="Times New Roman" panose="02020603050405020304" pitchFamily="18" charset="0"/>
              </a:rPr>
              <a:t>Riemannian metrics can be defined, such as Affine-Invariant Metric</a:t>
            </a:r>
            <a:r>
              <a:rPr lang="en-US" altLang="zh-CN" dirty="0">
                <a:latin typeface="Noto Sans JP" panose="020B0200000000000000" pitchFamily="34" charset="-122"/>
                <a:ea typeface="Noto Sans JP" panose="020B0200000000000000" pitchFamily="34" charset="-122"/>
                <a:cs typeface="Times New Roman" panose="02020603050405020304" pitchFamily="18" charset="0"/>
              </a:rPr>
              <a:t>.</a:t>
            </a:r>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B9903600-8AA7-9B61-3BB8-80D1590A5BD3}"/>
              </a:ext>
            </a:extLst>
          </p:cNvPr>
          <p:cNvSpPr txBox="1"/>
          <p:nvPr/>
        </p:nvSpPr>
        <p:spPr>
          <a:xfrm>
            <a:off x="203200" y="3795319"/>
            <a:ext cx="6096000" cy="369332"/>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cs typeface="Times New Roman" panose="02020603050405020304" pitchFamily="18" charset="0"/>
              </a:rPr>
              <a:t>Affine-Invariant Metric </a:t>
            </a:r>
            <a:r>
              <a:rPr lang="en-US" altLang="zh-CN" dirty="0">
                <a:latin typeface="Noto Sans JP" panose="020B0200000000000000" pitchFamily="34" charset="-122"/>
                <a:ea typeface="Noto Sans JP" panose="020B0200000000000000" pitchFamily="34" charset="-122"/>
                <a:cs typeface="Times New Roman" panose="02020603050405020304" pitchFamily="18" charset="0"/>
              </a:rPr>
              <a:t>:</a:t>
            </a:r>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p:sp>
        <p:nvSpPr>
          <p:cNvPr id="14" name="文本框 13">
            <a:extLst>
              <a:ext uri="{FF2B5EF4-FFF2-40B4-BE49-F238E27FC236}">
                <a16:creationId xmlns:a16="http://schemas.microsoft.com/office/drawing/2014/main" id="{F7446C24-CF0E-2F1A-A1FA-784E921DB126}"/>
              </a:ext>
            </a:extLst>
          </p:cNvPr>
          <p:cNvSpPr txBox="1"/>
          <p:nvPr/>
        </p:nvSpPr>
        <p:spPr>
          <a:xfrm>
            <a:off x="203200" y="4238870"/>
            <a:ext cx="8610600" cy="369332"/>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cs typeface="Times New Roman" panose="02020603050405020304" pitchFamily="18" charset="0"/>
              </a:rPr>
              <a:t>Given two SPD matrices P and Q, the distance between them is:</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B6E80E2-22B2-5698-E9BA-D889C29CA8EF}"/>
                  </a:ext>
                </a:extLst>
              </p:cNvPr>
              <p:cNvSpPr txBox="1"/>
              <p:nvPr/>
            </p:nvSpPr>
            <p:spPr>
              <a:xfrm>
                <a:off x="3744170" y="4881713"/>
                <a:ext cx="3696333" cy="2873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𝑑𝑖𝑠𝑡</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𝑄</m:t>
                          </m:r>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−1/2</m:t>
                              </m:r>
                            </m:sup>
                          </m:sSup>
                          <m:r>
                            <a:rPr lang="en-US" altLang="zh-CN" b="0" i="1" smtClean="0">
                              <a:latin typeface="Cambria Math" panose="02040503050406030204" pitchFamily="18" charset="0"/>
                            </a:rPr>
                            <m:t>𝑄</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−1/2</m:t>
                              </m:r>
                            </m:sup>
                          </m:s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m:t>
                              </m:r>
                            </m:e>
                            <m:sub>
                              <m:r>
                                <a:rPr lang="en-US" altLang="zh-CN" b="0" i="1" smtClean="0">
                                  <a:latin typeface="Cambria Math" panose="02040503050406030204" pitchFamily="18" charset="0"/>
                                </a:rPr>
                                <m:t>𝐹</m:t>
                              </m:r>
                            </m:sub>
                          </m:sSub>
                        </m:e>
                      </m:func>
                    </m:oMath>
                  </m:oMathPara>
                </a14:m>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mc:Choice>
        <mc:Fallback xmlns="">
          <p:sp>
            <p:nvSpPr>
              <p:cNvPr id="15" name="文本框 14">
                <a:extLst>
                  <a:ext uri="{FF2B5EF4-FFF2-40B4-BE49-F238E27FC236}">
                    <a16:creationId xmlns:a16="http://schemas.microsoft.com/office/drawing/2014/main" id="{0B6E80E2-22B2-5698-E9BA-D889C29CA8EF}"/>
                  </a:ext>
                </a:extLst>
              </p:cNvPr>
              <p:cNvSpPr txBox="1">
                <a:spLocks noRot="1" noChangeAspect="1" noMove="1" noResize="1" noEditPoints="1" noAdjustHandles="1" noChangeArrowheads="1" noChangeShapeType="1" noTextEdit="1"/>
              </p:cNvSpPr>
              <p:nvPr/>
            </p:nvSpPr>
            <p:spPr>
              <a:xfrm>
                <a:off x="3744170" y="4881713"/>
                <a:ext cx="3696333" cy="287323"/>
              </a:xfrm>
              <a:prstGeom prst="rect">
                <a:avLst/>
              </a:prstGeom>
              <a:blipFill>
                <a:blip r:embed="rId5"/>
                <a:stretch>
                  <a:fillRect t="-23404" r="-2636" b="-48936"/>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37C83217-2895-35D0-2E09-6023C8AD9F2F}"/>
              </a:ext>
            </a:extLst>
          </p:cNvPr>
          <p:cNvSpPr txBox="1"/>
          <p:nvPr/>
        </p:nvSpPr>
        <p:spPr>
          <a:xfrm>
            <a:off x="203200" y="5468926"/>
            <a:ext cx="7505700" cy="369332"/>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cs typeface="Times New Roman" panose="02020603050405020304" pitchFamily="18" charset="0"/>
              </a:rPr>
              <a:t>This distance takes into account the manifold geometry structure</a:t>
            </a:r>
          </a:p>
        </p:txBody>
      </p:sp>
      <p:pic>
        <p:nvPicPr>
          <p:cNvPr id="18" name="图片 17">
            <a:extLst>
              <a:ext uri="{FF2B5EF4-FFF2-40B4-BE49-F238E27FC236}">
                <a16:creationId xmlns:a16="http://schemas.microsoft.com/office/drawing/2014/main" id="{C662DB34-E4E2-AFAD-8F3C-0BA3F605AB1F}"/>
              </a:ext>
            </a:extLst>
          </p:cNvPr>
          <p:cNvPicPr>
            <a:picLocks noChangeAspect="1"/>
          </p:cNvPicPr>
          <p:nvPr/>
        </p:nvPicPr>
        <p:blipFill>
          <a:blip r:embed="rId6"/>
          <a:srcRect t="15566"/>
          <a:stretch>
            <a:fillRect/>
          </a:stretch>
        </p:blipFill>
        <p:spPr>
          <a:xfrm>
            <a:off x="6924240" y="2390266"/>
            <a:ext cx="5267760" cy="2132331"/>
          </a:xfrm>
          <a:prstGeom prst="rect">
            <a:avLst/>
          </a:prstGeom>
        </p:spPr>
      </p:pic>
    </p:spTree>
    <p:extLst>
      <p:ext uri="{BB962C8B-B14F-4D97-AF65-F5344CB8AC3E}">
        <p14:creationId xmlns:p14="http://schemas.microsoft.com/office/powerpoint/2010/main" val="3472322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6A68EF7-1956-76EE-CC50-45CB8D0D6FE6}"/>
              </a:ext>
            </a:extLst>
          </p:cNvPr>
          <p:cNvSpPr txBox="1"/>
          <p:nvPr/>
        </p:nvSpPr>
        <p:spPr>
          <a:xfrm>
            <a:off x="347767" y="313402"/>
            <a:ext cx="3882189" cy="923330"/>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cs typeface="Times New Roman" panose="02020603050405020304" pitchFamily="18" charset="0"/>
              </a:rPr>
              <a:t>How does the author extract structural features from the sequence?</a:t>
            </a:r>
          </a:p>
        </p:txBody>
      </p:sp>
      <p:sp>
        <p:nvSpPr>
          <p:cNvPr id="8" name="文本框 7">
            <a:extLst>
              <a:ext uri="{FF2B5EF4-FFF2-40B4-BE49-F238E27FC236}">
                <a16:creationId xmlns:a16="http://schemas.microsoft.com/office/drawing/2014/main" id="{9BB56C55-F8DA-7755-E3A1-43F11E73C3F0}"/>
              </a:ext>
            </a:extLst>
          </p:cNvPr>
          <p:cNvSpPr txBox="1"/>
          <p:nvPr/>
        </p:nvSpPr>
        <p:spPr>
          <a:xfrm>
            <a:off x="347767" y="1776460"/>
            <a:ext cx="4780547" cy="923330"/>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cs typeface="Times New Roman" panose="02020603050405020304" pitchFamily="18" charset="0"/>
              </a:rPr>
              <a:t>Construct the covariance matrix of amino acids vectors to emphasize the second-order correlation within </a:t>
            </a:r>
            <a:r>
              <a:rPr lang="en-US" altLang="zh-CN" dirty="0">
                <a:latin typeface="Noto Sans JP" panose="020B0200000000000000" pitchFamily="34" charset="-122"/>
                <a:ea typeface="Noto Sans JP" panose="020B0200000000000000" pitchFamily="34" charset="-122"/>
                <a:cs typeface="Times New Roman" panose="02020603050405020304" pitchFamily="18" charset="0"/>
              </a:rPr>
              <a:t>a protein</a:t>
            </a:r>
            <a:r>
              <a:rPr lang="zh-CN" altLang="en-US" dirty="0">
                <a:latin typeface="Noto Sans JP" panose="020B0200000000000000" pitchFamily="34" charset="-122"/>
                <a:ea typeface="Noto Sans JP" panose="020B0200000000000000" pitchFamily="34" charset="-122"/>
                <a:cs typeface="Times New Roman" panose="02020603050405020304" pitchFamily="18" charset="0"/>
              </a:rPr>
              <a:t>.</a:t>
            </a:r>
          </a:p>
        </p:txBody>
      </p:sp>
      <p:sp>
        <p:nvSpPr>
          <p:cNvPr id="10" name="文本框 9">
            <a:extLst>
              <a:ext uri="{FF2B5EF4-FFF2-40B4-BE49-F238E27FC236}">
                <a16:creationId xmlns:a16="http://schemas.microsoft.com/office/drawing/2014/main" id="{A4E6ADFE-A27F-10C2-CD79-C508C2C1AAF6}"/>
              </a:ext>
            </a:extLst>
          </p:cNvPr>
          <p:cNvSpPr txBox="1"/>
          <p:nvPr/>
        </p:nvSpPr>
        <p:spPr>
          <a:xfrm>
            <a:off x="319220" y="5898267"/>
            <a:ext cx="11197389" cy="646331"/>
          </a:xfrm>
          <a:prstGeom prst="rect">
            <a:avLst/>
          </a:prstGeom>
          <a:noFill/>
        </p:spPr>
        <p:txBody>
          <a:bodyPr wrap="square">
            <a:spAutoFit/>
          </a:bodyPr>
          <a:lstStyle/>
          <a:p>
            <a:pPr eaLnBrk="0" fontAlgn="base" hangingPunct="0">
              <a:spcBef>
                <a:spcPct val="0"/>
              </a:spcBef>
              <a:spcAft>
                <a:spcPct val="0"/>
              </a:spcAft>
            </a:pPr>
            <a:r>
              <a:rPr lang="en-US" altLang="zh-CN" dirty="0">
                <a:latin typeface="Noto Sans JP" panose="020B0200000000000000" pitchFamily="34" charset="-122"/>
                <a:ea typeface="Noto Sans JP" panose="020B0200000000000000" pitchFamily="34" charset="-122"/>
                <a:cs typeface="Times New Roman" panose="02020603050405020304" pitchFamily="18" charset="0"/>
              </a:rPr>
              <a:t>To preserve the topological relationships between amino acids within a protein, they consider amino acids distributed on the protein manifold.</a:t>
            </a:r>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A3A576D-7AE2-1209-991C-E5EB84E5059F}"/>
                  </a:ext>
                </a:extLst>
              </p:cNvPr>
              <p:cNvSpPr txBox="1"/>
              <p:nvPr/>
            </p:nvSpPr>
            <p:spPr>
              <a:xfrm>
                <a:off x="520990" y="2699790"/>
                <a:ext cx="3329116" cy="778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𝐶𝑜𝑣</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𝑁</m:t>
                          </m:r>
                        </m:den>
                      </m:f>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𝑁</m:t>
                          </m:r>
                        </m:sup>
                        <m:e>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𝑥</m:t>
                              </m:r>
                            </m:e>
                          </m:acc>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𝑥</m:t>
                              </m:r>
                            </m:e>
                          </m:acc>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𝑇</m:t>
                              </m:r>
                            </m:sup>
                          </m:sSup>
                        </m:e>
                      </m:nary>
                    </m:oMath>
                  </m:oMathPara>
                </a14:m>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mc:Choice>
        <mc:Fallback xmlns="">
          <p:sp>
            <p:nvSpPr>
              <p:cNvPr id="11" name="文本框 10">
                <a:extLst>
                  <a:ext uri="{FF2B5EF4-FFF2-40B4-BE49-F238E27FC236}">
                    <a16:creationId xmlns:a16="http://schemas.microsoft.com/office/drawing/2014/main" id="{2A3A576D-7AE2-1209-991C-E5EB84E5059F}"/>
                  </a:ext>
                </a:extLst>
              </p:cNvPr>
              <p:cNvSpPr txBox="1">
                <a:spLocks noRot="1" noChangeAspect="1" noMove="1" noResize="1" noEditPoints="1" noAdjustHandles="1" noChangeArrowheads="1" noChangeShapeType="1" noTextEdit="1"/>
              </p:cNvSpPr>
              <p:nvPr/>
            </p:nvSpPr>
            <p:spPr>
              <a:xfrm>
                <a:off x="520990" y="2699790"/>
                <a:ext cx="3329116" cy="778931"/>
              </a:xfrm>
              <a:prstGeom prst="rect">
                <a:avLst/>
              </a:prstGeom>
              <a:blipFill>
                <a:blip r:embed="rId3"/>
                <a:stretch>
                  <a:fillRect r="-45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D43E88FC-7AC7-D0DE-373E-E54B4406AE8D}"/>
                  </a:ext>
                </a:extLst>
              </p:cNvPr>
              <p:cNvSpPr txBox="1"/>
              <p:nvPr/>
            </p:nvSpPr>
            <p:spPr>
              <a:xfrm>
                <a:off x="476685" y="3686914"/>
                <a:ext cx="6096000" cy="369332"/>
              </a:xfrm>
              <a:prstGeom prst="rect">
                <a:avLst/>
              </a:prstGeom>
              <a:noFill/>
            </p:spPr>
            <p:txBody>
              <a:bodyPr wrap="square">
                <a:spAutoFit/>
              </a:bodyPr>
              <a:lstStyle/>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oMath>
                </a14:m>
                <a:r>
                  <a:rPr lang="zh-CN" altLang="en-US" dirty="0">
                    <a:latin typeface="Noto Sans JP" panose="020B0200000000000000" pitchFamily="34" charset="-122"/>
                    <a:ea typeface="Noto Sans JP" panose="020B0200000000000000" pitchFamily="34" charset="-122"/>
                    <a:cs typeface="Times New Roman" panose="02020603050405020304" pitchFamily="18" charset="0"/>
                  </a:rPr>
                  <a:t> represents the amino acid vector</a:t>
                </a:r>
              </a:p>
            </p:txBody>
          </p:sp>
        </mc:Choice>
        <mc:Fallback xmlns="">
          <p:sp>
            <p:nvSpPr>
              <p:cNvPr id="13" name="文本框 12">
                <a:extLst>
                  <a:ext uri="{FF2B5EF4-FFF2-40B4-BE49-F238E27FC236}">
                    <a16:creationId xmlns:a16="http://schemas.microsoft.com/office/drawing/2014/main" id="{D43E88FC-7AC7-D0DE-373E-E54B4406AE8D}"/>
                  </a:ext>
                </a:extLst>
              </p:cNvPr>
              <p:cNvSpPr txBox="1">
                <a:spLocks noRot="1" noChangeAspect="1" noMove="1" noResize="1" noEditPoints="1" noAdjustHandles="1" noChangeArrowheads="1" noChangeShapeType="1" noTextEdit="1"/>
              </p:cNvSpPr>
              <p:nvPr/>
            </p:nvSpPr>
            <p:spPr>
              <a:xfrm>
                <a:off x="476685" y="3686914"/>
                <a:ext cx="6096000" cy="369332"/>
              </a:xfrm>
              <a:prstGeom prst="rect">
                <a:avLst/>
              </a:prstGeom>
              <a:blipFill>
                <a:blip r:embed="rId4"/>
                <a:stretch>
                  <a:fillRect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3251822-12C2-E866-E6A3-52486B832842}"/>
                  </a:ext>
                </a:extLst>
              </p:cNvPr>
              <p:cNvSpPr txBox="1"/>
              <p:nvPr/>
            </p:nvSpPr>
            <p:spPr>
              <a:xfrm>
                <a:off x="520990" y="4199251"/>
                <a:ext cx="4262514" cy="276999"/>
              </a:xfrm>
              <a:prstGeom prst="rect">
                <a:avLst/>
              </a:prstGeom>
              <a:noFill/>
            </p:spPr>
            <p:txBody>
              <a:bodyPr wrap="none" lIns="0" tIns="0" rIns="0" bIns="0" rtlCol="0">
                <a:spAutoFit/>
              </a:bodyPr>
              <a:lstStyle/>
              <a:p>
                <a14:m>
                  <m:oMath xmlns:m="http://schemas.openxmlformats.org/officeDocument/2006/math">
                    <m:r>
                      <a:rPr lang="en-US" altLang="zh-CN" b="0" i="1" smtClean="0">
                        <a:latin typeface="Cambria Math" panose="02040503050406030204" pitchFamily="18" charset="0"/>
                      </a:rPr>
                      <m:t>𝑋</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𝑁</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ℝ</m:t>
                        </m:r>
                      </m:e>
                      <m:sup>
                        <m:r>
                          <a:rPr lang="en-US" altLang="zh-CN" b="0" i="1" smtClean="0">
                            <a:latin typeface="Cambria Math" panose="02040503050406030204" pitchFamily="18" charset="0"/>
                            <a:ea typeface="Cambria Math" panose="02040503050406030204" pitchFamily="18" charset="0"/>
                          </a:rPr>
                          <m:t>𝑁</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𝐷</m:t>
                        </m:r>
                      </m:sup>
                    </m:sSup>
                  </m:oMath>
                </a14:m>
                <a:r>
                  <a:rPr lang="en-US" altLang="zh-CN" dirty="0">
                    <a:latin typeface="Noto Sans JP" panose="020B0200000000000000" pitchFamily="34" charset="-122"/>
                    <a:ea typeface="Noto Sans JP" panose="020B0200000000000000" pitchFamily="34" charset="-122"/>
                    <a:cs typeface="Times New Roman" panose="02020603050405020304" pitchFamily="18" charset="0"/>
                  </a:rPr>
                  <a:t>,</a:t>
                </a:r>
                <a14:m>
                  <m:oMath xmlns:m="http://schemas.openxmlformats.org/officeDocument/2006/math">
                    <m:r>
                      <a:rPr lang="en-US" altLang="zh-CN" b="0" i="1" dirty="0" smtClean="0">
                        <a:latin typeface="Cambria Math" panose="02040503050406030204" pitchFamily="18" charset="0"/>
                      </a:rPr>
                      <m:t>𝐶𝑜𝑣</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ℝ</m:t>
                        </m:r>
                      </m:e>
                      <m:sup>
                        <m:r>
                          <a:rPr lang="en-US" altLang="zh-CN" b="0" i="1" dirty="0" smtClean="0">
                            <a:latin typeface="Cambria Math" panose="02040503050406030204" pitchFamily="18" charset="0"/>
                            <a:ea typeface="Cambria Math" panose="02040503050406030204" pitchFamily="18" charset="0"/>
                          </a:rPr>
                          <m:t>𝐷</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𝐷</m:t>
                        </m:r>
                      </m:sup>
                    </m:sSup>
                  </m:oMath>
                </a14:m>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mc:Choice>
        <mc:Fallback xmlns="">
          <p:sp>
            <p:nvSpPr>
              <p:cNvPr id="16" name="文本框 15">
                <a:extLst>
                  <a:ext uri="{FF2B5EF4-FFF2-40B4-BE49-F238E27FC236}">
                    <a16:creationId xmlns:a16="http://schemas.microsoft.com/office/drawing/2014/main" id="{73251822-12C2-E866-E6A3-52486B832842}"/>
                  </a:ext>
                </a:extLst>
              </p:cNvPr>
              <p:cNvSpPr txBox="1">
                <a:spLocks noRot="1" noChangeAspect="1" noMove="1" noResize="1" noEditPoints="1" noAdjustHandles="1" noChangeArrowheads="1" noChangeShapeType="1" noTextEdit="1"/>
              </p:cNvSpPr>
              <p:nvPr/>
            </p:nvSpPr>
            <p:spPr>
              <a:xfrm>
                <a:off x="520990" y="4199251"/>
                <a:ext cx="4262514" cy="276999"/>
              </a:xfrm>
              <a:prstGeom prst="rect">
                <a:avLst/>
              </a:prstGeom>
              <a:blipFill>
                <a:blip r:embed="rId5"/>
                <a:stretch>
                  <a:fillRect l="-1857" t="-28889" r="-4000" b="-51111"/>
                </a:stretch>
              </a:blipFill>
            </p:spPr>
            <p:txBody>
              <a:bodyPr/>
              <a:lstStyle/>
              <a:p>
                <a:r>
                  <a:rPr lang="zh-CN" altLang="en-US">
                    <a:noFill/>
                  </a:rPr>
                  <a:t> </a:t>
                </a:r>
              </a:p>
            </p:txBody>
          </p:sp>
        </mc:Fallback>
      </mc:AlternateContent>
      <p:pic>
        <p:nvPicPr>
          <p:cNvPr id="3" name="図 2">
            <a:extLst>
              <a:ext uri="{FF2B5EF4-FFF2-40B4-BE49-F238E27FC236}">
                <a16:creationId xmlns:a16="http://schemas.microsoft.com/office/drawing/2014/main" id="{BE1C2911-92E2-9EC7-8BDF-FA12DA9D7EF5}"/>
              </a:ext>
            </a:extLst>
          </p:cNvPr>
          <p:cNvPicPr>
            <a:picLocks noChangeAspect="1"/>
          </p:cNvPicPr>
          <p:nvPr/>
        </p:nvPicPr>
        <p:blipFill>
          <a:blip r:embed="rId6"/>
          <a:stretch>
            <a:fillRect/>
          </a:stretch>
        </p:blipFill>
        <p:spPr>
          <a:xfrm>
            <a:off x="5364580" y="766452"/>
            <a:ext cx="6306430" cy="2457793"/>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90879D4-12C4-8F69-F003-31105858C30A}"/>
                  </a:ext>
                </a:extLst>
              </p:cNvPr>
              <p:cNvSpPr txBox="1"/>
              <p:nvPr/>
            </p:nvSpPr>
            <p:spPr>
              <a:xfrm>
                <a:off x="2085473" y="5387549"/>
                <a:ext cx="14250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m:rPr>
                              <m:sty m:val="p"/>
                            </m:rPr>
                            <a:rPr lang="el-GR" altLang="zh-CN" i="1" smtClean="0">
                              <a:latin typeface="Cambria Math" panose="02040503050406030204" pitchFamily="18" charset="0"/>
                              <a:ea typeface="Cambria Math" panose="02040503050406030204" pitchFamily="18" charset="0"/>
                            </a:rPr>
                            <m:t>Σ</m:t>
                          </m:r>
                        </m:e>
                        <m:sub>
                          <m:r>
                            <a:rPr lang="en-US" altLang="zh-CN" b="0" i="1" smtClean="0">
                              <a:latin typeface="Cambria Math" panose="02040503050406030204" pitchFamily="18" charset="0"/>
                            </a:rPr>
                            <m:t>𝑆𝑃𝐷</m:t>
                          </m:r>
                        </m:sub>
                      </m:sSub>
                      <m:r>
                        <a:rPr lang="en-US" altLang="zh-CN" b="0" i="1" smtClean="0">
                          <a:latin typeface="Cambria Math" panose="02040503050406030204" pitchFamily="18" charset="0"/>
                        </a:rPr>
                        <m:t>=</m:t>
                      </m:r>
                      <m:r>
                        <m:rPr>
                          <m:sty m:val="p"/>
                        </m:rPr>
                        <a:rPr lang="el-GR" altLang="zh-CN" b="0" i="1" smtClean="0">
                          <a:latin typeface="Cambria Math" panose="02040503050406030204" pitchFamily="18" charset="0"/>
                          <a:ea typeface="Cambria Math" panose="02040503050406030204" pitchFamily="18" charset="0"/>
                        </a:rPr>
                        <m:t>Σ</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𝜖</m:t>
                      </m:r>
                      <m:r>
                        <a:rPr lang="el-GR" altLang="zh-CN" b="0" i="1" smtClean="0">
                          <a:latin typeface="Cambria Math" panose="02040503050406030204" pitchFamily="18" charset="0"/>
                          <a:ea typeface="Cambria Math" panose="02040503050406030204" pitchFamily="18" charset="0"/>
                        </a:rPr>
                        <m:t>𝛪</m:t>
                      </m:r>
                    </m:oMath>
                  </m:oMathPara>
                </a14:m>
                <a:endParaRPr lang="zh-CN" altLang="en-US" i="1" dirty="0">
                  <a:latin typeface="Noto Sans JP" panose="020B0200000000000000" pitchFamily="34" charset="-122"/>
                  <a:ea typeface="Noto Sans JP" panose="020B0200000000000000" pitchFamily="34"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490879D4-12C4-8F69-F003-31105858C30A}"/>
                  </a:ext>
                </a:extLst>
              </p:cNvPr>
              <p:cNvSpPr txBox="1">
                <a:spLocks noRot="1" noChangeAspect="1" noMove="1" noResize="1" noEditPoints="1" noAdjustHandles="1" noChangeArrowheads="1" noChangeShapeType="1" noTextEdit="1"/>
              </p:cNvSpPr>
              <p:nvPr/>
            </p:nvSpPr>
            <p:spPr>
              <a:xfrm>
                <a:off x="2085473" y="5387549"/>
                <a:ext cx="1425069" cy="276999"/>
              </a:xfrm>
              <a:prstGeom prst="rect">
                <a:avLst/>
              </a:prstGeom>
              <a:blipFill>
                <a:blip r:embed="rId7"/>
                <a:stretch>
                  <a:fillRect l="-2991" t="-28889" r="-11111" b="-51111"/>
                </a:stretch>
              </a:blipFill>
            </p:spPr>
            <p:txBody>
              <a:bodyPr/>
              <a:lstStyle/>
              <a:p>
                <a:r>
                  <a:rPr lang="zh-CN" altLang="en-US">
                    <a:noFill/>
                  </a:rPr>
                  <a:t> </a:t>
                </a:r>
              </a:p>
            </p:txBody>
          </p:sp>
        </mc:Fallback>
      </mc:AlternateContent>
      <p:sp>
        <p:nvSpPr>
          <p:cNvPr id="7" name="Rectangle 1">
            <a:extLst>
              <a:ext uri="{FF2B5EF4-FFF2-40B4-BE49-F238E27FC236}">
                <a16:creationId xmlns:a16="http://schemas.microsoft.com/office/drawing/2014/main" id="{BFCDFB99-1800-BA74-93AE-623D06F73781}"/>
              </a:ext>
            </a:extLst>
          </p:cNvPr>
          <p:cNvSpPr>
            <a:spLocks noChangeArrowheads="1"/>
          </p:cNvSpPr>
          <p:nvPr/>
        </p:nvSpPr>
        <p:spPr bwMode="auto">
          <a:xfrm>
            <a:off x="347767" y="4608734"/>
            <a:ext cx="1034449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zh-CN" dirty="0">
                <a:latin typeface="Noto Sans JP" panose="020B0200000000000000" pitchFamily="34" charset="-122"/>
                <a:ea typeface="Noto Sans JP" panose="020B0200000000000000" pitchFamily="34" charset="-122"/>
                <a:cs typeface="Times New Roman" panose="02020603050405020304" pitchFamily="18" charset="0"/>
              </a:rPr>
              <a:t>Subsequently, a small identity matrix perturbation is added to transform the covariance matrix </a:t>
            </a:r>
            <a:endParaRPr lang="en-US" altLang="zh-CN" dirty="0">
              <a:latin typeface="Noto Sans JP" panose="020B0200000000000000" pitchFamily="34" charset="-122"/>
              <a:ea typeface="Noto Sans JP" panose="020B0200000000000000"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zh-CN" altLang="zh-CN" dirty="0">
                <a:latin typeface="Noto Sans JP" panose="020B0200000000000000" pitchFamily="34" charset="-122"/>
                <a:ea typeface="Noto Sans JP" panose="020B0200000000000000" pitchFamily="34" charset="-122"/>
                <a:cs typeface="Times New Roman" panose="02020603050405020304" pitchFamily="18" charset="0"/>
              </a:rPr>
              <a:t>into a symmetric positive definite (SPD) matrix.</a:t>
            </a:r>
          </a:p>
        </p:txBody>
      </p:sp>
    </p:spTree>
    <p:extLst>
      <p:ext uri="{BB962C8B-B14F-4D97-AF65-F5344CB8AC3E}">
        <p14:creationId xmlns:p14="http://schemas.microsoft.com/office/powerpoint/2010/main" val="263798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CE947376-BED9-37F5-640A-EFD3354D4AD8}"/>
              </a:ext>
            </a:extLst>
          </p:cNvPr>
          <p:cNvSpPr txBox="1"/>
          <p:nvPr/>
        </p:nvSpPr>
        <p:spPr>
          <a:xfrm>
            <a:off x="253615" y="675298"/>
            <a:ext cx="6976241" cy="369332"/>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cs typeface="Times New Roman" panose="02020603050405020304" pitchFamily="18" charset="0"/>
              </a:rPr>
              <a:t>Vector representation of </a:t>
            </a:r>
            <a:r>
              <a:rPr lang="en-US" altLang="zh-CN" dirty="0">
                <a:latin typeface="Noto Sans JP" panose="020B0200000000000000" pitchFamily="34" charset="-122"/>
                <a:ea typeface="Noto Sans JP" panose="020B0200000000000000" pitchFamily="34" charset="-122"/>
                <a:cs typeface="Times New Roman" panose="02020603050405020304" pitchFamily="18" charset="0"/>
              </a:rPr>
              <a:t>1D </a:t>
            </a:r>
            <a:r>
              <a:rPr lang="zh-CN" altLang="en-US" dirty="0">
                <a:latin typeface="Noto Sans JP" panose="020B0200000000000000" pitchFamily="34" charset="-122"/>
                <a:ea typeface="Noto Sans JP" panose="020B0200000000000000" pitchFamily="34" charset="-122"/>
                <a:cs typeface="Times New Roman" panose="02020603050405020304" pitchFamily="18" charset="0"/>
              </a:rPr>
              <a:t>embedding of proteins </a:t>
            </a:r>
            <a:r>
              <a:rPr lang="en-US" altLang="zh-CN" dirty="0">
                <a:latin typeface="Noto Sans JP" panose="020B0200000000000000" pitchFamily="34" charset="-122"/>
                <a:ea typeface="Noto Sans JP" panose="020B0200000000000000" pitchFamily="34" charset="-122"/>
                <a:cs typeface="Times New Roman" panose="02020603050405020304" pitchFamily="18" charset="0"/>
              </a:rPr>
              <a:t>(B,N,128)</a:t>
            </a:r>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p:sp>
        <p:nvSpPr>
          <p:cNvPr id="9" name="文本框 8">
            <a:extLst>
              <a:ext uri="{FF2B5EF4-FFF2-40B4-BE49-F238E27FC236}">
                <a16:creationId xmlns:a16="http://schemas.microsoft.com/office/drawing/2014/main" id="{2686D537-6B6E-62B2-AE51-A770BB851DE5}"/>
              </a:ext>
            </a:extLst>
          </p:cNvPr>
          <p:cNvSpPr txBox="1"/>
          <p:nvPr/>
        </p:nvSpPr>
        <p:spPr>
          <a:xfrm>
            <a:off x="253614" y="1445839"/>
            <a:ext cx="6659249" cy="369332"/>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cs typeface="Times New Roman" panose="02020603050405020304" pitchFamily="18" charset="0"/>
              </a:rPr>
              <a:t>Calculate the covariance matrix and regularize its diagonal</a:t>
            </a:r>
          </a:p>
        </p:txBody>
      </p:sp>
      <p:cxnSp>
        <p:nvCxnSpPr>
          <p:cNvPr id="11" name="直接箭头连接符 10">
            <a:extLst>
              <a:ext uri="{FF2B5EF4-FFF2-40B4-BE49-F238E27FC236}">
                <a16:creationId xmlns:a16="http://schemas.microsoft.com/office/drawing/2014/main" id="{1947FC37-9F93-9A20-9D9C-27949FF34A4A}"/>
              </a:ext>
            </a:extLst>
          </p:cNvPr>
          <p:cNvCxnSpPr>
            <a:cxnSpLocks/>
          </p:cNvCxnSpPr>
          <p:nvPr/>
        </p:nvCxnSpPr>
        <p:spPr>
          <a:xfrm flipH="1">
            <a:off x="3463374" y="1071536"/>
            <a:ext cx="7619" cy="3743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直接箭头连接符 11">
            <a:extLst>
              <a:ext uri="{FF2B5EF4-FFF2-40B4-BE49-F238E27FC236}">
                <a16:creationId xmlns:a16="http://schemas.microsoft.com/office/drawing/2014/main" id="{0A743054-87A7-CC10-F583-C80EC3AFDDED}"/>
              </a:ext>
            </a:extLst>
          </p:cNvPr>
          <p:cNvCxnSpPr/>
          <p:nvPr/>
        </p:nvCxnSpPr>
        <p:spPr>
          <a:xfrm>
            <a:off x="3470993" y="1815171"/>
            <a:ext cx="0" cy="3743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B00C5D1A-6C51-B938-831C-47D51F8FBE4E}"/>
                  </a:ext>
                </a:extLst>
              </p:cNvPr>
              <p:cNvSpPr txBox="1"/>
              <p:nvPr/>
            </p:nvSpPr>
            <p:spPr>
              <a:xfrm>
                <a:off x="254001" y="2169048"/>
                <a:ext cx="5841999" cy="369332"/>
              </a:xfrm>
              <a:prstGeom prst="rect">
                <a:avLst/>
              </a:prstGeom>
              <a:noFill/>
            </p:spPr>
            <p:txBody>
              <a:bodyPr wrap="square">
                <a:spAutoFit/>
              </a:bodyPr>
              <a:lstStyle/>
              <a:p>
                <a:r>
                  <a:rPr lang="en-US" altLang="zh-CN" dirty="0">
                    <a:latin typeface="Noto Sans JP" panose="020B0200000000000000" pitchFamily="34" charset="-122"/>
                    <a:ea typeface="Noto Sans JP" panose="020B0200000000000000" pitchFamily="34" charset="-122"/>
                    <a:cs typeface="Times New Roman" panose="02020603050405020304" pitchFamily="18" charset="0"/>
                  </a:rPr>
                  <a:t>Get</a:t>
                </a:r>
                <a:r>
                  <a:rPr lang="zh-CN" altLang="en-US" dirty="0">
                    <a:latin typeface="Noto Sans JP" panose="020B0200000000000000" pitchFamily="34" charset="-122"/>
                    <a:ea typeface="Noto Sans JP" panose="020B0200000000000000" pitchFamily="34" charset="-122"/>
                    <a:cs typeface="Times New Roman" panose="02020603050405020304" pitchFamily="18" charset="0"/>
                  </a:rPr>
                  <a:t> the SPD(</a:t>
                </a:r>
                <a:r>
                  <a:rPr lang="en-US" altLang="zh-CN" dirty="0">
                    <a:latin typeface="Noto Sans JP" panose="020B0200000000000000" pitchFamily="34" charset="-122"/>
                    <a:ea typeface="Noto Sans JP" panose="020B0200000000000000" pitchFamily="34" charset="-122"/>
                    <a:cs typeface="Times New Roman" panose="02020603050405020304" pitchFamily="18" charset="0"/>
                  </a:rPr>
                  <a:t>symmetric positive definite</a:t>
                </a:r>
                <a:r>
                  <a:rPr lang="zh-CN" altLang="en-US" dirty="0">
                    <a:latin typeface="Noto Sans JP" panose="020B0200000000000000" pitchFamily="34" charset="-122"/>
                    <a:ea typeface="Noto Sans JP" panose="020B0200000000000000" pitchFamily="34" charset="-122"/>
                    <a:cs typeface="Times New Roman" panose="02020603050405020304" pitchFamily="18" charset="0"/>
                  </a:rPr>
                  <a:t>) matrix </a:t>
                </a:r>
                <a14:m>
                  <m:oMath xmlns:m="http://schemas.openxmlformats.org/officeDocument/2006/math">
                    <m:r>
                      <a:rPr lang="en-US" altLang="zh-CN" b="0" i="1" smtClean="0">
                        <a:latin typeface="Cambria Math" panose="02040503050406030204" pitchFamily="18" charset="0"/>
                      </a:rPr>
                      <m:t>𝑃</m:t>
                    </m:r>
                  </m:oMath>
                </a14:m>
                <a:endParaRPr lang="en-US" altLang="zh-CN" dirty="0">
                  <a:solidFill>
                    <a:schemeClr val="accent4">
                      <a:lumMod val="75000"/>
                    </a:schemeClr>
                  </a:solidFill>
                  <a:latin typeface="Noto Sans JP" panose="020B0200000000000000" pitchFamily="34" charset="-122"/>
                  <a:ea typeface="Noto Sans JP" panose="020B0200000000000000" pitchFamily="34" charset="-122"/>
                  <a:cs typeface="Times New Roman" panose="02020603050405020304" pitchFamily="18" charset="0"/>
                </a:endParaRPr>
              </a:p>
            </p:txBody>
          </p:sp>
        </mc:Choice>
        <mc:Fallback xmlns="">
          <p:sp>
            <p:nvSpPr>
              <p:cNvPr id="14" name="文本框 13">
                <a:extLst>
                  <a:ext uri="{FF2B5EF4-FFF2-40B4-BE49-F238E27FC236}">
                    <a16:creationId xmlns:a16="http://schemas.microsoft.com/office/drawing/2014/main" id="{B00C5D1A-6C51-B938-831C-47D51F8FBE4E}"/>
                  </a:ext>
                </a:extLst>
              </p:cNvPr>
              <p:cNvSpPr txBox="1">
                <a:spLocks noRot="1" noChangeAspect="1" noMove="1" noResize="1" noEditPoints="1" noAdjustHandles="1" noChangeArrowheads="1" noChangeShapeType="1" noTextEdit="1"/>
              </p:cNvSpPr>
              <p:nvPr/>
            </p:nvSpPr>
            <p:spPr>
              <a:xfrm>
                <a:off x="254001" y="2169048"/>
                <a:ext cx="5841999" cy="369332"/>
              </a:xfrm>
              <a:prstGeom prst="rect">
                <a:avLst/>
              </a:prstGeom>
              <a:blipFill>
                <a:blip r:embed="rId3"/>
                <a:stretch>
                  <a:fillRect l="-939" t="-10000" b="-26667"/>
                </a:stretch>
              </a:blipFill>
            </p:spPr>
            <p:txBody>
              <a:bodyPr/>
              <a:lstStyle/>
              <a:p>
                <a:r>
                  <a:rPr lang="zh-CN" altLang="en-US">
                    <a:noFill/>
                  </a:rPr>
                  <a:t> </a:t>
                </a:r>
              </a:p>
            </p:txBody>
          </p:sp>
        </mc:Fallback>
      </mc:AlternateContent>
      <p:pic>
        <p:nvPicPr>
          <p:cNvPr id="26" name="图片 25">
            <a:extLst>
              <a:ext uri="{FF2B5EF4-FFF2-40B4-BE49-F238E27FC236}">
                <a16:creationId xmlns:a16="http://schemas.microsoft.com/office/drawing/2014/main" id="{A01F05D5-977A-7EE6-1F86-05DDEFCF5969}"/>
              </a:ext>
            </a:extLst>
          </p:cNvPr>
          <p:cNvPicPr>
            <a:picLocks noChangeAspect="1"/>
          </p:cNvPicPr>
          <p:nvPr/>
        </p:nvPicPr>
        <p:blipFill>
          <a:blip r:embed="rId4"/>
          <a:stretch>
            <a:fillRect/>
          </a:stretch>
        </p:blipFill>
        <p:spPr>
          <a:xfrm>
            <a:off x="9440836" y="138048"/>
            <a:ext cx="2450748" cy="3147450"/>
          </a:xfrm>
          <a:prstGeom prst="rect">
            <a:avLst/>
          </a:prstGeom>
        </p:spPr>
      </p:pic>
      <p:sp>
        <p:nvSpPr>
          <p:cNvPr id="2" name="文本框 1">
            <a:extLst>
              <a:ext uri="{FF2B5EF4-FFF2-40B4-BE49-F238E27FC236}">
                <a16:creationId xmlns:a16="http://schemas.microsoft.com/office/drawing/2014/main" id="{564548A1-E21A-1A7B-6E69-3AF5BF63AFAA}"/>
              </a:ext>
            </a:extLst>
          </p:cNvPr>
          <p:cNvSpPr txBox="1"/>
          <p:nvPr/>
        </p:nvSpPr>
        <p:spPr>
          <a:xfrm>
            <a:off x="7231" y="2849234"/>
            <a:ext cx="1237839" cy="369332"/>
          </a:xfrm>
          <a:prstGeom prst="rect">
            <a:avLst/>
          </a:prstGeom>
          <a:noFill/>
        </p:spPr>
        <p:txBody>
          <a:bodyPr wrap="none" rtlCol="0">
            <a:spAutoFit/>
          </a:bodyPr>
          <a:lstStyle/>
          <a:p>
            <a:r>
              <a:rPr lang="en-US" altLang="zh-CN" b="1" dirty="0">
                <a:latin typeface="Noto Sans JP" panose="020B0200000000000000" pitchFamily="34" charset="-122"/>
                <a:ea typeface="Noto Sans JP" panose="020B0200000000000000" pitchFamily="34" charset="-122"/>
                <a:cs typeface="Times New Roman" panose="02020603050405020304" pitchFamily="18" charset="0"/>
              </a:rPr>
              <a:t>SPD-GNN</a:t>
            </a:r>
            <a:endParaRPr lang="zh-CN" altLang="en-US" b="1" dirty="0">
              <a:latin typeface="Noto Sans JP" panose="020B0200000000000000" pitchFamily="34" charset="-122"/>
              <a:ea typeface="Noto Sans JP" panose="020B0200000000000000"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08B2B77-D299-307D-4BA0-7AF84C30F747}"/>
                  </a:ext>
                </a:extLst>
              </p:cNvPr>
              <p:cNvSpPr txBox="1"/>
              <p:nvPr/>
            </p:nvSpPr>
            <p:spPr>
              <a:xfrm>
                <a:off x="253615" y="3285498"/>
                <a:ext cx="2310889" cy="6696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𝑐</m:t>
                          </m:r>
                        </m:sub>
                      </m:sSub>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𝑙</m:t>
                                    </m:r>
                                  </m:sup>
                                </m:sSubSup>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0</m:t>
                                </m:r>
                              </m:e>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𝑗</m:t>
                                    </m:r>
                                  </m:sub>
                                  <m:sup>
                                    <m:r>
                                      <a:rPr lang="en-US" altLang="zh-CN" b="0" i="1" smtClean="0">
                                        <a:latin typeface="Cambria Math" panose="02040503050406030204" pitchFamily="18" charset="0"/>
                                      </a:rPr>
                                      <m:t>𝑙</m:t>
                                    </m:r>
                                  </m:sup>
                                </m:sSubSup>
                              </m:e>
                            </m:mr>
                          </m:m>
                        </m:e>
                      </m:d>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𝑐</m:t>
                          </m:r>
                        </m:sub>
                        <m:sup>
                          <m:r>
                            <a:rPr lang="en-US" altLang="zh-CN" b="0" i="1" smtClean="0">
                              <a:latin typeface="Cambria Math" panose="02040503050406030204" pitchFamily="18" charset="0"/>
                            </a:rPr>
                            <m:t>𝑇</m:t>
                          </m:r>
                        </m:sup>
                      </m:sSubSup>
                    </m:oMath>
                  </m:oMathPara>
                </a14:m>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A08B2B77-D299-307D-4BA0-7AF84C30F747}"/>
                  </a:ext>
                </a:extLst>
              </p:cNvPr>
              <p:cNvSpPr txBox="1">
                <a:spLocks noRot="1" noChangeAspect="1" noMove="1" noResize="1" noEditPoints="1" noAdjustHandles="1" noChangeArrowheads="1" noChangeShapeType="1" noTextEdit="1"/>
              </p:cNvSpPr>
              <p:nvPr/>
            </p:nvSpPr>
            <p:spPr>
              <a:xfrm>
                <a:off x="253615" y="3285498"/>
                <a:ext cx="2310889" cy="669607"/>
              </a:xfrm>
              <a:prstGeom prst="rect">
                <a:avLst/>
              </a:prstGeom>
              <a:blipFill>
                <a:blip r:embed="rId5"/>
                <a:stretch>
                  <a:fillRect r="-63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3355183-3A37-5F46-CD31-DF24D8CA5543}"/>
                  </a:ext>
                </a:extLst>
              </p:cNvPr>
              <p:cNvSpPr txBox="1"/>
              <p:nvPr/>
            </p:nvSpPr>
            <p:spPr>
              <a:xfrm>
                <a:off x="1245070" y="2850438"/>
                <a:ext cx="8562857" cy="369332"/>
              </a:xfrm>
              <a:prstGeom prst="rect">
                <a:avLst/>
              </a:prstGeom>
              <a:noFill/>
            </p:spPr>
            <p:txBody>
              <a:bodyPr wrap="none" rtlCol="0">
                <a:spAutoFit/>
              </a:bodyPr>
              <a:lstStyle/>
              <a:p>
                <a:r>
                  <a:rPr lang="en-US" altLang="zh-CN" dirty="0">
                    <a:latin typeface="Noto Sans JP" panose="020B0200000000000000" pitchFamily="34" charset="-122"/>
                    <a:ea typeface="Noto Sans JP" panose="020B0200000000000000" pitchFamily="34" charset="-122"/>
                    <a:cs typeface="Times New Roman" panose="02020603050405020304" pitchFamily="18" charset="0"/>
                  </a:rPr>
                  <a:t>The update process of amino acid (node) </a:t>
                </a:r>
                <a:r>
                  <a:rPr lang="zh-CN" altLang="en-US" dirty="0">
                    <a:latin typeface="Noto Sans JP" panose="020B0200000000000000" pitchFamily="34" charset="-122"/>
                    <a:ea typeface="Noto Sans JP" panose="020B0200000000000000" pitchFamily="34" charset="-122"/>
                    <a:cs typeface="Times New Roman" panose="02020603050405020304" pitchFamily="18" charset="0"/>
                  </a:rPr>
                  <a:t>feature</a:t>
                </a:r>
                <a:r>
                  <a:rPr lang="en-US" altLang="zh-CN" dirty="0">
                    <a:latin typeface="Noto Sans JP" panose="020B0200000000000000" pitchFamily="34" charset="-122"/>
                    <a:ea typeface="Noto Sans JP" panose="020B0200000000000000" pitchFamily="34" charset="-122"/>
                    <a:cs typeface="Times New Roman" panose="02020603050405020304" pitchFamily="18" charset="0"/>
                  </a:rPr>
                  <a:t>s at each layer (</a:t>
                </a:r>
                <a14:m>
                  <m:oMath xmlns:m="http://schemas.openxmlformats.org/officeDocument/2006/math">
                    <m:r>
                      <a:rPr lang="en-US" altLang="zh-CN" b="0" i="1" smtClean="0">
                        <a:latin typeface="Cambria Math" panose="02040503050406030204" pitchFamily="18" charset="0"/>
                      </a:rPr>
                      <m:t>𝑙</m:t>
                    </m:r>
                  </m:oMath>
                </a14:m>
                <a:r>
                  <a:rPr lang="en-US" altLang="zh-CN" dirty="0">
                    <a:latin typeface="Noto Sans JP" panose="020B0200000000000000" pitchFamily="34" charset="-122"/>
                    <a:ea typeface="Noto Sans JP" panose="020B0200000000000000" pitchFamily="34" charset="-122"/>
                    <a:cs typeface="Times New Roman" panose="02020603050405020304" pitchFamily="18" charset="0"/>
                  </a:rPr>
                  <a:t>) is as follows:</a:t>
                </a:r>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53355183-3A37-5F46-CD31-DF24D8CA5543}"/>
                  </a:ext>
                </a:extLst>
              </p:cNvPr>
              <p:cNvSpPr txBox="1">
                <a:spLocks noRot="1" noChangeAspect="1" noMove="1" noResize="1" noEditPoints="1" noAdjustHandles="1" noChangeArrowheads="1" noChangeShapeType="1" noTextEdit="1"/>
              </p:cNvSpPr>
              <p:nvPr/>
            </p:nvSpPr>
            <p:spPr>
              <a:xfrm>
                <a:off x="1245070" y="2850438"/>
                <a:ext cx="8562857" cy="369332"/>
              </a:xfrm>
              <a:prstGeom prst="rect">
                <a:avLst/>
              </a:prstGeom>
              <a:blipFill>
                <a:blip r:embed="rId6"/>
                <a:stretch>
                  <a:fillRect l="-569" t="-10000" r="-427"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0AF4D6D-49D7-B6A9-6462-20738E28A849}"/>
                  </a:ext>
                </a:extLst>
              </p:cNvPr>
              <p:cNvSpPr txBox="1"/>
              <p:nvPr/>
            </p:nvSpPr>
            <p:spPr>
              <a:xfrm>
                <a:off x="2678804" y="3451858"/>
                <a:ext cx="8559801" cy="668645"/>
              </a:xfrm>
              <a:prstGeom prst="rect">
                <a:avLst/>
              </a:prstGeom>
              <a:noFill/>
            </p:spPr>
            <p:txBody>
              <a:bodyPr wrap="square">
                <a:spAutoFit/>
              </a:bodyPr>
              <a:lstStyle/>
              <a:p>
                <a:r>
                  <a:rPr lang="en-US" altLang="zh-CN" dirty="0">
                    <a:latin typeface="Noto Sans JP" panose="020B0200000000000000" pitchFamily="34" charset="-122"/>
                    <a:ea typeface="Noto Sans JP" panose="020B0200000000000000" pitchFamily="34" charset="-122"/>
                    <a:cs typeface="Times New Roman" panose="02020603050405020304" pitchFamily="18" charset="0"/>
                  </a:rPr>
                  <a:t>Get</a:t>
                </a:r>
                <a:r>
                  <a:rPr lang="zh-CN" altLang="en-US" dirty="0">
                    <a:latin typeface="Noto Sans JP" panose="020B0200000000000000" pitchFamily="34" charset="-122"/>
                    <a:ea typeface="Noto Sans JP" panose="020B0200000000000000" pitchFamily="34" charset="-122"/>
                    <a:cs typeface="Times New Roman" panose="02020603050405020304" pitchFamily="18" charset="0"/>
                  </a:rPr>
                  <a:t> the information on the edge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𝑖𝑗</m:t>
                        </m:r>
                      </m:sub>
                    </m:sSub>
                  </m:oMath>
                </a14:m>
                <a:r>
                  <a:rPr lang="zh-CN" altLang="en-US" dirty="0">
                    <a:latin typeface="Noto Sans JP" panose="020B0200000000000000" pitchFamily="34" charset="-122"/>
                    <a:ea typeface="Noto Sans JP" panose="020B0200000000000000" pitchFamily="34" charset="-122"/>
                    <a:cs typeface="Times New Roman" panose="02020603050405020304" pitchFamily="18" charset="0"/>
                  </a:rPr>
                  <a:t> from amino acid </a:t>
                </a:r>
                <a14:m>
                  <m:oMath xmlns:m="http://schemas.openxmlformats.org/officeDocument/2006/math">
                    <m:r>
                      <a:rPr lang="en-US" altLang="zh-CN" b="0" i="1" smtClean="0">
                        <a:latin typeface="Cambria Math" panose="02040503050406030204" pitchFamily="18" charset="0"/>
                      </a:rPr>
                      <m:t>𝑗</m:t>
                    </m:r>
                  </m:oMath>
                </a14:m>
                <a:r>
                  <a:rPr lang="zh-CN" altLang="en-US" dirty="0">
                    <a:latin typeface="Noto Sans JP" panose="020B0200000000000000" pitchFamily="34" charset="-122"/>
                    <a:ea typeface="Noto Sans JP" panose="020B0200000000000000" pitchFamily="34" charset="-122"/>
                    <a:cs typeface="Times New Roman" panose="02020603050405020304" pitchFamily="18" charset="0"/>
                  </a:rPr>
                  <a:t> to amino acid </a:t>
                </a:r>
                <a14:m>
                  <m:oMath xmlns:m="http://schemas.openxmlformats.org/officeDocument/2006/math">
                    <m:r>
                      <a:rPr lang="en-US" altLang="zh-CN" b="0" i="1" smtClean="0">
                        <a:latin typeface="Cambria Math" panose="02040503050406030204" pitchFamily="18" charset="0"/>
                      </a:rPr>
                      <m:t>𝑖</m:t>
                    </m:r>
                  </m:oMath>
                </a14:m>
                <a:r>
                  <a:rPr lang="zh-CN" altLang="en-US" dirty="0">
                    <a:latin typeface="Noto Sans JP" panose="020B0200000000000000" pitchFamily="34" charset="-122"/>
                    <a:ea typeface="Noto Sans JP" panose="020B0200000000000000" pitchFamily="34" charset="-122"/>
                    <a:cs typeface="Times New Roman" panose="02020603050405020304" pitchFamily="18" charset="0"/>
                  </a:rPr>
                  <a:t> in the layer </a:t>
                </a:r>
                <a14:m>
                  <m:oMath xmlns:m="http://schemas.openxmlformats.org/officeDocument/2006/math">
                    <m:r>
                      <a:rPr lang="en-US" altLang="zh-CN" b="0" i="1" smtClean="0">
                        <a:latin typeface="Cambria Math" panose="02040503050406030204" pitchFamily="18" charset="0"/>
                      </a:rPr>
                      <m:t>𝑙</m:t>
                    </m:r>
                  </m:oMath>
                </a14:m>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C0AF4D6D-49D7-B6A9-6462-20738E28A849}"/>
                  </a:ext>
                </a:extLst>
              </p:cNvPr>
              <p:cNvSpPr txBox="1">
                <a:spLocks noRot="1" noChangeAspect="1" noMove="1" noResize="1" noEditPoints="1" noAdjustHandles="1" noChangeArrowheads="1" noChangeShapeType="1" noTextEdit="1"/>
              </p:cNvSpPr>
              <p:nvPr/>
            </p:nvSpPr>
            <p:spPr>
              <a:xfrm>
                <a:off x="2678804" y="3451858"/>
                <a:ext cx="8559801" cy="668645"/>
              </a:xfrm>
              <a:prstGeom prst="rect">
                <a:avLst/>
              </a:prstGeom>
              <a:blipFill>
                <a:blip r:embed="rId7"/>
                <a:stretch>
                  <a:fillRect l="-569" t="-4545" b="-1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74960162-C1E0-55B5-103B-E51A3F199CF4}"/>
                  </a:ext>
                </a:extLst>
              </p:cNvPr>
              <p:cNvSpPr txBox="1"/>
              <p:nvPr/>
            </p:nvSpPr>
            <p:spPr>
              <a:xfrm>
                <a:off x="253615" y="4219832"/>
                <a:ext cx="1432572" cy="708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𝑗</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𝑖</m:t>
                              </m:r>
                            </m:sub>
                          </m:sSub>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Sub>
                        </m:e>
                      </m:nary>
                    </m:oMath>
                  </m:oMathPara>
                </a14:m>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74960162-C1E0-55B5-103B-E51A3F199CF4}"/>
                  </a:ext>
                </a:extLst>
              </p:cNvPr>
              <p:cNvSpPr txBox="1">
                <a:spLocks noRot="1" noChangeAspect="1" noMove="1" noResize="1" noEditPoints="1" noAdjustHandles="1" noChangeArrowheads="1" noChangeShapeType="1" noTextEdit="1"/>
              </p:cNvSpPr>
              <p:nvPr/>
            </p:nvSpPr>
            <p:spPr>
              <a:xfrm>
                <a:off x="253615" y="4219832"/>
                <a:ext cx="1432572" cy="708399"/>
              </a:xfrm>
              <a:prstGeom prst="rect">
                <a:avLst/>
              </a:prstGeom>
              <a:blipFill>
                <a:blip r:embed="rId8"/>
                <a:stretch>
                  <a:fillRect r="-110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6EBB6D9D-57A8-0137-088C-C84C296D91FF}"/>
                  </a:ext>
                </a:extLst>
              </p:cNvPr>
              <p:cNvSpPr txBox="1"/>
              <p:nvPr/>
            </p:nvSpPr>
            <p:spPr>
              <a:xfrm>
                <a:off x="2678804" y="4192410"/>
                <a:ext cx="8810460" cy="646331"/>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cs typeface="Times New Roman" panose="02020603050405020304" pitchFamily="18" charset="0"/>
                  </a:rPr>
                  <a:t>Aggregate all the information of the edges with amino acid </a:t>
                </a:r>
                <a14:m>
                  <m:oMath xmlns:m="http://schemas.openxmlformats.org/officeDocument/2006/math">
                    <m:r>
                      <a:rPr lang="en-US" altLang="zh-CN" b="0" i="1" smtClean="0">
                        <a:latin typeface="Cambria Math" panose="02040503050406030204" pitchFamily="18" charset="0"/>
                      </a:rPr>
                      <m:t>𝑖</m:t>
                    </m:r>
                  </m:oMath>
                </a14:m>
                <a:r>
                  <a:rPr lang="zh-CN" altLang="en-US" dirty="0">
                    <a:latin typeface="Noto Sans JP" panose="020B0200000000000000" pitchFamily="34" charset="-122"/>
                    <a:ea typeface="Noto Sans JP" panose="020B0200000000000000" pitchFamily="34" charset="-122"/>
                    <a:cs typeface="Times New Roman" panose="02020603050405020304" pitchFamily="18" charset="0"/>
                  </a:rPr>
                  <a:t> as the target node to obtain the neighbor summary representation of amino acid </a:t>
                </a:r>
                <a14:m>
                  <m:oMath xmlns:m="http://schemas.openxmlformats.org/officeDocument/2006/math">
                    <m:r>
                      <a:rPr lang="en-US" altLang="zh-CN" b="0" i="1" smtClean="0">
                        <a:latin typeface="Cambria Math" panose="02040503050406030204" pitchFamily="18" charset="0"/>
                      </a:rPr>
                      <m:t>𝑖</m:t>
                    </m:r>
                  </m:oMath>
                </a14:m>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6EBB6D9D-57A8-0137-088C-C84C296D91FF}"/>
                  </a:ext>
                </a:extLst>
              </p:cNvPr>
              <p:cNvSpPr txBox="1">
                <a:spLocks noRot="1" noChangeAspect="1" noMove="1" noResize="1" noEditPoints="1" noAdjustHandles="1" noChangeArrowheads="1" noChangeShapeType="1" noTextEdit="1"/>
              </p:cNvSpPr>
              <p:nvPr/>
            </p:nvSpPr>
            <p:spPr>
              <a:xfrm>
                <a:off x="2678804" y="4192410"/>
                <a:ext cx="8810460" cy="646331"/>
              </a:xfrm>
              <a:prstGeom prst="rect">
                <a:avLst/>
              </a:prstGeom>
              <a:blipFill>
                <a:blip r:embed="rId9"/>
                <a:stretch>
                  <a:fillRect l="-553" t="-5660" r="-277"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EE8A9F4-D182-B264-37E1-0866E4B59D6B}"/>
                  </a:ext>
                </a:extLst>
              </p:cNvPr>
              <p:cNvSpPr txBox="1"/>
              <p:nvPr/>
            </p:nvSpPr>
            <p:spPr>
              <a:xfrm>
                <a:off x="71964" y="5351815"/>
                <a:ext cx="2854948" cy="6163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𝑙</m:t>
                          </m:r>
                          <m:r>
                            <a:rPr lang="en-US" altLang="zh-CN" b="0" i="1" smtClean="0">
                              <a:latin typeface="Cambria Math" panose="02040503050406030204" pitchFamily="18" charset="0"/>
                            </a:rPr>
                            <m:t>+1</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𝑟</m:t>
                          </m:r>
                        </m:sub>
                        <m:sup>
                          <m:r>
                            <a:rPr lang="en-US" altLang="zh-CN" b="0" i="1" smtClean="0">
                              <a:latin typeface="Cambria Math" panose="02040503050406030204" pitchFamily="18" charset="0"/>
                            </a:rPr>
                            <m:t>𝑙</m:t>
                          </m:r>
                        </m:sup>
                      </m:sSub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𝑃</m:t>
                          </m:r>
                        </m:sub>
                      </m:sSub>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𝑙</m:t>
                                    </m:r>
                                  </m:sup>
                                </m:sSubSup>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0</m:t>
                                </m:r>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sub>
                                </m:sSub>
                              </m:e>
                            </m:mr>
                          </m:m>
                        </m:e>
                      </m:d>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𝑃</m:t>
                          </m:r>
                        </m:sub>
                        <m:sup>
                          <m:r>
                            <a:rPr lang="en-US" altLang="zh-CN" b="0" i="1" smtClean="0">
                              <a:latin typeface="Cambria Math" panose="02040503050406030204" pitchFamily="18" charset="0"/>
                            </a:rPr>
                            <m:t>𝑇</m:t>
                          </m:r>
                        </m:sup>
                      </m:sSubSup>
                      <m:r>
                        <a:rPr lang="en-US" altLang="zh-CN" b="0" i="1" smtClean="0">
                          <a:latin typeface="Cambria Math" panose="02040503050406030204" pitchFamily="18" charset="0"/>
                        </a:rPr>
                        <m:t>)</m:t>
                      </m:r>
                    </m:oMath>
                  </m:oMathPara>
                </a14:m>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mc:Choice>
        <mc:Fallback xmlns="">
          <p:sp>
            <p:nvSpPr>
              <p:cNvPr id="13" name="文本框 12">
                <a:extLst>
                  <a:ext uri="{FF2B5EF4-FFF2-40B4-BE49-F238E27FC236}">
                    <a16:creationId xmlns:a16="http://schemas.microsoft.com/office/drawing/2014/main" id="{2EE8A9F4-D182-B264-37E1-0866E4B59D6B}"/>
                  </a:ext>
                </a:extLst>
              </p:cNvPr>
              <p:cNvSpPr txBox="1">
                <a:spLocks noRot="1" noChangeAspect="1" noMove="1" noResize="1" noEditPoints="1" noAdjustHandles="1" noChangeArrowheads="1" noChangeShapeType="1" noTextEdit="1"/>
              </p:cNvSpPr>
              <p:nvPr/>
            </p:nvSpPr>
            <p:spPr>
              <a:xfrm>
                <a:off x="71964" y="5351815"/>
                <a:ext cx="2854948" cy="616387"/>
              </a:xfrm>
              <a:prstGeom prst="rect">
                <a:avLst/>
              </a:prstGeom>
              <a:blipFill>
                <a:blip r:embed="rId10"/>
                <a:stretch>
                  <a:fillRect r="-5342" b="-9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868A950E-1153-B140-4F56-566385FD6AD8}"/>
                  </a:ext>
                </a:extLst>
              </p:cNvPr>
              <p:cNvSpPr txBox="1"/>
              <p:nvPr/>
            </p:nvSpPr>
            <p:spPr>
              <a:xfrm>
                <a:off x="7231" y="6364052"/>
                <a:ext cx="12316509" cy="464999"/>
              </a:xfrm>
              <a:prstGeom prst="rect">
                <a:avLst/>
              </a:prstGeom>
              <a:noFill/>
            </p:spPr>
            <p:txBody>
              <a:bodyPr wrap="square">
                <a:spAutoFit/>
              </a:bodyPr>
              <a:lstStyle/>
              <a:p>
                <a:r>
                  <a:rPr lang="zh-CN" altLang="en-US" sz="1200" dirty="0">
                    <a:latin typeface="Noto Sans JP" panose="020B0200000000000000" pitchFamily="34" charset="-122"/>
                    <a:ea typeface="Noto Sans JP" panose="020B0200000000000000" pitchFamily="34" charset="-122"/>
                    <a:cs typeface="Times New Roman" panose="02020603050405020304" pitchFamily="18" charset="0"/>
                  </a:rPr>
                  <a:t>Some eigenvalues in the covariance matrix may be very small, close to 0, which can lead to numerical instability or irreversibility.Therefore, the </a:t>
                </a:r>
                <a14:m>
                  <m:oMath xmlns:m="http://schemas.openxmlformats.org/officeDocument/2006/math">
                    <m:sSubSup>
                      <m:sSubSupPr>
                        <m:ctrlPr>
                          <a:rPr lang="en-US" altLang="zh-CN" sz="1200" b="0" i="1" smtClean="0">
                            <a:latin typeface="Cambria Math" panose="02040503050406030204" pitchFamily="18" charset="0"/>
                          </a:rPr>
                        </m:ctrlPr>
                      </m:sSubSupPr>
                      <m:e>
                        <m:r>
                          <a:rPr lang="en-US" altLang="zh-CN" sz="1200" b="0" i="1" smtClean="0">
                            <a:latin typeface="Cambria Math" panose="02040503050406030204" pitchFamily="18" charset="0"/>
                          </a:rPr>
                          <m:t>𝑓</m:t>
                        </m:r>
                      </m:e>
                      <m:sub>
                        <m:r>
                          <a:rPr lang="en-US" altLang="zh-CN" sz="1200" b="0" i="1" smtClean="0">
                            <a:latin typeface="Cambria Math" panose="02040503050406030204" pitchFamily="18" charset="0"/>
                          </a:rPr>
                          <m:t>𝑟</m:t>
                        </m:r>
                      </m:sub>
                      <m:sup>
                        <m:r>
                          <a:rPr lang="en-US" altLang="zh-CN" sz="1200" b="0" i="1" smtClean="0">
                            <a:latin typeface="Cambria Math" panose="02040503050406030204" pitchFamily="18" charset="0"/>
                          </a:rPr>
                          <m:t>𝑙</m:t>
                        </m:r>
                      </m:sup>
                    </m:sSubSup>
                    <m:r>
                      <a:rPr lang="en-US" altLang="zh-CN" sz="1200" b="0" i="1" smtClean="0">
                        <a:latin typeface="Cambria Math" panose="02040503050406030204" pitchFamily="18" charset="0"/>
                      </a:rPr>
                      <m:t> </m:t>
                    </m:r>
                  </m:oMath>
                </a14:m>
                <a:r>
                  <a:rPr lang="zh-CN" altLang="en-US" sz="1200" dirty="0">
                    <a:latin typeface="Noto Sans JP" panose="020B0200000000000000" pitchFamily="34" charset="-122"/>
                    <a:ea typeface="Noto Sans JP" panose="020B0200000000000000" pitchFamily="34" charset="-122"/>
                    <a:cs typeface="Times New Roman" panose="02020603050405020304" pitchFamily="18" charset="0"/>
                  </a:rPr>
                  <a:t> is used to ensure that all eigenvalues are greater than a certain positive number ε, so that the matrix is strictly positive definite and remains within the SPD manifold.</a:t>
                </a:r>
              </a:p>
            </p:txBody>
          </p:sp>
        </mc:Choice>
        <mc:Fallback xmlns="">
          <p:sp>
            <p:nvSpPr>
              <p:cNvPr id="15" name="文本框 14">
                <a:extLst>
                  <a:ext uri="{FF2B5EF4-FFF2-40B4-BE49-F238E27FC236}">
                    <a16:creationId xmlns:a16="http://schemas.microsoft.com/office/drawing/2014/main" id="{868A950E-1153-B140-4F56-566385FD6AD8}"/>
                  </a:ext>
                </a:extLst>
              </p:cNvPr>
              <p:cNvSpPr txBox="1">
                <a:spLocks noRot="1" noChangeAspect="1" noMove="1" noResize="1" noEditPoints="1" noAdjustHandles="1" noChangeArrowheads="1" noChangeShapeType="1" noTextEdit="1"/>
              </p:cNvSpPr>
              <p:nvPr/>
            </p:nvSpPr>
            <p:spPr>
              <a:xfrm>
                <a:off x="7231" y="6364052"/>
                <a:ext cx="12316509" cy="464999"/>
              </a:xfrm>
              <a:prstGeom prst="rect">
                <a:avLst/>
              </a:prstGeom>
              <a:blipFill>
                <a:blip r:embed="rId11"/>
                <a:stretch>
                  <a:fillRect b="-105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2D9E3A1D-3EAB-2F3B-C592-F83F40FC8C0C}"/>
                  </a:ext>
                </a:extLst>
              </p:cNvPr>
              <p:cNvSpPr txBox="1"/>
              <p:nvPr/>
            </p:nvSpPr>
            <p:spPr>
              <a:xfrm>
                <a:off x="3251880" y="5412541"/>
                <a:ext cx="6216444" cy="369332"/>
              </a:xfrm>
              <a:prstGeom prst="rect">
                <a:avLst/>
              </a:prstGeom>
              <a:noFill/>
            </p:spPr>
            <p:txBody>
              <a:bodyPr wrap="square">
                <a:spAutoFit/>
              </a:bodyPr>
              <a:lstStyle/>
              <a:p>
                <a:r>
                  <a:rPr lang="en-US" altLang="zh-CN" dirty="0">
                    <a:latin typeface="Noto Sans JP" panose="020B0200000000000000" pitchFamily="34" charset="-122"/>
                    <a:ea typeface="Noto Sans JP" panose="020B0200000000000000" pitchFamily="34" charset="-122"/>
                    <a:cs typeface="Times New Roman" panose="02020603050405020304" pitchFamily="18" charset="0"/>
                  </a:rPr>
                  <a:t>Get</a:t>
                </a:r>
                <a:r>
                  <a:rPr lang="zh-CN" altLang="en-US" dirty="0">
                    <a:latin typeface="Noto Sans JP" panose="020B0200000000000000" pitchFamily="34" charset="-122"/>
                    <a:ea typeface="Noto Sans JP" panose="020B0200000000000000" pitchFamily="34" charset="-122"/>
                    <a:cs typeface="Times New Roman" panose="02020603050405020304" pitchFamily="18" charset="0"/>
                  </a:rPr>
                  <a:t> the feature</a:t>
                </a:r>
                <a:r>
                  <a:rPr lang="en-US" altLang="zh-CN" dirty="0">
                    <a:latin typeface="Noto Sans JP" panose="020B0200000000000000" pitchFamily="34" charset="-122"/>
                    <a:ea typeface="Noto Sans JP" panose="020B0200000000000000" pitchFamily="34" charset="-122"/>
                    <a:cs typeface="Times New Roman" panose="02020603050405020304" pitchFamily="18" charset="0"/>
                  </a:rPr>
                  <a:t>s</a:t>
                </a:r>
                <a:r>
                  <a:rPr lang="zh-CN" altLang="en-US" dirty="0">
                    <a:latin typeface="Noto Sans JP" panose="020B0200000000000000" pitchFamily="34" charset="-122"/>
                    <a:ea typeface="Noto Sans JP" panose="020B0200000000000000" pitchFamily="34" charset="-122"/>
                    <a:cs typeface="Times New Roman" panose="02020603050405020304" pitchFamily="18" charset="0"/>
                  </a:rPr>
                  <a:t> of amino acid </a:t>
                </a:r>
                <a14:m>
                  <m:oMath xmlns:m="http://schemas.openxmlformats.org/officeDocument/2006/math">
                    <m:r>
                      <a:rPr lang="en-US" altLang="zh-CN" b="0" i="1" smtClean="0">
                        <a:latin typeface="Cambria Math" panose="02040503050406030204" pitchFamily="18" charset="0"/>
                      </a:rPr>
                      <m:t>𝑖</m:t>
                    </m:r>
                  </m:oMath>
                </a14:m>
                <a:r>
                  <a:rPr lang="zh-CN" altLang="en-US" dirty="0">
                    <a:latin typeface="Noto Sans JP" panose="020B0200000000000000" pitchFamily="34" charset="-122"/>
                    <a:ea typeface="Noto Sans JP" panose="020B0200000000000000" pitchFamily="34" charset="-122"/>
                    <a:cs typeface="Times New Roman" panose="02020603050405020304" pitchFamily="18" charset="0"/>
                  </a:rPr>
                  <a:t> in the </a:t>
                </a:r>
                <a14:m>
                  <m:oMath xmlns:m="http://schemas.openxmlformats.org/officeDocument/2006/math">
                    <m:r>
                      <a:rPr lang="en-US" altLang="zh-CN" b="0" i="1" smtClean="0">
                        <a:latin typeface="Cambria Math" panose="02040503050406030204" pitchFamily="18" charset="0"/>
                      </a:rPr>
                      <m:t>𝑙</m:t>
                    </m:r>
                    <m:r>
                      <a:rPr lang="en-US" altLang="zh-CN" b="0" i="1" smtClean="0">
                        <a:latin typeface="Cambria Math" panose="02040503050406030204" pitchFamily="18" charset="0"/>
                      </a:rPr>
                      <m:t>+1</m:t>
                    </m:r>
                  </m:oMath>
                </a14:m>
                <a:r>
                  <a:rPr lang="zh-CN" altLang="en-US" dirty="0">
                    <a:latin typeface="Noto Sans JP" panose="020B0200000000000000" pitchFamily="34" charset="-122"/>
                    <a:ea typeface="Noto Sans JP" panose="020B0200000000000000" pitchFamily="34" charset="-122"/>
                    <a:cs typeface="Times New Roman" panose="02020603050405020304" pitchFamily="18" charset="0"/>
                  </a:rPr>
                  <a:t> layer</a:t>
                </a:r>
              </a:p>
            </p:txBody>
          </p:sp>
        </mc:Choice>
        <mc:Fallback xmlns="">
          <p:sp>
            <p:nvSpPr>
              <p:cNvPr id="17" name="文本框 16">
                <a:extLst>
                  <a:ext uri="{FF2B5EF4-FFF2-40B4-BE49-F238E27FC236}">
                    <a16:creationId xmlns:a16="http://schemas.microsoft.com/office/drawing/2014/main" id="{2D9E3A1D-3EAB-2F3B-C592-F83F40FC8C0C}"/>
                  </a:ext>
                </a:extLst>
              </p:cNvPr>
              <p:cNvSpPr txBox="1">
                <a:spLocks noRot="1" noChangeAspect="1" noMove="1" noResize="1" noEditPoints="1" noAdjustHandles="1" noChangeArrowheads="1" noChangeShapeType="1" noTextEdit="1"/>
              </p:cNvSpPr>
              <p:nvPr/>
            </p:nvSpPr>
            <p:spPr>
              <a:xfrm>
                <a:off x="3251880" y="5412541"/>
                <a:ext cx="6216444" cy="369332"/>
              </a:xfrm>
              <a:prstGeom prst="rect">
                <a:avLst/>
              </a:prstGeom>
              <a:blipFill>
                <a:blip r:embed="rId12"/>
                <a:stretch>
                  <a:fillRect l="-784"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F6DEC20-B493-8977-E101-A1DEBD6C75CF}"/>
                  </a:ext>
                </a:extLst>
              </p:cNvPr>
              <p:cNvSpPr txBox="1"/>
              <p:nvPr/>
            </p:nvSpPr>
            <p:spPr>
              <a:xfrm>
                <a:off x="8318298" y="5806555"/>
                <a:ext cx="3573286" cy="3232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𝐹𝑖𝑛𝑎𝑙</m:t>
                      </m:r>
                      <m:r>
                        <a:rPr lang="en-US" altLang="zh-CN" b="0" i="1" smtClean="0">
                          <a:latin typeface="Cambria Math" panose="02040503050406030204" pitchFamily="18" charset="0"/>
                        </a:rPr>
                        <m:t>: </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𝑆</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Sub>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,256]</m:t>
                      </m:r>
                    </m:oMath>
                  </m:oMathPara>
                </a14:m>
                <a:endParaRPr lang="zh-CN" altLang="en-US" dirty="0">
                  <a:latin typeface="Noto Sans JP" panose="020B0200000000000000" pitchFamily="34" charset="-122"/>
                  <a:ea typeface="Noto Sans JP" panose="020B0200000000000000" pitchFamily="34" charset="-122"/>
                  <a:cs typeface="Times New Roman" panose="02020603050405020304" pitchFamily="18" charset="0"/>
                </a:endParaRPr>
              </a:p>
            </p:txBody>
          </p:sp>
        </mc:Choice>
        <mc:Fallback xmlns="">
          <p:sp>
            <p:nvSpPr>
              <p:cNvPr id="19" name="文本框 18">
                <a:extLst>
                  <a:ext uri="{FF2B5EF4-FFF2-40B4-BE49-F238E27FC236}">
                    <a16:creationId xmlns:a16="http://schemas.microsoft.com/office/drawing/2014/main" id="{EF6DEC20-B493-8977-E101-A1DEBD6C75CF}"/>
                  </a:ext>
                </a:extLst>
              </p:cNvPr>
              <p:cNvSpPr txBox="1">
                <a:spLocks noRot="1" noChangeAspect="1" noMove="1" noResize="1" noEditPoints="1" noAdjustHandles="1" noChangeArrowheads="1" noChangeShapeType="1" noTextEdit="1"/>
              </p:cNvSpPr>
              <p:nvPr/>
            </p:nvSpPr>
            <p:spPr>
              <a:xfrm>
                <a:off x="8318298" y="5806555"/>
                <a:ext cx="3573286" cy="323294"/>
              </a:xfrm>
              <a:prstGeom prst="rect">
                <a:avLst/>
              </a:prstGeom>
              <a:blipFill>
                <a:blip r:embed="rId13"/>
                <a:stretch>
                  <a:fillRect l="-1024" t="-18868" r="-4096" b="-339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9C3CDC79-8118-32D5-7434-CC3B97BC0B19}"/>
                  </a:ext>
                </a:extLst>
              </p:cNvPr>
              <p:cNvSpPr txBox="1"/>
              <p:nvPr/>
            </p:nvSpPr>
            <p:spPr>
              <a:xfrm>
                <a:off x="2678803" y="4767273"/>
                <a:ext cx="8559801" cy="358368"/>
              </a:xfrm>
              <a:prstGeom prst="rect">
                <a:avLst/>
              </a:prstGeom>
              <a:noFill/>
            </p:spPr>
            <p:txBody>
              <a:bodyPr wrap="square">
                <a:spAutoFit/>
              </a:bodyPr>
              <a:lstStyle/>
              <a:p>
                <a:r>
                  <a:rPr lang="en-US" altLang="zh-CN" sz="1600" dirty="0">
                    <a:latin typeface="Noto Sans JP" panose="020B0200000000000000" pitchFamily="34" charset="-122"/>
                    <a:ea typeface="Noto Sans JP" panose="020B0200000000000000" pitchFamily="34" charset="-122"/>
                    <a:cs typeface="Times New Roman" panose="02020603050405020304" pitchFamily="18" charset="0"/>
                  </a:rPr>
                  <a:t>(</a:t>
                </a:r>
                <a:r>
                  <a:rPr lang="zh-CN" altLang="en-US" sz="1600" dirty="0">
                    <a:latin typeface="Noto Sans JP" panose="020B0200000000000000" pitchFamily="34" charset="-122"/>
                    <a:ea typeface="Noto Sans JP" panose="020B0200000000000000" pitchFamily="34" charset="-122"/>
                    <a:cs typeface="Times New Roman" panose="02020603050405020304" pitchFamily="18" charset="0"/>
                  </a:rPr>
                  <a:t>The edge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𝑚</m:t>
                        </m:r>
                      </m:e>
                      <m:sub>
                        <m: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𝑗</m:t>
                        </m:r>
                      </m:sub>
                    </m:sSub>
                  </m:oMath>
                </a14:m>
                <a:r>
                  <a:rPr lang="zh-CN" altLang="en-US" sz="1600" dirty="0">
                    <a:latin typeface="Noto Sans JP" panose="020B0200000000000000" pitchFamily="34" charset="-122"/>
                    <a:ea typeface="Noto Sans JP" panose="020B0200000000000000" pitchFamily="34" charset="-122"/>
                    <a:cs typeface="Times New Roman" panose="02020603050405020304" pitchFamily="18" charset="0"/>
                  </a:rPr>
                  <a:t> information is obtained from </a:t>
                </a:r>
                <a:r>
                  <a:rPr lang="en-US" altLang="zh-CN" sz="1600" dirty="0">
                    <a:latin typeface="Noto Sans JP" panose="020B0200000000000000" pitchFamily="34" charset="-122"/>
                    <a:ea typeface="Noto Sans JP" panose="020B0200000000000000" pitchFamily="34" charset="-122"/>
                    <a:cs typeface="Times New Roman" panose="02020603050405020304" pitchFamily="18" charset="0"/>
                  </a:rPr>
                  <a:t>3D </a:t>
                </a:r>
                <a:r>
                  <a:rPr lang="zh-CN" altLang="en-US" sz="1600" dirty="0">
                    <a:latin typeface="Noto Sans JP" panose="020B0200000000000000" pitchFamily="34" charset="-122"/>
                    <a:ea typeface="Noto Sans JP" panose="020B0200000000000000" pitchFamily="34" charset="-122"/>
                    <a:cs typeface="Times New Roman" panose="02020603050405020304" pitchFamily="18" charset="0"/>
                  </a:rPr>
                  <a:t>coordinates +K-Nearest Neighbors Graph</a:t>
                </a:r>
                <a:r>
                  <a:rPr lang="en-US" altLang="zh-CN" sz="1600" dirty="0">
                    <a:latin typeface="Noto Sans JP" panose="020B0200000000000000" pitchFamily="34" charset="-122"/>
                    <a:ea typeface="Noto Sans JP" panose="020B0200000000000000" pitchFamily="34" charset="-122"/>
                    <a:cs typeface="Times New Roman" panose="02020603050405020304" pitchFamily="18" charset="0"/>
                  </a:rPr>
                  <a:t>)</a:t>
                </a:r>
                <a:endParaRPr lang="zh-CN" altLang="en-US" sz="1600" dirty="0">
                  <a:latin typeface="Noto Sans JP" panose="020B0200000000000000" pitchFamily="34" charset="-122"/>
                  <a:ea typeface="Noto Sans JP" panose="020B0200000000000000" pitchFamily="34" charset="-122"/>
                  <a:cs typeface="Times New Roman" panose="02020603050405020304" pitchFamily="18" charset="0"/>
                </a:endParaRPr>
              </a:p>
            </p:txBody>
          </p:sp>
        </mc:Choice>
        <mc:Fallback xmlns="">
          <p:sp>
            <p:nvSpPr>
              <p:cNvPr id="21" name="文本框 20">
                <a:extLst>
                  <a:ext uri="{FF2B5EF4-FFF2-40B4-BE49-F238E27FC236}">
                    <a16:creationId xmlns:a16="http://schemas.microsoft.com/office/drawing/2014/main" id="{9C3CDC79-8118-32D5-7434-CC3B97BC0B19}"/>
                  </a:ext>
                </a:extLst>
              </p:cNvPr>
              <p:cNvSpPr txBox="1">
                <a:spLocks noRot="1" noChangeAspect="1" noMove="1" noResize="1" noEditPoints="1" noAdjustHandles="1" noChangeArrowheads="1" noChangeShapeType="1" noTextEdit="1"/>
              </p:cNvSpPr>
              <p:nvPr/>
            </p:nvSpPr>
            <p:spPr>
              <a:xfrm>
                <a:off x="2678803" y="4767273"/>
                <a:ext cx="8559801" cy="358368"/>
              </a:xfrm>
              <a:prstGeom prst="rect">
                <a:avLst/>
              </a:prstGeom>
              <a:blipFill>
                <a:blip r:embed="rId14"/>
                <a:stretch>
                  <a:fillRect l="-356" t="-5085" r="-427" b="-15254"/>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17041B54-1EA3-6F7C-9217-FF7E9E776EC0}"/>
              </a:ext>
            </a:extLst>
          </p:cNvPr>
          <p:cNvSpPr txBox="1"/>
          <p:nvPr/>
        </p:nvSpPr>
        <p:spPr>
          <a:xfrm>
            <a:off x="253615" y="168967"/>
            <a:ext cx="6242304" cy="369332"/>
          </a:xfrm>
          <a:prstGeom prst="rect">
            <a:avLst/>
          </a:prstGeom>
          <a:noFill/>
        </p:spPr>
        <p:txBody>
          <a:bodyPr wrap="square">
            <a:spAutoFit/>
          </a:bodyPr>
          <a:lstStyle/>
          <a:p>
            <a:r>
              <a:rPr lang="en-US" altLang="zh-CN" dirty="0">
                <a:latin typeface="Noto Sans JP" panose="020B0200000000000000" pitchFamily="34" charset="-122"/>
                <a:ea typeface="Noto Sans JP" panose="020B0200000000000000" pitchFamily="34" charset="-122"/>
                <a:cs typeface="Times New Roman" panose="02020603050405020304" pitchFamily="18" charset="0"/>
              </a:rPr>
              <a:t>On one hand, </a:t>
            </a:r>
          </a:p>
        </p:txBody>
      </p:sp>
    </p:spTree>
    <p:extLst>
      <p:ext uri="{BB962C8B-B14F-4D97-AF65-F5344CB8AC3E}">
        <p14:creationId xmlns:p14="http://schemas.microsoft.com/office/powerpoint/2010/main" val="3409323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552844CA-D47D-980D-AAA7-87483F50BDCA}"/>
              </a:ext>
            </a:extLst>
          </p:cNvPr>
          <p:cNvSpPr txBox="1"/>
          <p:nvPr/>
        </p:nvSpPr>
        <p:spPr>
          <a:xfrm>
            <a:off x="1851654" y="117466"/>
            <a:ext cx="7466862" cy="646331"/>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rPr>
              <a:t>the encoding embedding of protein sequences </a:t>
            </a:r>
            <a:r>
              <a:rPr lang="en-US" altLang="zh-CN" dirty="0">
                <a:latin typeface="Noto Sans JP" panose="020B0200000000000000" pitchFamily="34" charset="-122"/>
                <a:ea typeface="Noto Sans JP" panose="020B0200000000000000" pitchFamily="34" charset="-122"/>
              </a:rPr>
              <a:t>(B,N,1024)</a:t>
            </a:r>
            <a:r>
              <a:rPr lang="zh-CN" altLang="en-US" dirty="0">
                <a:latin typeface="Noto Sans JP" panose="020B0200000000000000" pitchFamily="34" charset="-122"/>
                <a:ea typeface="Noto Sans JP" panose="020B0200000000000000" pitchFamily="34" charset="-122"/>
              </a:rPr>
              <a:t> </a:t>
            </a:r>
            <a:r>
              <a:rPr lang="en-US" altLang="zh-CN" dirty="0">
                <a:latin typeface="Noto Sans JP" panose="020B0200000000000000" pitchFamily="34" charset="-122"/>
                <a:ea typeface="Noto Sans JP" panose="020B0200000000000000" pitchFamily="34" charset="-122"/>
              </a:rPr>
              <a:t>(</a:t>
            </a:r>
            <a:r>
              <a:rPr lang="zh-CN" altLang="en-US" dirty="0">
                <a:latin typeface="Noto Sans JP" panose="020B0200000000000000" pitchFamily="34" charset="-122"/>
                <a:ea typeface="Noto Sans JP" panose="020B0200000000000000" pitchFamily="34" charset="-122"/>
              </a:rPr>
              <a:t>derived from the Prot-Bert</a:t>
            </a:r>
            <a:r>
              <a:rPr lang="en-US" altLang="zh-CN" dirty="0">
                <a:latin typeface="Noto Sans JP" panose="020B0200000000000000" pitchFamily="34" charset="-122"/>
                <a:ea typeface="Noto Sans JP" panose="020B0200000000000000" pitchFamily="34" charset="-122"/>
              </a:rPr>
              <a:t>, a</a:t>
            </a:r>
            <a:r>
              <a:rPr lang="zh-CN" altLang="en-US" dirty="0">
                <a:latin typeface="Noto Sans JP" panose="020B0200000000000000" pitchFamily="34" charset="-122"/>
                <a:ea typeface="Noto Sans JP" panose="020B0200000000000000" pitchFamily="34" charset="-122"/>
              </a:rPr>
              <a:t> protein language model)</a:t>
            </a:r>
          </a:p>
        </p:txBody>
      </p:sp>
      <p:cxnSp>
        <p:nvCxnSpPr>
          <p:cNvPr id="7" name="直接箭头连接符 6">
            <a:extLst>
              <a:ext uri="{FF2B5EF4-FFF2-40B4-BE49-F238E27FC236}">
                <a16:creationId xmlns:a16="http://schemas.microsoft.com/office/drawing/2014/main" id="{26231BC2-BD12-1D0B-3B8B-70E5C0A569E6}"/>
              </a:ext>
            </a:extLst>
          </p:cNvPr>
          <p:cNvCxnSpPr>
            <a:cxnSpLocks/>
            <a:stCxn id="5" idx="2"/>
          </p:cNvCxnSpPr>
          <p:nvPr/>
        </p:nvCxnSpPr>
        <p:spPr>
          <a:xfrm>
            <a:off x="5585085" y="763797"/>
            <a:ext cx="0" cy="5268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53CA681F-1798-513D-17B9-AEA6C18C5231}"/>
              </a:ext>
            </a:extLst>
          </p:cNvPr>
          <p:cNvSpPr txBox="1"/>
          <p:nvPr/>
        </p:nvSpPr>
        <p:spPr>
          <a:xfrm>
            <a:off x="3703008" y="1237068"/>
            <a:ext cx="4068098" cy="369332"/>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rPr>
              <a:t>Extract text features using DenseNet</a:t>
            </a:r>
          </a:p>
        </p:txBody>
      </p:sp>
      <p:cxnSp>
        <p:nvCxnSpPr>
          <p:cNvPr id="10" name="直接箭头连接符 9">
            <a:extLst>
              <a:ext uri="{FF2B5EF4-FFF2-40B4-BE49-F238E27FC236}">
                <a16:creationId xmlns:a16="http://schemas.microsoft.com/office/drawing/2014/main" id="{E3D9DB98-D7B3-B539-57F8-7AF9FEDDC5E0}"/>
              </a:ext>
            </a:extLst>
          </p:cNvPr>
          <p:cNvCxnSpPr>
            <a:cxnSpLocks/>
          </p:cNvCxnSpPr>
          <p:nvPr/>
        </p:nvCxnSpPr>
        <p:spPr>
          <a:xfrm>
            <a:off x="5585085" y="1643102"/>
            <a:ext cx="0" cy="3316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8736965D-186B-A027-5F4E-67068B46BF23}"/>
              </a:ext>
            </a:extLst>
          </p:cNvPr>
          <p:cNvSpPr txBox="1"/>
          <p:nvPr/>
        </p:nvSpPr>
        <p:spPr>
          <a:xfrm>
            <a:off x="2956092" y="1974785"/>
            <a:ext cx="6663817" cy="369332"/>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rPr>
              <a:t>Calculate the covariance matrix and regularize its diagonal</a:t>
            </a:r>
          </a:p>
        </p:txBody>
      </p:sp>
      <p:cxnSp>
        <p:nvCxnSpPr>
          <p:cNvPr id="19" name="直接箭头连接符 18">
            <a:extLst>
              <a:ext uri="{FF2B5EF4-FFF2-40B4-BE49-F238E27FC236}">
                <a16:creationId xmlns:a16="http://schemas.microsoft.com/office/drawing/2014/main" id="{84594DD5-5A50-6738-2447-88C98B9D9512}"/>
              </a:ext>
            </a:extLst>
          </p:cNvPr>
          <p:cNvCxnSpPr>
            <a:cxnSpLocks/>
          </p:cNvCxnSpPr>
          <p:nvPr/>
        </p:nvCxnSpPr>
        <p:spPr>
          <a:xfrm>
            <a:off x="5595826" y="2344117"/>
            <a:ext cx="0" cy="3316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29BBE0E6-ED9D-E93B-BE8D-60542E224018}"/>
                  </a:ext>
                </a:extLst>
              </p:cNvPr>
              <p:cNvSpPr txBox="1"/>
              <p:nvPr/>
            </p:nvSpPr>
            <p:spPr>
              <a:xfrm>
                <a:off x="3476219" y="2800195"/>
                <a:ext cx="2890728" cy="3232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𝑇</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Sub>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,256]</m:t>
                      </m:r>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21" name="文本框 20">
                <a:extLst>
                  <a:ext uri="{FF2B5EF4-FFF2-40B4-BE49-F238E27FC236}">
                    <a16:creationId xmlns:a16="http://schemas.microsoft.com/office/drawing/2014/main" id="{29BBE0E6-ED9D-E93B-BE8D-60542E224018}"/>
                  </a:ext>
                </a:extLst>
              </p:cNvPr>
              <p:cNvSpPr txBox="1">
                <a:spLocks noRot="1" noChangeAspect="1" noMove="1" noResize="1" noEditPoints="1" noAdjustHandles="1" noChangeArrowheads="1" noChangeShapeType="1" noTextEdit="1"/>
              </p:cNvSpPr>
              <p:nvPr/>
            </p:nvSpPr>
            <p:spPr>
              <a:xfrm>
                <a:off x="3476219" y="2800195"/>
                <a:ext cx="2890728" cy="323294"/>
              </a:xfrm>
              <a:prstGeom prst="rect">
                <a:avLst/>
              </a:prstGeom>
              <a:blipFill>
                <a:blip r:embed="rId3"/>
                <a:stretch>
                  <a:fillRect l="-1266" t="-18868" r="-5274" b="-358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7053E052-D9F0-B795-7EDA-F58C53D836DA}"/>
                  </a:ext>
                </a:extLst>
              </p:cNvPr>
              <p:cNvSpPr txBox="1"/>
              <p:nvPr/>
            </p:nvSpPr>
            <p:spPr>
              <a:xfrm>
                <a:off x="180260" y="2675800"/>
                <a:ext cx="2890728" cy="3232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𝑇</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Sub>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,256]</m:t>
                      </m:r>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22" name="文本框 21">
                <a:extLst>
                  <a:ext uri="{FF2B5EF4-FFF2-40B4-BE49-F238E27FC236}">
                    <a16:creationId xmlns:a16="http://schemas.microsoft.com/office/drawing/2014/main" id="{7053E052-D9F0-B795-7EDA-F58C53D836DA}"/>
                  </a:ext>
                </a:extLst>
              </p:cNvPr>
              <p:cNvSpPr txBox="1">
                <a:spLocks noRot="1" noChangeAspect="1" noMove="1" noResize="1" noEditPoints="1" noAdjustHandles="1" noChangeArrowheads="1" noChangeShapeType="1" noTextEdit="1"/>
              </p:cNvSpPr>
              <p:nvPr/>
            </p:nvSpPr>
            <p:spPr>
              <a:xfrm>
                <a:off x="180260" y="2675800"/>
                <a:ext cx="2890728" cy="323294"/>
              </a:xfrm>
              <a:prstGeom prst="rect">
                <a:avLst/>
              </a:prstGeom>
              <a:blipFill>
                <a:blip r:embed="rId4"/>
                <a:stretch>
                  <a:fillRect l="-1477" t="-18868" r="-5063" b="-33962"/>
                </a:stretch>
              </a:blipFill>
            </p:spPr>
            <p:txBody>
              <a:bodyPr/>
              <a:lstStyle/>
              <a:p>
                <a:r>
                  <a:rPr lang="zh-CN" altLang="en-US">
                    <a:noFill/>
                  </a:rPr>
                  <a:t> </a:t>
                </a:r>
              </a:p>
            </p:txBody>
          </p:sp>
        </mc:Fallback>
      </mc:AlternateContent>
      <p:cxnSp>
        <p:nvCxnSpPr>
          <p:cNvPr id="23" name="直接箭头连接符 22">
            <a:extLst>
              <a:ext uri="{FF2B5EF4-FFF2-40B4-BE49-F238E27FC236}">
                <a16:creationId xmlns:a16="http://schemas.microsoft.com/office/drawing/2014/main" id="{7B709410-EF4B-9B4E-E112-80C73040EE76}"/>
              </a:ext>
            </a:extLst>
          </p:cNvPr>
          <p:cNvCxnSpPr>
            <a:cxnSpLocks/>
          </p:cNvCxnSpPr>
          <p:nvPr/>
        </p:nvCxnSpPr>
        <p:spPr>
          <a:xfrm>
            <a:off x="1421499" y="3123489"/>
            <a:ext cx="0" cy="2575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文本框 23">
            <a:extLst>
              <a:ext uri="{FF2B5EF4-FFF2-40B4-BE49-F238E27FC236}">
                <a16:creationId xmlns:a16="http://schemas.microsoft.com/office/drawing/2014/main" id="{0A4126D3-B8DD-6683-20D3-597E4325B06D}"/>
              </a:ext>
            </a:extLst>
          </p:cNvPr>
          <p:cNvSpPr txBox="1"/>
          <p:nvPr/>
        </p:nvSpPr>
        <p:spPr>
          <a:xfrm>
            <a:off x="48407" y="3395863"/>
            <a:ext cx="4447051" cy="369332"/>
          </a:xfrm>
          <a:prstGeom prst="rect">
            <a:avLst/>
          </a:prstGeom>
          <a:noFill/>
        </p:spPr>
        <p:txBody>
          <a:bodyPr wrap="none" rtlCol="0">
            <a:spAutoFit/>
          </a:bodyPr>
          <a:lstStyle/>
          <a:p>
            <a:r>
              <a:rPr lang="en-US" altLang="zh-CN" dirty="0">
                <a:latin typeface="Noto Sans JP" panose="020B0200000000000000" pitchFamily="34" charset="-122"/>
                <a:ea typeface="Noto Sans JP" panose="020B0200000000000000" pitchFamily="34" charset="-122"/>
              </a:rPr>
              <a:t>Linear, Multi-head Self-Attention, Linear</a:t>
            </a:r>
            <a:endParaRPr lang="zh-CN" altLang="en-US" dirty="0">
              <a:latin typeface="Noto Sans JP" panose="020B0200000000000000" pitchFamily="34" charset="-122"/>
              <a:ea typeface="Noto Sans JP" panose="020B0200000000000000" pitchFamily="34" charset="-122"/>
            </a:endParaRPr>
          </a:p>
        </p:txBody>
      </p:sp>
      <p:cxnSp>
        <p:nvCxnSpPr>
          <p:cNvPr id="25" name="直接箭头连接符 24">
            <a:extLst>
              <a:ext uri="{FF2B5EF4-FFF2-40B4-BE49-F238E27FC236}">
                <a16:creationId xmlns:a16="http://schemas.microsoft.com/office/drawing/2014/main" id="{6C5F5360-721F-A6D0-C251-E66D9060BF6D}"/>
              </a:ext>
            </a:extLst>
          </p:cNvPr>
          <p:cNvCxnSpPr>
            <a:cxnSpLocks/>
          </p:cNvCxnSpPr>
          <p:nvPr/>
        </p:nvCxnSpPr>
        <p:spPr>
          <a:xfrm>
            <a:off x="1418918" y="3765195"/>
            <a:ext cx="0" cy="3316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6B9D32B3-B717-F79B-8CC7-55DBDA6A509F}"/>
                  </a:ext>
                </a:extLst>
              </p:cNvPr>
              <p:cNvSpPr txBox="1"/>
              <p:nvPr/>
            </p:nvSpPr>
            <p:spPr>
              <a:xfrm>
                <a:off x="254862" y="4288480"/>
                <a:ext cx="3422091" cy="4120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𝑇</m:t>
                          </m:r>
                          <m:r>
                            <a:rPr lang="en-US" altLang="zh-CN" b="0" i="1" smtClean="0">
                              <a:latin typeface="Cambria Math" panose="02040503050406030204" pitchFamily="18" charset="0"/>
                            </a:rPr>
                            <m:t>_</m:t>
                          </m:r>
                          <m:r>
                            <a:rPr lang="en-US" altLang="zh-CN" b="0" i="1" smtClean="0">
                              <a:latin typeface="Cambria Math" panose="02040503050406030204" pitchFamily="18" charset="0"/>
                            </a:rPr>
                            <m:t>𝑝𝑜𝑠</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𝑝𝑜𝑠</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up>
                              <m:r>
                                <a:rPr lang="en-US" altLang="zh-CN" b="0" i="1" smtClean="0">
                                  <a:latin typeface="Cambria Math" panose="02040503050406030204" pitchFamily="18" charset="0"/>
                                </a:rPr>
                                <m:t>𝑝𝑜𝑠</m:t>
                              </m:r>
                            </m:sup>
                          </m:sSubSup>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,3]</m:t>
                      </m:r>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26" name="文本框 25">
                <a:extLst>
                  <a:ext uri="{FF2B5EF4-FFF2-40B4-BE49-F238E27FC236}">
                    <a16:creationId xmlns:a16="http://schemas.microsoft.com/office/drawing/2014/main" id="{6B9D32B3-B717-F79B-8CC7-55DBDA6A509F}"/>
                  </a:ext>
                </a:extLst>
              </p:cNvPr>
              <p:cNvSpPr txBox="1">
                <a:spLocks noRot="1" noChangeAspect="1" noMove="1" noResize="1" noEditPoints="1" noAdjustHandles="1" noChangeArrowheads="1" noChangeShapeType="1" noTextEdit="1"/>
              </p:cNvSpPr>
              <p:nvPr/>
            </p:nvSpPr>
            <p:spPr>
              <a:xfrm>
                <a:off x="254862" y="4288480"/>
                <a:ext cx="3422091" cy="412036"/>
              </a:xfrm>
              <a:prstGeom prst="rect">
                <a:avLst/>
              </a:prstGeom>
              <a:blipFill>
                <a:blip r:embed="rId5"/>
                <a:stretch>
                  <a:fillRect l="-1070" t="-2941" r="-4456" b="-176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4990BB0D-36B2-BDDD-7AA5-648943C0640B}"/>
                  </a:ext>
                </a:extLst>
              </p:cNvPr>
              <p:cNvSpPr txBox="1"/>
              <p:nvPr/>
            </p:nvSpPr>
            <p:spPr>
              <a:xfrm>
                <a:off x="274571" y="6179968"/>
                <a:ext cx="3328219" cy="4120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𝑇𝑟𝑢𝑒</m:t>
                          </m:r>
                        </m:sub>
                        <m:sup>
                          <m:r>
                            <a:rPr lang="en-US" altLang="zh-CN" b="0" i="1" smtClean="0">
                              <a:latin typeface="Cambria Math" panose="02040503050406030204" pitchFamily="18" charset="0"/>
                            </a:rPr>
                            <m:t>𝑝𝑜𝑠</m:t>
                          </m:r>
                        </m:sup>
                      </m:sSubSup>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𝑝𝑜𝑠</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up>
                              <m:r>
                                <a:rPr lang="en-US" altLang="zh-CN" b="0" i="1" smtClean="0">
                                  <a:latin typeface="Cambria Math" panose="02040503050406030204" pitchFamily="18" charset="0"/>
                                </a:rPr>
                                <m:t>𝑝𝑜𝑠</m:t>
                              </m:r>
                            </m:sup>
                          </m:sSubSup>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,3]</m:t>
                      </m:r>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27" name="文本框 26">
                <a:extLst>
                  <a:ext uri="{FF2B5EF4-FFF2-40B4-BE49-F238E27FC236}">
                    <a16:creationId xmlns:a16="http://schemas.microsoft.com/office/drawing/2014/main" id="{4990BB0D-36B2-BDDD-7AA5-648943C0640B}"/>
                  </a:ext>
                </a:extLst>
              </p:cNvPr>
              <p:cNvSpPr txBox="1">
                <a:spLocks noRot="1" noChangeAspect="1" noMove="1" noResize="1" noEditPoints="1" noAdjustHandles="1" noChangeArrowheads="1" noChangeShapeType="1" noTextEdit="1"/>
              </p:cNvSpPr>
              <p:nvPr/>
            </p:nvSpPr>
            <p:spPr>
              <a:xfrm>
                <a:off x="274571" y="6179968"/>
                <a:ext cx="3328219" cy="412036"/>
              </a:xfrm>
              <a:prstGeom prst="rect">
                <a:avLst/>
              </a:prstGeom>
              <a:blipFill>
                <a:blip r:embed="rId6"/>
                <a:stretch>
                  <a:fillRect l="-916" t="-2985" r="-4762" b="-179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DED47962-20CD-67E6-FC82-C072610DE64F}"/>
                  </a:ext>
                </a:extLst>
              </p:cNvPr>
              <p:cNvSpPr txBox="1"/>
              <p:nvPr/>
            </p:nvSpPr>
            <p:spPr>
              <a:xfrm>
                <a:off x="895579" y="5223801"/>
                <a:ext cx="5008422" cy="7194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𝑆𝑚𝑜𝑜𝑡h𝐿</m:t>
                      </m:r>
                      <m:r>
                        <a:rPr lang="en-US" altLang="zh-CN" b="0" i="1" smtClean="0">
                          <a:latin typeface="Cambria Math" panose="02040503050406030204" pitchFamily="18" charset="0"/>
                        </a:rPr>
                        <m:t>1</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0.5(</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  </m:t>
                              </m:r>
                              <m:r>
                                <a:rPr lang="en-US" altLang="zh-CN" b="0" i="1" smtClean="0">
                                  <a:latin typeface="Cambria Math" panose="02040503050406030204" pitchFamily="18" charset="0"/>
                                </a:rPr>
                                <m:t>𝑖𝑓</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&lt;1</m:t>
                              </m:r>
                            </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−0.5,  </m:t>
                              </m:r>
                              <m:r>
                                <a:rPr lang="en-US" altLang="zh-CN" b="0" i="1" smtClean="0">
                                  <a:latin typeface="Cambria Math" panose="02040503050406030204" pitchFamily="18" charset="0"/>
                                </a:rPr>
                                <m:t>𝑜𝑡h𝑒𝑟𝑤𝑖𝑠𝑒</m:t>
                              </m:r>
                            </m:e>
                          </m:eqArr>
                        </m:e>
                      </m:d>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28" name="文本框 27">
                <a:extLst>
                  <a:ext uri="{FF2B5EF4-FFF2-40B4-BE49-F238E27FC236}">
                    <a16:creationId xmlns:a16="http://schemas.microsoft.com/office/drawing/2014/main" id="{DED47962-20CD-67E6-FC82-C072610DE64F}"/>
                  </a:ext>
                </a:extLst>
              </p:cNvPr>
              <p:cNvSpPr txBox="1">
                <a:spLocks noRot="1" noChangeAspect="1" noMove="1" noResize="1" noEditPoints="1" noAdjustHandles="1" noChangeArrowheads="1" noChangeShapeType="1" noTextEdit="1"/>
              </p:cNvSpPr>
              <p:nvPr/>
            </p:nvSpPr>
            <p:spPr>
              <a:xfrm>
                <a:off x="895579" y="5223801"/>
                <a:ext cx="5008422" cy="719428"/>
              </a:xfrm>
              <a:prstGeom prst="rect">
                <a:avLst/>
              </a:prstGeom>
              <a:blipFill>
                <a:blip r:embed="rId7"/>
                <a:stretch>
                  <a:fillRect r="-2676"/>
                </a:stretch>
              </a:blipFill>
            </p:spPr>
            <p:txBody>
              <a:bodyPr/>
              <a:lstStyle/>
              <a:p>
                <a:r>
                  <a:rPr lang="zh-CN" altLang="en-US">
                    <a:noFill/>
                  </a:rPr>
                  <a:t> </a:t>
                </a:r>
              </a:p>
            </p:txBody>
          </p:sp>
        </mc:Fallback>
      </mc:AlternateContent>
      <p:cxnSp>
        <p:nvCxnSpPr>
          <p:cNvPr id="30" name="直接箭头连接符 29">
            <a:extLst>
              <a:ext uri="{FF2B5EF4-FFF2-40B4-BE49-F238E27FC236}">
                <a16:creationId xmlns:a16="http://schemas.microsoft.com/office/drawing/2014/main" id="{761BC893-EA73-2262-BE69-2AF29680EEC3}"/>
              </a:ext>
            </a:extLst>
          </p:cNvPr>
          <p:cNvCxnSpPr>
            <a:stCxn id="26" idx="2"/>
          </p:cNvCxnSpPr>
          <p:nvPr/>
        </p:nvCxnSpPr>
        <p:spPr>
          <a:xfrm>
            <a:off x="1965908" y="4700516"/>
            <a:ext cx="733047" cy="3729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直接箭头连接符 30">
            <a:extLst>
              <a:ext uri="{FF2B5EF4-FFF2-40B4-BE49-F238E27FC236}">
                <a16:creationId xmlns:a16="http://schemas.microsoft.com/office/drawing/2014/main" id="{807742C6-78AC-5F08-6A5A-FAB5651CE453}"/>
              </a:ext>
            </a:extLst>
          </p:cNvPr>
          <p:cNvCxnSpPr>
            <a:cxnSpLocks/>
            <a:stCxn id="27" idx="0"/>
          </p:cNvCxnSpPr>
          <p:nvPr/>
        </p:nvCxnSpPr>
        <p:spPr>
          <a:xfrm flipV="1">
            <a:off x="1938681" y="5875134"/>
            <a:ext cx="760274" cy="3048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直接箭头连接符 34">
            <a:extLst>
              <a:ext uri="{FF2B5EF4-FFF2-40B4-BE49-F238E27FC236}">
                <a16:creationId xmlns:a16="http://schemas.microsoft.com/office/drawing/2014/main" id="{72ED204F-998F-37FE-FCFA-8484D80FF2F4}"/>
              </a:ext>
            </a:extLst>
          </p:cNvPr>
          <p:cNvCxnSpPr/>
          <p:nvPr/>
        </p:nvCxnSpPr>
        <p:spPr>
          <a:xfrm>
            <a:off x="6096000" y="5583515"/>
            <a:ext cx="3048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99BE0F44-4143-32AB-F97A-9F9074161F22}"/>
                  </a:ext>
                </a:extLst>
              </p:cNvPr>
              <p:cNvSpPr txBox="1"/>
              <p:nvPr/>
            </p:nvSpPr>
            <p:spPr>
              <a:xfrm>
                <a:off x="6288001" y="5398849"/>
                <a:ext cx="120936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1</m:t>
                      </m:r>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38" name="文本框 37">
                <a:extLst>
                  <a:ext uri="{FF2B5EF4-FFF2-40B4-BE49-F238E27FC236}">
                    <a16:creationId xmlns:a16="http://schemas.microsoft.com/office/drawing/2014/main" id="{99BE0F44-4143-32AB-F97A-9F9074161F22}"/>
                  </a:ext>
                </a:extLst>
              </p:cNvPr>
              <p:cNvSpPr txBox="1">
                <a:spLocks noRot="1" noChangeAspect="1" noMove="1" noResize="1" noEditPoints="1" noAdjustHandles="1" noChangeArrowheads="1" noChangeShapeType="1" noTextEdit="1"/>
              </p:cNvSpPr>
              <p:nvPr/>
            </p:nvSpPr>
            <p:spPr>
              <a:xfrm>
                <a:off x="6288001" y="5398849"/>
                <a:ext cx="1209368" cy="369332"/>
              </a:xfrm>
              <a:prstGeom prst="rect">
                <a:avLst/>
              </a:prstGeom>
              <a:blipFill>
                <a:blip r:embed="rId8"/>
                <a:stretch>
                  <a:fillRect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1A036406-4C87-2FF1-C1C3-14F85F39E026}"/>
                  </a:ext>
                </a:extLst>
              </p:cNvPr>
              <p:cNvSpPr txBox="1"/>
              <p:nvPr/>
            </p:nvSpPr>
            <p:spPr>
              <a:xfrm>
                <a:off x="6482777" y="2738471"/>
                <a:ext cx="3057832" cy="4156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𝑆</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Sub>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,256]</m:t>
                      </m:r>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40" name="文本框 39">
                <a:extLst>
                  <a:ext uri="{FF2B5EF4-FFF2-40B4-BE49-F238E27FC236}">
                    <a16:creationId xmlns:a16="http://schemas.microsoft.com/office/drawing/2014/main" id="{1A036406-4C87-2FF1-C1C3-14F85F39E026}"/>
                  </a:ext>
                </a:extLst>
              </p:cNvPr>
              <p:cNvSpPr txBox="1">
                <a:spLocks noRot="1" noChangeAspect="1" noMove="1" noResize="1" noEditPoints="1" noAdjustHandles="1" noChangeArrowheads="1" noChangeShapeType="1" noTextEdit="1"/>
              </p:cNvSpPr>
              <p:nvPr/>
            </p:nvSpPr>
            <p:spPr>
              <a:xfrm>
                <a:off x="6482777" y="2738471"/>
                <a:ext cx="3057832" cy="415627"/>
              </a:xfrm>
              <a:prstGeom prst="rect">
                <a:avLst/>
              </a:prstGeom>
              <a:blipFill>
                <a:blip r:embed="rId9"/>
                <a:stretch>
                  <a:fillRect t="-2941" r="-1992" b="-16176"/>
                </a:stretch>
              </a:blipFill>
            </p:spPr>
            <p:txBody>
              <a:bodyPr/>
              <a:lstStyle/>
              <a:p>
                <a:r>
                  <a:rPr lang="zh-CN" altLang="en-US">
                    <a:noFill/>
                  </a:rPr>
                  <a:t> </a:t>
                </a:r>
              </a:p>
            </p:txBody>
          </p:sp>
        </mc:Fallback>
      </mc:AlternateContent>
      <p:sp>
        <p:nvSpPr>
          <p:cNvPr id="42" name="文本框 41">
            <a:extLst>
              <a:ext uri="{FF2B5EF4-FFF2-40B4-BE49-F238E27FC236}">
                <a16:creationId xmlns:a16="http://schemas.microsoft.com/office/drawing/2014/main" id="{0080816B-5179-E376-E365-5F09323AA3AB}"/>
              </a:ext>
            </a:extLst>
          </p:cNvPr>
          <p:cNvSpPr txBox="1"/>
          <p:nvPr/>
        </p:nvSpPr>
        <p:spPr>
          <a:xfrm>
            <a:off x="4802212" y="3583891"/>
            <a:ext cx="3422090" cy="1015663"/>
          </a:xfrm>
          <a:prstGeom prst="rect">
            <a:avLst/>
          </a:prstGeom>
          <a:noFill/>
        </p:spPr>
        <p:txBody>
          <a:bodyPr wrap="square">
            <a:spAutoFit/>
          </a:bodyPr>
          <a:lstStyle/>
          <a:p>
            <a:r>
              <a:rPr lang="en-US" altLang="zh-CN" dirty="0">
                <a:latin typeface="Noto Sans JP" panose="020B0200000000000000" pitchFamily="34" charset="-122"/>
                <a:ea typeface="Noto Sans JP" panose="020B0200000000000000" pitchFamily="34" charset="-122"/>
              </a:rPr>
              <a:t>Contrastive Learning</a:t>
            </a:r>
            <a:br>
              <a:rPr lang="en-US" altLang="zh-CN" dirty="0">
                <a:latin typeface="Noto Sans JP" panose="020B0200000000000000" pitchFamily="34" charset="-122"/>
                <a:ea typeface="Noto Sans JP" panose="020B0200000000000000" pitchFamily="34" charset="-122"/>
              </a:rPr>
            </a:br>
            <a:r>
              <a:rPr lang="en-US" altLang="zh-CN" sz="1400" dirty="0">
                <a:latin typeface="Noto Sans JP" panose="020B0200000000000000" pitchFamily="34" charset="-122"/>
                <a:ea typeface="Noto Sans JP" panose="020B0200000000000000" pitchFamily="34" charset="-122"/>
              </a:rPr>
              <a:t>All corresponding vectors’ inner product = 1, and non-corresponding ones are 0</a:t>
            </a:r>
            <a:endParaRPr lang="zh-CN" altLang="en-US" dirty="0">
              <a:latin typeface="Noto Sans JP" panose="020B0200000000000000" pitchFamily="34" charset="-122"/>
              <a:ea typeface="Noto Sans JP" panose="020B0200000000000000" pitchFamily="34" charset="-122"/>
            </a:endParaRPr>
          </a:p>
        </p:txBody>
      </p:sp>
      <p:cxnSp>
        <p:nvCxnSpPr>
          <p:cNvPr id="43" name="直接箭头连接符 42">
            <a:extLst>
              <a:ext uri="{FF2B5EF4-FFF2-40B4-BE49-F238E27FC236}">
                <a16:creationId xmlns:a16="http://schemas.microsoft.com/office/drawing/2014/main" id="{29F05B84-95BC-8684-F0A6-E6AAE19E9A96}"/>
              </a:ext>
            </a:extLst>
          </p:cNvPr>
          <p:cNvCxnSpPr/>
          <p:nvPr/>
        </p:nvCxnSpPr>
        <p:spPr>
          <a:xfrm>
            <a:off x="5255123" y="3180353"/>
            <a:ext cx="733047" cy="3729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直接箭头连接符 43">
            <a:extLst>
              <a:ext uri="{FF2B5EF4-FFF2-40B4-BE49-F238E27FC236}">
                <a16:creationId xmlns:a16="http://schemas.microsoft.com/office/drawing/2014/main" id="{21FBCF66-CB50-20F0-F0C5-65AA76054065}"/>
              </a:ext>
            </a:extLst>
          </p:cNvPr>
          <p:cNvCxnSpPr>
            <a:cxnSpLocks/>
          </p:cNvCxnSpPr>
          <p:nvPr/>
        </p:nvCxnSpPr>
        <p:spPr>
          <a:xfrm flipH="1">
            <a:off x="6482777" y="3150501"/>
            <a:ext cx="936755" cy="4333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直接箭头连接符 45">
            <a:extLst>
              <a:ext uri="{FF2B5EF4-FFF2-40B4-BE49-F238E27FC236}">
                <a16:creationId xmlns:a16="http://schemas.microsoft.com/office/drawing/2014/main" id="{722191A4-2955-A6BC-140A-55EEA23BEDCA}"/>
              </a:ext>
            </a:extLst>
          </p:cNvPr>
          <p:cNvCxnSpPr>
            <a:cxnSpLocks/>
          </p:cNvCxnSpPr>
          <p:nvPr/>
        </p:nvCxnSpPr>
        <p:spPr>
          <a:xfrm>
            <a:off x="6061095" y="4391924"/>
            <a:ext cx="0" cy="308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CD9BE8AB-2A64-D76C-F7C9-FFDE31A7FDBB}"/>
                  </a:ext>
                </a:extLst>
              </p:cNvPr>
              <p:cNvSpPr txBox="1"/>
              <p:nvPr/>
            </p:nvSpPr>
            <p:spPr>
              <a:xfrm>
                <a:off x="5456411" y="4681156"/>
                <a:ext cx="120936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2</m:t>
                      </m:r>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48" name="文本框 47">
                <a:extLst>
                  <a:ext uri="{FF2B5EF4-FFF2-40B4-BE49-F238E27FC236}">
                    <a16:creationId xmlns:a16="http://schemas.microsoft.com/office/drawing/2014/main" id="{CD9BE8AB-2A64-D76C-F7C9-FFDE31A7FDBB}"/>
                  </a:ext>
                </a:extLst>
              </p:cNvPr>
              <p:cNvSpPr txBox="1">
                <a:spLocks noRot="1" noChangeAspect="1" noMove="1" noResize="1" noEditPoints="1" noAdjustHandles="1" noChangeArrowheads="1" noChangeShapeType="1" noTextEdit="1"/>
              </p:cNvSpPr>
              <p:nvPr/>
            </p:nvSpPr>
            <p:spPr>
              <a:xfrm>
                <a:off x="5456411" y="4681156"/>
                <a:ext cx="1209368" cy="369332"/>
              </a:xfrm>
              <a:prstGeom prst="rect">
                <a:avLst/>
              </a:prstGeom>
              <a:blipFill>
                <a:blip r:embed="rId10"/>
                <a:stretch>
                  <a:fillRect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55214C24-AAFD-ADE0-118A-F7FEEE14C2E0}"/>
                  </a:ext>
                </a:extLst>
              </p:cNvPr>
              <p:cNvSpPr txBox="1"/>
              <p:nvPr/>
            </p:nvSpPr>
            <p:spPr>
              <a:xfrm>
                <a:off x="7562157" y="6173634"/>
                <a:ext cx="332821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𝑙𝑜𝑠</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𝑎𝑙𝑙</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1+0.1</m:t>
                      </m:r>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2</m:t>
                      </m:r>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50" name="文本框 49">
                <a:extLst>
                  <a:ext uri="{FF2B5EF4-FFF2-40B4-BE49-F238E27FC236}">
                    <a16:creationId xmlns:a16="http://schemas.microsoft.com/office/drawing/2014/main" id="{55214C24-AAFD-ADE0-118A-F7FEEE14C2E0}"/>
                  </a:ext>
                </a:extLst>
              </p:cNvPr>
              <p:cNvSpPr txBox="1">
                <a:spLocks noRot="1" noChangeAspect="1" noMove="1" noResize="1" noEditPoints="1" noAdjustHandles="1" noChangeArrowheads="1" noChangeShapeType="1" noTextEdit="1"/>
              </p:cNvSpPr>
              <p:nvPr/>
            </p:nvSpPr>
            <p:spPr>
              <a:xfrm>
                <a:off x="7562157" y="6173634"/>
                <a:ext cx="3328218" cy="369332"/>
              </a:xfrm>
              <a:prstGeom prst="rect">
                <a:avLst/>
              </a:prstGeom>
              <a:blipFill>
                <a:blip r:embed="rId11"/>
                <a:stretch>
                  <a:fillRect t="-10000" b="-26667"/>
                </a:stretch>
              </a:blipFill>
            </p:spPr>
            <p:txBody>
              <a:bodyPr/>
              <a:lstStyle/>
              <a:p>
                <a:r>
                  <a:rPr lang="zh-CN" altLang="en-US">
                    <a:noFill/>
                  </a:rPr>
                  <a:t> </a:t>
                </a:r>
              </a:p>
            </p:txBody>
          </p:sp>
        </mc:Fallback>
      </mc:AlternateContent>
      <p:pic>
        <p:nvPicPr>
          <p:cNvPr id="51" name="图片 50">
            <a:extLst>
              <a:ext uri="{FF2B5EF4-FFF2-40B4-BE49-F238E27FC236}">
                <a16:creationId xmlns:a16="http://schemas.microsoft.com/office/drawing/2014/main" id="{EBB7C8A4-5AA6-40E7-C07E-C243ECE2B612}"/>
              </a:ext>
            </a:extLst>
          </p:cNvPr>
          <p:cNvPicPr>
            <a:picLocks noChangeAspect="1"/>
          </p:cNvPicPr>
          <p:nvPr/>
        </p:nvPicPr>
        <p:blipFill>
          <a:blip r:embed="rId12"/>
          <a:stretch>
            <a:fillRect/>
          </a:stretch>
        </p:blipFill>
        <p:spPr>
          <a:xfrm>
            <a:off x="9498642" y="1509726"/>
            <a:ext cx="2513098" cy="3227525"/>
          </a:xfrm>
          <a:prstGeom prst="rect">
            <a:avLst/>
          </a:prstGeom>
        </p:spPr>
      </p:pic>
      <p:sp>
        <p:nvSpPr>
          <p:cNvPr id="56" name="文本框 55">
            <a:extLst>
              <a:ext uri="{FF2B5EF4-FFF2-40B4-BE49-F238E27FC236}">
                <a16:creationId xmlns:a16="http://schemas.microsoft.com/office/drawing/2014/main" id="{D28DD865-3543-02A8-4EAE-835C836934F2}"/>
              </a:ext>
            </a:extLst>
          </p:cNvPr>
          <p:cNvSpPr txBox="1"/>
          <p:nvPr/>
        </p:nvSpPr>
        <p:spPr>
          <a:xfrm>
            <a:off x="9779160" y="4800161"/>
            <a:ext cx="2412840" cy="369332"/>
          </a:xfrm>
          <a:prstGeom prst="rect">
            <a:avLst/>
          </a:prstGeom>
          <a:noFill/>
        </p:spPr>
        <p:txBody>
          <a:bodyPr wrap="none" rtlCol="0">
            <a:spAutoFit/>
          </a:bodyPr>
          <a:lstStyle/>
          <a:p>
            <a:r>
              <a:rPr lang="en-US" altLang="zh-CN" dirty="0">
                <a:latin typeface="Noto Sans JP" panose="020B0200000000000000" pitchFamily="34" charset="-122"/>
                <a:ea typeface="Noto Sans JP" panose="020B0200000000000000" pitchFamily="34" charset="-122"/>
              </a:rPr>
              <a:t>Pre-trained extractor</a:t>
            </a:r>
            <a:endParaRPr lang="zh-CN" altLang="en-US" dirty="0">
              <a:latin typeface="Noto Sans JP" panose="020B0200000000000000" pitchFamily="34" charset="-122"/>
              <a:ea typeface="Noto Sans JP" panose="020B0200000000000000" pitchFamily="34" charset="-122"/>
            </a:endParaRPr>
          </a:p>
        </p:txBody>
      </p:sp>
      <p:sp>
        <p:nvSpPr>
          <p:cNvPr id="3" name="文本框 2">
            <a:extLst>
              <a:ext uri="{FF2B5EF4-FFF2-40B4-BE49-F238E27FC236}">
                <a16:creationId xmlns:a16="http://schemas.microsoft.com/office/drawing/2014/main" id="{223CA4BB-9DCF-D001-FF68-8ED1DF25C51B}"/>
              </a:ext>
            </a:extLst>
          </p:cNvPr>
          <p:cNvSpPr txBox="1"/>
          <p:nvPr/>
        </p:nvSpPr>
        <p:spPr>
          <a:xfrm>
            <a:off x="116489" y="815293"/>
            <a:ext cx="2401254" cy="369332"/>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rPr>
              <a:t>On the other hand, </a:t>
            </a:r>
            <a:endParaRPr lang="en-US" altLang="zh-CN" dirty="0">
              <a:latin typeface="Noto Sans JP" panose="020B0200000000000000" pitchFamily="34" charset="-122"/>
              <a:ea typeface="Noto Sans JP" panose="020B0200000000000000" pitchFamily="34" charset="-122"/>
            </a:endParaRPr>
          </a:p>
        </p:txBody>
      </p:sp>
    </p:spTree>
    <p:extLst>
      <p:ext uri="{BB962C8B-B14F-4D97-AF65-F5344CB8AC3E}">
        <p14:creationId xmlns:p14="http://schemas.microsoft.com/office/powerpoint/2010/main" val="2327870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981D6A7-7D72-112B-6DAB-E520DFA3968D}"/>
                  </a:ext>
                </a:extLst>
              </p:cNvPr>
              <p:cNvSpPr txBox="1"/>
              <p:nvPr/>
            </p:nvSpPr>
            <p:spPr>
              <a:xfrm>
                <a:off x="357709" y="5272549"/>
                <a:ext cx="85356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𝑃𝑟𝑜𝑡𝑒𝑖𝑛</m:t>
                      </m:r>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6" name="文本框 5">
                <a:extLst>
                  <a:ext uri="{FF2B5EF4-FFF2-40B4-BE49-F238E27FC236}">
                    <a16:creationId xmlns:a16="http://schemas.microsoft.com/office/drawing/2014/main" id="{B981D6A7-7D72-112B-6DAB-E520DFA3968D}"/>
                  </a:ext>
                </a:extLst>
              </p:cNvPr>
              <p:cNvSpPr txBox="1">
                <a:spLocks noRot="1" noChangeAspect="1" noMove="1" noResize="1" noEditPoints="1" noAdjustHandles="1" noChangeArrowheads="1" noChangeShapeType="1" noTextEdit="1"/>
              </p:cNvSpPr>
              <p:nvPr/>
            </p:nvSpPr>
            <p:spPr>
              <a:xfrm>
                <a:off x="357709" y="5272549"/>
                <a:ext cx="853567" cy="276999"/>
              </a:xfrm>
              <a:prstGeom prst="rect">
                <a:avLst/>
              </a:prstGeom>
              <a:blipFill>
                <a:blip r:embed="rId3"/>
                <a:stretch>
                  <a:fillRect l="-5714" t="-28889" r="-19286" b="-51111"/>
                </a:stretch>
              </a:blipFill>
            </p:spPr>
            <p:txBody>
              <a:bodyPr/>
              <a:lstStyle/>
              <a:p>
                <a:r>
                  <a:rPr lang="zh-CN" altLang="en-US">
                    <a:noFill/>
                  </a:rPr>
                  <a:t> </a:t>
                </a:r>
              </a:p>
            </p:txBody>
          </p:sp>
        </mc:Fallback>
      </mc:AlternateContent>
      <p:cxnSp>
        <p:nvCxnSpPr>
          <p:cNvPr id="8" name="直接箭头连接符 7">
            <a:extLst>
              <a:ext uri="{FF2B5EF4-FFF2-40B4-BE49-F238E27FC236}">
                <a16:creationId xmlns:a16="http://schemas.microsoft.com/office/drawing/2014/main" id="{DF5F91E1-352E-6D00-E8F5-EB25BBA23C97}"/>
              </a:ext>
            </a:extLst>
          </p:cNvPr>
          <p:cNvCxnSpPr/>
          <p:nvPr/>
        </p:nvCxnSpPr>
        <p:spPr>
          <a:xfrm>
            <a:off x="1211276" y="5549548"/>
            <a:ext cx="440543" cy="3940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文本框 13">
            <a:extLst>
              <a:ext uri="{FF2B5EF4-FFF2-40B4-BE49-F238E27FC236}">
                <a16:creationId xmlns:a16="http://schemas.microsoft.com/office/drawing/2014/main" id="{C693DD35-DE49-5F4E-EA09-B35353CCFEE4}"/>
              </a:ext>
            </a:extLst>
          </p:cNvPr>
          <p:cNvSpPr txBox="1"/>
          <p:nvPr/>
        </p:nvSpPr>
        <p:spPr>
          <a:xfrm>
            <a:off x="5162941" y="6069216"/>
            <a:ext cx="1804219" cy="369332"/>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rPr>
              <a:t>DenseNet</a:t>
            </a:r>
          </a:p>
        </p:txBody>
      </p:sp>
      <p:sp>
        <p:nvSpPr>
          <p:cNvPr id="16" name="文本框 15">
            <a:extLst>
              <a:ext uri="{FF2B5EF4-FFF2-40B4-BE49-F238E27FC236}">
                <a16:creationId xmlns:a16="http://schemas.microsoft.com/office/drawing/2014/main" id="{154DE6A1-72FC-5C29-ACB3-00965EBB4A00}"/>
              </a:ext>
            </a:extLst>
          </p:cNvPr>
          <p:cNvSpPr txBox="1"/>
          <p:nvPr/>
        </p:nvSpPr>
        <p:spPr>
          <a:xfrm>
            <a:off x="4934773" y="6307688"/>
            <a:ext cx="1804219" cy="369332"/>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rPr>
              <a:t>the </a:t>
            </a:r>
            <a:r>
              <a:rPr lang="en-US" altLang="zh-CN" dirty="0">
                <a:latin typeface="Noto Sans JP" panose="020B0200000000000000" pitchFamily="34" charset="-122"/>
                <a:ea typeface="Noto Sans JP" panose="020B0200000000000000" pitchFamily="34" charset="-122"/>
              </a:rPr>
              <a:t>SPD</a:t>
            </a:r>
            <a:r>
              <a:rPr lang="zh-CN" altLang="en-US" dirty="0">
                <a:latin typeface="Noto Sans JP" panose="020B0200000000000000" pitchFamily="34" charset="-122"/>
                <a:ea typeface="Noto Sans JP" panose="020B0200000000000000" pitchFamily="34" charset="-122"/>
              </a:rPr>
              <a:t> matrix </a:t>
            </a: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58CC3A3B-41FF-F66F-F94D-9D8C08A0979F}"/>
                  </a:ext>
                </a:extLst>
              </p:cNvPr>
              <p:cNvSpPr txBox="1"/>
              <p:nvPr/>
            </p:nvSpPr>
            <p:spPr>
              <a:xfrm>
                <a:off x="7572403" y="6035932"/>
                <a:ext cx="1647970" cy="403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𝑝</m:t>
                          </m:r>
                        </m:sub>
                        <m:sup>
                          <m:r>
                            <a:rPr lang="en-US" altLang="zh-CN" b="0" i="1" smtClean="0">
                              <a:latin typeface="Cambria Math" panose="02040503050406030204" pitchFamily="18" charset="0"/>
                            </a:rPr>
                            <m:t>𝑠</m:t>
                          </m:r>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smtClean="0">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𝑝</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sup>
                      </m:sSup>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20" name="文本框 19">
                <a:extLst>
                  <a:ext uri="{FF2B5EF4-FFF2-40B4-BE49-F238E27FC236}">
                    <a16:creationId xmlns:a16="http://schemas.microsoft.com/office/drawing/2014/main" id="{58CC3A3B-41FF-F66F-F94D-9D8C08A0979F}"/>
                  </a:ext>
                </a:extLst>
              </p:cNvPr>
              <p:cNvSpPr txBox="1">
                <a:spLocks noRot="1" noChangeAspect="1" noMove="1" noResize="1" noEditPoints="1" noAdjustHandles="1" noChangeArrowheads="1" noChangeShapeType="1" noTextEdit="1"/>
              </p:cNvSpPr>
              <p:nvPr/>
            </p:nvSpPr>
            <p:spPr>
              <a:xfrm>
                <a:off x="7572403" y="6035932"/>
                <a:ext cx="1647970" cy="403444"/>
              </a:xfrm>
              <a:prstGeom prst="rect">
                <a:avLst/>
              </a:prstGeom>
              <a:blipFill>
                <a:blip r:embed="rId4"/>
                <a:stretch>
                  <a:fillRect t="-4545" b="-18182"/>
                </a:stretch>
              </a:blipFill>
            </p:spPr>
            <p:txBody>
              <a:bodyPr/>
              <a:lstStyle/>
              <a:p>
                <a:r>
                  <a:rPr lang="zh-CN" altLang="en-US">
                    <a:noFill/>
                  </a:rPr>
                  <a:t> </a:t>
                </a:r>
              </a:p>
            </p:txBody>
          </p:sp>
        </mc:Fallback>
      </mc:AlternateContent>
      <p:cxnSp>
        <p:nvCxnSpPr>
          <p:cNvPr id="21" name="直接箭头连接符 20">
            <a:extLst>
              <a:ext uri="{FF2B5EF4-FFF2-40B4-BE49-F238E27FC236}">
                <a16:creationId xmlns:a16="http://schemas.microsoft.com/office/drawing/2014/main" id="{7588472C-80A5-111B-B7DE-6D94346DC582}"/>
              </a:ext>
            </a:extLst>
          </p:cNvPr>
          <p:cNvCxnSpPr>
            <a:cxnSpLocks/>
          </p:cNvCxnSpPr>
          <p:nvPr/>
        </p:nvCxnSpPr>
        <p:spPr>
          <a:xfrm flipV="1">
            <a:off x="9303582" y="5735667"/>
            <a:ext cx="375749" cy="4418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直接箭头连接符 21">
            <a:extLst>
              <a:ext uri="{FF2B5EF4-FFF2-40B4-BE49-F238E27FC236}">
                <a16:creationId xmlns:a16="http://schemas.microsoft.com/office/drawing/2014/main" id="{4F9A786F-386D-618E-450A-A5F8CD79F57D}"/>
              </a:ext>
            </a:extLst>
          </p:cNvPr>
          <p:cNvCxnSpPr>
            <a:cxnSpLocks/>
          </p:cNvCxnSpPr>
          <p:nvPr/>
        </p:nvCxnSpPr>
        <p:spPr>
          <a:xfrm flipV="1">
            <a:off x="1211275" y="4877671"/>
            <a:ext cx="440543" cy="2769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文本框 23">
            <a:extLst>
              <a:ext uri="{FF2B5EF4-FFF2-40B4-BE49-F238E27FC236}">
                <a16:creationId xmlns:a16="http://schemas.microsoft.com/office/drawing/2014/main" id="{F6024154-E3BB-4D47-C69D-92031361B17C}"/>
              </a:ext>
            </a:extLst>
          </p:cNvPr>
          <p:cNvSpPr txBox="1"/>
          <p:nvPr/>
        </p:nvSpPr>
        <p:spPr>
          <a:xfrm>
            <a:off x="1651818" y="4626218"/>
            <a:ext cx="2687894" cy="923330"/>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rPr>
              <a:t>the encoding embedding</a:t>
            </a:r>
            <a:br>
              <a:rPr lang="en-US" altLang="zh-CN" dirty="0">
                <a:latin typeface="Noto Sans JP" panose="020B0200000000000000" pitchFamily="34" charset="-122"/>
                <a:ea typeface="Noto Sans JP" panose="020B0200000000000000" pitchFamily="34" charset="-122"/>
              </a:rPr>
            </a:br>
            <a:r>
              <a:rPr lang="zh-CN" altLang="en-US" dirty="0">
                <a:latin typeface="Noto Sans JP" panose="020B0200000000000000" pitchFamily="34" charset="-122"/>
                <a:ea typeface="Noto Sans JP" panose="020B0200000000000000" pitchFamily="34" charset="-122"/>
              </a:rPr>
              <a:t>from the Prot-Bert </a:t>
            </a:r>
          </a:p>
        </p:txBody>
      </p:sp>
      <p:sp>
        <p:nvSpPr>
          <p:cNvPr id="26" name="文本框 25">
            <a:extLst>
              <a:ext uri="{FF2B5EF4-FFF2-40B4-BE49-F238E27FC236}">
                <a16:creationId xmlns:a16="http://schemas.microsoft.com/office/drawing/2014/main" id="{10BF72D0-4F30-8553-96AA-56E1E579433C}"/>
              </a:ext>
            </a:extLst>
          </p:cNvPr>
          <p:cNvSpPr txBox="1"/>
          <p:nvPr/>
        </p:nvSpPr>
        <p:spPr>
          <a:xfrm>
            <a:off x="1757599" y="5897433"/>
            <a:ext cx="1986454" cy="646331"/>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rPr>
              <a:t>the encoding embedding</a:t>
            </a:r>
          </a:p>
        </p:txBody>
      </p:sp>
      <p:sp>
        <p:nvSpPr>
          <p:cNvPr id="27" name="文本框 26">
            <a:extLst>
              <a:ext uri="{FF2B5EF4-FFF2-40B4-BE49-F238E27FC236}">
                <a16:creationId xmlns:a16="http://schemas.microsoft.com/office/drawing/2014/main" id="{CD71827C-7C4C-F746-4722-8D21FFA4EBCC}"/>
              </a:ext>
            </a:extLst>
          </p:cNvPr>
          <p:cNvSpPr txBox="1"/>
          <p:nvPr/>
        </p:nvSpPr>
        <p:spPr>
          <a:xfrm>
            <a:off x="4665001" y="5635816"/>
            <a:ext cx="2412840" cy="369332"/>
          </a:xfrm>
          <a:prstGeom prst="rect">
            <a:avLst/>
          </a:prstGeom>
          <a:noFill/>
        </p:spPr>
        <p:txBody>
          <a:bodyPr wrap="none" rtlCol="0">
            <a:spAutoFit/>
          </a:bodyPr>
          <a:lstStyle/>
          <a:p>
            <a:r>
              <a:rPr lang="en-US" altLang="zh-CN" dirty="0">
                <a:latin typeface="Noto Sans JP" panose="020B0200000000000000" pitchFamily="34" charset="-122"/>
                <a:ea typeface="Noto Sans JP" panose="020B0200000000000000" pitchFamily="34" charset="-122"/>
              </a:rPr>
              <a:t>Pre-trained extractor</a:t>
            </a:r>
            <a:endParaRPr lang="zh-CN" altLang="en-US" dirty="0">
              <a:latin typeface="Noto Sans JP" panose="020B0200000000000000" pitchFamily="34" charset="-122"/>
              <a:ea typeface="Noto Sans JP" panose="020B0200000000000000" pitchFamily="34" charset="-122"/>
            </a:endParaRPr>
          </a:p>
        </p:txBody>
      </p:sp>
      <p:sp>
        <p:nvSpPr>
          <p:cNvPr id="28" name="矩形 27">
            <a:extLst>
              <a:ext uri="{FF2B5EF4-FFF2-40B4-BE49-F238E27FC236}">
                <a16:creationId xmlns:a16="http://schemas.microsoft.com/office/drawing/2014/main" id="{05A88D59-FBB5-726C-86A7-DD8BFC888BDB}"/>
              </a:ext>
            </a:extLst>
          </p:cNvPr>
          <p:cNvSpPr/>
          <p:nvPr/>
        </p:nvSpPr>
        <p:spPr>
          <a:xfrm>
            <a:off x="4665001" y="5635816"/>
            <a:ext cx="2343764" cy="1105273"/>
          </a:xfrm>
          <a:prstGeom prst="rect">
            <a:avLst/>
          </a:prstGeom>
          <a:noFill/>
          <a:ln w="28575">
            <a:solidFill>
              <a:srgbClr val="FFC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JP" panose="020B0200000000000000" pitchFamily="34" charset="-122"/>
              <a:ea typeface="Noto Sans JP" panose="020B0200000000000000" pitchFamily="34" charset="-122"/>
            </a:endParaRPr>
          </a:p>
        </p:txBody>
      </p:sp>
      <p:sp>
        <p:nvSpPr>
          <p:cNvPr id="29" name="矩形 28">
            <a:extLst>
              <a:ext uri="{FF2B5EF4-FFF2-40B4-BE49-F238E27FC236}">
                <a16:creationId xmlns:a16="http://schemas.microsoft.com/office/drawing/2014/main" id="{C43155A3-2DD5-EC5C-E3D6-9A8DC9DD7BB0}"/>
              </a:ext>
            </a:extLst>
          </p:cNvPr>
          <p:cNvSpPr/>
          <p:nvPr/>
        </p:nvSpPr>
        <p:spPr>
          <a:xfrm>
            <a:off x="4781424" y="6080727"/>
            <a:ext cx="2144132" cy="584782"/>
          </a:xfrm>
          <a:prstGeom prst="rect">
            <a:avLst/>
          </a:prstGeom>
          <a:noFill/>
          <a:ln w="28575">
            <a:solidFill>
              <a:schemeClr val="tx2">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JP" panose="020B0200000000000000" pitchFamily="34" charset="-122"/>
              <a:ea typeface="Noto Sans JP" panose="020B0200000000000000" pitchFamily="34" charset="-122"/>
            </a:endParaRPr>
          </a:p>
        </p:txBody>
      </p:sp>
      <p:cxnSp>
        <p:nvCxnSpPr>
          <p:cNvPr id="30" name="直接箭头连接符 29">
            <a:extLst>
              <a:ext uri="{FF2B5EF4-FFF2-40B4-BE49-F238E27FC236}">
                <a16:creationId xmlns:a16="http://schemas.microsoft.com/office/drawing/2014/main" id="{6262A43C-3412-130B-12AC-F34D8B1D52BF}"/>
              </a:ext>
            </a:extLst>
          </p:cNvPr>
          <p:cNvCxnSpPr>
            <a:cxnSpLocks/>
          </p:cNvCxnSpPr>
          <p:nvPr/>
        </p:nvCxnSpPr>
        <p:spPr>
          <a:xfrm>
            <a:off x="4013825" y="6220598"/>
            <a:ext cx="5074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直接箭头连接符 31">
            <a:extLst>
              <a:ext uri="{FF2B5EF4-FFF2-40B4-BE49-F238E27FC236}">
                <a16:creationId xmlns:a16="http://schemas.microsoft.com/office/drawing/2014/main" id="{E5145398-6047-F3BC-D731-E8539BFF6F18}"/>
              </a:ext>
            </a:extLst>
          </p:cNvPr>
          <p:cNvCxnSpPr>
            <a:cxnSpLocks/>
          </p:cNvCxnSpPr>
          <p:nvPr/>
        </p:nvCxnSpPr>
        <p:spPr>
          <a:xfrm>
            <a:off x="4157589" y="5040727"/>
            <a:ext cx="5074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文本框 33">
            <a:extLst>
              <a:ext uri="{FF2B5EF4-FFF2-40B4-BE49-F238E27FC236}">
                <a16:creationId xmlns:a16="http://schemas.microsoft.com/office/drawing/2014/main" id="{538557BE-D744-F568-8B62-40539A29CB05}"/>
              </a:ext>
            </a:extLst>
          </p:cNvPr>
          <p:cNvSpPr txBox="1"/>
          <p:nvPr/>
        </p:nvSpPr>
        <p:spPr>
          <a:xfrm>
            <a:off x="4755755" y="4856061"/>
            <a:ext cx="1290483" cy="369332"/>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rPr>
              <a:t>DenseNet</a:t>
            </a:r>
          </a:p>
        </p:txBody>
      </p:sp>
      <p:cxnSp>
        <p:nvCxnSpPr>
          <p:cNvPr id="35" name="直接箭头连接符 34">
            <a:extLst>
              <a:ext uri="{FF2B5EF4-FFF2-40B4-BE49-F238E27FC236}">
                <a16:creationId xmlns:a16="http://schemas.microsoft.com/office/drawing/2014/main" id="{47626FCB-BBED-2B1A-E46B-DF40D4FD1C63}"/>
              </a:ext>
            </a:extLst>
          </p:cNvPr>
          <p:cNvCxnSpPr/>
          <p:nvPr/>
        </p:nvCxnSpPr>
        <p:spPr>
          <a:xfrm>
            <a:off x="6096000" y="5040727"/>
            <a:ext cx="33675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B263DAB4-DF97-B473-2D8D-8F8884D0A7A4}"/>
                  </a:ext>
                </a:extLst>
              </p:cNvPr>
              <p:cNvSpPr txBox="1"/>
              <p:nvPr/>
            </p:nvSpPr>
            <p:spPr>
              <a:xfrm>
                <a:off x="6364976" y="4821141"/>
                <a:ext cx="1647969" cy="403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𝑝</m:t>
                          </m:r>
                        </m:sub>
                        <m:sup>
                          <m:r>
                            <a:rPr lang="en-US" altLang="zh-CN" b="0" i="1" smtClean="0">
                              <a:latin typeface="Cambria Math" panose="02040503050406030204" pitchFamily="18" charset="0"/>
                            </a:rPr>
                            <m:t>𝑡</m:t>
                          </m:r>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smtClean="0">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𝑝</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𝑡</m:t>
                              </m:r>
                            </m:sub>
                          </m:sSub>
                        </m:sup>
                      </m:sSup>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37" name="文本框 36">
                <a:extLst>
                  <a:ext uri="{FF2B5EF4-FFF2-40B4-BE49-F238E27FC236}">
                    <a16:creationId xmlns:a16="http://schemas.microsoft.com/office/drawing/2014/main" id="{B263DAB4-DF97-B473-2D8D-8F8884D0A7A4}"/>
                  </a:ext>
                </a:extLst>
              </p:cNvPr>
              <p:cNvSpPr txBox="1">
                <a:spLocks noRot="1" noChangeAspect="1" noMove="1" noResize="1" noEditPoints="1" noAdjustHandles="1" noChangeArrowheads="1" noChangeShapeType="1" noTextEdit="1"/>
              </p:cNvSpPr>
              <p:nvPr/>
            </p:nvSpPr>
            <p:spPr>
              <a:xfrm>
                <a:off x="6364976" y="4821141"/>
                <a:ext cx="1647969" cy="403444"/>
              </a:xfrm>
              <a:prstGeom prst="rect">
                <a:avLst/>
              </a:prstGeom>
              <a:blipFill>
                <a:blip r:embed="rId5"/>
                <a:stretch>
                  <a:fillRect t="-6061" b="-18182"/>
                </a:stretch>
              </a:blipFill>
            </p:spPr>
            <p:txBody>
              <a:bodyPr/>
              <a:lstStyle/>
              <a:p>
                <a:r>
                  <a:rPr lang="zh-CN" altLang="en-US">
                    <a:noFill/>
                  </a:rPr>
                  <a:t> </a:t>
                </a:r>
              </a:p>
            </p:txBody>
          </p:sp>
        </mc:Fallback>
      </mc:AlternateContent>
      <p:cxnSp>
        <p:nvCxnSpPr>
          <p:cNvPr id="38" name="直接箭头连接符 37">
            <a:extLst>
              <a:ext uri="{FF2B5EF4-FFF2-40B4-BE49-F238E27FC236}">
                <a16:creationId xmlns:a16="http://schemas.microsoft.com/office/drawing/2014/main" id="{0F6D8A49-4C40-5DE7-BA80-54D11D435CE2}"/>
              </a:ext>
            </a:extLst>
          </p:cNvPr>
          <p:cNvCxnSpPr>
            <a:cxnSpLocks/>
          </p:cNvCxnSpPr>
          <p:nvPr/>
        </p:nvCxnSpPr>
        <p:spPr>
          <a:xfrm>
            <a:off x="8048619" y="5010774"/>
            <a:ext cx="1254963" cy="3241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直接箭头连接符 41">
            <a:extLst>
              <a:ext uri="{FF2B5EF4-FFF2-40B4-BE49-F238E27FC236}">
                <a16:creationId xmlns:a16="http://schemas.microsoft.com/office/drawing/2014/main" id="{A74BBAA8-4556-FC84-0E85-9DF136E1F721}"/>
              </a:ext>
            </a:extLst>
          </p:cNvPr>
          <p:cNvCxnSpPr>
            <a:cxnSpLocks/>
            <a:endCxn id="20" idx="1"/>
          </p:cNvCxnSpPr>
          <p:nvPr/>
        </p:nvCxnSpPr>
        <p:spPr>
          <a:xfrm>
            <a:off x="7223495" y="6220598"/>
            <a:ext cx="348908" cy="17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文本框 45">
            <a:extLst>
              <a:ext uri="{FF2B5EF4-FFF2-40B4-BE49-F238E27FC236}">
                <a16:creationId xmlns:a16="http://schemas.microsoft.com/office/drawing/2014/main" id="{CE721BC1-7572-951D-58DD-D0AC4F1507F2}"/>
              </a:ext>
            </a:extLst>
          </p:cNvPr>
          <p:cNvSpPr txBox="1"/>
          <p:nvPr/>
        </p:nvSpPr>
        <p:spPr>
          <a:xfrm>
            <a:off x="9755145" y="5052477"/>
            <a:ext cx="1136850" cy="369332"/>
          </a:xfrm>
          <a:prstGeom prst="rect">
            <a:avLst/>
          </a:prstGeom>
          <a:noFill/>
        </p:spPr>
        <p:txBody>
          <a:bodyPr wrap="none" rtlCol="0">
            <a:spAutoFit/>
          </a:bodyPr>
          <a:lstStyle/>
          <a:p>
            <a:r>
              <a:rPr lang="en-US" altLang="zh-CN" dirty="0">
                <a:latin typeface="Noto Sans JP" panose="020B0200000000000000" pitchFamily="34" charset="-122"/>
                <a:ea typeface="Noto Sans JP" panose="020B0200000000000000" pitchFamily="34" charset="-122"/>
              </a:rPr>
              <a:t>torch.cat</a:t>
            </a:r>
            <a:endParaRPr lang="zh-CN" altLang="en-US" dirty="0">
              <a:latin typeface="Noto Sans JP" panose="020B0200000000000000" pitchFamily="34" charset="-122"/>
              <a:ea typeface="Noto Sans JP" panose="020B0200000000000000" pitchFamily="34" charset="-122"/>
            </a:endParaRPr>
          </a:p>
        </p:txBody>
      </p: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D96C32F5-14F6-A7F1-FC21-E9AE99384C31}"/>
                  </a:ext>
                </a:extLst>
              </p:cNvPr>
              <p:cNvSpPr txBox="1"/>
              <p:nvPr/>
            </p:nvSpPr>
            <p:spPr>
              <a:xfrm>
                <a:off x="9079429" y="5322195"/>
                <a:ext cx="2754862" cy="4262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𝐹</m:t>
                          </m:r>
                        </m:e>
                        <m:sub>
                          <m:r>
                            <a:rPr lang="en-US" altLang="zh-CN" b="0" i="1" smtClean="0">
                              <a:latin typeface="Cambria Math" panose="02040503050406030204" pitchFamily="18" charset="0"/>
                              <a:ea typeface="Cambria Math" panose="02040503050406030204" pitchFamily="18" charset="0"/>
                            </a:rPr>
                            <m:t>𝑝</m:t>
                          </m:r>
                        </m:sub>
                      </m:sSub>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smtClean="0">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𝑝</m:t>
                              </m:r>
                            </m:sub>
                          </m:sSub>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𝑡</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r>
                            <a:rPr lang="en-US" altLang="zh-CN" b="0" i="1" smtClean="0">
                              <a:latin typeface="Cambria Math" panose="02040503050406030204" pitchFamily="18" charset="0"/>
                              <a:ea typeface="Cambria Math" panose="02040503050406030204" pitchFamily="18" charset="0"/>
                            </a:rPr>
                            <m:t>)</m:t>
                          </m:r>
                        </m:sup>
                      </m:sSup>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51" name="文本框 50">
                <a:extLst>
                  <a:ext uri="{FF2B5EF4-FFF2-40B4-BE49-F238E27FC236}">
                    <a16:creationId xmlns:a16="http://schemas.microsoft.com/office/drawing/2014/main" id="{D96C32F5-14F6-A7F1-FC21-E9AE99384C31}"/>
                  </a:ext>
                </a:extLst>
              </p:cNvPr>
              <p:cNvSpPr txBox="1">
                <a:spLocks noRot="1" noChangeAspect="1" noMove="1" noResize="1" noEditPoints="1" noAdjustHandles="1" noChangeArrowheads="1" noChangeShapeType="1" noTextEdit="1"/>
              </p:cNvSpPr>
              <p:nvPr/>
            </p:nvSpPr>
            <p:spPr>
              <a:xfrm>
                <a:off x="9079429" y="5322195"/>
                <a:ext cx="2754862" cy="426207"/>
              </a:xfrm>
              <a:prstGeom prst="rect">
                <a:avLst/>
              </a:prstGeom>
              <a:blipFill>
                <a:blip r:embed="rId6"/>
                <a:stretch>
                  <a:fillRect t="-2857" b="-12857"/>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B6F88B3A-4523-65EF-A487-6EAC7D0FA3B5}"/>
              </a:ext>
            </a:extLst>
          </p:cNvPr>
          <p:cNvPicPr>
            <a:picLocks noChangeAspect="1"/>
          </p:cNvPicPr>
          <p:nvPr/>
        </p:nvPicPr>
        <p:blipFill>
          <a:blip r:embed="rId7"/>
          <a:stretch>
            <a:fillRect/>
          </a:stretch>
        </p:blipFill>
        <p:spPr>
          <a:xfrm>
            <a:off x="1363454" y="575145"/>
            <a:ext cx="9183382" cy="3486637"/>
          </a:xfrm>
          <a:prstGeom prst="rect">
            <a:avLst/>
          </a:prstGeom>
        </p:spPr>
      </p:pic>
    </p:spTree>
    <p:extLst>
      <p:ext uri="{BB962C8B-B14F-4D97-AF65-F5344CB8AC3E}">
        <p14:creationId xmlns:p14="http://schemas.microsoft.com/office/powerpoint/2010/main" val="1135906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2EBD0-8E3D-E267-DC53-CA549042D2E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242A61D-DA6A-7004-7074-DD34F1D096C6}"/>
                  </a:ext>
                </a:extLst>
              </p:cNvPr>
              <p:cNvSpPr txBox="1"/>
              <p:nvPr/>
            </p:nvSpPr>
            <p:spPr>
              <a:xfrm>
                <a:off x="310665" y="4695121"/>
                <a:ext cx="60991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𝐷𝑟𝑢𝑔</m:t>
                      </m:r>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6" name="文本框 5">
                <a:extLst>
                  <a:ext uri="{FF2B5EF4-FFF2-40B4-BE49-F238E27FC236}">
                    <a16:creationId xmlns:a16="http://schemas.microsoft.com/office/drawing/2014/main" id="{F242A61D-DA6A-7004-7074-DD34F1D096C6}"/>
                  </a:ext>
                </a:extLst>
              </p:cNvPr>
              <p:cNvSpPr txBox="1">
                <a:spLocks noRot="1" noChangeAspect="1" noMove="1" noResize="1" noEditPoints="1" noAdjustHandles="1" noChangeArrowheads="1" noChangeShapeType="1" noTextEdit="1"/>
              </p:cNvSpPr>
              <p:nvPr/>
            </p:nvSpPr>
            <p:spPr>
              <a:xfrm>
                <a:off x="310665" y="4695121"/>
                <a:ext cx="609911" cy="276999"/>
              </a:xfrm>
              <a:prstGeom prst="rect">
                <a:avLst/>
              </a:prstGeom>
              <a:blipFill>
                <a:blip r:embed="rId3"/>
                <a:stretch>
                  <a:fillRect l="-12000" t="-28261" r="-27000" b="-50000"/>
                </a:stretch>
              </a:blipFill>
            </p:spPr>
            <p:txBody>
              <a:bodyPr/>
              <a:lstStyle/>
              <a:p>
                <a:r>
                  <a:rPr lang="zh-CN" altLang="en-US">
                    <a:noFill/>
                  </a:rPr>
                  <a:t> </a:t>
                </a:r>
              </a:p>
            </p:txBody>
          </p:sp>
        </mc:Fallback>
      </mc:AlternateContent>
      <p:cxnSp>
        <p:nvCxnSpPr>
          <p:cNvPr id="8" name="直接箭头连接符 7">
            <a:extLst>
              <a:ext uri="{FF2B5EF4-FFF2-40B4-BE49-F238E27FC236}">
                <a16:creationId xmlns:a16="http://schemas.microsoft.com/office/drawing/2014/main" id="{EF393480-926F-1DC8-FEC6-D9EE287C97C7}"/>
              </a:ext>
            </a:extLst>
          </p:cNvPr>
          <p:cNvCxnSpPr/>
          <p:nvPr/>
        </p:nvCxnSpPr>
        <p:spPr>
          <a:xfrm>
            <a:off x="1164232" y="4972120"/>
            <a:ext cx="440543" cy="3940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直接箭头连接符 20">
            <a:extLst>
              <a:ext uri="{FF2B5EF4-FFF2-40B4-BE49-F238E27FC236}">
                <a16:creationId xmlns:a16="http://schemas.microsoft.com/office/drawing/2014/main" id="{83CA7839-9C67-F6DF-58C4-4B93CF8BDEF7}"/>
              </a:ext>
            </a:extLst>
          </p:cNvPr>
          <p:cNvCxnSpPr>
            <a:cxnSpLocks/>
            <a:endCxn id="10" idx="2"/>
          </p:cNvCxnSpPr>
          <p:nvPr/>
        </p:nvCxnSpPr>
        <p:spPr>
          <a:xfrm flipH="1" flipV="1">
            <a:off x="8776100" y="5550893"/>
            <a:ext cx="127070" cy="3542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直接箭头连接符 21">
            <a:extLst>
              <a:ext uri="{FF2B5EF4-FFF2-40B4-BE49-F238E27FC236}">
                <a16:creationId xmlns:a16="http://schemas.microsoft.com/office/drawing/2014/main" id="{D8A83492-D1EC-E79C-35CF-B0E73649597F}"/>
              </a:ext>
            </a:extLst>
          </p:cNvPr>
          <p:cNvCxnSpPr>
            <a:cxnSpLocks/>
          </p:cNvCxnSpPr>
          <p:nvPr/>
        </p:nvCxnSpPr>
        <p:spPr>
          <a:xfrm flipV="1">
            <a:off x="1164231" y="4300243"/>
            <a:ext cx="440543" cy="2769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文本框 23">
            <a:extLst>
              <a:ext uri="{FF2B5EF4-FFF2-40B4-BE49-F238E27FC236}">
                <a16:creationId xmlns:a16="http://schemas.microsoft.com/office/drawing/2014/main" id="{6A611031-121E-81D1-FAFD-DAFDA5B3E1FA}"/>
              </a:ext>
            </a:extLst>
          </p:cNvPr>
          <p:cNvSpPr txBox="1"/>
          <p:nvPr/>
        </p:nvSpPr>
        <p:spPr>
          <a:xfrm>
            <a:off x="1604774" y="4048790"/>
            <a:ext cx="2687894" cy="923330"/>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rPr>
              <a:t>the encoding embedding</a:t>
            </a:r>
            <a:br>
              <a:rPr lang="en-US" altLang="zh-CN" dirty="0">
                <a:latin typeface="Noto Sans JP" panose="020B0200000000000000" pitchFamily="34" charset="-122"/>
                <a:ea typeface="Noto Sans JP" panose="020B0200000000000000" pitchFamily="34" charset="-122"/>
              </a:rPr>
            </a:br>
            <a:r>
              <a:rPr lang="zh-CN" altLang="en-US" dirty="0">
                <a:latin typeface="Noto Sans JP" panose="020B0200000000000000" pitchFamily="34" charset="-122"/>
                <a:ea typeface="Noto Sans JP" panose="020B0200000000000000" pitchFamily="34" charset="-122"/>
              </a:rPr>
              <a:t>from the </a:t>
            </a:r>
            <a:r>
              <a:rPr lang="en-US" altLang="zh-CN" dirty="0">
                <a:latin typeface="Noto Sans JP" panose="020B0200000000000000" pitchFamily="34" charset="-122"/>
                <a:ea typeface="Noto Sans JP" panose="020B0200000000000000" pitchFamily="34" charset="-122"/>
              </a:rPr>
              <a:t>Smiles</a:t>
            </a:r>
            <a:r>
              <a:rPr lang="zh-CN" altLang="en-US" dirty="0">
                <a:latin typeface="Noto Sans JP" panose="020B0200000000000000" pitchFamily="34" charset="-122"/>
                <a:ea typeface="Noto Sans JP" panose="020B0200000000000000" pitchFamily="34" charset="-122"/>
              </a:rPr>
              <a:t>-Bert </a:t>
            </a:r>
          </a:p>
        </p:txBody>
      </p:sp>
      <p:sp>
        <p:nvSpPr>
          <p:cNvPr id="26" name="文本框 25">
            <a:extLst>
              <a:ext uri="{FF2B5EF4-FFF2-40B4-BE49-F238E27FC236}">
                <a16:creationId xmlns:a16="http://schemas.microsoft.com/office/drawing/2014/main" id="{712AC0C1-6E28-C49C-3F4C-B0D68FF731D1}"/>
              </a:ext>
            </a:extLst>
          </p:cNvPr>
          <p:cNvSpPr txBox="1"/>
          <p:nvPr/>
        </p:nvSpPr>
        <p:spPr>
          <a:xfrm>
            <a:off x="5832504" y="5122797"/>
            <a:ext cx="1979307" cy="923330"/>
          </a:xfrm>
          <a:prstGeom prst="rect">
            <a:avLst/>
          </a:prstGeom>
          <a:noFill/>
        </p:spPr>
        <p:txBody>
          <a:bodyPr wrap="square">
            <a:spAutoFit/>
          </a:bodyPr>
          <a:lstStyle/>
          <a:p>
            <a:pPr algn="l"/>
            <a:r>
              <a:rPr lang="en-US" altLang="zh-CN" sz="1800" b="0" i="0" u="none" strike="noStrike" baseline="0" dirty="0">
                <a:latin typeface="NimbusRomNo9L-Regu"/>
                <a:ea typeface="Noto Sans JP" panose="020B0200000000000000" pitchFamily="34" charset="-122"/>
              </a:rPr>
              <a:t>Molecular Graph Attention</a:t>
            </a:r>
          </a:p>
          <a:p>
            <a:pPr algn="l"/>
            <a:r>
              <a:rPr lang="en-US" altLang="zh-CN" sz="1800" b="0" i="0" u="none" strike="noStrike" baseline="0" dirty="0">
                <a:latin typeface="NimbusRomNo9L-Regu"/>
                <a:ea typeface="Noto Sans JP" panose="020B0200000000000000" pitchFamily="34" charset="-122"/>
              </a:rPr>
              <a:t>(M-GAT) block</a:t>
            </a:r>
            <a:endParaRPr lang="zh-CN" altLang="en-US" dirty="0">
              <a:latin typeface="Noto Sans JP" panose="020B0200000000000000" pitchFamily="34" charset="-122"/>
              <a:ea typeface="Noto Sans JP" panose="020B0200000000000000" pitchFamily="34" charset="-122"/>
            </a:endParaRPr>
          </a:p>
        </p:txBody>
      </p:sp>
      <p:sp>
        <p:nvSpPr>
          <p:cNvPr id="28" name="矩形 27">
            <a:extLst>
              <a:ext uri="{FF2B5EF4-FFF2-40B4-BE49-F238E27FC236}">
                <a16:creationId xmlns:a16="http://schemas.microsoft.com/office/drawing/2014/main" id="{9840924B-7985-2F1C-F235-CADADB968860}"/>
              </a:ext>
            </a:extLst>
          </p:cNvPr>
          <p:cNvSpPr/>
          <p:nvPr/>
        </p:nvSpPr>
        <p:spPr>
          <a:xfrm>
            <a:off x="1644378" y="5094655"/>
            <a:ext cx="3546304" cy="1395993"/>
          </a:xfrm>
          <a:prstGeom prst="rect">
            <a:avLst/>
          </a:prstGeom>
          <a:noFill/>
          <a:ln w="28575">
            <a:solidFill>
              <a:srgbClr val="FFC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JP" panose="020B0200000000000000" pitchFamily="34" charset="-122"/>
              <a:ea typeface="Noto Sans JP" panose="020B0200000000000000" pitchFamily="34" charset="-122"/>
            </a:endParaRPr>
          </a:p>
        </p:txBody>
      </p:sp>
      <p:sp>
        <p:nvSpPr>
          <p:cNvPr id="29" name="矩形 28">
            <a:extLst>
              <a:ext uri="{FF2B5EF4-FFF2-40B4-BE49-F238E27FC236}">
                <a16:creationId xmlns:a16="http://schemas.microsoft.com/office/drawing/2014/main" id="{EE10E3FE-9D61-37DF-F34D-F35FC6390232}"/>
              </a:ext>
            </a:extLst>
          </p:cNvPr>
          <p:cNvSpPr/>
          <p:nvPr/>
        </p:nvSpPr>
        <p:spPr>
          <a:xfrm>
            <a:off x="1753460" y="5503559"/>
            <a:ext cx="3262656" cy="835930"/>
          </a:xfrm>
          <a:prstGeom prst="rect">
            <a:avLst/>
          </a:prstGeom>
          <a:noFill/>
          <a:ln w="28575">
            <a:solidFill>
              <a:schemeClr val="tx2">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JP" panose="020B0200000000000000" pitchFamily="34" charset="-122"/>
              <a:ea typeface="Noto Sans JP" panose="020B0200000000000000" pitchFamily="34" charset="-122"/>
            </a:endParaRPr>
          </a:p>
        </p:txBody>
      </p:sp>
      <p:cxnSp>
        <p:nvCxnSpPr>
          <p:cNvPr id="30" name="直接箭头连接符 29">
            <a:extLst>
              <a:ext uri="{FF2B5EF4-FFF2-40B4-BE49-F238E27FC236}">
                <a16:creationId xmlns:a16="http://schemas.microsoft.com/office/drawing/2014/main" id="{BA1A86F6-987E-A786-F90A-34197F38989C}"/>
              </a:ext>
            </a:extLst>
          </p:cNvPr>
          <p:cNvCxnSpPr>
            <a:cxnSpLocks/>
          </p:cNvCxnSpPr>
          <p:nvPr/>
        </p:nvCxnSpPr>
        <p:spPr>
          <a:xfrm>
            <a:off x="5258064" y="5562459"/>
            <a:ext cx="5074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直接箭头连接符 31">
            <a:extLst>
              <a:ext uri="{FF2B5EF4-FFF2-40B4-BE49-F238E27FC236}">
                <a16:creationId xmlns:a16="http://schemas.microsoft.com/office/drawing/2014/main" id="{BB80DFA0-31D3-EA62-178B-CC3B207B0185}"/>
              </a:ext>
            </a:extLst>
          </p:cNvPr>
          <p:cNvCxnSpPr>
            <a:cxnSpLocks/>
          </p:cNvCxnSpPr>
          <p:nvPr/>
        </p:nvCxnSpPr>
        <p:spPr>
          <a:xfrm>
            <a:off x="4201299" y="4508141"/>
            <a:ext cx="5074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文本框 33">
            <a:extLst>
              <a:ext uri="{FF2B5EF4-FFF2-40B4-BE49-F238E27FC236}">
                <a16:creationId xmlns:a16="http://schemas.microsoft.com/office/drawing/2014/main" id="{FD689E3E-BA3A-2E5B-B3B4-0F5A42B720AF}"/>
              </a:ext>
            </a:extLst>
          </p:cNvPr>
          <p:cNvSpPr txBox="1"/>
          <p:nvPr/>
        </p:nvSpPr>
        <p:spPr>
          <a:xfrm>
            <a:off x="4708711" y="4278633"/>
            <a:ext cx="1290483" cy="369332"/>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rPr>
              <a:t>DenseNet</a:t>
            </a:r>
          </a:p>
        </p:txBody>
      </p:sp>
      <p:cxnSp>
        <p:nvCxnSpPr>
          <p:cNvPr id="35" name="直接箭头连接符 34">
            <a:extLst>
              <a:ext uri="{FF2B5EF4-FFF2-40B4-BE49-F238E27FC236}">
                <a16:creationId xmlns:a16="http://schemas.microsoft.com/office/drawing/2014/main" id="{D16026E3-EAF7-05E0-A7B7-E603DC0E23E7}"/>
              </a:ext>
            </a:extLst>
          </p:cNvPr>
          <p:cNvCxnSpPr/>
          <p:nvPr/>
        </p:nvCxnSpPr>
        <p:spPr>
          <a:xfrm>
            <a:off x="6048956" y="4463299"/>
            <a:ext cx="33675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3B9070C8-541D-C123-E59A-AD7DC9FFEFD6}"/>
                  </a:ext>
                </a:extLst>
              </p:cNvPr>
              <p:cNvSpPr txBox="1"/>
              <p:nvPr/>
            </p:nvSpPr>
            <p:spPr>
              <a:xfrm>
                <a:off x="6013903" y="4258051"/>
                <a:ext cx="2066830" cy="3783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𝑡</m:t>
                          </m:r>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𝑑</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𝑡</m:t>
                              </m:r>
                            </m:sub>
                          </m:sSub>
                        </m:sup>
                      </m:sSup>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37" name="文本框 36">
                <a:extLst>
                  <a:ext uri="{FF2B5EF4-FFF2-40B4-BE49-F238E27FC236}">
                    <a16:creationId xmlns:a16="http://schemas.microsoft.com/office/drawing/2014/main" id="{3B9070C8-541D-C123-E59A-AD7DC9FFEFD6}"/>
                  </a:ext>
                </a:extLst>
              </p:cNvPr>
              <p:cNvSpPr txBox="1">
                <a:spLocks noRot="1" noChangeAspect="1" noMove="1" noResize="1" noEditPoints="1" noAdjustHandles="1" noChangeArrowheads="1" noChangeShapeType="1" noTextEdit="1"/>
              </p:cNvSpPr>
              <p:nvPr/>
            </p:nvSpPr>
            <p:spPr>
              <a:xfrm>
                <a:off x="6013903" y="4258051"/>
                <a:ext cx="2066830" cy="378373"/>
              </a:xfrm>
              <a:prstGeom prst="rect">
                <a:avLst/>
              </a:prstGeom>
              <a:blipFill>
                <a:blip r:embed="rId4"/>
                <a:stretch>
                  <a:fillRect t="-6349" b="-22222"/>
                </a:stretch>
              </a:blipFill>
            </p:spPr>
            <p:txBody>
              <a:bodyPr/>
              <a:lstStyle/>
              <a:p>
                <a:r>
                  <a:rPr lang="zh-CN" altLang="en-US">
                    <a:noFill/>
                  </a:rPr>
                  <a:t> </a:t>
                </a:r>
              </a:p>
            </p:txBody>
          </p:sp>
        </mc:Fallback>
      </mc:AlternateContent>
      <p:cxnSp>
        <p:nvCxnSpPr>
          <p:cNvPr id="38" name="直接箭头连接符 37">
            <a:extLst>
              <a:ext uri="{FF2B5EF4-FFF2-40B4-BE49-F238E27FC236}">
                <a16:creationId xmlns:a16="http://schemas.microsoft.com/office/drawing/2014/main" id="{E16ECE47-72CA-DA0B-A645-1230FF7AE0CA}"/>
              </a:ext>
            </a:extLst>
          </p:cNvPr>
          <p:cNvCxnSpPr>
            <a:cxnSpLocks/>
            <a:stCxn id="37" idx="2"/>
          </p:cNvCxnSpPr>
          <p:nvPr/>
        </p:nvCxnSpPr>
        <p:spPr>
          <a:xfrm>
            <a:off x="7047318" y="4636424"/>
            <a:ext cx="935339" cy="3192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直接箭头连接符 41">
            <a:extLst>
              <a:ext uri="{FF2B5EF4-FFF2-40B4-BE49-F238E27FC236}">
                <a16:creationId xmlns:a16="http://schemas.microsoft.com/office/drawing/2014/main" id="{C11F0438-1685-D0FF-FA44-5C5072CE902E}"/>
              </a:ext>
            </a:extLst>
          </p:cNvPr>
          <p:cNvCxnSpPr>
            <a:cxnSpLocks/>
          </p:cNvCxnSpPr>
          <p:nvPr/>
        </p:nvCxnSpPr>
        <p:spPr>
          <a:xfrm>
            <a:off x="7720429" y="4436995"/>
            <a:ext cx="2615978" cy="3427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文本框 45">
            <a:extLst>
              <a:ext uri="{FF2B5EF4-FFF2-40B4-BE49-F238E27FC236}">
                <a16:creationId xmlns:a16="http://schemas.microsoft.com/office/drawing/2014/main" id="{B3139795-9FA7-9DA1-8850-CBD75EC1AA17}"/>
              </a:ext>
            </a:extLst>
          </p:cNvPr>
          <p:cNvSpPr txBox="1"/>
          <p:nvPr/>
        </p:nvSpPr>
        <p:spPr>
          <a:xfrm>
            <a:off x="8038028" y="4955687"/>
            <a:ext cx="1297150" cy="276999"/>
          </a:xfrm>
          <a:prstGeom prst="rect">
            <a:avLst/>
          </a:prstGeom>
          <a:noFill/>
        </p:spPr>
        <p:txBody>
          <a:bodyPr wrap="none" rtlCol="0">
            <a:spAutoFit/>
          </a:bodyPr>
          <a:lstStyle/>
          <a:p>
            <a:r>
              <a:rPr lang="en-US" altLang="zh-CN" sz="1200" dirty="0">
                <a:latin typeface="Noto Sans JP" panose="020B0200000000000000" pitchFamily="34" charset="-122"/>
                <a:ea typeface="Noto Sans JP" panose="020B0200000000000000" pitchFamily="34" charset="-122"/>
              </a:rPr>
              <a:t>Cross-Attention</a:t>
            </a:r>
            <a:endParaRPr lang="zh-CN" altLang="en-US" sz="1200" dirty="0">
              <a:latin typeface="Noto Sans JP" panose="020B0200000000000000" pitchFamily="34" charset="-122"/>
              <a:ea typeface="Noto Sans JP" panose="020B0200000000000000"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2044851-1FFA-1D34-7D3F-2FDC8A39D0AA}"/>
                  </a:ext>
                </a:extLst>
              </p:cNvPr>
              <p:cNvSpPr txBox="1"/>
              <p:nvPr/>
            </p:nvSpPr>
            <p:spPr>
              <a:xfrm>
                <a:off x="1502898" y="5562459"/>
                <a:ext cx="3763779" cy="3755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𝑎𝑡𝑜𝑚𝑖𝑐</m:t>
                      </m:r>
                      <m:r>
                        <a:rPr lang="en-US" altLang="zh-CN" b="0" i="1" smtClean="0">
                          <a:latin typeface="Cambria Math" panose="02040503050406030204" pitchFamily="18" charset="0"/>
                        </a:rPr>
                        <m:t> </m:t>
                      </m:r>
                      <m:r>
                        <a:rPr lang="en-US" altLang="zh-CN" b="0" i="1" smtClean="0">
                          <a:latin typeface="Cambria Math" panose="02040503050406030204" pitchFamily="18" charset="0"/>
                        </a:rPr>
                        <m:t>𝑣𝑒𝑐𝑡𝑜𝑟𝑠</m:t>
                      </m:r>
                      <m:r>
                        <a:rPr lang="en-US" altLang="zh-CN" b="0" i="1" smtClean="0">
                          <a:latin typeface="Cambria Math" panose="02040503050406030204" pitchFamily="18" charset="0"/>
                        </a:rPr>
                        <m:t> </m:t>
                      </m:r>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𝑎</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sup>
                      </m:sSup>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4" name="文本框 3">
                <a:extLst>
                  <a:ext uri="{FF2B5EF4-FFF2-40B4-BE49-F238E27FC236}">
                    <a16:creationId xmlns:a16="http://schemas.microsoft.com/office/drawing/2014/main" id="{92044851-1FFA-1D34-7D3F-2FDC8A39D0AA}"/>
                  </a:ext>
                </a:extLst>
              </p:cNvPr>
              <p:cNvSpPr txBox="1">
                <a:spLocks noRot="1" noChangeAspect="1" noMove="1" noResize="1" noEditPoints="1" noAdjustHandles="1" noChangeArrowheads="1" noChangeShapeType="1" noTextEdit="1"/>
              </p:cNvSpPr>
              <p:nvPr/>
            </p:nvSpPr>
            <p:spPr>
              <a:xfrm>
                <a:off x="1502898" y="5562459"/>
                <a:ext cx="3763779" cy="375552"/>
              </a:xfrm>
              <a:prstGeom prst="rect">
                <a:avLst/>
              </a:prstGeom>
              <a:blipFill>
                <a:blip r:embed="rId5"/>
                <a:stretch>
                  <a:fillRect t="-6452" b="-241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DCE3A8B-1E73-C79D-5699-C5E9C9666FE6}"/>
                  </a:ext>
                </a:extLst>
              </p:cNvPr>
              <p:cNvSpPr txBox="1"/>
              <p:nvPr/>
            </p:nvSpPr>
            <p:spPr>
              <a:xfrm>
                <a:off x="1494285" y="5933004"/>
                <a:ext cx="376377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𝑎𝑑𝑗𝑎𝑐𝑒𝑛𝑐𝑦</m:t>
                      </m:r>
                      <m:r>
                        <a:rPr lang="en-US" altLang="zh-CN" b="0" i="1" smtClean="0">
                          <a:latin typeface="Cambria Math" panose="02040503050406030204" pitchFamily="18" charset="0"/>
                        </a:rPr>
                        <m:t> </m:t>
                      </m:r>
                      <m:r>
                        <a:rPr lang="en-US" altLang="zh-CN" b="0" i="1" smtClean="0">
                          <a:latin typeface="Cambria Math" panose="02040503050406030204" pitchFamily="18" charset="0"/>
                        </a:rPr>
                        <m:t>𝑚𝑎𝑡𝑟𝑖𝑥</m:t>
                      </m:r>
                      <m:r>
                        <a:rPr lang="en-US" altLang="zh-CN" b="0" i="1" smtClean="0">
                          <a:latin typeface="Cambria Math" panose="02040503050406030204" pitchFamily="18" charset="0"/>
                        </a:rPr>
                        <m:t> </m:t>
                      </m:r>
                      <m:r>
                        <a:rPr lang="en-US" altLang="zh-CN" i="1" smtClean="0">
                          <a:latin typeface="Cambria Math" panose="02040503050406030204" pitchFamily="18" charset="0"/>
                        </a:rPr>
                        <m:t>𝐴</m:t>
                      </m:r>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𝑎</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𝑎</m:t>
                              </m:r>
                            </m:sub>
                          </m:sSub>
                        </m:sup>
                      </m:sSup>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7" name="文本框 6">
                <a:extLst>
                  <a:ext uri="{FF2B5EF4-FFF2-40B4-BE49-F238E27FC236}">
                    <a16:creationId xmlns:a16="http://schemas.microsoft.com/office/drawing/2014/main" id="{6DCE3A8B-1E73-C79D-5699-C5E9C9666FE6}"/>
                  </a:ext>
                </a:extLst>
              </p:cNvPr>
              <p:cNvSpPr txBox="1">
                <a:spLocks noRot="1" noChangeAspect="1" noMove="1" noResize="1" noEditPoints="1" noAdjustHandles="1" noChangeArrowheads="1" noChangeShapeType="1" noTextEdit="1"/>
              </p:cNvSpPr>
              <p:nvPr/>
            </p:nvSpPr>
            <p:spPr>
              <a:xfrm>
                <a:off x="1494285" y="5933004"/>
                <a:ext cx="3763779" cy="369332"/>
              </a:xfrm>
              <a:prstGeom prst="rect">
                <a:avLst/>
              </a:prstGeom>
              <a:blipFill>
                <a:blip r:embed="rId6"/>
                <a:stretch>
                  <a:fillRect t="-8197" b="-24590"/>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6F5E8A19-C708-4964-4B1A-B126E5EF5C08}"/>
              </a:ext>
            </a:extLst>
          </p:cNvPr>
          <p:cNvSpPr txBox="1"/>
          <p:nvPr/>
        </p:nvSpPr>
        <p:spPr>
          <a:xfrm>
            <a:off x="7364028" y="116911"/>
            <a:ext cx="989654" cy="369332"/>
          </a:xfrm>
          <a:prstGeom prst="rect">
            <a:avLst/>
          </a:prstGeom>
          <a:noFill/>
        </p:spPr>
        <p:txBody>
          <a:bodyPr wrap="square">
            <a:spAutoFit/>
          </a:bodyPr>
          <a:lstStyle/>
          <a:p>
            <a:r>
              <a:rPr lang="en-US" altLang="zh-CN" sz="1800" b="0" i="0" u="none" strike="noStrike" baseline="0" dirty="0">
                <a:latin typeface="NimbusRomNo9L-Regu"/>
                <a:ea typeface="Noto Sans JP" panose="020B0200000000000000" pitchFamily="34" charset="-122"/>
              </a:rPr>
              <a:t>M-GAT</a:t>
            </a:r>
            <a:endParaRPr lang="zh-CN" altLang="en-US" dirty="0">
              <a:latin typeface="Noto Sans JP" panose="020B0200000000000000" pitchFamily="34" charset="-122"/>
              <a:ea typeface="Noto Sans JP" panose="020B0200000000000000" pitchFamily="34" charset="-122"/>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A20BB5E-0B7C-872C-13CC-673395D08A7D}"/>
                  </a:ext>
                </a:extLst>
              </p:cNvPr>
              <p:cNvSpPr txBox="1"/>
              <p:nvPr/>
            </p:nvSpPr>
            <p:spPr>
              <a:xfrm>
                <a:off x="8232865" y="568384"/>
                <a:ext cx="2491451" cy="341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𝑎</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𝜎</m:t>
                      </m:r>
                      <m:r>
                        <a:rPr lang="en-US" altLang="zh-CN" b="0" i="1" smtClean="0">
                          <a:latin typeface="Cambria Math" panose="02040503050406030204" pitchFamily="18" charset="0"/>
                        </a:rPr>
                        <m:t>(</m:t>
                      </m:r>
                      <m:r>
                        <a:rPr lang="zh-CN" altLang="en-US" b="0" i="1" smtClean="0">
                          <a:latin typeface="Cambria Math" panose="02040503050406030204" pitchFamily="18" charset="0"/>
                        </a:rPr>
                        <m:t>𝜓</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𝑙</m:t>
                              </m:r>
                            </m:sup>
                          </m:sSup>
                        </m:sup>
                      </m:sSubSup>
                      <m:r>
                        <a:rPr lang="en-US" altLang="zh-CN" b="0" i="1" smtClean="0">
                          <a:latin typeface="Cambria Math" panose="02040503050406030204" pitchFamily="18" charset="0"/>
                        </a:rPr>
                        <m:t>)</m:t>
                      </m:r>
                      <m:r>
                        <a:rPr lang="zh-CN" altLang="en-US" b="0" i="1" smtClean="0">
                          <a:latin typeface="Cambria Math" panose="02040503050406030204" pitchFamily="18" charset="0"/>
                        </a:rPr>
                        <m:t>𝜓</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𝑙</m:t>
                              </m:r>
                            </m:sup>
                          </m:sSup>
                        </m:sup>
                      </m:sSub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𝑇</m:t>
                          </m:r>
                        </m:sup>
                      </m:sSup>
                      <m:r>
                        <a:rPr lang="en-US" altLang="zh-CN" b="0" i="1" smtClean="0">
                          <a:latin typeface="Cambria Math" panose="02040503050406030204" pitchFamily="18" charset="0"/>
                        </a:rPr>
                        <m:t>)</m:t>
                      </m:r>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12" name="文本框 11">
                <a:extLst>
                  <a:ext uri="{FF2B5EF4-FFF2-40B4-BE49-F238E27FC236}">
                    <a16:creationId xmlns:a16="http://schemas.microsoft.com/office/drawing/2014/main" id="{3A20BB5E-0B7C-872C-13CC-673395D08A7D}"/>
                  </a:ext>
                </a:extLst>
              </p:cNvPr>
              <p:cNvSpPr txBox="1">
                <a:spLocks noRot="1" noChangeAspect="1" noMove="1" noResize="1" noEditPoints="1" noAdjustHandles="1" noChangeArrowheads="1" noChangeShapeType="1" noTextEdit="1"/>
              </p:cNvSpPr>
              <p:nvPr/>
            </p:nvSpPr>
            <p:spPr>
              <a:xfrm>
                <a:off x="8232865" y="568384"/>
                <a:ext cx="2491451" cy="341888"/>
              </a:xfrm>
              <a:prstGeom prst="rect">
                <a:avLst/>
              </a:prstGeom>
              <a:blipFill>
                <a:blip r:embed="rId7"/>
                <a:stretch>
                  <a:fillRect l="-735" t="-5357" r="-5392" b="-41071"/>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A7C48954-80C8-0557-CC13-D2B432A64A1A}"/>
              </a:ext>
            </a:extLst>
          </p:cNvPr>
          <p:cNvSpPr txBox="1"/>
          <p:nvPr/>
        </p:nvSpPr>
        <p:spPr>
          <a:xfrm>
            <a:off x="7473747" y="1097818"/>
            <a:ext cx="4718253" cy="369332"/>
          </a:xfrm>
          <a:prstGeom prst="rect">
            <a:avLst/>
          </a:prstGeom>
          <a:noFill/>
        </p:spPr>
        <p:txBody>
          <a:bodyPr wrap="square">
            <a:spAutoFit/>
          </a:bodyPr>
          <a:lstStyle/>
          <a:p>
            <a:pPr algn="l"/>
            <a:r>
              <a:rPr lang="el-GR" altLang="zh-CN" sz="1800" b="0" i="0" u="none" strike="noStrike" baseline="0" dirty="0">
                <a:latin typeface="CMMI10"/>
                <a:ea typeface="Noto Sans JP" panose="020B0200000000000000" pitchFamily="34" charset="-122"/>
              </a:rPr>
              <a:t>σ</a:t>
            </a:r>
            <a:r>
              <a:rPr lang="el-GR" altLang="zh-CN" sz="1800" b="0" i="0" u="none" strike="noStrike" baseline="0" dirty="0">
                <a:latin typeface="CMR10"/>
                <a:ea typeface="Noto Sans JP" panose="020B0200000000000000" pitchFamily="34" charset="-122"/>
              </a:rPr>
              <a:t>()</a:t>
            </a:r>
            <a:r>
              <a:rPr lang="en-US" altLang="zh-CN" sz="1800" b="0" i="0" u="none" strike="noStrike" baseline="0" dirty="0">
                <a:latin typeface="CMR10"/>
                <a:ea typeface="Noto Sans JP" panose="020B0200000000000000" pitchFamily="34" charset="-122"/>
              </a:rPr>
              <a:t> </a:t>
            </a:r>
            <a:r>
              <a:rPr lang="en-US" altLang="zh-CN" sz="1800" b="0" i="0" u="none" strike="noStrike" baseline="0" dirty="0">
                <a:latin typeface="NimbusRomNo9L-Regu"/>
                <a:ea typeface="Noto Sans JP" panose="020B0200000000000000" pitchFamily="34" charset="-122"/>
              </a:rPr>
              <a:t>and </a:t>
            </a:r>
            <a:r>
              <a:rPr lang="en-US" altLang="zh-CN" sz="1800" b="0" i="0" u="none" strike="noStrike" baseline="0" dirty="0">
                <a:latin typeface="CMMI10"/>
                <a:ea typeface="Noto Sans JP" panose="020B0200000000000000" pitchFamily="34" charset="-122"/>
              </a:rPr>
              <a:t>ψ</a:t>
            </a:r>
            <a:r>
              <a:rPr lang="en-US" altLang="zh-CN" sz="1800" b="0" i="0" u="none" strike="noStrike" baseline="0" dirty="0">
                <a:latin typeface="CMR10"/>
                <a:ea typeface="Noto Sans JP" panose="020B0200000000000000" pitchFamily="34" charset="-122"/>
              </a:rPr>
              <a:t>() </a:t>
            </a:r>
            <a:r>
              <a:rPr lang="en-US" altLang="zh-CN" sz="1800" b="0" i="0" u="none" strike="noStrike" baseline="0" dirty="0">
                <a:latin typeface="NimbusRomNo9L-Regu"/>
                <a:ea typeface="Noto Sans JP" panose="020B0200000000000000" pitchFamily="34" charset="-122"/>
              </a:rPr>
              <a:t>are the sigmoid and linear layers.</a:t>
            </a:r>
            <a:endParaRPr lang="zh-CN" altLang="en-US" dirty="0">
              <a:latin typeface="Noto Sans JP" panose="020B0200000000000000" pitchFamily="34" charset="-122"/>
              <a:ea typeface="Noto Sans JP" panose="020B0200000000000000" pitchFamily="34" charset="-122"/>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9334B15-7B71-044B-E3C1-8EFDDA1A17F1}"/>
                  </a:ext>
                </a:extLst>
              </p:cNvPr>
              <p:cNvSpPr txBox="1"/>
              <p:nvPr/>
            </p:nvSpPr>
            <p:spPr>
              <a:xfrm>
                <a:off x="7473747" y="1548850"/>
                <a:ext cx="4849355" cy="369332"/>
              </a:xfrm>
              <a:prstGeom prst="rect">
                <a:avLst/>
              </a:prstGeom>
              <a:noFill/>
            </p:spPr>
            <p:txBody>
              <a:bodyPr wrap="square">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𝑎</m:t>
                        </m:r>
                      </m:sub>
                    </m:sSub>
                    <m:r>
                      <a:rPr lang="en-US" altLang="zh-CN" b="0"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𝑎</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𝑎</m:t>
                            </m:r>
                          </m:sub>
                        </m:sSub>
                      </m:sup>
                    </m:sSup>
                  </m:oMath>
                </a14:m>
                <a:r>
                  <a:rPr lang="en-US" altLang="zh-CN" dirty="0">
                    <a:latin typeface="Noto Sans JP" panose="020B0200000000000000" pitchFamily="34" charset="-122"/>
                    <a:ea typeface="Noto Sans JP" panose="020B0200000000000000" pitchFamily="34" charset="-122"/>
                  </a:rPr>
                  <a:t> is the atomic relevance matrix</a:t>
                </a:r>
                <a:endParaRPr lang="zh-CN" altLang="en-US" dirty="0">
                  <a:latin typeface="Noto Sans JP" panose="020B0200000000000000" pitchFamily="34" charset="-122"/>
                  <a:ea typeface="Noto Sans JP" panose="020B0200000000000000" pitchFamily="34" charset="-122"/>
                </a:endParaRPr>
              </a:p>
            </p:txBody>
          </p:sp>
        </mc:Choice>
        <mc:Fallback xmlns="">
          <p:sp>
            <p:nvSpPr>
              <p:cNvPr id="18" name="文本框 17">
                <a:extLst>
                  <a:ext uri="{FF2B5EF4-FFF2-40B4-BE49-F238E27FC236}">
                    <a16:creationId xmlns:a16="http://schemas.microsoft.com/office/drawing/2014/main" id="{F9334B15-7B71-044B-E3C1-8EFDDA1A17F1}"/>
                  </a:ext>
                </a:extLst>
              </p:cNvPr>
              <p:cNvSpPr txBox="1">
                <a:spLocks noRot="1" noChangeAspect="1" noMove="1" noResize="1" noEditPoints="1" noAdjustHandles="1" noChangeArrowheads="1" noChangeShapeType="1" noTextEdit="1"/>
              </p:cNvSpPr>
              <p:nvPr/>
            </p:nvSpPr>
            <p:spPr>
              <a:xfrm>
                <a:off x="7473747" y="1548850"/>
                <a:ext cx="4849355" cy="369332"/>
              </a:xfrm>
              <a:prstGeom prst="rect">
                <a:avLst/>
              </a:prstGeom>
              <a:blipFill>
                <a:blip r:embed="rId8"/>
                <a:stretch>
                  <a:fillRect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69C4527E-D48B-C66A-F79E-756815AC38FA}"/>
                  </a:ext>
                </a:extLst>
              </p:cNvPr>
              <p:cNvSpPr txBox="1"/>
              <p:nvPr/>
            </p:nvSpPr>
            <p:spPr>
              <a:xfrm>
                <a:off x="8146613" y="1918182"/>
                <a:ext cx="3846954" cy="434221"/>
              </a:xfrm>
              <a:prstGeom prst="rect">
                <a:avLst/>
              </a:prstGeom>
              <a:noFill/>
            </p:spPr>
            <p:txBody>
              <a:bodyPr wrap="square">
                <a:spAutoFit/>
              </a:bodyPr>
              <a:lstStyle/>
              <a:p>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𝑙</m:t>
                            </m:r>
                            <m:r>
                              <a:rPr lang="en-US" altLang="zh-CN" b="0" i="1" smtClean="0">
                                <a:latin typeface="Cambria Math" panose="02040503050406030204" pitchFamily="18" charset="0"/>
                              </a:rPr>
                              <m:t>+1</m:t>
                            </m:r>
                          </m:sup>
                        </m:sSup>
                      </m:sup>
                    </m:sSubSup>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𝑎</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m:t>
                    </m:r>
                    <m:r>
                      <a:rPr lang="en-US" altLang="zh-CN" b="0" i="1" smtClean="0">
                        <a:latin typeface="Cambria Math" panose="02040503050406030204" pitchFamily="18" charset="0"/>
                      </a:rPr>
                      <m:t>)</m:t>
                    </m:r>
                    <m:r>
                      <a:rPr lang="zh-CN" altLang="en-US" b="0" i="1" smtClean="0">
                        <a:latin typeface="Cambria Math" panose="02040503050406030204" pitchFamily="18" charset="0"/>
                      </a:rPr>
                      <m:t>𝜓</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𝑙</m:t>
                            </m:r>
                          </m:sup>
                        </m:sSup>
                      </m:sup>
                    </m:sSubSup>
                    <m:r>
                      <a:rPr lang="en-US" altLang="zh-CN" b="0" i="1" smtClean="0">
                        <a:latin typeface="Cambria Math" panose="02040503050406030204" pitchFamily="18" charset="0"/>
                      </a:rPr>
                      <m:t>)</m:t>
                    </m:r>
                  </m:oMath>
                </a14:m>
                <a:r>
                  <a:rPr lang="en-US" altLang="zh-CN" dirty="0">
                    <a:latin typeface="Noto Sans JP" panose="020B0200000000000000" pitchFamily="34" charset="-122"/>
                    <a:ea typeface="Noto Sans JP" panose="020B0200000000000000" pitchFamily="34" charset="-122"/>
                  </a:rPr>
                  <a:t>+</a:t>
                </a:r>
                <a:r>
                  <a:rPr lang="en-US" altLang="zh-CN" b="0" dirty="0">
                    <a:latin typeface="Noto Sans JP" panose="020B0200000000000000" pitchFamily="34" charset="-122"/>
                    <a:ea typeface="Noto Sans JP" panose="020B0200000000000000" pitchFamily="34" charset="-122"/>
                  </a:rPr>
                  <a:t> </a:t>
                </a: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𝑙</m:t>
                            </m:r>
                          </m:sup>
                        </m:sSup>
                      </m:sup>
                    </m:sSubSup>
                  </m:oMath>
                </a14:m>
                <a:endParaRPr lang="zh-CN" altLang="en-US" dirty="0">
                  <a:latin typeface="Noto Sans JP" panose="020B0200000000000000" pitchFamily="34" charset="-122"/>
                  <a:ea typeface="Noto Sans JP" panose="020B0200000000000000" pitchFamily="34" charset="-122"/>
                </a:endParaRPr>
              </a:p>
            </p:txBody>
          </p:sp>
        </mc:Choice>
        <mc:Fallback xmlns="">
          <p:sp>
            <p:nvSpPr>
              <p:cNvPr id="23" name="文本框 22">
                <a:extLst>
                  <a:ext uri="{FF2B5EF4-FFF2-40B4-BE49-F238E27FC236}">
                    <a16:creationId xmlns:a16="http://schemas.microsoft.com/office/drawing/2014/main" id="{69C4527E-D48B-C66A-F79E-756815AC38FA}"/>
                  </a:ext>
                </a:extLst>
              </p:cNvPr>
              <p:cNvSpPr txBox="1">
                <a:spLocks noRot="1" noChangeAspect="1" noMove="1" noResize="1" noEditPoints="1" noAdjustHandles="1" noChangeArrowheads="1" noChangeShapeType="1" noTextEdit="1"/>
              </p:cNvSpPr>
              <p:nvPr/>
            </p:nvSpPr>
            <p:spPr>
              <a:xfrm>
                <a:off x="8146613" y="1918182"/>
                <a:ext cx="3846954" cy="434221"/>
              </a:xfrm>
              <a:prstGeom prst="rect">
                <a:avLst/>
              </a:prstGeom>
              <a:blipFill>
                <a:blip r:embed="rId9"/>
                <a:stretch>
                  <a:fillRect b="-21127"/>
                </a:stretch>
              </a:blipFill>
            </p:spPr>
            <p:txBody>
              <a:bodyPr/>
              <a:lstStyle/>
              <a:p>
                <a:r>
                  <a:rPr lang="zh-CN" altLang="en-US">
                    <a:noFill/>
                  </a:rPr>
                  <a:t> </a:t>
                </a:r>
              </a:p>
            </p:txBody>
          </p:sp>
        </mc:Fallback>
      </mc:AlternateContent>
      <p:cxnSp>
        <p:nvCxnSpPr>
          <p:cNvPr id="25" name="直接箭头连接符 24">
            <a:extLst>
              <a:ext uri="{FF2B5EF4-FFF2-40B4-BE49-F238E27FC236}">
                <a16:creationId xmlns:a16="http://schemas.microsoft.com/office/drawing/2014/main" id="{2594181C-2F7A-F83A-77A1-9E25B8538F5C}"/>
              </a:ext>
            </a:extLst>
          </p:cNvPr>
          <p:cNvCxnSpPr>
            <a:cxnSpLocks/>
          </p:cNvCxnSpPr>
          <p:nvPr/>
        </p:nvCxnSpPr>
        <p:spPr>
          <a:xfrm>
            <a:off x="7587476" y="5933004"/>
            <a:ext cx="766206" cy="821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9BABBABF-5CC5-FBAD-BFD5-DAD11754C603}"/>
                  </a:ext>
                </a:extLst>
              </p:cNvPr>
              <p:cNvSpPr txBox="1"/>
              <p:nvPr/>
            </p:nvSpPr>
            <p:spPr>
              <a:xfrm>
                <a:off x="8215279" y="5827397"/>
                <a:ext cx="1809990" cy="3755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𝑑</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sup>
                      </m:sSup>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39" name="文本框 38">
                <a:extLst>
                  <a:ext uri="{FF2B5EF4-FFF2-40B4-BE49-F238E27FC236}">
                    <a16:creationId xmlns:a16="http://schemas.microsoft.com/office/drawing/2014/main" id="{9BABBABF-5CC5-FBAD-BFD5-DAD11754C603}"/>
                  </a:ext>
                </a:extLst>
              </p:cNvPr>
              <p:cNvSpPr txBox="1">
                <a:spLocks noRot="1" noChangeAspect="1" noMove="1" noResize="1" noEditPoints="1" noAdjustHandles="1" noChangeArrowheads="1" noChangeShapeType="1" noTextEdit="1"/>
              </p:cNvSpPr>
              <p:nvPr/>
            </p:nvSpPr>
            <p:spPr>
              <a:xfrm>
                <a:off x="8215279" y="5827397"/>
                <a:ext cx="1809990" cy="375552"/>
              </a:xfrm>
              <a:prstGeom prst="rect">
                <a:avLst/>
              </a:prstGeom>
              <a:blipFill>
                <a:blip r:embed="rId10"/>
                <a:stretch>
                  <a:fillRect t="-8065" b="-24194"/>
                </a:stretch>
              </a:blipFill>
            </p:spPr>
            <p:txBody>
              <a:bodyPr/>
              <a:lstStyle/>
              <a:p>
                <a:r>
                  <a:rPr lang="zh-CN" altLang="en-US">
                    <a:noFill/>
                  </a:rPr>
                  <a:t> </a:t>
                </a:r>
              </a:p>
            </p:txBody>
          </p:sp>
        </mc:Fallback>
      </mc:AlternateContent>
      <p:sp>
        <p:nvSpPr>
          <p:cNvPr id="43" name="文本框 42">
            <a:extLst>
              <a:ext uri="{FF2B5EF4-FFF2-40B4-BE49-F238E27FC236}">
                <a16:creationId xmlns:a16="http://schemas.microsoft.com/office/drawing/2014/main" id="{A112EAD4-E1D9-6875-EB90-7FE49B083361}"/>
              </a:ext>
            </a:extLst>
          </p:cNvPr>
          <p:cNvSpPr txBox="1"/>
          <p:nvPr/>
        </p:nvSpPr>
        <p:spPr>
          <a:xfrm>
            <a:off x="7253120" y="2502561"/>
            <a:ext cx="1854995" cy="369332"/>
          </a:xfrm>
          <a:prstGeom prst="rect">
            <a:avLst/>
          </a:prstGeom>
          <a:noFill/>
        </p:spPr>
        <p:txBody>
          <a:bodyPr wrap="none" rtlCol="0">
            <a:spAutoFit/>
          </a:bodyPr>
          <a:lstStyle/>
          <a:p>
            <a:r>
              <a:rPr lang="en-US" altLang="zh-CN" dirty="0">
                <a:latin typeface="Noto Sans JP" panose="020B0200000000000000" pitchFamily="34" charset="-122"/>
                <a:ea typeface="Noto Sans JP" panose="020B0200000000000000" pitchFamily="34" charset="-122"/>
              </a:rPr>
              <a:t>Cross-Attention</a:t>
            </a:r>
            <a:endParaRPr lang="zh-CN" altLang="en-US" dirty="0">
              <a:latin typeface="Noto Sans JP" panose="020B0200000000000000" pitchFamily="34" charset="-122"/>
              <a:ea typeface="Noto Sans JP" panose="020B0200000000000000" pitchFamily="34" charset="-122"/>
            </a:endParaRPr>
          </a:p>
        </p:txBody>
      </p:sp>
      <p:sp>
        <p:nvSpPr>
          <p:cNvPr id="44" name="矩形 43">
            <a:extLst>
              <a:ext uri="{FF2B5EF4-FFF2-40B4-BE49-F238E27FC236}">
                <a16:creationId xmlns:a16="http://schemas.microsoft.com/office/drawing/2014/main" id="{01065B93-A299-0E93-A23D-E964FB0C6FED}"/>
              </a:ext>
            </a:extLst>
          </p:cNvPr>
          <p:cNvSpPr/>
          <p:nvPr/>
        </p:nvSpPr>
        <p:spPr>
          <a:xfrm>
            <a:off x="7223495" y="139291"/>
            <a:ext cx="4718252" cy="2271483"/>
          </a:xfrm>
          <a:prstGeom prst="rect">
            <a:avLst/>
          </a:prstGeom>
          <a:noFill/>
          <a:ln w="28575">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JP" panose="020B0200000000000000" pitchFamily="34" charset="-122"/>
              <a:ea typeface="Noto Sans JP" panose="020B0200000000000000" pitchFamily="34" charset="-122"/>
            </a:endParaRPr>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CF2085FF-425A-BD3A-7DD4-ACA96D0A8D04}"/>
                  </a:ext>
                </a:extLst>
              </p:cNvPr>
              <p:cNvSpPr txBox="1"/>
              <p:nvPr/>
            </p:nvSpPr>
            <p:spPr>
              <a:xfrm>
                <a:off x="7473747" y="2743957"/>
                <a:ext cx="4598393" cy="8082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m:t>
                              </m:r>
                            </m:sup>
                          </m:sSup>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𝑠𝑜𝑓𝑡𝑚𝑎𝑥</m:t>
                      </m:r>
                      <m:d>
                        <m:dPr>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zh-CN" altLang="en-US" b="0" i="1" smtClean="0">
                                  <a:latin typeface="Cambria Math" panose="02040503050406030204" pitchFamily="18" charset="0"/>
                                </a:rPr>
                                <m:t>𝜓</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𝑡</m:t>
                                  </m:r>
                                </m:sup>
                              </m:sSubSup>
                              <m:r>
                                <a:rPr lang="en-US" altLang="zh-CN" b="0" i="1" smtClean="0">
                                  <a:latin typeface="Cambria Math" panose="02040503050406030204" pitchFamily="18" charset="0"/>
                                </a:rPr>
                                <m:t>)</m:t>
                              </m:r>
                              <m:r>
                                <a:rPr lang="zh-CN" altLang="en-US" b="0" i="1" smtClean="0">
                                  <a:latin typeface="Cambria Math" panose="02040503050406030204" pitchFamily="18" charset="0"/>
                                </a:rPr>
                                <m:t>𝜓</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𝑇</m:t>
                                  </m:r>
                                </m:sup>
                              </m:sSup>
                            </m:num>
                            <m:den>
                              <m:rad>
                                <m:radPr>
                                  <m:degHide m:val="on"/>
                                  <m:ctrlPr>
                                    <a:rPr lang="en-US" altLang="zh-CN" b="0" i="1" smtClean="0">
                                      <a:latin typeface="Cambria Math" panose="02040503050406030204" pitchFamily="18" charset="0"/>
                                    </a:rPr>
                                  </m:ctrlPr>
                                </m:radPr>
                                <m:deg/>
                                <m:e>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e>
                              </m:rad>
                            </m:den>
                          </m:f>
                        </m:e>
                      </m:d>
                      <m:r>
                        <a:rPr lang="zh-CN" altLang="en-US" b="0" i="1" smtClean="0">
                          <a:latin typeface="Cambria Math" panose="02040503050406030204" pitchFamily="18" charset="0"/>
                        </a:rPr>
                        <m:t>𝜓</m:t>
                      </m:r>
                      <m:d>
                        <m:dPr>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e>
                      </m:d>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45" name="文本框 44">
                <a:extLst>
                  <a:ext uri="{FF2B5EF4-FFF2-40B4-BE49-F238E27FC236}">
                    <a16:creationId xmlns:a16="http://schemas.microsoft.com/office/drawing/2014/main" id="{CF2085FF-425A-BD3A-7DD4-ACA96D0A8D04}"/>
                  </a:ext>
                </a:extLst>
              </p:cNvPr>
              <p:cNvSpPr txBox="1">
                <a:spLocks noRot="1" noChangeAspect="1" noMove="1" noResize="1" noEditPoints="1" noAdjustHandles="1" noChangeArrowheads="1" noChangeShapeType="1" noTextEdit="1"/>
              </p:cNvSpPr>
              <p:nvPr/>
            </p:nvSpPr>
            <p:spPr>
              <a:xfrm>
                <a:off x="7473747" y="2743957"/>
                <a:ext cx="4598393" cy="808235"/>
              </a:xfrm>
              <a:prstGeom prst="rect">
                <a:avLst/>
              </a:prstGeom>
              <a:blipFill>
                <a:blip r:embed="rId11"/>
                <a:stretch>
                  <a:fillRect r="-10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9D81CBB4-E211-5C6C-09CC-40E1179EFA3E}"/>
                  </a:ext>
                </a:extLst>
              </p:cNvPr>
              <p:cNvSpPr txBox="1"/>
              <p:nvPr/>
            </p:nvSpPr>
            <p:spPr>
              <a:xfrm>
                <a:off x="7982657" y="5087314"/>
                <a:ext cx="1473099" cy="4202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m:t>
                              </m:r>
                            </m:sup>
                          </m:sSup>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𝑑</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sup>
                      </m:sSup>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50" name="文本框 49">
                <a:extLst>
                  <a:ext uri="{FF2B5EF4-FFF2-40B4-BE49-F238E27FC236}">
                    <a16:creationId xmlns:a16="http://schemas.microsoft.com/office/drawing/2014/main" id="{9D81CBB4-E211-5C6C-09CC-40E1179EFA3E}"/>
                  </a:ext>
                </a:extLst>
              </p:cNvPr>
              <p:cNvSpPr txBox="1">
                <a:spLocks noRot="1" noChangeAspect="1" noMove="1" noResize="1" noEditPoints="1" noAdjustHandles="1" noChangeArrowheads="1" noChangeShapeType="1" noTextEdit="1"/>
              </p:cNvSpPr>
              <p:nvPr/>
            </p:nvSpPr>
            <p:spPr>
              <a:xfrm>
                <a:off x="7982657" y="5087314"/>
                <a:ext cx="1473099" cy="420243"/>
              </a:xfrm>
              <a:prstGeom prst="rect">
                <a:avLst/>
              </a:prstGeom>
              <a:blipFill>
                <a:blip r:embed="rId12"/>
                <a:stretch>
                  <a:fillRect r="-5785" b="-23529"/>
                </a:stretch>
              </a:blipFill>
            </p:spPr>
            <p:txBody>
              <a:bodyPr/>
              <a:lstStyle/>
              <a:p>
                <a:r>
                  <a:rPr lang="zh-CN" altLang="en-US">
                    <a:noFill/>
                  </a:rPr>
                  <a:t> </a:t>
                </a:r>
              </a:p>
            </p:txBody>
          </p:sp>
        </mc:Fallback>
      </mc:AlternateContent>
      <p:cxnSp>
        <p:nvCxnSpPr>
          <p:cNvPr id="52" name="直接箭头连接符 51">
            <a:extLst>
              <a:ext uri="{FF2B5EF4-FFF2-40B4-BE49-F238E27FC236}">
                <a16:creationId xmlns:a16="http://schemas.microsoft.com/office/drawing/2014/main" id="{7FE74E67-ACCB-0F75-CF1F-627BBC72D573}"/>
              </a:ext>
            </a:extLst>
          </p:cNvPr>
          <p:cNvCxnSpPr>
            <a:cxnSpLocks/>
            <a:stCxn id="10" idx="3"/>
          </p:cNvCxnSpPr>
          <p:nvPr/>
        </p:nvCxnSpPr>
        <p:spPr>
          <a:xfrm flipV="1">
            <a:off x="9511127" y="5003381"/>
            <a:ext cx="761479" cy="2147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4" name="文本框 53">
            <a:extLst>
              <a:ext uri="{FF2B5EF4-FFF2-40B4-BE49-F238E27FC236}">
                <a16:creationId xmlns:a16="http://schemas.microsoft.com/office/drawing/2014/main" id="{E2E57A24-931C-7D7D-3C23-256EB40CC24F}"/>
              </a:ext>
            </a:extLst>
          </p:cNvPr>
          <p:cNvSpPr txBox="1"/>
          <p:nvPr/>
        </p:nvSpPr>
        <p:spPr>
          <a:xfrm>
            <a:off x="10381130" y="4474467"/>
            <a:ext cx="1136850" cy="369332"/>
          </a:xfrm>
          <a:prstGeom prst="rect">
            <a:avLst/>
          </a:prstGeom>
          <a:noFill/>
        </p:spPr>
        <p:txBody>
          <a:bodyPr wrap="none" rtlCol="0">
            <a:spAutoFit/>
          </a:bodyPr>
          <a:lstStyle/>
          <a:p>
            <a:r>
              <a:rPr lang="en-US" altLang="zh-CN" dirty="0">
                <a:latin typeface="Noto Sans JP" panose="020B0200000000000000" pitchFamily="34" charset="-122"/>
                <a:ea typeface="Noto Sans JP" panose="020B0200000000000000" pitchFamily="34" charset="-122"/>
              </a:rPr>
              <a:t>torch.cat</a:t>
            </a:r>
            <a:endParaRPr lang="zh-CN" altLang="en-US" dirty="0">
              <a:latin typeface="Noto Sans JP" panose="020B0200000000000000" pitchFamily="34" charset="-122"/>
              <a:ea typeface="Noto Sans JP" panose="020B0200000000000000" pitchFamily="34" charset="-122"/>
            </a:endParaRPr>
          </a:p>
        </p:txBody>
      </p:sp>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CBB2D360-B92C-FD40-50E9-AD9402D40B41}"/>
                  </a:ext>
                </a:extLst>
              </p:cNvPr>
              <p:cNvSpPr txBox="1"/>
              <p:nvPr/>
            </p:nvSpPr>
            <p:spPr>
              <a:xfrm>
                <a:off x="10271868" y="4756598"/>
                <a:ext cx="1968568" cy="3862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𝐹</m:t>
                          </m:r>
                        </m:e>
                        <m:sub>
                          <m:r>
                            <a:rPr lang="en-US" altLang="zh-CN" b="0" i="1" smtClean="0">
                              <a:latin typeface="Cambria Math" panose="02040503050406030204" pitchFamily="18" charset="0"/>
                              <a:ea typeface="Cambria Math" panose="02040503050406030204" pitchFamily="18" charset="0"/>
                            </a:rPr>
                            <m:t>𝑑</m:t>
                          </m:r>
                        </m:sub>
                      </m:sSub>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smtClean="0">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𝑑</m:t>
                              </m:r>
                            </m:sub>
                          </m:sSub>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𝑡</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r>
                            <a:rPr lang="en-US" altLang="zh-CN" b="0" i="1" smtClean="0">
                              <a:latin typeface="Cambria Math" panose="02040503050406030204" pitchFamily="18" charset="0"/>
                              <a:ea typeface="Cambria Math" panose="02040503050406030204" pitchFamily="18" charset="0"/>
                            </a:rPr>
                            <m:t>)</m:t>
                          </m:r>
                        </m:sup>
                      </m:sSup>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56" name="文本框 55">
                <a:extLst>
                  <a:ext uri="{FF2B5EF4-FFF2-40B4-BE49-F238E27FC236}">
                    <a16:creationId xmlns:a16="http://schemas.microsoft.com/office/drawing/2014/main" id="{CBB2D360-B92C-FD40-50E9-AD9402D40B41}"/>
                  </a:ext>
                </a:extLst>
              </p:cNvPr>
              <p:cNvSpPr txBox="1">
                <a:spLocks noRot="1" noChangeAspect="1" noMove="1" noResize="1" noEditPoints="1" noAdjustHandles="1" noChangeArrowheads="1" noChangeShapeType="1" noTextEdit="1"/>
              </p:cNvSpPr>
              <p:nvPr/>
            </p:nvSpPr>
            <p:spPr>
              <a:xfrm>
                <a:off x="10271868" y="4756598"/>
                <a:ext cx="1968568" cy="386260"/>
              </a:xfrm>
              <a:prstGeom prst="rect">
                <a:avLst/>
              </a:prstGeom>
              <a:blipFill>
                <a:blip r:embed="rId13"/>
                <a:stretch>
                  <a:fillRect t="-4688" r="-619" b="-21875"/>
                </a:stretch>
              </a:blipFill>
            </p:spPr>
            <p:txBody>
              <a:bodyPr/>
              <a:lstStyle/>
              <a:p>
                <a:r>
                  <a:rPr lang="zh-CN" altLang="en-US">
                    <a:noFill/>
                  </a:rPr>
                  <a:t> </a:t>
                </a:r>
              </a:p>
            </p:txBody>
          </p:sp>
        </mc:Fallback>
      </mc:AlternateContent>
      <p:sp>
        <p:nvSpPr>
          <p:cNvPr id="57" name="文本框 56">
            <a:extLst>
              <a:ext uri="{FF2B5EF4-FFF2-40B4-BE49-F238E27FC236}">
                <a16:creationId xmlns:a16="http://schemas.microsoft.com/office/drawing/2014/main" id="{A372F588-4C0B-DC89-5CA0-EB869A874A8B}"/>
              </a:ext>
            </a:extLst>
          </p:cNvPr>
          <p:cNvSpPr txBox="1"/>
          <p:nvPr/>
        </p:nvSpPr>
        <p:spPr>
          <a:xfrm>
            <a:off x="3042385" y="5073205"/>
            <a:ext cx="788999" cy="369332"/>
          </a:xfrm>
          <a:prstGeom prst="rect">
            <a:avLst/>
          </a:prstGeom>
          <a:noFill/>
        </p:spPr>
        <p:txBody>
          <a:bodyPr wrap="none" rtlCol="0">
            <a:spAutoFit/>
          </a:bodyPr>
          <a:lstStyle/>
          <a:p>
            <a:r>
              <a:rPr lang="en-US" altLang="zh-CN" dirty="0" err="1">
                <a:latin typeface="Noto Sans JP" panose="020B0200000000000000" pitchFamily="34" charset="-122"/>
                <a:ea typeface="Noto Sans JP" panose="020B0200000000000000" pitchFamily="34" charset="-122"/>
              </a:rPr>
              <a:t>RDKit</a:t>
            </a:r>
            <a:endParaRPr lang="zh-CN" altLang="en-US" dirty="0">
              <a:latin typeface="Noto Sans JP" panose="020B0200000000000000" pitchFamily="34" charset="-122"/>
              <a:ea typeface="Noto Sans JP" panose="020B0200000000000000" pitchFamily="34" charset="-122"/>
            </a:endParaRPr>
          </a:p>
        </p:txBody>
      </p:sp>
      <p:pic>
        <p:nvPicPr>
          <p:cNvPr id="3" name="图片 2">
            <a:extLst>
              <a:ext uri="{FF2B5EF4-FFF2-40B4-BE49-F238E27FC236}">
                <a16:creationId xmlns:a16="http://schemas.microsoft.com/office/drawing/2014/main" id="{B345DDE5-491B-7B80-57CE-2436C57C8EF3}"/>
              </a:ext>
            </a:extLst>
          </p:cNvPr>
          <p:cNvPicPr>
            <a:picLocks noChangeAspect="1"/>
          </p:cNvPicPr>
          <p:nvPr/>
        </p:nvPicPr>
        <p:blipFill>
          <a:blip r:embed="rId14"/>
          <a:stretch>
            <a:fillRect/>
          </a:stretch>
        </p:blipFill>
        <p:spPr>
          <a:xfrm>
            <a:off x="201134" y="568384"/>
            <a:ext cx="6814300" cy="2587172"/>
          </a:xfrm>
          <a:prstGeom prst="rect">
            <a:avLst/>
          </a:prstGeom>
        </p:spPr>
      </p:pic>
      <p:sp>
        <p:nvSpPr>
          <p:cNvPr id="9" name="矩形 8">
            <a:extLst>
              <a:ext uri="{FF2B5EF4-FFF2-40B4-BE49-F238E27FC236}">
                <a16:creationId xmlns:a16="http://schemas.microsoft.com/office/drawing/2014/main" id="{5CE5021F-A43B-1F8A-08DE-AA6197F2F446}"/>
              </a:ext>
            </a:extLst>
          </p:cNvPr>
          <p:cNvSpPr/>
          <p:nvPr/>
        </p:nvSpPr>
        <p:spPr>
          <a:xfrm>
            <a:off x="5781030" y="5115550"/>
            <a:ext cx="1754972" cy="923331"/>
          </a:xfrm>
          <a:prstGeom prst="rect">
            <a:avLst/>
          </a:prstGeom>
          <a:noFill/>
          <a:ln w="28575">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JP" panose="020B0200000000000000" pitchFamily="34" charset="-122"/>
              <a:ea typeface="Noto Sans JP" panose="020B0200000000000000" pitchFamily="34" charset="-122"/>
            </a:endParaRPr>
          </a:p>
        </p:txBody>
      </p:sp>
      <p:sp>
        <p:nvSpPr>
          <p:cNvPr id="10" name="矩形 9">
            <a:extLst>
              <a:ext uri="{FF2B5EF4-FFF2-40B4-BE49-F238E27FC236}">
                <a16:creationId xmlns:a16="http://schemas.microsoft.com/office/drawing/2014/main" id="{5063547F-3A8C-EB9C-7FFA-2B019091277F}"/>
              </a:ext>
            </a:extLst>
          </p:cNvPr>
          <p:cNvSpPr/>
          <p:nvPr/>
        </p:nvSpPr>
        <p:spPr>
          <a:xfrm>
            <a:off x="8041072" y="4885399"/>
            <a:ext cx="1470055" cy="665494"/>
          </a:xfrm>
          <a:prstGeom prst="rect">
            <a:avLst/>
          </a:prstGeom>
          <a:noFill/>
          <a:ln w="28575">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JP" panose="020B0200000000000000" pitchFamily="34" charset="-122"/>
              <a:ea typeface="Noto Sans JP" panose="020B0200000000000000" pitchFamily="34" charset="-122"/>
            </a:endParaRPr>
          </a:p>
        </p:txBody>
      </p:sp>
      <p:sp>
        <p:nvSpPr>
          <p:cNvPr id="13" name="矩形 12">
            <a:extLst>
              <a:ext uri="{FF2B5EF4-FFF2-40B4-BE49-F238E27FC236}">
                <a16:creationId xmlns:a16="http://schemas.microsoft.com/office/drawing/2014/main" id="{DDF6C19E-E42C-3E7F-754A-DAA6237D2787}"/>
              </a:ext>
            </a:extLst>
          </p:cNvPr>
          <p:cNvSpPr/>
          <p:nvPr/>
        </p:nvSpPr>
        <p:spPr>
          <a:xfrm>
            <a:off x="7223495" y="2554317"/>
            <a:ext cx="4718252" cy="1069367"/>
          </a:xfrm>
          <a:prstGeom prst="rect">
            <a:avLst/>
          </a:prstGeom>
          <a:noFill/>
          <a:ln w="28575">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JP" panose="020B0200000000000000" pitchFamily="34" charset="-122"/>
              <a:ea typeface="Noto Sans JP" panose="020B0200000000000000" pitchFamily="34" charset="-122"/>
            </a:endParaRPr>
          </a:p>
        </p:txBody>
      </p:sp>
    </p:spTree>
    <p:extLst>
      <p:ext uri="{BB962C8B-B14F-4D97-AF65-F5344CB8AC3E}">
        <p14:creationId xmlns:p14="http://schemas.microsoft.com/office/powerpoint/2010/main" val="4287768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C477643-27D9-3AA1-D9CA-40F2ECBFB482}"/>
                  </a:ext>
                </a:extLst>
              </p:cNvPr>
              <p:cNvSpPr txBox="1"/>
              <p:nvPr/>
            </p:nvSpPr>
            <p:spPr>
              <a:xfrm>
                <a:off x="1180313" y="3912124"/>
                <a:ext cx="3292577" cy="6372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𝑗𝑜𝑖𝑛𝑡</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𝜓</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𝑝</m:t>
                                    </m:r>
                                  </m:sub>
                                </m:sSub>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0</m:t>
                                </m:r>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Sub>
                              </m:e>
                            </m:mr>
                          </m:m>
                        </m:e>
                      </m:d>
                      <m:r>
                        <a:rPr lang="en-US" altLang="zh-CN" b="0" i="1" smtClean="0">
                          <a:latin typeface="Cambria Math" panose="02040503050406030204" pitchFamily="18" charset="0"/>
                        </a:rPr>
                        <m:t>)</m:t>
                      </m:r>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6" name="文本框 5">
                <a:extLst>
                  <a:ext uri="{FF2B5EF4-FFF2-40B4-BE49-F238E27FC236}">
                    <a16:creationId xmlns:a16="http://schemas.microsoft.com/office/drawing/2014/main" id="{0C477643-27D9-3AA1-D9CA-40F2ECBFB482}"/>
                  </a:ext>
                </a:extLst>
              </p:cNvPr>
              <p:cNvSpPr txBox="1">
                <a:spLocks noRot="1" noChangeAspect="1" noMove="1" noResize="1" noEditPoints="1" noAdjustHandles="1" noChangeArrowheads="1" noChangeShapeType="1" noTextEdit="1"/>
              </p:cNvSpPr>
              <p:nvPr/>
            </p:nvSpPr>
            <p:spPr>
              <a:xfrm>
                <a:off x="1180313" y="3912124"/>
                <a:ext cx="3292577" cy="637290"/>
              </a:xfrm>
              <a:prstGeom prst="rect">
                <a:avLst/>
              </a:prstGeom>
              <a:blipFill>
                <a:blip r:embed="rId3"/>
                <a:stretch>
                  <a:fillRect/>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F388695A-A0E0-ABC6-81A4-6B98689C1168}"/>
              </a:ext>
            </a:extLst>
          </p:cNvPr>
          <p:cNvPicPr>
            <a:picLocks noChangeAspect="1"/>
          </p:cNvPicPr>
          <p:nvPr/>
        </p:nvPicPr>
        <p:blipFill>
          <a:blip r:embed="rId4"/>
          <a:srcRect t="8090"/>
          <a:stretch>
            <a:fillRect/>
          </a:stretch>
        </p:blipFill>
        <p:spPr>
          <a:xfrm>
            <a:off x="7318742" y="906272"/>
            <a:ext cx="4663033" cy="2717800"/>
          </a:xfrm>
          <a:prstGeom prst="rect">
            <a:avLst/>
          </a:prstGeom>
        </p:spPr>
      </p:pic>
      <p:sp>
        <p:nvSpPr>
          <p:cNvPr id="10" name="文本框 9">
            <a:extLst>
              <a:ext uri="{FF2B5EF4-FFF2-40B4-BE49-F238E27FC236}">
                <a16:creationId xmlns:a16="http://schemas.microsoft.com/office/drawing/2014/main" id="{E1132496-5639-7906-C316-13379F9E0055}"/>
              </a:ext>
            </a:extLst>
          </p:cNvPr>
          <p:cNvSpPr txBox="1"/>
          <p:nvPr/>
        </p:nvSpPr>
        <p:spPr>
          <a:xfrm>
            <a:off x="409266" y="4891543"/>
            <a:ext cx="5686733" cy="338554"/>
          </a:xfrm>
          <a:prstGeom prst="rect">
            <a:avLst/>
          </a:prstGeom>
          <a:noFill/>
        </p:spPr>
        <p:txBody>
          <a:bodyPr wrap="square">
            <a:spAutoFit/>
          </a:bodyPr>
          <a:lstStyle/>
          <a:p>
            <a:pPr algn="l"/>
            <a:r>
              <a:rPr lang="el-GR" altLang="zh-CN" sz="1600" b="0" i="0" u="none" strike="noStrike" baseline="0" dirty="0">
                <a:latin typeface="Noto Sans JP" panose="020B0200000000000000" pitchFamily="34" charset="-122"/>
                <a:ea typeface="Noto Sans JP" panose="020B0200000000000000" pitchFamily="34" charset="-122"/>
              </a:rPr>
              <a:t>ψ() </a:t>
            </a:r>
            <a:r>
              <a:rPr lang="en-US" altLang="zh-CN" sz="1600" b="0" i="0" u="none" strike="noStrike" baseline="0" dirty="0">
                <a:latin typeface="Noto Sans JP" panose="020B0200000000000000" pitchFamily="34" charset="-122"/>
                <a:ea typeface="Noto Sans JP" panose="020B0200000000000000" pitchFamily="34" charset="-122"/>
              </a:rPr>
              <a:t>is the mapping</a:t>
            </a:r>
            <a:r>
              <a:rPr lang="en-US" altLang="zh-CN" sz="1600" dirty="0">
                <a:latin typeface="Noto Sans JP" panose="020B0200000000000000" pitchFamily="34" charset="-122"/>
                <a:ea typeface="Noto Sans JP" panose="020B0200000000000000" pitchFamily="34" charset="-122"/>
              </a:rPr>
              <a:t> </a:t>
            </a:r>
            <a:r>
              <a:rPr lang="en-US" altLang="zh-CN" sz="1600" b="0" i="0" u="none" strike="noStrike" baseline="0" dirty="0">
                <a:latin typeface="Noto Sans JP" panose="020B0200000000000000" pitchFamily="34" charset="-122"/>
                <a:ea typeface="Noto Sans JP" panose="020B0200000000000000" pitchFamily="34" charset="-122"/>
              </a:rPr>
              <a:t>process though linear and GELU layers.</a:t>
            </a:r>
            <a:endParaRPr lang="zh-CN" altLang="en-US" sz="1600" dirty="0">
              <a:latin typeface="Noto Sans JP" panose="020B0200000000000000" pitchFamily="34" charset="-122"/>
              <a:ea typeface="Noto Sans JP" panose="020B0200000000000000" pitchFamily="34" charset="-122"/>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92E0E06-13CC-466E-FBAD-AAAB8FC1142C}"/>
                  </a:ext>
                </a:extLst>
              </p:cNvPr>
              <p:cNvSpPr txBox="1"/>
              <p:nvPr/>
            </p:nvSpPr>
            <p:spPr>
              <a:xfrm>
                <a:off x="409266" y="5572226"/>
                <a:ext cx="5291621" cy="618054"/>
              </a:xfrm>
              <a:prstGeom prst="rect">
                <a:avLst/>
              </a:prstGeom>
              <a:noFill/>
            </p:spPr>
            <p:txBody>
              <a:bodyPr wrap="square">
                <a:spAutoFit/>
              </a:bodyPr>
              <a:lstStyle/>
              <a:p>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𝐹</m:t>
                        </m:r>
                      </m:e>
                      <m:sub>
                        <m:r>
                          <a:rPr lang="en-US" altLang="zh-CN" sz="1600" b="0" i="1" smtClean="0">
                            <a:latin typeface="Cambria Math" panose="02040503050406030204" pitchFamily="18" charset="0"/>
                          </a:rPr>
                          <m:t>𝑗𝑜𝑖𝑛𝑡</m:t>
                        </m:r>
                      </m:sub>
                    </m:sSub>
                    <m:r>
                      <a:rPr lang="en-US" altLang="zh-CN" sz="1600" b="0" i="1" smtClean="0">
                        <a:latin typeface="Cambria Math" panose="02040503050406030204" pitchFamily="18" charset="0"/>
                      </a:rPr>
                      <m:t> </m:t>
                    </m:r>
                    <m:r>
                      <a:rPr lang="en-US" altLang="zh-CN" sz="1600" b="0" i="1" smtClean="0">
                        <a:latin typeface="Cambria Math" panose="02040503050406030204" pitchFamily="18" charset="0"/>
                        <a:ea typeface="Cambria Math" panose="02040503050406030204" pitchFamily="18" charset="0"/>
                      </a:rPr>
                      <m:t>∈</m:t>
                    </m:r>
                    <m:sSup>
                      <m:sSupPr>
                        <m:ctrlPr>
                          <a:rPr lang="en-US" altLang="zh-CN" sz="1600" b="0" i="1" smtClean="0">
                            <a:latin typeface="Cambria Math" panose="02040503050406030204" pitchFamily="18" charset="0"/>
                            <a:ea typeface="Cambria Math" panose="02040503050406030204" pitchFamily="18" charset="0"/>
                          </a:rPr>
                        </m:ctrlPr>
                      </m:sSupPr>
                      <m:e>
                        <m:r>
                          <a:rPr lang="en-US" altLang="zh-CN" sz="1600" b="0" i="1" smtClean="0">
                            <a:latin typeface="Cambria Math" panose="02040503050406030204" pitchFamily="18" charset="0"/>
                            <a:ea typeface="Cambria Math" panose="02040503050406030204" pitchFamily="18" charset="0"/>
                          </a:rPr>
                          <m:t>ℝ</m:t>
                        </m:r>
                      </m:e>
                      <m:sup>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𝐿</m:t>
                            </m:r>
                          </m:e>
                          <m:sub>
                            <m:r>
                              <a:rPr lang="en-US" altLang="zh-CN" sz="1600" b="0" i="1" smtClean="0">
                                <a:latin typeface="Cambria Math" panose="02040503050406030204" pitchFamily="18" charset="0"/>
                                <a:ea typeface="Cambria Math" panose="02040503050406030204" pitchFamily="18" charset="0"/>
                              </a:rPr>
                              <m:t>𝑗</m:t>
                            </m:r>
                          </m:sub>
                        </m:sSub>
                        <m:r>
                          <a:rPr lang="en-US" altLang="zh-CN" sz="1600" b="0" i="1" smtClean="0">
                            <a:latin typeface="Cambria Math" panose="02040503050406030204" pitchFamily="18" charset="0"/>
                            <a:ea typeface="Cambria Math" panose="02040503050406030204" pitchFamily="18" charset="0"/>
                          </a:rPr>
                          <m:t>×</m:t>
                        </m:r>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𝐶</m:t>
                            </m:r>
                          </m:e>
                          <m:sub>
                            <m:r>
                              <a:rPr lang="en-US" altLang="zh-CN" sz="1600" b="0" i="1" smtClean="0">
                                <a:latin typeface="Cambria Math" panose="02040503050406030204" pitchFamily="18" charset="0"/>
                                <a:ea typeface="Cambria Math" panose="02040503050406030204" pitchFamily="18" charset="0"/>
                              </a:rPr>
                              <m:t>𝑗</m:t>
                            </m:r>
                          </m:sub>
                        </m:sSub>
                      </m:sup>
                    </m:sSup>
                  </m:oMath>
                </a14:m>
                <a:r>
                  <a:rPr lang="en-US" altLang="zh-CN" sz="1600" b="0" i="0" u="none" strike="noStrike" baseline="0" dirty="0">
                    <a:latin typeface="Noto Sans JP" panose="020B0200000000000000" pitchFamily="34" charset="-122"/>
                    <a:ea typeface="Noto Sans JP" panose="020B0200000000000000" pitchFamily="34" charset="-122"/>
                  </a:rPr>
                  <a:t> is the joint feature,</a:t>
                </a:r>
                <a:r>
                  <a:rPr lang="en-US" altLang="zh-CN" sz="1600" b="0" dirty="0">
                    <a:latin typeface="Noto Sans JP" panose="020B0200000000000000" pitchFamily="34" charset="-122"/>
                    <a:ea typeface="Noto Sans JP" panose="020B0200000000000000" pitchFamily="34" charset="-122"/>
                  </a:rPr>
                  <a:t> </a:t>
                </a:r>
                <a14:m>
                  <m:oMath xmlns:m="http://schemas.openxmlformats.org/officeDocument/2006/math">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𝐿</m:t>
                        </m:r>
                      </m:e>
                      <m:sub>
                        <m:r>
                          <a:rPr lang="en-US" altLang="zh-CN" sz="1600" b="0" i="1" smtClean="0">
                            <a:latin typeface="Cambria Math" panose="02040503050406030204" pitchFamily="18" charset="0"/>
                            <a:ea typeface="Cambria Math" panose="02040503050406030204" pitchFamily="18" charset="0"/>
                          </a:rPr>
                          <m:t>𝑗</m:t>
                        </m:r>
                      </m:sub>
                    </m:sSub>
                  </m:oMath>
                </a14:m>
                <a:r>
                  <a:rPr lang="zh-CN" altLang="en-US" sz="1600" dirty="0">
                    <a:latin typeface="Noto Sans JP" panose="020B0200000000000000" pitchFamily="34" charset="-122"/>
                    <a:ea typeface="Noto Sans JP" panose="020B0200000000000000" pitchFamily="34" charset="-122"/>
                  </a:rPr>
                  <a:t> </a:t>
                </a:r>
                <a:r>
                  <a:rPr lang="en-US" altLang="zh-CN" sz="1600" dirty="0">
                    <a:latin typeface="Noto Sans JP" panose="020B0200000000000000" pitchFamily="34" charset="-122"/>
                    <a:ea typeface="Noto Sans JP" panose="020B0200000000000000" pitchFamily="34" charset="-122"/>
                  </a:rPr>
                  <a:t>and </a:t>
                </a:r>
                <a14:m>
                  <m:oMath xmlns:m="http://schemas.openxmlformats.org/officeDocument/2006/math">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𝐶</m:t>
                        </m:r>
                      </m:e>
                      <m:sub>
                        <m:r>
                          <a:rPr lang="en-US" altLang="zh-CN" sz="1600" b="0" i="1" smtClean="0">
                            <a:latin typeface="Cambria Math" panose="02040503050406030204" pitchFamily="18" charset="0"/>
                            <a:ea typeface="Cambria Math" panose="02040503050406030204" pitchFamily="18" charset="0"/>
                          </a:rPr>
                          <m:t>𝑗</m:t>
                        </m:r>
                      </m:sub>
                    </m:sSub>
                  </m:oMath>
                </a14:m>
                <a:r>
                  <a:rPr lang="en-US" altLang="zh-CN" sz="1600" dirty="0">
                    <a:latin typeface="Noto Sans JP" panose="020B0200000000000000" pitchFamily="34" charset="-122"/>
                    <a:ea typeface="Noto Sans JP" panose="020B0200000000000000" pitchFamily="34" charset="-122"/>
                  </a:rPr>
                  <a:t> are its length and channel, respectively.</a:t>
                </a:r>
                <a:endParaRPr lang="zh-CN" altLang="en-US" dirty="0">
                  <a:latin typeface="Noto Sans JP" panose="020B0200000000000000" pitchFamily="34" charset="-122"/>
                  <a:ea typeface="Noto Sans JP" panose="020B0200000000000000" pitchFamily="34" charset="-122"/>
                </a:endParaRPr>
              </a:p>
            </p:txBody>
          </p:sp>
        </mc:Choice>
        <mc:Fallback xmlns="">
          <p:sp>
            <p:nvSpPr>
              <p:cNvPr id="12" name="文本框 11">
                <a:extLst>
                  <a:ext uri="{FF2B5EF4-FFF2-40B4-BE49-F238E27FC236}">
                    <a16:creationId xmlns:a16="http://schemas.microsoft.com/office/drawing/2014/main" id="{E92E0E06-13CC-466E-FBAD-AAAB8FC1142C}"/>
                  </a:ext>
                </a:extLst>
              </p:cNvPr>
              <p:cNvSpPr txBox="1">
                <a:spLocks noRot="1" noChangeAspect="1" noMove="1" noResize="1" noEditPoints="1" noAdjustHandles="1" noChangeArrowheads="1" noChangeShapeType="1" noTextEdit="1"/>
              </p:cNvSpPr>
              <p:nvPr/>
            </p:nvSpPr>
            <p:spPr>
              <a:xfrm>
                <a:off x="409266" y="5572226"/>
                <a:ext cx="5291621" cy="618054"/>
              </a:xfrm>
              <a:prstGeom prst="rect">
                <a:avLst/>
              </a:prstGeom>
              <a:blipFill>
                <a:blip r:embed="rId5"/>
                <a:stretch>
                  <a:fillRect l="-576" t="-990" b="-118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E338135-F9DF-EC81-D377-BD477D43E380}"/>
                  </a:ext>
                </a:extLst>
              </p:cNvPr>
              <p:cNvSpPr txBox="1"/>
              <p:nvPr/>
            </p:nvSpPr>
            <p:spPr>
              <a:xfrm>
                <a:off x="6232277" y="4665949"/>
                <a:ext cx="6098458" cy="889218"/>
              </a:xfrm>
              <a:prstGeom prst="rect">
                <a:avLst/>
              </a:prstGeom>
              <a:noFill/>
            </p:spPr>
            <p:txBody>
              <a:bodyPr wrap="square">
                <a:spAutoFit/>
              </a:bodyPr>
              <a:lstStyle/>
              <a:p>
                <a:pPr algn="l"/>
                <a:r>
                  <a:rPr lang="en-US" altLang="zh-CN" sz="1600" b="0" i="0" u="none" strike="noStrike" baseline="0" dirty="0">
                    <a:latin typeface="Noto Sans JP" panose="020B0200000000000000" pitchFamily="34" charset="-122"/>
                    <a:ea typeface="Noto Sans JP" panose="020B0200000000000000" pitchFamily="34" charset="-122"/>
                  </a:rPr>
                  <a:t>Compute the SPD matrix of the joint feature in its two</a:t>
                </a:r>
              </a:p>
              <a:p>
                <a:pPr algn="l"/>
                <a:r>
                  <a:rPr lang="en-US" altLang="zh-CN" sz="1600" b="0" i="0" u="none" strike="noStrike" baseline="0" dirty="0">
                    <a:latin typeface="Noto Sans JP" panose="020B0200000000000000" pitchFamily="34" charset="-122"/>
                    <a:ea typeface="Noto Sans JP" panose="020B0200000000000000" pitchFamily="34" charset="-122"/>
                  </a:rPr>
                  <a:t>dimensions as its Riemannian features, the channel-based</a:t>
                </a:r>
              </a:p>
              <a:p>
                <a14:m>
                  <m:oMath xmlns:m="http://schemas.openxmlformats.org/officeDocument/2006/math">
                    <m:sSup>
                      <m:sSupPr>
                        <m:ctrlPr>
                          <a:rPr lang="en-US" altLang="zh-CN" sz="1600" b="0" i="1" smtClean="0">
                            <a:latin typeface="Cambria Math" panose="02040503050406030204" pitchFamily="18" charset="0"/>
                            <a:ea typeface="Cambria Math" panose="02040503050406030204" pitchFamily="18" charset="0"/>
                          </a:rPr>
                        </m:ctrlPr>
                      </m:sSupPr>
                      <m:e>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𝐹</m:t>
                            </m:r>
                          </m:e>
                          <m:sub>
                            <m:sSup>
                              <m:sSupPr>
                                <m:ctrlPr>
                                  <a:rPr lang="en-US" altLang="zh-CN" sz="1600" b="0" i="1" smtClean="0">
                                    <a:latin typeface="Cambria Math" panose="02040503050406030204" pitchFamily="18" charset="0"/>
                                    <a:ea typeface="Cambria Math" panose="02040503050406030204" pitchFamily="18" charset="0"/>
                                  </a:rPr>
                                </m:ctrlPr>
                              </m:sSupPr>
                              <m:e>
                                <m:r>
                                  <a:rPr lang="en-US" altLang="zh-CN" sz="1600" b="0" i="1" smtClean="0">
                                    <a:latin typeface="Cambria Math" panose="02040503050406030204" pitchFamily="18" charset="0"/>
                                    <a:ea typeface="Cambria Math" panose="02040503050406030204" pitchFamily="18" charset="0"/>
                                  </a:rPr>
                                  <m:t>𝑟</m:t>
                                </m:r>
                              </m:e>
                              <m:sup>
                                <m:r>
                                  <a:rPr lang="en-US" altLang="zh-CN" sz="1600" b="0" i="1" smtClean="0">
                                    <a:latin typeface="Cambria Math" panose="02040503050406030204" pitchFamily="18" charset="0"/>
                                    <a:ea typeface="Cambria Math" panose="02040503050406030204" pitchFamily="18" charset="0"/>
                                  </a:rPr>
                                  <m:t>𝐶</m:t>
                                </m:r>
                              </m:sup>
                            </m:sSup>
                          </m:sub>
                        </m:sSub>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ℝ</m:t>
                        </m:r>
                      </m:e>
                      <m:sup>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𝐶</m:t>
                            </m:r>
                          </m:e>
                          <m:sub>
                            <m:r>
                              <a:rPr lang="en-US" altLang="zh-CN" sz="1600" b="0" i="1" smtClean="0">
                                <a:latin typeface="Cambria Math" panose="02040503050406030204" pitchFamily="18" charset="0"/>
                                <a:ea typeface="Cambria Math" panose="02040503050406030204" pitchFamily="18" charset="0"/>
                              </a:rPr>
                              <m:t>𝑗</m:t>
                            </m:r>
                          </m:sub>
                        </m:sSub>
                        <m:r>
                          <a:rPr lang="en-US" altLang="zh-CN" sz="1600" b="0" i="1" smtClean="0">
                            <a:latin typeface="Cambria Math" panose="02040503050406030204" pitchFamily="18" charset="0"/>
                            <a:ea typeface="Cambria Math" panose="02040503050406030204" pitchFamily="18" charset="0"/>
                          </a:rPr>
                          <m:t>×</m:t>
                        </m:r>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𝐶</m:t>
                            </m:r>
                          </m:e>
                          <m:sub>
                            <m:r>
                              <a:rPr lang="en-US" altLang="zh-CN" sz="1600" b="0" i="1" smtClean="0">
                                <a:latin typeface="Cambria Math" panose="02040503050406030204" pitchFamily="18" charset="0"/>
                                <a:ea typeface="Cambria Math" panose="02040503050406030204" pitchFamily="18" charset="0"/>
                              </a:rPr>
                              <m:t>𝑗</m:t>
                            </m:r>
                          </m:sub>
                        </m:sSub>
                      </m:sup>
                    </m:sSup>
                  </m:oMath>
                </a14:m>
                <a:r>
                  <a:rPr lang="en-US" altLang="zh-CN" sz="1600" b="0" i="0" u="none" strike="noStrike" baseline="0" dirty="0">
                    <a:latin typeface="Noto Sans JP" panose="020B0200000000000000" pitchFamily="34" charset="-122"/>
                    <a:ea typeface="Noto Sans JP" panose="020B0200000000000000" pitchFamily="34" charset="-122"/>
                  </a:rPr>
                  <a:t> and the length-based </a:t>
                </a:r>
                <a14:m>
                  <m:oMath xmlns:m="http://schemas.openxmlformats.org/officeDocument/2006/math">
                    <m:sSup>
                      <m:sSupPr>
                        <m:ctrlPr>
                          <a:rPr lang="en-US" altLang="zh-CN" sz="1600" b="0" i="1" smtClean="0">
                            <a:latin typeface="Cambria Math" panose="02040503050406030204" pitchFamily="18" charset="0"/>
                            <a:ea typeface="Cambria Math" panose="02040503050406030204" pitchFamily="18" charset="0"/>
                          </a:rPr>
                        </m:ctrlPr>
                      </m:sSupPr>
                      <m:e>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𝐹</m:t>
                            </m:r>
                          </m:e>
                          <m:sub>
                            <m:sSup>
                              <m:sSupPr>
                                <m:ctrlPr>
                                  <a:rPr lang="en-US" altLang="zh-CN" sz="1600" b="0" i="1" smtClean="0">
                                    <a:latin typeface="Cambria Math" panose="02040503050406030204" pitchFamily="18" charset="0"/>
                                    <a:ea typeface="Cambria Math" panose="02040503050406030204" pitchFamily="18" charset="0"/>
                                  </a:rPr>
                                </m:ctrlPr>
                              </m:sSupPr>
                              <m:e>
                                <m:r>
                                  <a:rPr lang="en-US" altLang="zh-CN" sz="1600" b="0" i="1" smtClean="0">
                                    <a:latin typeface="Cambria Math" panose="02040503050406030204" pitchFamily="18" charset="0"/>
                                    <a:ea typeface="Cambria Math" panose="02040503050406030204" pitchFamily="18" charset="0"/>
                                  </a:rPr>
                                  <m:t>𝑟</m:t>
                                </m:r>
                              </m:e>
                              <m:sup>
                                <m:r>
                                  <a:rPr lang="en-US" altLang="zh-CN" sz="1600" b="0" i="1" smtClean="0">
                                    <a:latin typeface="Cambria Math" panose="02040503050406030204" pitchFamily="18" charset="0"/>
                                    <a:ea typeface="Cambria Math" panose="02040503050406030204" pitchFamily="18" charset="0"/>
                                  </a:rPr>
                                  <m:t>𝐿</m:t>
                                </m:r>
                              </m:sup>
                            </m:sSup>
                          </m:sub>
                        </m:sSub>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ℝ</m:t>
                        </m:r>
                      </m:e>
                      <m:sup>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𝐿</m:t>
                            </m:r>
                          </m:e>
                          <m:sub>
                            <m:r>
                              <a:rPr lang="en-US" altLang="zh-CN" sz="1600" b="0" i="1" smtClean="0">
                                <a:latin typeface="Cambria Math" panose="02040503050406030204" pitchFamily="18" charset="0"/>
                                <a:ea typeface="Cambria Math" panose="02040503050406030204" pitchFamily="18" charset="0"/>
                              </a:rPr>
                              <m:t>𝑗</m:t>
                            </m:r>
                          </m:sub>
                        </m:sSub>
                        <m:r>
                          <a:rPr lang="en-US" altLang="zh-CN" sz="1600" b="0" i="1" smtClean="0">
                            <a:latin typeface="Cambria Math" panose="02040503050406030204" pitchFamily="18" charset="0"/>
                            <a:ea typeface="Cambria Math" panose="02040503050406030204" pitchFamily="18" charset="0"/>
                          </a:rPr>
                          <m:t>×</m:t>
                        </m:r>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𝐿</m:t>
                            </m:r>
                          </m:e>
                          <m:sub>
                            <m:r>
                              <a:rPr lang="en-US" altLang="zh-CN" sz="1600" b="0" i="1" smtClean="0">
                                <a:latin typeface="Cambria Math" panose="02040503050406030204" pitchFamily="18" charset="0"/>
                                <a:ea typeface="Cambria Math" panose="02040503050406030204" pitchFamily="18" charset="0"/>
                              </a:rPr>
                              <m:t>𝑗</m:t>
                            </m:r>
                          </m:sub>
                        </m:sSub>
                      </m:sup>
                    </m:sSup>
                  </m:oMath>
                </a14:m>
                <a:r>
                  <a:rPr lang="en-US" altLang="zh-CN" sz="1600" dirty="0">
                    <a:latin typeface="Noto Sans JP" panose="020B0200000000000000" pitchFamily="34" charset="-122"/>
                    <a:ea typeface="Noto Sans JP" panose="020B0200000000000000" pitchFamily="34" charset="-122"/>
                  </a:rPr>
                  <a:t> .</a:t>
                </a:r>
                <a:endParaRPr lang="zh-CN" altLang="en-US" sz="1600" dirty="0">
                  <a:latin typeface="Noto Sans JP" panose="020B0200000000000000" pitchFamily="34" charset="-122"/>
                  <a:ea typeface="Noto Sans JP" panose="020B0200000000000000" pitchFamily="34" charset="-122"/>
                </a:endParaRPr>
              </a:p>
            </p:txBody>
          </p:sp>
        </mc:Choice>
        <mc:Fallback xmlns="">
          <p:sp>
            <p:nvSpPr>
              <p:cNvPr id="14" name="文本框 13">
                <a:extLst>
                  <a:ext uri="{FF2B5EF4-FFF2-40B4-BE49-F238E27FC236}">
                    <a16:creationId xmlns:a16="http://schemas.microsoft.com/office/drawing/2014/main" id="{0E338135-F9DF-EC81-D377-BD477D43E380}"/>
                  </a:ext>
                </a:extLst>
              </p:cNvPr>
              <p:cNvSpPr txBox="1">
                <a:spLocks noRot="1" noChangeAspect="1" noMove="1" noResize="1" noEditPoints="1" noAdjustHandles="1" noChangeArrowheads="1" noChangeShapeType="1" noTextEdit="1"/>
              </p:cNvSpPr>
              <p:nvPr/>
            </p:nvSpPr>
            <p:spPr>
              <a:xfrm>
                <a:off x="6232277" y="4665949"/>
                <a:ext cx="6098458" cy="889218"/>
              </a:xfrm>
              <a:prstGeom prst="rect">
                <a:avLst/>
              </a:prstGeom>
              <a:blipFill>
                <a:blip r:embed="rId6"/>
                <a:stretch>
                  <a:fillRect l="-500" t="-2055" b="-2740"/>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4A706A38-3CA4-6049-91B6-6AD7BAEBBFB8}"/>
              </a:ext>
            </a:extLst>
          </p:cNvPr>
          <p:cNvSpPr txBox="1"/>
          <p:nvPr/>
        </p:nvSpPr>
        <p:spPr>
          <a:xfrm>
            <a:off x="6232277" y="5794870"/>
            <a:ext cx="5959723" cy="584775"/>
          </a:xfrm>
          <a:prstGeom prst="rect">
            <a:avLst/>
          </a:prstGeom>
          <a:noFill/>
        </p:spPr>
        <p:txBody>
          <a:bodyPr wrap="square">
            <a:spAutoFit/>
          </a:bodyPr>
          <a:lstStyle/>
          <a:p>
            <a:r>
              <a:rPr lang="zh-CN" altLang="en-US" sz="1600" dirty="0">
                <a:latin typeface="Noto Sans JP" panose="020B0200000000000000" pitchFamily="34" charset="-122"/>
                <a:ea typeface="Noto Sans JP" panose="020B0200000000000000" pitchFamily="34" charset="-122"/>
              </a:rPr>
              <a:t>The Riemannian features </a:t>
            </a:r>
            <a:r>
              <a:rPr lang="en-US" altLang="zh-CN" sz="1600" dirty="0">
                <a:latin typeface="Noto Sans JP" panose="020B0200000000000000" pitchFamily="34" charset="-122"/>
                <a:ea typeface="Noto Sans JP" panose="020B0200000000000000" pitchFamily="34" charset="-122"/>
              </a:rPr>
              <a:t>are</a:t>
            </a:r>
            <a:r>
              <a:rPr lang="zh-CN" altLang="en-US" sz="1600" dirty="0">
                <a:latin typeface="Noto Sans JP" panose="020B0200000000000000" pitchFamily="34" charset="-122"/>
                <a:ea typeface="Noto Sans JP" panose="020B0200000000000000" pitchFamily="34" charset="-122"/>
              </a:rPr>
              <a:t> compressed using SPDNet and converted into vectors, and then MLP </a:t>
            </a:r>
            <a:r>
              <a:rPr lang="en-US" altLang="zh-CN" sz="1600" dirty="0">
                <a:latin typeface="Noto Sans JP" panose="020B0200000000000000" pitchFamily="34" charset="-122"/>
                <a:ea typeface="Noto Sans JP" panose="020B0200000000000000" pitchFamily="34" charset="-122"/>
              </a:rPr>
              <a:t>are</a:t>
            </a:r>
            <a:r>
              <a:rPr lang="zh-CN" altLang="en-US" sz="1600" dirty="0">
                <a:latin typeface="Noto Sans JP" panose="020B0200000000000000" pitchFamily="34" charset="-122"/>
                <a:ea typeface="Noto Sans JP" panose="020B0200000000000000" pitchFamily="34" charset="-122"/>
              </a:rPr>
              <a:t> used to predict DTI</a:t>
            </a:r>
            <a:r>
              <a:rPr lang="en-US" altLang="zh-CN" sz="1600" dirty="0">
                <a:latin typeface="Noto Sans JP" panose="020B0200000000000000" pitchFamily="34" charset="-122"/>
                <a:ea typeface="Noto Sans JP" panose="020B0200000000000000" pitchFamily="34" charset="-122"/>
              </a:rPr>
              <a:t>.</a:t>
            </a:r>
            <a:endParaRPr lang="zh-CN" altLang="en-US" sz="1600" dirty="0">
              <a:latin typeface="Noto Sans JP" panose="020B0200000000000000" pitchFamily="34" charset="-122"/>
              <a:ea typeface="Noto Sans JP" panose="020B0200000000000000" pitchFamily="34" charset="-122"/>
            </a:endParaRPr>
          </a:p>
        </p:txBody>
      </p:sp>
      <p:pic>
        <p:nvPicPr>
          <p:cNvPr id="3" name="图片 2">
            <a:extLst>
              <a:ext uri="{FF2B5EF4-FFF2-40B4-BE49-F238E27FC236}">
                <a16:creationId xmlns:a16="http://schemas.microsoft.com/office/drawing/2014/main" id="{8B8E7657-FECF-267A-4531-A4B3B2465D57}"/>
              </a:ext>
            </a:extLst>
          </p:cNvPr>
          <p:cNvPicPr>
            <a:picLocks noChangeAspect="1"/>
          </p:cNvPicPr>
          <p:nvPr/>
        </p:nvPicPr>
        <p:blipFill>
          <a:blip r:embed="rId7"/>
          <a:stretch>
            <a:fillRect/>
          </a:stretch>
        </p:blipFill>
        <p:spPr>
          <a:xfrm>
            <a:off x="66631" y="819791"/>
            <a:ext cx="6872342" cy="2609209"/>
          </a:xfrm>
          <a:prstGeom prst="rect">
            <a:avLst/>
          </a:prstGeom>
        </p:spPr>
      </p:pic>
    </p:spTree>
    <p:extLst>
      <p:ext uri="{BB962C8B-B14F-4D97-AF65-F5344CB8AC3E}">
        <p14:creationId xmlns:p14="http://schemas.microsoft.com/office/powerpoint/2010/main" val="1605430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8A713590-C991-9EB7-A195-0F5546BF4160}"/>
              </a:ext>
            </a:extLst>
          </p:cNvPr>
          <p:cNvPicPr>
            <a:picLocks noChangeAspect="1"/>
          </p:cNvPicPr>
          <p:nvPr/>
        </p:nvPicPr>
        <p:blipFill>
          <a:blip r:embed="rId3"/>
          <a:srcRect b="14015"/>
          <a:stretch>
            <a:fillRect/>
          </a:stretch>
        </p:blipFill>
        <p:spPr>
          <a:xfrm>
            <a:off x="3697261" y="97537"/>
            <a:ext cx="4617683" cy="3157728"/>
          </a:xfrm>
          <a:prstGeom prst="rect">
            <a:avLst/>
          </a:prstGeom>
        </p:spPr>
      </p:pic>
      <p:pic>
        <p:nvPicPr>
          <p:cNvPr id="2" name="图片 1">
            <a:extLst>
              <a:ext uri="{FF2B5EF4-FFF2-40B4-BE49-F238E27FC236}">
                <a16:creationId xmlns:a16="http://schemas.microsoft.com/office/drawing/2014/main" id="{4E042622-2985-05D4-2B56-C2161E597644}"/>
              </a:ext>
            </a:extLst>
          </p:cNvPr>
          <p:cNvPicPr>
            <a:picLocks noChangeAspect="1"/>
          </p:cNvPicPr>
          <p:nvPr/>
        </p:nvPicPr>
        <p:blipFill>
          <a:blip r:embed="rId4"/>
          <a:srcRect b="11434"/>
          <a:stretch>
            <a:fillRect/>
          </a:stretch>
        </p:blipFill>
        <p:spPr>
          <a:xfrm>
            <a:off x="1504693" y="3602736"/>
            <a:ext cx="9392961" cy="2303333"/>
          </a:xfrm>
          <a:prstGeom prst="rect">
            <a:avLst/>
          </a:prstGeom>
        </p:spPr>
      </p:pic>
    </p:spTree>
    <p:extLst>
      <p:ext uri="{BB962C8B-B14F-4D97-AF65-F5344CB8AC3E}">
        <p14:creationId xmlns:p14="http://schemas.microsoft.com/office/powerpoint/2010/main" val="1875773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图片 4" descr="日历&#10;&#10;AI 生成的内容可能不正确。">
            <a:extLst>
              <a:ext uri="{FF2B5EF4-FFF2-40B4-BE49-F238E27FC236}">
                <a16:creationId xmlns:a16="http://schemas.microsoft.com/office/drawing/2014/main" id="{7DB1FC7F-E80E-8C96-BFDA-5B810BFBBECF}"/>
              </a:ext>
            </a:extLst>
          </p:cNvPr>
          <p:cNvPicPr>
            <a:picLocks noChangeAspect="1"/>
          </p:cNvPicPr>
          <p:nvPr/>
        </p:nvPicPr>
        <p:blipFill>
          <a:blip r:embed="rId3"/>
          <a:stretch>
            <a:fillRect/>
          </a:stretch>
        </p:blipFill>
        <p:spPr>
          <a:xfrm>
            <a:off x="2435895" y="292608"/>
            <a:ext cx="7592993" cy="5998464"/>
          </a:xfrm>
          <a:prstGeom prst="rect">
            <a:avLst/>
          </a:prstGeom>
        </p:spPr>
      </p:pic>
    </p:spTree>
    <p:extLst>
      <p:ext uri="{BB962C8B-B14F-4D97-AF65-F5344CB8AC3E}">
        <p14:creationId xmlns:p14="http://schemas.microsoft.com/office/powerpoint/2010/main" val="1852370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D23389D-B14C-88DE-9FE9-7B8752999418}"/>
              </a:ext>
            </a:extLst>
          </p:cNvPr>
          <p:cNvSpPr txBox="1"/>
          <p:nvPr/>
        </p:nvSpPr>
        <p:spPr>
          <a:xfrm>
            <a:off x="3361116" y="2328672"/>
            <a:ext cx="5469767" cy="1323439"/>
          </a:xfrm>
          <a:prstGeom prst="rect">
            <a:avLst/>
          </a:prstGeom>
          <a:noFill/>
        </p:spPr>
        <p:txBody>
          <a:bodyPr wrap="none" rtlCol="0">
            <a:spAutoFit/>
          </a:bodyPr>
          <a:lstStyle/>
          <a:p>
            <a:r>
              <a:rPr lang="en-US" altLang="zh-CN" sz="8000" b="1" dirty="0">
                <a:latin typeface="Noto Sans JP" panose="020B0200000000000000" pitchFamily="34" charset="-122"/>
                <a:ea typeface="Noto Sans JP" panose="020B0200000000000000" pitchFamily="34" charset="-122"/>
                <a:cs typeface="Times New Roman" panose="02020603050405020304" pitchFamily="18" charset="0"/>
              </a:rPr>
              <a:t>Thank you</a:t>
            </a:r>
            <a:endParaRPr lang="zh-CN" altLang="en-US" sz="8000" b="1" dirty="0">
              <a:latin typeface="Noto Sans JP" panose="020B0200000000000000" pitchFamily="34" charset="-122"/>
              <a:ea typeface="Noto Sans JP" panose="020B0200000000000000" pitchFamily="34" charset="-122"/>
              <a:cs typeface="Times New Roman" panose="02020603050405020304" pitchFamily="18" charset="0"/>
            </a:endParaRPr>
          </a:p>
        </p:txBody>
      </p:sp>
      <p:pic>
        <p:nvPicPr>
          <p:cNvPr id="4" name="Picture 2" descr="富山大学">
            <a:extLst>
              <a:ext uri="{FF2B5EF4-FFF2-40B4-BE49-F238E27FC236}">
                <a16:creationId xmlns:a16="http://schemas.microsoft.com/office/drawing/2014/main" id="{3E7436CB-7B7C-98D8-159A-A8AE7EB08D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364" y="98199"/>
            <a:ext cx="2666880" cy="610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744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B1D0023-992B-FD3B-C9F8-7726E963D40E}"/>
              </a:ext>
            </a:extLst>
          </p:cNvPr>
          <p:cNvSpPr txBox="1"/>
          <p:nvPr/>
        </p:nvSpPr>
        <p:spPr>
          <a:xfrm>
            <a:off x="673100" y="1078468"/>
            <a:ext cx="6096000" cy="369332"/>
          </a:xfrm>
          <a:prstGeom prst="rect">
            <a:avLst/>
          </a:prstGeom>
          <a:noFill/>
        </p:spPr>
        <p:txBody>
          <a:bodyPr wrap="square">
            <a:spAutoFit/>
          </a:bodyPr>
          <a:lstStyle/>
          <a:p>
            <a:r>
              <a:rPr lang="en-US" altLang="zh-CN" b="1" dirty="0">
                <a:latin typeface="Noto Sans JP" panose="020B0200000000000000" pitchFamily="34" charset="-122"/>
                <a:ea typeface="Noto Sans JP" panose="020B0200000000000000" pitchFamily="34" charset="-122"/>
              </a:rPr>
              <a:t>SPD Transform</a:t>
            </a:r>
            <a:endParaRPr lang="zh-CN" altLang="en-US" b="1" dirty="0">
              <a:latin typeface="Noto Sans JP" panose="020B0200000000000000" pitchFamily="34" charset="-122"/>
              <a:ea typeface="Noto Sans JP" panose="020B0200000000000000" pitchFamily="34"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959D351-0E51-66A5-D18A-B0E0F25357A7}"/>
                  </a:ext>
                </a:extLst>
              </p:cNvPr>
              <p:cNvSpPr txBox="1"/>
              <p:nvPr/>
            </p:nvSpPr>
            <p:spPr>
              <a:xfrm>
                <a:off x="5124369" y="1593334"/>
                <a:ext cx="13018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𝑊𝑃</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𝑊</m:t>
                          </m:r>
                        </m:e>
                        <m:sup>
                          <m:r>
                            <a:rPr lang="en-US" altLang="zh-CN" b="0" i="1" smtClean="0">
                              <a:latin typeface="Cambria Math" panose="02040503050406030204" pitchFamily="18" charset="0"/>
                            </a:rPr>
                            <m:t>𝑇</m:t>
                          </m:r>
                        </m:sup>
                      </m:sSup>
                    </m:oMath>
                  </m:oMathPara>
                </a14:m>
                <a:endParaRPr lang="zh-CN" altLang="en-US" dirty="0">
                  <a:latin typeface="Noto Sans JP" panose="020B0200000000000000" pitchFamily="34" charset="-122"/>
                  <a:ea typeface="Noto Sans JP" panose="020B0200000000000000" pitchFamily="34" charset="-122"/>
                </a:endParaRPr>
              </a:p>
            </p:txBody>
          </p:sp>
        </mc:Choice>
        <mc:Fallback xmlns="">
          <p:sp>
            <p:nvSpPr>
              <p:cNvPr id="6" name="文本框 5">
                <a:extLst>
                  <a:ext uri="{FF2B5EF4-FFF2-40B4-BE49-F238E27FC236}">
                    <a16:creationId xmlns:a16="http://schemas.microsoft.com/office/drawing/2014/main" id="{0959D351-0E51-66A5-D18A-B0E0F25357A7}"/>
                  </a:ext>
                </a:extLst>
              </p:cNvPr>
              <p:cNvSpPr txBox="1">
                <a:spLocks noRot="1" noChangeAspect="1" noMove="1" noResize="1" noEditPoints="1" noAdjustHandles="1" noChangeArrowheads="1" noChangeShapeType="1" noTextEdit="1"/>
              </p:cNvSpPr>
              <p:nvPr/>
            </p:nvSpPr>
            <p:spPr>
              <a:xfrm>
                <a:off x="5124369" y="1593334"/>
                <a:ext cx="1301831" cy="276999"/>
              </a:xfrm>
              <a:prstGeom prst="rect">
                <a:avLst/>
              </a:prstGeom>
              <a:blipFill>
                <a:blip r:embed="rId3"/>
                <a:stretch>
                  <a:fillRect l="-3756" t="-28261" r="-12207" b="-50000"/>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C6224D57-E451-17B1-D811-A77BE8944FF3}"/>
              </a:ext>
            </a:extLst>
          </p:cNvPr>
          <p:cNvSpPr txBox="1"/>
          <p:nvPr/>
        </p:nvSpPr>
        <p:spPr>
          <a:xfrm>
            <a:off x="774700" y="1971700"/>
            <a:ext cx="11417300" cy="646331"/>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rPr>
              <a:t>Ensure that the output is still the SPD matrix (because the transformation maintains symmetry and positivity)</a:t>
            </a:r>
          </a:p>
        </p:txBody>
      </p:sp>
      <p:sp>
        <p:nvSpPr>
          <p:cNvPr id="10" name="文本框 9">
            <a:extLst>
              <a:ext uri="{FF2B5EF4-FFF2-40B4-BE49-F238E27FC236}">
                <a16:creationId xmlns:a16="http://schemas.microsoft.com/office/drawing/2014/main" id="{632E7BEE-150C-92CA-C935-D2447FD19F99}"/>
              </a:ext>
            </a:extLst>
          </p:cNvPr>
          <p:cNvSpPr txBox="1"/>
          <p:nvPr/>
        </p:nvSpPr>
        <p:spPr>
          <a:xfrm>
            <a:off x="774700" y="2782669"/>
            <a:ext cx="8758494" cy="923330"/>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rPr>
              <a:t>In Euclidean space, MLP is a linear layer + activation;</a:t>
            </a:r>
            <a:endParaRPr lang="en-US" altLang="zh-CN" dirty="0">
              <a:latin typeface="Noto Sans JP" panose="020B0200000000000000" pitchFamily="34" charset="-122"/>
              <a:ea typeface="Noto Sans JP" panose="020B0200000000000000" pitchFamily="34" charset="-122"/>
            </a:endParaRPr>
          </a:p>
          <a:p>
            <a:r>
              <a:rPr lang="zh-CN" altLang="en-US" dirty="0">
                <a:latin typeface="Noto Sans JP" panose="020B0200000000000000" pitchFamily="34" charset="-122"/>
                <a:ea typeface="Noto Sans JP" panose="020B0200000000000000" pitchFamily="34" charset="-122"/>
              </a:rPr>
              <a:t>In the SPD manifold, </a:t>
            </a:r>
            <a:r>
              <a:rPr lang="en-US" altLang="zh-CN" dirty="0">
                <a:latin typeface="Noto Sans JP" panose="020B0200000000000000" pitchFamily="34" charset="-122"/>
                <a:ea typeface="Noto Sans JP" panose="020B0200000000000000" pitchFamily="34" charset="-122"/>
              </a:rPr>
              <a:t>(SPD Transform)*n</a:t>
            </a:r>
            <a:r>
              <a:rPr lang="zh-CN" altLang="en-US" dirty="0">
                <a:latin typeface="Noto Sans JP" panose="020B0200000000000000" pitchFamily="34" charset="-122"/>
                <a:ea typeface="Noto Sans JP" panose="020B0200000000000000" pitchFamily="34" charset="-122"/>
              </a:rPr>
              <a:t> is a continuous Riemannian transformation.</a:t>
            </a:r>
          </a:p>
        </p:txBody>
      </p:sp>
      <p:sp>
        <p:nvSpPr>
          <p:cNvPr id="12" name="文本框 11">
            <a:extLst>
              <a:ext uri="{FF2B5EF4-FFF2-40B4-BE49-F238E27FC236}">
                <a16:creationId xmlns:a16="http://schemas.microsoft.com/office/drawing/2014/main" id="{7132499C-495C-6525-88DA-D2A10D37430B}"/>
              </a:ext>
            </a:extLst>
          </p:cNvPr>
          <p:cNvSpPr txBox="1"/>
          <p:nvPr/>
        </p:nvSpPr>
        <p:spPr>
          <a:xfrm>
            <a:off x="4940300" y="1078468"/>
            <a:ext cx="2324100" cy="369332"/>
          </a:xfrm>
          <a:prstGeom prst="rect">
            <a:avLst/>
          </a:prstGeom>
          <a:noFill/>
        </p:spPr>
        <p:txBody>
          <a:bodyPr wrap="square">
            <a:spAutoFit/>
          </a:bodyPr>
          <a:lstStyle/>
          <a:p>
            <a:r>
              <a:rPr lang="zh-CN" altLang="en-US" dirty="0">
                <a:latin typeface="Noto Sans JP" panose="020B0200000000000000" pitchFamily="34" charset="-122"/>
                <a:ea typeface="Noto Sans JP" panose="020B0200000000000000" pitchFamily="34" charset="-122"/>
              </a:rPr>
              <a:t>feature extraction</a:t>
            </a:r>
          </a:p>
        </p:txBody>
      </p:sp>
    </p:spTree>
    <p:extLst>
      <p:ext uri="{BB962C8B-B14F-4D97-AF65-F5344CB8AC3E}">
        <p14:creationId xmlns:p14="http://schemas.microsoft.com/office/powerpoint/2010/main" val="89748116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3849</TotalTime>
  <Words>2046</Words>
  <Application>Microsoft Office PowerPoint</Application>
  <PresentationFormat>宽屏</PresentationFormat>
  <Paragraphs>139</Paragraphs>
  <Slides>12</Slides>
  <Notes>11</Notes>
  <HiddenSlides>1</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CMMI10</vt:lpstr>
      <vt:lpstr>CMR10</vt:lpstr>
      <vt:lpstr>NimbusRomNo9L-Regu</vt:lpstr>
      <vt:lpstr>Noto Sans JP</vt:lpstr>
      <vt:lpstr>NotoSansCJKsc-Regular</vt:lpstr>
      <vt:lpstr>等线 Light</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牛　文涛</dc:creator>
  <cp:lastModifiedBy>牛　文涛</cp:lastModifiedBy>
  <cp:revision>593</cp:revision>
  <dcterms:created xsi:type="dcterms:W3CDTF">2025-05-14T01:23:20Z</dcterms:created>
  <dcterms:modified xsi:type="dcterms:W3CDTF">2025-06-04T14:05:46Z</dcterms:modified>
</cp:coreProperties>
</file>