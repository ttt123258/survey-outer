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4" r:id="rId6"/>
    <p:sldId id="265" r:id="rId7"/>
    <p:sldId id="266" r:id="rId8"/>
    <p:sldId id="260" r:id="rId9"/>
    <p:sldId id="267" r:id="rId10"/>
    <p:sldId id="268" r:id="rId11"/>
    <p:sldId id="261" r:id="rId12"/>
    <p:sldId id="262" r:id="rId13"/>
    <p:sldId id="263" r:id="rId1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5300"/>
    <a:srgbClr val="FFC2A1"/>
    <a:srgbClr val="7796B6"/>
    <a:srgbClr val="FFBA8C"/>
    <a:srgbClr val="44B43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077" autoAdjust="0"/>
    <p:restoredTop sz="94856" autoAdjust="0"/>
  </p:normalViewPr>
  <p:slideViewPr>
    <p:cSldViewPr snapToGrid="0">
      <p:cViewPr>
        <p:scale>
          <a:sx n="100" d="100"/>
          <a:sy n="100" d="100"/>
        </p:scale>
        <p:origin x="72" y="16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965D32-5B74-4B1A-932F-5518DF156731}" type="datetimeFigureOut">
              <a:rPr lang="zh-CN" altLang="en-US" smtClean="0"/>
              <a:t>2025/3/30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5ED98B2-4531-4090-B022-1A0C526112B3}" type="slidenum">
              <a:rPr lang="zh-CN" altLang="en-US" smtClean="0"/>
              <a:t>‹#›</a:t>
            </a:fld>
            <a:endParaRPr lang="zh-CN" altLang="en-US"/>
          </a:p>
        </p:txBody>
      </p:sp>
    </p:spTree>
    <p:extLst>
      <p:ext uri="{BB962C8B-B14F-4D97-AF65-F5344CB8AC3E}">
        <p14:creationId xmlns:p14="http://schemas.microsoft.com/office/powerpoint/2010/main" val="32970627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药物</a:t>
            </a:r>
            <a:r>
              <a:rPr lang="en-US" altLang="zh-CN" dirty="0"/>
              <a:t>-</a:t>
            </a:r>
            <a:r>
              <a:rPr lang="zh-CN" altLang="en-US" dirty="0"/>
              <a:t>蛋白质相互作用集合</a:t>
            </a:r>
            <a:r>
              <a:rPr lang="en-US" altLang="zh-CN" dirty="0"/>
              <a:t>K</a:t>
            </a:r>
            <a:endParaRPr lang="zh-CN" altLang="en-US" dirty="0"/>
          </a:p>
        </p:txBody>
      </p:sp>
      <p:sp>
        <p:nvSpPr>
          <p:cNvPr id="4" name="灯片编号占位符 3"/>
          <p:cNvSpPr>
            <a:spLocks noGrp="1"/>
          </p:cNvSpPr>
          <p:nvPr>
            <p:ph type="sldNum" sz="quarter" idx="5"/>
          </p:nvPr>
        </p:nvSpPr>
        <p:spPr/>
        <p:txBody>
          <a:bodyPr/>
          <a:lstStyle/>
          <a:p>
            <a:fld id="{55ED98B2-4531-4090-B022-1A0C526112B3}" type="slidenum">
              <a:rPr lang="zh-CN" altLang="en-US" smtClean="0"/>
              <a:t>8</a:t>
            </a:fld>
            <a:endParaRPr lang="zh-CN" altLang="en-US"/>
          </a:p>
        </p:txBody>
      </p:sp>
    </p:spTree>
    <p:extLst>
      <p:ext uri="{BB962C8B-B14F-4D97-AF65-F5344CB8AC3E}">
        <p14:creationId xmlns:p14="http://schemas.microsoft.com/office/powerpoint/2010/main" val="398109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18EA-8F84-B28F-EF18-BB468DA533E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8EFF4FA-717D-8C86-C37A-FD8B96F71F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184C538-9D81-7B01-0100-641FC339EB72}"/>
              </a:ext>
            </a:extLst>
          </p:cNvPr>
          <p:cNvSpPr>
            <a:spLocks noGrp="1"/>
          </p:cNvSpPr>
          <p:nvPr>
            <p:ph type="body" idx="1"/>
          </p:nvPr>
        </p:nvSpPr>
        <p:spPr/>
        <p:txBody>
          <a:bodyPr/>
          <a:lstStyle/>
          <a:p>
            <a:r>
              <a:rPr lang="zh-CN" altLang="en-US" dirty="0"/>
              <a:t>药物</a:t>
            </a:r>
            <a:r>
              <a:rPr lang="en-US" altLang="zh-CN" dirty="0"/>
              <a:t>-</a:t>
            </a:r>
            <a:r>
              <a:rPr lang="zh-CN" altLang="en-US" dirty="0"/>
              <a:t>蛋白质相互作用集合</a:t>
            </a:r>
            <a:r>
              <a:rPr lang="en-US" altLang="zh-CN" dirty="0"/>
              <a:t>K</a:t>
            </a:r>
            <a:endParaRPr lang="zh-CN" altLang="en-US" dirty="0"/>
          </a:p>
        </p:txBody>
      </p:sp>
      <p:sp>
        <p:nvSpPr>
          <p:cNvPr id="4" name="灯片编号占位符 3">
            <a:extLst>
              <a:ext uri="{FF2B5EF4-FFF2-40B4-BE49-F238E27FC236}">
                <a16:creationId xmlns:a16="http://schemas.microsoft.com/office/drawing/2014/main" id="{309E8EB8-8EEE-20A6-8AA8-DF0C8B2763A4}"/>
              </a:ext>
            </a:extLst>
          </p:cNvPr>
          <p:cNvSpPr>
            <a:spLocks noGrp="1"/>
          </p:cNvSpPr>
          <p:nvPr>
            <p:ph type="sldNum" sz="quarter" idx="5"/>
          </p:nvPr>
        </p:nvSpPr>
        <p:spPr/>
        <p:txBody>
          <a:bodyPr/>
          <a:lstStyle/>
          <a:p>
            <a:fld id="{55ED98B2-4531-4090-B022-1A0C526112B3}" type="slidenum">
              <a:rPr lang="zh-CN" altLang="en-US" smtClean="0"/>
              <a:t>9</a:t>
            </a:fld>
            <a:endParaRPr lang="zh-CN" altLang="en-US"/>
          </a:p>
        </p:txBody>
      </p:sp>
    </p:spTree>
    <p:extLst>
      <p:ext uri="{BB962C8B-B14F-4D97-AF65-F5344CB8AC3E}">
        <p14:creationId xmlns:p14="http://schemas.microsoft.com/office/powerpoint/2010/main" val="42842502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53C91-0A95-584A-39F1-AD0B564544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41E812-AB46-B756-559C-5F2763834BC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9465FA5-BE20-CB83-A09C-EAFD457521B3}"/>
              </a:ext>
            </a:extLst>
          </p:cNvPr>
          <p:cNvSpPr>
            <a:spLocks noGrp="1"/>
          </p:cNvSpPr>
          <p:nvPr>
            <p:ph type="body" idx="1"/>
          </p:nvPr>
        </p:nvSpPr>
        <p:spPr/>
        <p:txBody>
          <a:bodyPr/>
          <a:lstStyle/>
          <a:p>
            <a:r>
              <a:rPr lang="zh-CN" altLang="en-US" dirty="0"/>
              <a:t>药物</a:t>
            </a:r>
            <a:r>
              <a:rPr lang="en-US" altLang="zh-CN" dirty="0"/>
              <a:t>-</a:t>
            </a:r>
            <a:r>
              <a:rPr lang="zh-CN" altLang="en-US" dirty="0"/>
              <a:t>蛋白质相互作用集合</a:t>
            </a:r>
            <a:r>
              <a:rPr lang="en-US" altLang="zh-CN" dirty="0"/>
              <a:t>K</a:t>
            </a:r>
            <a:endParaRPr lang="zh-CN" altLang="en-US" dirty="0"/>
          </a:p>
        </p:txBody>
      </p:sp>
      <p:sp>
        <p:nvSpPr>
          <p:cNvPr id="4" name="灯片编号占位符 3">
            <a:extLst>
              <a:ext uri="{FF2B5EF4-FFF2-40B4-BE49-F238E27FC236}">
                <a16:creationId xmlns:a16="http://schemas.microsoft.com/office/drawing/2014/main" id="{A4C54EC2-44CE-57C1-A1CC-33DAB792CD3D}"/>
              </a:ext>
            </a:extLst>
          </p:cNvPr>
          <p:cNvSpPr>
            <a:spLocks noGrp="1"/>
          </p:cNvSpPr>
          <p:nvPr>
            <p:ph type="sldNum" sz="quarter" idx="5"/>
          </p:nvPr>
        </p:nvSpPr>
        <p:spPr/>
        <p:txBody>
          <a:bodyPr/>
          <a:lstStyle/>
          <a:p>
            <a:fld id="{55ED98B2-4531-4090-B022-1A0C526112B3}" type="slidenum">
              <a:rPr lang="zh-CN" altLang="en-US" smtClean="0"/>
              <a:t>10</a:t>
            </a:fld>
            <a:endParaRPr lang="zh-CN" altLang="en-US"/>
          </a:p>
        </p:txBody>
      </p:sp>
    </p:spTree>
    <p:extLst>
      <p:ext uri="{BB962C8B-B14F-4D97-AF65-F5344CB8AC3E}">
        <p14:creationId xmlns:p14="http://schemas.microsoft.com/office/powerpoint/2010/main" val="19137680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B32A25-6BB5-DF88-1DC8-CADCE472821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7A15B866-F7E2-22C2-E437-382DDDB3DA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E401274C-9D9C-6E4D-9D76-4B3A6A968C56}"/>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5" name="页脚占位符 4">
            <a:extLst>
              <a:ext uri="{FF2B5EF4-FFF2-40B4-BE49-F238E27FC236}">
                <a16:creationId xmlns:a16="http://schemas.microsoft.com/office/drawing/2014/main" id="{32AED6F6-DCA1-1786-0683-8E666CD1866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02BDEE3-9D15-8E2C-661B-2DA4DC0227CB}"/>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1357434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6DC10F-25E3-BC92-2528-C8F7B740A5D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F58AAD81-59E8-0AFD-9A0D-29220BC27ACF}"/>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C45AB54-6EAF-A71B-4F1F-40DA1F940C51}"/>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5" name="页脚占位符 4">
            <a:extLst>
              <a:ext uri="{FF2B5EF4-FFF2-40B4-BE49-F238E27FC236}">
                <a16:creationId xmlns:a16="http://schemas.microsoft.com/office/drawing/2014/main" id="{F07930CB-AB06-C08A-3940-0C1F235B5A0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92F896C-0606-51A4-AADC-F2CB2F562717}"/>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9438446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443B42-AEEA-9853-D997-077B06EF591D}"/>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FC1D05A2-EAF6-5F98-3230-E280742F87D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A3E10F84-08B7-726E-23FE-A84247C93A60}"/>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5" name="页脚占位符 4">
            <a:extLst>
              <a:ext uri="{FF2B5EF4-FFF2-40B4-BE49-F238E27FC236}">
                <a16:creationId xmlns:a16="http://schemas.microsoft.com/office/drawing/2014/main" id="{FCF7AE80-242B-03C4-E92A-F81B568062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6B96CB4-C086-CC0F-983B-4CCA8DA374BC}"/>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1160523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AC13C79-9AC3-DDEA-F2F9-30FB5DB4F86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CC894BA3-3375-3879-0E3B-F0C97406D3E1}"/>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6656506A-08FC-7813-B3DF-5305291BFC3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96BB4B49-33EB-27E0-1312-B5B692D700B6}"/>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6" name="页脚占位符 5">
            <a:extLst>
              <a:ext uri="{FF2B5EF4-FFF2-40B4-BE49-F238E27FC236}">
                <a16:creationId xmlns:a16="http://schemas.microsoft.com/office/drawing/2014/main" id="{FD426800-29A2-D795-1FD3-0A2669BF137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67441307-61A6-AD2C-8566-FFCC1A44527E}"/>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34923748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906C53-BA6C-E8E8-AB8C-1BFD859030A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76D72BE7-68BB-CADA-F0E7-5DEE469FB6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63711A23-C4BD-DBC8-FB09-8DDF5C4FECED}"/>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DED463CA-6522-6971-9189-E80CA9C372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511B43AB-F728-1217-BA0C-BF60FDC244C5}"/>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2A6CDF0E-8CE7-3381-485E-0E272E0D7434}"/>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8" name="页脚占位符 7">
            <a:extLst>
              <a:ext uri="{FF2B5EF4-FFF2-40B4-BE49-F238E27FC236}">
                <a16:creationId xmlns:a16="http://schemas.microsoft.com/office/drawing/2014/main" id="{FFE0B94D-A9E9-E3A0-A6A3-7940B1A45676}"/>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4F8442F-84E6-0785-C450-5004A7981F6B}"/>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2262120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EC23BE-B4BE-BA1E-1ECD-5E39D080C6F7}"/>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B115FCC-C6C3-89D2-DECE-C31D38FF7183}"/>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4" name="页脚占位符 3">
            <a:extLst>
              <a:ext uri="{FF2B5EF4-FFF2-40B4-BE49-F238E27FC236}">
                <a16:creationId xmlns:a16="http://schemas.microsoft.com/office/drawing/2014/main" id="{A0A6D8FD-BF9A-766C-1D9C-4B115B3D9F50}"/>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96ED5E1C-EECF-D3DB-27F0-76A160C37B7A}"/>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3567139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C9B756A-70C8-7E0B-55A8-7ABB84CE30F1}"/>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3" name="页脚占位符 2">
            <a:extLst>
              <a:ext uri="{FF2B5EF4-FFF2-40B4-BE49-F238E27FC236}">
                <a16:creationId xmlns:a16="http://schemas.microsoft.com/office/drawing/2014/main" id="{291E1830-2AC6-38A9-9FF4-28B35A9DE9CD}"/>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75EF76F0-0578-DA7D-68AF-F370233279BA}"/>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35996337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4EB62E8-2826-D55F-D45C-5C451B631DCC}"/>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B57D1EF-5333-A4C7-87C5-D5D18000B5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B50BBC28-4795-8AD6-968A-1AE75D4CA3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158F68A0-5D79-FD7E-AD1A-A14E1263DE90}"/>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6" name="页脚占位符 5">
            <a:extLst>
              <a:ext uri="{FF2B5EF4-FFF2-40B4-BE49-F238E27FC236}">
                <a16:creationId xmlns:a16="http://schemas.microsoft.com/office/drawing/2014/main" id="{36F60DB4-E3E1-6C7E-B7F8-26514B0F2516}"/>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2689B463-8301-76E6-B296-58CD9BB787DC}"/>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13381562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C247F3-4034-649D-64C8-1CF1726784E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FDF238BB-83C2-FDE8-05E7-24A9DEE4CBC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F3116203-DA84-7C16-386D-FB4D612FB9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9AB8EC9-9BC9-7199-975A-3EE4709CF03A}"/>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6" name="页脚占位符 5">
            <a:extLst>
              <a:ext uri="{FF2B5EF4-FFF2-40B4-BE49-F238E27FC236}">
                <a16:creationId xmlns:a16="http://schemas.microsoft.com/office/drawing/2014/main" id="{F9BABEF6-21AC-8EDD-F7A8-55226FE6C27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9D29D2A-0EE1-546C-9EEA-CA1E6CF01B00}"/>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38317709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25E70C-FAC4-00B4-2CC0-8D62F6A5742E}"/>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00670411-A7F0-A69A-E284-9C82F3E2E1C4}"/>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B5F5858A-96EF-000F-CA24-15C71893B69F}"/>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5" name="页脚占位符 4">
            <a:extLst>
              <a:ext uri="{FF2B5EF4-FFF2-40B4-BE49-F238E27FC236}">
                <a16:creationId xmlns:a16="http://schemas.microsoft.com/office/drawing/2014/main" id="{85BCB759-681F-EA36-3A70-C52481B4231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31EB35D-F65E-FE7D-D54B-2D7D87E01953}"/>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19755995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D4985AB7-0C9A-96F3-097B-E64BB13ED0FA}"/>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3904EC59-26F3-E595-4134-5E5657CADA4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3EFD1A5B-CF40-B81C-FEA3-8161DC6C3BAE}"/>
              </a:ext>
            </a:extLst>
          </p:cNvPr>
          <p:cNvSpPr>
            <a:spLocks noGrp="1"/>
          </p:cNvSpPr>
          <p:nvPr>
            <p:ph type="dt" sz="half" idx="10"/>
          </p:nvPr>
        </p:nvSpPr>
        <p:spPr/>
        <p:txBody>
          <a:bodyPr/>
          <a:lstStyle/>
          <a:p>
            <a:fld id="{F70356BD-5833-427C-A982-3EFD493748C6}" type="datetimeFigureOut">
              <a:rPr lang="zh-CN" altLang="en-US" smtClean="0"/>
              <a:t>2025/3/30</a:t>
            </a:fld>
            <a:endParaRPr lang="zh-CN" altLang="en-US"/>
          </a:p>
        </p:txBody>
      </p:sp>
      <p:sp>
        <p:nvSpPr>
          <p:cNvPr id="5" name="页脚占位符 4">
            <a:extLst>
              <a:ext uri="{FF2B5EF4-FFF2-40B4-BE49-F238E27FC236}">
                <a16:creationId xmlns:a16="http://schemas.microsoft.com/office/drawing/2014/main" id="{D0ADC26E-1782-6CD6-D39C-878F7B19527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7F3F289-9A02-A71E-082D-DA0E863BC004}"/>
              </a:ext>
            </a:extLst>
          </p:cNvPr>
          <p:cNvSpPr>
            <a:spLocks noGrp="1"/>
          </p:cNvSpPr>
          <p:nvPr>
            <p:ph type="sldNum" sz="quarter" idx="12"/>
          </p:nvPr>
        </p:nvSpPr>
        <p:spPr/>
        <p:txBody>
          <a:body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18190116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B0AE7B1-634A-D820-A35D-922FE7BA8B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648204D8-7B8C-7BB6-E482-A506D11A14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8E6CEAF-0CEE-4FB7-BE38-7CFF65607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70356BD-5833-427C-A982-3EFD493748C6}" type="datetimeFigureOut">
              <a:rPr lang="zh-CN" altLang="en-US" smtClean="0"/>
              <a:t>2025/3/30</a:t>
            </a:fld>
            <a:endParaRPr lang="zh-CN" altLang="en-US"/>
          </a:p>
        </p:txBody>
      </p:sp>
      <p:sp>
        <p:nvSpPr>
          <p:cNvPr id="5" name="页脚占位符 4">
            <a:extLst>
              <a:ext uri="{FF2B5EF4-FFF2-40B4-BE49-F238E27FC236}">
                <a16:creationId xmlns:a16="http://schemas.microsoft.com/office/drawing/2014/main" id="{653D3874-78EE-C3FF-369B-10D0FBBF82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0B7E74C1-6A53-B988-47BB-93AE8598C4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6D70597-A726-4846-8F82-A8BF1519937E}" type="slidenum">
              <a:rPr lang="zh-CN" altLang="en-US" smtClean="0"/>
              <a:t>‹#›</a:t>
            </a:fld>
            <a:endParaRPr lang="zh-CN" altLang="en-US"/>
          </a:p>
        </p:txBody>
      </p:sp>
    </p:spTree>
    <p:extLst>
      <p:ext uri="{BB962C8B-B14F-4D97-AF65-F5344CB8AC3E}">
        <p14:creationId xmlns:p14="http://schemas.microsoft.com/office/powerpoint/2010/main" val="22313158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18" Type="http://schemas.openxmlformats.org/officeDocument/2006/relationships/image" Target="../media/image25.png"/><Relationship Id="rId26" Type="http://schemas.openxmlformats.org/officeDocument/2006/relationships/image" Target="../media/image33.png"/><Relationship Id="rId3" Type="http://schemas.openxmlformats.org/officeDocument/2006/relationships/image" Target="../media/image10.png"/><Relationship Id="rId21" Type="http://schemas.openxmlformats.org/officeDocument/2006/relationships/image" Target="../media/image28.png"/><Relationship Id="rId7" Type="http://schemas.openxmlformats.org/officeDocument/2006/relationships/image" Target="../media/image14.png"/><Relationship Id="rId12" Type="http://schemas.openxmlformats.org/officeDocument/2006/relationships/image" Target="../media/image19.png"/><Relationship Id="rId17" Type="http://schemas.openxmlformats.org/officeDocument/2006/relationships/image" Target="../media/image24.png"/><Relationship Id="rId25" Type="http://schemas.openxmlformats.org/officeDocument/2006/relationships/image" Target="../media/image32.png"/><Relationship Id="rId2" Type="http://schemas.openxmlformats.org/officeDocument/2006/relationships/notesSlide" Target="../notesSlides/notesSlide2.xml"/><Relationship Id="rId16" Type="http://schemas.openxmlformats.org/officeDocument/2006/relationships/image" Target="../media/image23.png"/><Relationship Id="rId20" Type="http://schemas.openxmlformats.org/officeDocument/2006/relationships/image" Target="../media/image27.png"/><Relationship Id="rId29"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18.png"/><Relationship Id="rId24" Type="http://schemas.openxmlformats.org/officeDocument/2006/relationships/image" Target="../media/image31.png"/><Relationship Id="rId5" Type="http://schemas.openxmlformats.org/officeDocument/2006/relationships/image" Target="../media/image12.png"/><Relationship Id="rId15" Type="http://schemas.openxmlformats.org/officeDocument/2006/relationships/image" Target="../media/image22.png"/><Relationship Id="rId23" Type="http://schemas.openxmlformats.org/officeDocument/2006/relationships/image" Target="../media/image30.png"/><Relationship Id="rId28" Type="http://schemas.openxmlformats.org/officeDocument/2006/relationships/image" Target="../media/image35.png"/><Relationship Id="rId10" Type="http://schemas.openxmlformats.org/officeDocument/2006/relationships/image" Target="../media/image17.png"/><Relationship Id="rId19" Type="http://schemas.openxmlformats.org/officeDocument/2006/relationships/image" Target="../media/image26.png"/><Relationship Id="rId31" Type="http://schemas.openxmlformats.org/officeDocument/2006/relationships/image" Target="../media/image38.png"/><Relationship Id="rId4" Type="http://schemas.openxmlformats.org/officeDocument/2006/relationships/image" Target="../media/image11.png"/><Relationship Id="rId9" Type="http://schemas.openxmlformats.org/officeDocument/2006/relationships/image" Target="../media/image16.png"/><Relationship Id="rId14" Type="http://schemas.openxmlformats.org/officeDocument/2006/relationships/image" Target="../media/image21.png"/><Relationship Id="rId22" Type="http://schemas.openxmlformats.org/officeDocument/2006/relationships/image" Target="../media/image29.png"/><Relationship Id="rId27" Type="http://schemas.openxmlformats.org/officeDocument/2006/relationships/image" Target="../media/image34.png"/><Relationship Id="rId30" Type="http://schemas.openxmlformats.org/officeDocument/2006/relationships/image" Target="../media/image37.png"/></Relationships>
</file>

<file path=ppt/slides/_rels/slide10.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D2CDC-81AD-C9DD-1661-D82F8B6EEE2E}"/>
              </a:ext>
            </a:extLst>
          </p:cNvPr>
          <p:cNvSpPr>
            <a:spLocks noGrp="1"/>
          </p:cNvSpPr>
          <p:nvPr>
            <p:ph type="ctrTitle"/>
          </p:nvPr>
        </p:nvSpPr>
        <p:spPr>
          <a:xfrm>
            <a:off x="145366" y="137625"/>
            <a:ext cx="1641231" cy="425083"/>
          </a:xfrm>
        </p:spPr>
        <p:txBody>
          <a:bodyPr>
            <a:noAutofit/>
          </a:bodyPr>
          <a:lstStyle/>
          <a:p>
            <a:r>
              <a:rPr lang="zh-CN" altLang="en-US" sz="2000" b="1" dirty="0">
                <a:highlight>
                  <a:srgbClr val="FFFF00"/>
                </a:highlight>
                <a:latin typeface="宋体" panose="02010600030101010101" pitchFamily="2" charset="-122"/>
                <a:ea typeface="宋体" panose="02010600030101010101" pitchFamily="2" charset="-122"/>
              </a:rPr>
              <a:t>研究背景</a:t>
            </a:r>
          </a:p>
        </p:txBody>
      </p:sp>
      <p:sp>
        <p:nvSpPr>
          <p:cNvPr id="3" name="副标题 2">
            <a:extLst>
              <a:ext uri="{FF2B5EF4-FFF2-40B4-BE49-F238E27FC236}">
                <a16:creationId xmlns:a16="http://schemas.microsoft.com/office/drawing/2014/main" id="{7A033A4B-A9EB-56F6-341F-57BC9457EE38}"/>
              </a:ext>
            </a:extLst>
          </p:cNvPr>
          <p:cNvSpPr>
            <a:spLocks noGrp="1"/>
          </p:cNvSpPr>
          <p:nvPr>
            <p:ph type="subTitle" idx="1"/>
          </p:nvPr>
        </p:nvSpPr>
        <p:spPr>
          <a:xfrm>
            <a:off x="464234" y="562708"/>
            <a:ext cx="11422966" cy="6020972"/>
          </a:xfrm>
        </p:spPr>
        <p:txBody>
          <a:bodyPr>
            <a:normAutofit/>
          </a:bodyPr>
          <a:lstStyle/>
          <a:p>
            <a:pPr algn="just"/>
            <a:r>
              <a:rPr lang="zh-CN" altLang="zh-CN" sz="1800" dirty="0">
                <a:effectLst/>
                <a:ea typeface="宋体" panose="02010600030101010101" pitchFamily="2" charset="-122"/>
                <a:cs typeface="Times New Roman" panose="02020603050405020304" pitchFamily="18" charset="0"/>
              </a:rPr>
              <a:t>药物研发是一项复杂且耗时的工作，传统上依赖药物研发人员的经验以及反复试验。将人工智能驱动的方法融入药物研发流程，已经为这一过程的效率和效果带来了细微但意义重大的提升。人工智能在药物研发中的应用，涵盖了疾病靶点的识别、药物发现、临床前研究、临床试验、监管审批以及上市后监测</a:t>
            </a:r>
            <a:r>
              <a:rPr lang="zh-CN" altLang="en-US" sz="1800" dirty="0">
                <a:effectLst/>
                <a:ea typeface="宋体" panose="02010600030101010101" pitchFamily="2" charset="-122"/>
                <a:cs typeface="Times New Roman" panose="02020603050405020304" pitchFamily="18" charset="0"/>
              </a:rPr>
              <a:t>。</a:t>
            </a:r>
            <a:endParaRPr lang="en-US" altLang="zh-CN" sz="1800" dirty="0">
              <a:effectLst/>
              <a:ea typeface="宋体" panose="02010600030101010101" pitchFamily="2" charset="-122"/>
              <a:cs typeface="Times New Roman" panose="02020603050405020304" pitchFamily="18" charset="0"/>
            </a:endParaRPr>
          </a:p>
          <a:p>
            <a:pPr algn="just"/>
            <a:r>
              <a:rPr lang="zh-CN" altLang="zh-CN" sz="1800" dirty="0">
                <a:effectLst/>
                <a:ea typeface="宋体" panose="02010600030101010101" pitchFamily="2" charset="-122"/>
                <a:cs typeface="Times New Roman" panose="02020603050405020304" pitchFamily="18" charset="0"/>
              </a:rPr>
              <a:t>虚拟筛选是高效识别潜在先导化合物或候选药物的关键策略。化合物库的迅速扩张使得对超大型库进行加速虚拟筛选成为必要，这推动了用于配体对接的人工智能技术的发展。通过利用</a:t>
            </a:r>
            <a:r>
              <a:rPr lang="en-US" altLang="zh-CN" sz="1800" dirty="0">
                <a:effectLst/>
                <a:ea typeface="宋体" panose="02010600030101010101" pitchFamily="2" charset="-122"/>
                <a:cs typeface="Times New Roman" panose="02020603050405020304" pitchFamily="18" charset="0"/>
              </a:rPr>
              <a:t>AI </a:t>
            </a:r>
            <a:r>
              <a:rPr lang="zh-CN" altLang="zh-CN" sz="1800" dirty="0">
                <a:effectLst/>
                <a:ea typeface="宋体" panose="02010600030101010101" pitchFamily="2" charset="-122"/>
                <a:cs typeface="Times New Roman" panose="02020603050405020304" pitchFamily="18" charset="0"/>
              </a:rPr>
              <a:t>进行计算分析和预测，湿实验方法能够得到显著改进，从而加快药物研发进程，并避免不必要的开支</a:t>
            </a:r>
            <a:r>
              <a:rPr lang="zh-CN" altLang="en-US" sz="1800" dirty="0">
                <a:effectLst/>
                <a:ea typeface="宋体" panose="02010600030101010101" pitchFamily="2" charset="-122"/>
                <a:cs typeface="Times New Roman" panose="02020603050405020304" pitchFamily="18" charset="0"/>
              </a:rPr>
              <a:t>。</a:t>
            </a:r>
            <a:endParaRPr lang="en-US" altLang="zh-CN" sz="1800" dirty="0">
              <a:effectLst/>
              <a:ea typeface="宋体" panose="02010600030101010101" pitchFamily="2" charset="-122"/>
              <a:cs typeface="Times New Roman" panose="02020603050405020304" pitchFamily="18" charset="0"/>
            </a:endParaRPr>
          </a:p>
          <a:p>
            <a:pPr algn="just"/>
            <a:r>
              <a:rPr lang="zh-CN" altLang="zh-CN" sz="1800" dirty="0">
                <a:effectLst/>
                <a:ea typeface="宋体" panose="02010600030101010101" pitchFamily="2" charset="-122"/>
                <a:cs typeface="Times New Roman" panose="02020603050405020304" pitchFamily="18" charset="0"/>
              </a:rPr>
              <a:t>深度学习驱动的方法能够以前所未有的速度和精度分析大规模数据集</a:t>
            </a:r>
            <a:r>
              <a:rPr lang="en-US" altLang="zh-CN" sz="1800" dirty="0">
                <a:effectLst/>
                <a:latin typeface="宋体" panose="02010600030101010101" pitchFamily="2" charset="-122"/>
                <a:cs typeface="Times New Roman" panose="02020603050405020304" pitchFamily="18" charset="0"/>
              </a:rPr>
              <a:t>[6,7]</a:t>
            </a:r>
            <a:r>
              <a:rPr lang="zh-CN" altLang="zh-CN" sz="1800" dirty="0">
                <a:effectLst/>
                <a:ea typeface="宋体" panose="02010600030101010101" pitchFamily="2" charset="-122"/>
                <a:cs typeface="Times New Roman" panose="02020603050405020304" pitchFamily="18" charset="0"/>
              </a:rPr>
              <a:t>，识别新的相互作用模式，并预测仅通过实验技术难以检测到的相互作用</a:t>
            </a:r>
            <a:r>
              <a:rPr lang="en-US" altLang="zh-CN" sz="1800" kern="0" dirty="0">
                <a:effectLst/>
                <a:latin typeface="宋体" panose="02010600030101010101" pitchFamily="2" charset="-122"/>
                <a:cs typeface="Times New Roman" panose="02020603050405020304" pitchFamily="18" charset="0"/>
              </a:rPr>
              <a:t>[8–10]</a:t>
            </a:r>
            <a:r>
              <a:rPr lang="zh-CN" altLang="zh-CN" sz="1800" dirty="0">
                <a:effectLst/>
                <a:ea typeface="宋体" panose="02010600030101010101" pitchFamily="2" charset="-122"/>
                <a:cs typeface="Times New Roman" panose="02020603050405020304" pitchFamily="18" charset="0"/>
              </a:rPr>
              <a:t>。通过将深度学习融入蛋白质组规模的筛选，研究人员能够加快新蛋白质功能的发现，更深入地了解疾病的分子基础，并简化药物开发流程。</a:t>
            </a:r>
            <a:endParaRPr lang="en-US" altLang="zh-CN" sz="1800" dirty="0">
              <a:effectLst/>
              <a:ea typeface="宋体" panose="02010600030101010101" pitchFamily="2" charset="-122"/>
              <a:cs typeface="Times New Roman" panose="02020603050405020304" pitchFamily="18" charset="0"/>
            </a:endParaRPr>
          </a:p>
          <a:p>
            <a:pPr algn="just"/>
            <a:r>
              <a:rPr lang="zh-CN" altLang="zh-CN" sz="1800" dirty="0">
                <a:effectLst/>
                <a:ea typeface="宋体" panose="02010600030101010101" pitchFamily="2" charset="-122"/>
                <a:cs typeface="Times New Roman" panose="02020603050405020304" pitchFamily="18" charset="0"/>
              </a:rPr>
              <a:t>药物靶点相互作用（</a:t>
            </a:r>
            <a:r>
              <a:rPr lang="en-US" altLang="zh-CN" sz="1800" dirty="0">
                <a:effectLst/>
                <a:ea typeface="宋体" panose="02010600030101010101" pitchFamily="2" charset="-122"/>
                <a:cs typeface="Times New Roman" panose="02020603050405020304" pitchFamily="18" charset="0"/>
              </a:rPr>
              <a:t>Drug-Target Interaction, DTI</a:t>
            </a:r>
            <a:r>
              <a:rPr lang="zh-CN" altLang="zh-CN" sz="1800">
                <a:effectLst/>
                <a:ea typeface="宋体" panose="02010600030101010101" pitchFamily="2" charset="-122"/>
                <a:cs typeface="Times New Roman" panose="02020603050405020304" pitchFamily="18" charset="0"/>
              </a:rPr>
              <a:t>）的识别与预测在药物研发及生物医学领域的实际应用中具有重要意义，主要包括药物再定位，即预测药物与蛋白质的相互作用有助于发现现有药物的新用途</a:t>
            </a:r>
            <a:endParaRPr lang="zh-CN" altLang="en-US" sz="2000" dirty="0"/>
          </a:p>
        </p:txBody>
      </p:sp>
    </p:spTree>
    <p:extLst>
      <p:ext uri="{BB962C8B-B14F-4D97-AF65-F5344CB8AC3E}">
        <p14:creationId xmlns:p14="http://schemas.microsoft.com/office/powerpoint/2010/main" val="31312714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C7DA5-C67B-8477-ACBE-9D641A162AC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EF4C992-2F01-C587-C941-52113C0EBF5A}"/>
              </a:ext>
            </a:extLst>
          </p:cNvPr>
          <p:cNvSpPr>
            <a:spLocks noGrp="1"/>
          </p:cNvSpPr>
          <p:nvPr>
            <p:ph type="ctrTitle"/>
          </p:nvPr>
        </p:nvSpPr>
        <p:spPr>
          <a:xfrm>
            <a:off x="145366" y="137625"/>
            <a:ext cx="2232074" cy="425083"/>
          </a:xfrm>
        </p:spPr>
        <p:txBody>
          <a:bodyPr>
            <a:noAutofit/>
          </a:bodyPr>
          <a:lstStyle/>
          <a:p>
            <a:r>
              <a:rPr lang="zh-CN" altLang="en-US" sz="2000" b="1" dirty="0">
                <a:highlight>
                  <a:srgbClr val="FFFF00"/>
                </a:highlight>
                <a:latin typeface="宋体" panose="02010600030101010101" pitchFamily="2" charset="-122"/>
                <a:ea typeface="宋体" panose="02010600030101010101" pitchFamily="2" charset="-122"/>
              </a:rPr>
              <a:t>国内外研究现状</a:t>
            </a:r>
          </a:p>
        </p:txBody>
      </p:sp>
      <p:sp>
        <p:nvSpPr>
          <p:cNvPr id="3" name="副标题 2">
            <a:extLst>
              <a:ext uri="{FF2B5EF4-FFF2-40B4-BE49-F238E27FC236}">
                <a16:creationId xmlns:a16="http://schemas.microsoft.com/office/drawing/2014/main" id="{F7E61635-C37D-A71E-751D-3BA2781A8227}"/>
              </a:ext>
            </a:extLst>
          </p:cNvPr>
          <p:cNvSpPr>
            <a:spLocks noGrp="1"/>
          </p:cNvSpPr>
          <p:nvPr>
            <p:ph type="subTitle" idx="1"/>
          </p:nvPr>
        </p:nvSpPr>
        <p:spPr>
          <a:xfrm>
            <a:off x="464234" y="815926"/>
            <a:ext cx="11422966" cy="5767754"/>
          </a:xfrm>
        </p:spPr>
        <p:txBody>
          <a:bodyPr>
            <a:normAutofit/>
          </a:bodyPr>
          <a:lstStyle/>
          <a:p>
            <a:pPr algn="just"/>
            <a:endParaRPr lang="zh-CN" altLang="en-US" sz="2000" dirty="0"/>
          </a:p>
        </p:txBody>
      </p:sp>
    </p:spTree>
    <p:extLst>
      <p:ext uri="{BB962C8B-B14F-4D97-AF65-F5344CB8AC3E}">
        <p14:creationId xmlns:p14="http://schemas.microsoft.com/office/powerpoint/2010/main" val="3268414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D0E20-DA67-C142-2415-64E6001838E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6F11736-4061-410A-2B09-3262758215E5}"/>
              </a:ext>
            </a:extLst>
          </p:cNvPr>
          <p:cNvSpPr>
            <a:spLocks noGrp="1"/>
          </p:cNvSpPr>
          <p:nvPr>
            <p:ph type="ctrTitle"/>
          </p:nvPr>
        </p:nvSpPr>
        <p:spPr>
          <a:xfrm>
            <a:off x="145366" y="137625"/>
            <a:ext cx="1992923" cy="425083"/>
          </a:xfrm>
        </p:spPr>
        <p:txBody>
          <a:bodyPr>
            <a:noAutofit/>
          </a:bodyPr>
          <a:lstStyle/>
          <a:p>
            <a:r>
              <a:rPr lang="zh-CN" altLang="en-US" sz="2000" b="1" dirty="0">
                <a:highlight>
                  <a:srgbClr val="FFFF00"/>
                </a:highlight>
                <a:latin typeface="宋体" panose="02010600030101010101" pitchFamily="2" charset="-122"/>
                <a:ea typeface="宋体" panose="02010600030101010101" pitchFamily="2" charset="-122"/>
              </a:rPr>
              <a:t>关键科学问题</a:t>
            </a:r>
          </a:p>
        </p:txBody>
      </p:sp>
      <p:sp>
        <p:nvSpPr>
          <p:cNvPr id="3" name="副标题 2">
            <a:extLst>
              <a:ext uri="{FF2B5EF4-FFF2-40B4-BE49-F238E27FC236}">
                <a16:creationId xmlns:a16="http://schemas.microsoft.com/office/drawing/2014/main" id="{B40D3C46-09F1-9A18-5756-A7E42922578F}"/>
              </a:ext>
            </a:extLst>
          </p:cNvPr>
          <p:cNvSpPr>
            <a:spLocks noGrp="1"/>
          </p:cNvSpPr>
          <p:nvPr>
            <p:ph type="subTitle" idx="1"/>
          </p:nvPr>
        </p:nvSpPr>
        <p:spPr>
          <a:xfrm>
            <a:off x="464234" y="815926"/>
            <a:ext cx="11422966" cy="5767754"/>
          </a:xfrm>
        </p:spPr>
        <p:txBody>
          <a:bodyPr>
            <a:normAutofit/>
          </a:bodyPr>
          <a:lstStyle/>
          <a:p>
            <a:pPr algn="just"/>
            <a:endParaRPr lang="zh-CN" altLang="en-US" sz="2000" dirty="0"/>
          </a:p>
        </p:txBody>
      </p:sp>
    </p:spTree>
    <p:extLst>
      <p:ext uri="{BB962C8B-B14F-4D97-AF65-F5344CB8AC3E}">
        <p14:creationId xmlns:p14="http://schemas.microsoft.com/office/powerpoint/2010/main" val="10096973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72C70-F4C8-8A04-DA21-4FEECD238B2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51A26B-2E5F-7F68-E1B6-359EFD9A39CA}"/>
              </a:ext>
            </a:extLst>
          </p:cNvPr>
          <p:cNvSpPr>
            <a:spLocks noGrp="1"/>
          </p:cNvSpPr>
          <p:nvPr>
            <p:ph type="ctrTitle"/>
          </p:nvPr>
        </p:nvSpPr>
        <p:spPr>
          <a:xfrm>
            <a:off x="145366" y="137625"/>
            <a:ext cx="1641231" cy="425083"/>
          </a:xfrm>
        </p:spPr>
        <p:txBody>
          <a:bodyPr>
            <a:noAutofit/>
          </a:bodyPr>
          <a:lstStyle/>
          <a:p>
            <a:r>
              <a:rPr lang="zh-CN" altLang="en-US" sz="2000" b="1" dirty="0">
                <a:highlight>
                  <a:srgbClr val="FFFF00"/>
                </a:highlight>
                <a:latin typeface="宋体" panose="02010600030101010101" pitchFamily="2" charset="-122"/>
                <a:ea typeface="宋体" panose="02010600030101010101" pitchFamily="2" charset="-122"/>
              </a:rPr>
              <a:t>研究内容</a:t>
            </a:r>
          </a:p>
        </p:txBody>
      </p:sp>
      <p:sp>
        <p:nvSpPr>
          <p:cNvPr id="3" name="副标题 2">
            <a:extLst>
              <a:ext uri="{FF2B5EF4-FFF2-40B4-BE49-F238E27FC236}">
                <a16:creationId xmlns:a16="http://schemas.microsoft.com/office/drawing/2014/main" id="{BE0A968A-D15A-8AAB-CE66-07D6EA8A04CE}"/>
              </a:ext>
            </a:extLst>
          </p:cNvPr>
          <p:cNvSpPr>
            <a:spLocks noGrp="1"/>
          </p:cNvSpPr>
          <p:nvPr>
            <p:ph type="subTitle" idx="1"/>
          </p:nvPr>
        </p:nvSpPr>
        <p:spPr>
          <a:xfrm>
            <a:off x="464234" y="815926"/>
            <a:ext cx="11422966" cy="5767754"/>
          </a:xfrm>
        </p:spPr>
        <p:txBody>
          <a:bodyPr>
            <a:normAutofit/>
          </a:bodyPr>
          <a:lstStyle/>
          <a:p>
            <a:pPr algn="just"/>
            <a:endParaRPr lang="zh-CN" altLang="en-US" sz="2000" dirty="0"/>
          </a:p>
        </p:txBody>
      </p:sp>
    </p:spTree>
    <p:extLst>
      <p:ext uri="{BB962C8B-B14F-4D97-AF65-F5344CB8AC3E}">
        <p14:creationId xmlns:p14="http://schemas.microsoft.com/office/powerpoint/2010/main" val="34530703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C2183-5D0B-2A35-58D1-D403F953C8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23A7A9-5026-E96C-CC84-8B061E87A4AD}"/>
              </a:ext>
            </a:extLst>
          </p:cNvPr>
          <p:cNvSpPr>
            <a:spLocks noGrp="1"/>
          </p:cNvSpPr>
          <p:nvPr>
            <p:ph type="ctrTitle"/>
          </p:nvPr>
        </p:nvSpPr>
        <p:spPr>
          <a:xfrm>
            <a:off x="145366" y="137625"/>
            <a:ext cx="1641231" cy="425083"/>
          </a:xfrm>
        </p:spPr>
        <p:txBody>
          <a:bodyPr>
            <a:noAutofit/>
          </a:bodyPr>
          <a:lstStyle/>
          <a:p>
            <a:r>
              <a:rPr lang="zh-CN" altLang="en-US" sz="2000" dirty="0">
                <a:latin typeface="宋体" panose="02010600030101010101" pitchFamily="2" charset="-122"/>
                <a:ea typeface="宋体" panose="02010600030101010101" pitchFamily="2" charset="-122"/>
              </a:rPr>
              <a:t>研究内容</a:t>
            </a:r>
          </a:p>
        </p:txBody>
      </p:sp>
      <p:sp>
        <p:nvSpPr>
          <p:cNvPr id="3" name="副标题 2">
            <a:extLst>
              <a:ext uri="{FF2B5EF4-FFF2-40B4-BE49-F238E27FC236}">
                <a16:creationId xmlns:a16="http://schemas.microsoft.com/office/drawing/2014/main" id="{0A84E209-9943-0702-6EA9-CD6121B125FE}"/>
              </a:ext>
            </a:extLst>
          </p:cNvPr>
          <p:cNvSpPr>
            <a:spLocks noGrp="1"/>
          </p:cNvSpPr>
          <p:nvPr>
            <p:ph type="subTitle" idx="1"/>
          </p:nvPr>
        </p:nvSpPr>
        <p:spPr>
          <a:xfrm>
            <a:off x="464234" y="815926"/>
            <a:ext cx="11422966" cy="5767754"/>
          </a:xfrm>
        </p:spPr>
        <p:txBody>
          <a:bodyPr>
            <a:normAutofit/>
          </a:bodyPr>
          <a:lstStyle/>
          <a:p>
            <a:pPr algn="l">
              <a:lnSpc>
                <a:spcPct val="100000"/>
              </a:lnSpc>
              <a:spcBef>
                <a:spcPts val="0"/>
              </a:spcBef>
            </a:pPr>
            <a:r>
              <a:rPr lang="zh-CN" altLang="en-US" sz="2000" dirty="0"/>
              <a:t>研究数据</a:t>
            </a:r>
            <a:br>
              <a:rPr lang="en-US" altLang="zh-CN" sz="2000" dirty="0"/>
            </a:br>
            <a:r>
              <a:rPr lang="zh-CN" altLang="en-US" sz="1800" b="0" i="0" u="none" strike="noStrike" baseline="0" dirty="0">
                <a:latin typeface="SourceHanSerifCN-Regular"/>
              </a:rPr>
              <a:t>药物分子的表示形式包括简化分子线性输入规范（</a:t>
            </a:r>
            <a:r>
              <a:rPr lang="en-US" altLang="zh-CN" sz="1800" b="0" i="0" u="none" strike="noStrike" baseline="0" dirty="0">
                <a:latin typeface="Times New Roman" panose="02020603050405020304" pitchFamily="18" charset="0"/>
              </a:rPr>
              <a:t>SMILES</a:t>
            </a:r>
            <a:r>
              <a:rPr lang="zh-CN" altLang="en-US" sz="1800" b="0" i="0" u="none" strike="noStrike" baseline="0" dirty="0">
                <a:latin typeface="SourceHanSerifCN-Regular"/>
              </a:rPr>
              <a:t>）和药物分子图谱，蛋白质的表示形式包括序列、</a:t>
            </a:r>
            <a:r>
              <a:rPr lang="en-US" altLang="zh-CN" sz="1800" b="0" i="0" u="none" strike="noStrike" baseline="0" dirty="0">
                <a:latin typeface="Times New Roman" panose="02020603050405020304" pitchFamily="18" charset="0"/>
              </a:rPr>
              <a:t>FASTA</a:t>
            </a:r>
            <a:r>
              <a:rPr lang="zh-CN" altLang="en-US" sz="1800" b="0" i="0" u="none" strike="noStrike" baseline="0" dirty="0">
                <a:latin typeface="SourceHanSerifCN-Regular"/>
              </a:rPr>
              <a:t>、</a:t>
            </a:r>
            <a:r>
              <a:rPr lang="en-US" altLang="zh-CN" sz="1800" b="0" i="0" u="none" strike="noStrike" baseline="0" dirty="0">
                <a:latin typeface="Times New Roman" panose="02020603050405020304" pitchFamily="18" charset="0"/>
              </a:rPr>
              <a:t>PDB </a:t>
            </a:r>
            <a:r>
              <a:rPr lang="zh-CN" altLang="en-US" sz="1800" b="0" i="0" u="none" strike="noStrike" baseline="0" dirty="0">
                <a:latin typeface="SourceHanSerifCN-Regular"/>
              </a:rPr>
              <a:t>和蛋白质接触图谱。</a:t>
            </a:r>
            <a:r>
              <a:rPr lang="zh-CN" altLang="en-US" sz="1800" b="0" i="0" u="none" strike="noStrike" baseline="0" dirty="0">
                <a:solidFill>
                  <a:srgbClr val="000000"/>
                </a:solidFill>
                <a:latin typeface="SourceHanSerifCN-Regular"/>
              </a:rPr>
              <a:t>这些数据可以直接从数据资源提供平台获取，也可以使用诸如</a:t>
            </a:r>
            <a:r>
              <a:rPr lang="en-US" altLang="zh-CN" sz="1800" b="0" i="0" u="none" strike="noStrike" baseline="0" dirty="0" err="1">
                <a:solidFill>
                  <a:srgbClr val="0064A4"/>
                </a:solidFill>
                <a:latin typeface="Times New Roman" panose="02020603050405020304" pitchFamily="18" charset="0"/>
              </a:rPr>
              <a:t>rdkit</a:t>
            </a:r>
            <a:r>
              <a:rPr lang="zh-CN" altLang="en-US" sz="1800" b="0" i="0" u="none" strike="noStrike" baseline="0" dirty="0">
                <a:solidFill>
                  <a:srgbClr val="0064A4"/>
                </a:solidFill>
                <a:latin typeface="SourceHanSerifCN-Regular"/>
              </a:rPr>
              <a:t>（</a:t>
            </a:r>
            <a:r>
              <a:rPr lang="en-US" altLang="zh-CN" sz="1800" b="0" i="0" u="none" strike="noStrike" baseline="0" dirty="0" err="1">
                <a:solidFill>
                  <a:srgbClr val="0064A4"/>
                </a:solidFill>
                <a:latin typeface="Times New Roman" panose="02020603050405020304" pitchFamily="18" charset="0"/>
              </a:rPr>
              <a:t>rdkit</a:t>
            </a:r>
            <a:r>
              <a:rPr lang="zh-CN" altLang="en-US" sz="1800" b="0" i="0" u="none" strike="noStrike" baseline="0" dirty="0">
                <a:solidFill>
                  <a:srgbClr val="0064A4"/>
                </a:solidFill>
                <a:latin typeface="SourceHanSerifCN-Regular"/>
              </a:rPr>
              <a:t>：</a:t>
            </a:r>
            <a:r>
              <a:rPr lang="en-US" altLang="zh-CN" sz="1800" b="0" i="0" u="none" strike="noStrike" baseline="0" dirty="0">
                <a:solidFill>
                  <a:srgbClr val="0064A4"/>
                </a:solidFill>
                <a:latin typeface="Times New Roman" panose="02020603050405020304" pitchFamily="18" charset="0"/>
              </a:rPr>
              <a:t>https://rdkit.org</a:t>
            </a:r>
            <a:r>
              <a:rPr lang="zh-CN" altLang="en-US" sz="1800" b="0" i="0" u="none" strike="noStrike" baseline="0" dirty="0">
                <a:solidFill>
                  <a:srgbClr val="000000"/>
                </a:solidFill>
                <a:latin typeface="SourceHanSerifCN-Regular"/>
              </a:rPr>
              <a:t>）之类的工具进行转换和处理</a:t>
            </a:r>
            <a:r>
              <a:rPr lang="zh-CN" altLang="en-US" sz="1800" dirty="0">
                <a:solidFill>
                  <a:srgbClr val="000000"/>
                </a:solidFill>
                <a:latin typeface="SourceHanSerifCN-Regular"/>
              </a:rPr>
              <a:t>。</a:t>
            </a:r>
            <a:br>
              <a:rPr lang="en-US" altLang="zh-CN" sz="1800" dirty="0">
                <a:solidFill>
                  <a:srgbClr val="000000"/>
                </a:solidFill>
                <a:latin typeface="SourceHanSerifCN-Regular"/>
              </a:rPr>
            </a:br>
            <a:r>
              <a:rPr lang="zh-CN" altLang="en-US" sz="1800" b="0" i="0" u="none" strike="noStrike" baseline="0" dirty="0">
                <a:solidFill>
                  <a:srgbClr val="000000"/>
                </a:solidFill>
                <a:latin typeface="SourceHanSerifCN-Regular"/>
              </a:rPr>
              <a:t>这些数据可以根据其维度分为一维（</a:t>
            </a:r>
            <a:r>
              <a:rPr lang="en-US" altLang="zh-CN" sz="1800" b="0" i="0" u="none" strike="noStrike" baseline="0" dirty="0">
                <a:solidFill>
                  <a:srgbClr val="000000"/>
                </a:solidFill>
                <a:latin typeface="Times New Roman" panose="02020603050405020304" pitchFamily="18" charset="0"/>
              </a:rPr>
              <a:t>1D</a:t>
            </a:r>
            <a:r>
              <a:rPr lang="zh-CN" altLang="en-US" sz="1800" b="0" i="0" u="none" strike="noStrike" baseline="0" dirty="0">
                <a:solidFill>
                  <a:srgbClr val="000000"/>
                </a:solidFill>
                <a:latin typeface="SourceHanSerifCN-Regular"/>
              </a:rPr>
              <a:t>）、二维（</a:t>
            </a:r>
            <a:r>
              <a:rPr lang="en-US" altLang="zh-CN" sz="1800" b="0" i="0" u="none" strike="noStrike" baseline="0" dirty="0">
                <a:solidFill>
                  <a:srgbClr val="000000"/>
                </a:solidFill>
                <a:latin typeface="Times New Roman" panose="02020603050405020304" pitchFamily="18" charset="0"/>
              </a:rPr>
              <a:t>2D</a:t>
            </a:r>
            <a:r>
              <a:rPr lang="zh-CN" altLang="en-US" sz="1800" b="0" i="0" u="none" strike="noStrike" baseline="0" dirty="0">
                <a:solidFill>
                  <a:srgbClr val="000000"/>
                </a:solidFill>
                <a:latin typeface="SourceHanSerifCN-Regular"/>
              </a:rPr>
              <a:t>）和三维（</a:t>
            </a:r>
            <a:r>
              <a:rPr lang="en-US" altLang="zh-CN" sz="1800" b="0" i="0" u="none" strike="noStrike" baseline="0" dirty="0">
                <a:solidFill>
                  <a:srgbClr val="000000"/>
                </a:solidFill>
                <a:latin typeface="Times New Roman" panose="02020603050405020304" pitchFamily="18" charset="0"/>
              </a:rPr>
              <a:t>3D</a:t>
            </a:r>
            <a:r>
              <a:rPr lang="zh-CN" altLang="en-US" sz="1800" b="0" i="0" u="none" strike="noStrike" baseline="0" dirty="0">
                <a:solidFill>
                  <a:srgbClr val="000000"/>
                </a:solidFill>
                <a:latin typeface="SourceHanSerifCN-Regular"/>
              </a:rPr>
              <a:t>）数据，包括描述性文本、二值图像和三维模型。具体描述见下表。</a:t>
            </a:r>
            <a:endParaRPr lang="zh-CN" altLang="en-US" sz="2000" dirty="0"/>
          </a:p>
        </p:txBody>
      </p:sp>
    </p:spTree>
    <p:extLst>
      <p:ext uri="{BB962C8B-B14F-4D97-AF65-F5344CB8AC3E}">
        <p14:creationId xmlns:p14="http://schemas.microsoft.com/office/powerpoint/2010/main" val="41382112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50F7C-1C95-92B8-5890-A63C4D1DE1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7DB1C46-7933-7BFC-AE9F-956C5117BD4F}"/>
              </a:ext>
            </a:extLst>
          </p:cNvPr>
          <p:cNvSpPr>
            <a:spLocks noGrp="1"/>
          </p:cNvSpPr>
          <p:nvPr>
            <p:ph type="ctrTitle"/>
          </p:nvPr>
        </p:nvSpPr>
        <p:spPr>
          <a:xfrm>
            <a:off x="145366" y="137625"/>
            <a:ext cx="1641231" cy="425083"/>
          </a:xfrm>
        </p:spPr>
        <p:txBody>
          <a:bodyPr>
            <a:noAutofit/>
          </a:bodyPr>
          <a:lstStyle/>
          <a:p>
            <a:r>
              <a:rPr lang="zh-CN" altLang="en-US" sz="2000" dirty="0">
                <a:latin typeface="宋体" panose="02010600030101010101" pitchFamily="2" charset="-122"/>
                <a:ea typeface="宋体" panose="02010600030101010101" pitchFamily="2" charset="-122"/>
              </a:rPr>
              <a:t>研究内容</a:t>
            </a:r>
          </a:p>
        </p:txBody>
      </p:sp>
      <p:sp>
        <p:nvSpPr>
          <p:cNvPr id="3" name="副标题 2">
            <a:extLst>
              <a:ext uri="{FF2B5EF4-FFF2-40B4-BE49-F238E27FC236}">
                <a16:creationId xmlns:a16="http://schemas.microsoft.com/office/drawing/2014/main" id="{F781E775-1722-39DE-E9DE-F46C311E9A1E}"/>
              </a:ext>
            </a:extLst>
          </p:cNvPr>
          <p:cNvSpPr>
            <a:spLocks noGrp="1"/>
          </p:cNvSpPr>
          <p:nvPr>
            <p:ph type="subTitle" idx="1"/>
          </p:nvPr>
        </p:nvSpPr>
        <p:spPr>
          <a:xfrm>
            <a:off x="464234" y="815926"/>
            <a:ext cx="11422966" cy="5767754"/>
          </a:xfrm>
        </p:spPr>
        <p:txBody>
          <a:bodyPr>
            <a:normAutofit/>
          </a:bodyPr>
          <a:lstStyle/>
          <a:p>
            <a:pPr algn="l">
              <a:lnSpc>
                <a:spcPct val="100000"/>
              </a:lnSpc>
              <a:spcBef>
                <a:spcPts val="0"/>
              </a:spcBef>
            </a:pPr>
            <a:r>
              <a:rPr lang="zh-CN" altLang="en-US" sz="2000" dirty="0"/>
              <a:t>从单一模态到多模态的转变</a:t>
            </a:r>
          </a:p>
        </p:txBody>
      </p:sp>
    </p:spTree>
    <p:extLst>
      <p:ext uri="{BB962C8B-B14F-4D97-AF65-F5344CB8AC3E}">
        <p14:creationId xmlns:p14="http://schemas.microsoft.com/office/powerpoint/2010/main" val="673249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6E3B5-3B5C-EEB8-537C-D57EC49FBDF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42AC228-F0E0-0F74-DAB5-0A156671DC8D}"/>
              </a:ext>
            </a:extLst>
          </p:cNvPr>
          <p:cNvSpPr>
            <a:spLocks noGrp="1"/>
          </p:cNvSpPr>
          <p:nvPr>
            <p:ph type="ctrTitle"/>
          </p:nvPr>
        </p:nvSpPr>
        <p:spPr>
          <a:xfrm>
            <a:off x="145366" y="137625"/>
            <a:ext cx="1641231" cy="425083"/>
          </a:xfrm>
        </p:spPr>
        <p:txBody>
          <a:bodyPr>
            <a:noAutofit/>
          </a:bodyPr>
          <a:lstStyle/>
          <a:p>
            <a:r>
              <a:rPr lang="zh-CN" altLang="en-US" sz="2000" dirty="0">
                <a:latin typeface="宋体" panose="02010600030101010101" pitchFamily="2" charset="-122"/>
                <a:ea typeface="宋体" panose="02010600030101010101" pitchFamily="2" charset="-122"/>
              </a:rPr>
              <a:t>研究内容</a:t>
            </a:r>
          </a:p>
        </p:txBody>
      </p:sp>
      <p:sp>
        <p:nvSpPr>
          <p:cNvPr id="3" name="副标题 2">
            <a:extLst>
              <a:ext uri="{FF2B5EF4-FFF2-40B4-BE49-F238E27FC236}">
                <a16:creationId xmlns:a16="http://schemas.microsoft.com/office/drawing/2014/main" id="{7FBE73F4-032C-A037-85F7-26B29F018584}"/>
              </a:ext>
            </a:extLst>
          </p:cNvPr>
          <p:cNvSpPr>
            <a:spLocks noGrp="1"/>
          </p:cNvSpPr>
          <p:nvPr>
            <p:ph type="subTitle" idx="1"/>
          </p:nvPr>
        </p:nvSpPr>
        <p:spPr>
          <a:xfrm>
            <a:off x="464234" y="815926"/>
            <a:ext cx="11422966" cy="5767754"/>
          </a:xfrm>
        </p:spPr>
        <p:txBody>
          <a:bodyPr>
            <a:normAutofit/>
          </a:bodyPr>
          <a:lstStyle/>
          <a:p>
            <a:pPr algn="l">
              <a:lnSpc>
                <a:spcPct val="100000"/>
              </a:lnSpc>
              <a:spcBef>
                <a:spcPts val="0"/>
              </a:spcBef>
            </a:pPr>
            <a:r>
              <a:rPr lang="zh-CN" altLang="en-US" sz="2000" dirty="0"/>
              <a:t>样本数据处理</a:t>
            </a:r>
            <a:endParaRPr lang="en-US" altLang="zh-CN" sz="2000" dirty="0"/>
          </a:p>
          <a:p>
            <a:pPr algn="l">
              <a:lnSpc>
                <a:spcPct val="100000"/>
              </a:lnSpc>
              <a:spcBef>
                <a:spcPts val="0"/>
              </a:spcBef>
            </a:pPr>
            <a:r>
              <a:rPr lang="en-US" altLang="zh-CN" sz="2000" dirty="0"/>
              <a:t>(1)</a:t>
            </a:r>
            <a:r>
              <a:rPr lang="zh-CN" altLang="zh-CN" sz="1800" dirty="0">
                <a:effectLst/>
                <a:ea typeface="宋体" panose="02010600030101010101" pitchFamily="2" charset="-122"/>
                <a:cs typeface="Times New Roman" panose="02020603050405020304" pitchFamily="18" charset="0"/>
              </a:rPr>
              <a:t>负样本的定义并不统一。当前一些方法将未知的药物</a:t>
            </a:r>
            <a:r>
              <a:rPr lang="en-US" altLang="zh-CN" sz="1800" dirty="0">
                <a:effectLst/>
                <a:ea typeface="宋体" panose="02010600030101010101" pitchFamily="2" charset="-122"/>
                <a:cs typeface="Times New Roman" panose="02020603050405020304" pitchFamily="18" charset="0"/>
              </a:rPr>
              <a:t>- </a:t>
            </a:r>
            <a:r>
              <a:rPr lang="zh-CN" altLang="zh-CN" sz="1800" dirty="0">
                <a:effectLst/>
                <a:ea typeface="宋体" panose="02010600030101010101" pitchFamily="2" charset="-122"/>
                <a:cs typeface="Times New Roman" panose="02020603050405020304" pitchFamily="18" charset="0"/>
              </a:rPr>
              <a:t>靶点相互作用直接训练为负样本，然而实际上，湿实验未排除的药物</a:t>
            </a:r>
            <a:r>
              <a:rPr lang="en-US" altLang="zh-CN" sz="1800" dirty="0">
                <a:effectLst/>
                <a:ea typeface="宋体" panose="02010600030101010101" pitchFamily="2" charset="-122"/>
                <a:cs typeface="Times New Roman" panose="02020603050405020304" pitchFamily="18" charset="0"/>
              </a:rPr>
              <a:t>- </a:t>
            </a:r>
            <a:r>
              <a:rPr lang="zh-CN" altLang="zh-CN" sz="1800" dirty="0">
                <a:effectLst/>
                <a:ea typeface="宋体" panose="02010600030101010101" pitchFamily="2" charset="-122"/>
                <a:cs typeface="Times New Roman" panose="02020603050405020304" pitchFamily="18" charset="0"/>
              </a:rPr>
              <a:t>靶点关系很可能仅仅由于存在隐藏的相互作用而未被检测到。</a:t>
            </a:r>
            <a:endParaRPr lang="en-US" altLang="zh-CN" sz="1800" dirty="0">
              <a:effectLst/>
              <a:ea typeface="宋体" panose="02010600030101010101" pitchFamily="2" charset="-122"/>
              <a:cs typeface="Times New Roman" panose="02020603050405020304" pitchFamily="18" charset="0"/>
            </a:endParaRPr>
          </a:p>
          <a:p>
            <a:pPr algn="l">
              <a:lnSpc>
                <a:spcPct val="100000"/>
              </a:lnSpc>
              <a:spcBef>
                <a:spcPts val="0"/>
              </a:spcBef>
            </a:pPr>
            <a:r>
              <a:rPr lang="zh-CN" altLang="zh-CN" sz="1800" dirty="0">
                <a:effectLst/>
                <a:ea typeface="宋体" panose="02010600030101010101" pitchFamily="2" charset="-122"/>
                <a:cs typeface="Times New Roman" panose="02020603050405020304" pitchFamily="18" charset="0"/>
              </a:rPr>
              <a:t>在</a:t>
            </a:r>
            <a:r>
              <a:rPr lang="en-US" altLang="zh-CN" sz="1800" dirty="0">
                <a:effectLst/>
                <a:ea typeface="宋体" panose="02010600030101010101" pitchFamily="2" charset="-122"/>
                <a:cs typeface="Times New Roman" panose="02020603050405020304" pitchFamily="18" charset="0"/>
              </a:rPr>
              <a:t>DTI</a:t>
            </a:r>
            <a:r>
              <a:rPr lang="zh-CN" altLang="zh-CN" sz="1800" dirty="0">
                <a:effectLst/>
                <a:ea typeface="宋体" panose="02010600030101010101" pitchFamily="2" charset="-122"/>
                <a:cs typeface="Times New Roman" panose="02020603050405020304" pitchFamily="18" charset="0"/>
              </a:rPr>
              <a:t>预测中，</a:t>
            </a:r>
            <a:r>
              <a:rPr lang="en-US" altLang="zh-CN" sz="1800" dirty="0">
                <a:effectLst/>
                <a:ea typeface="宋体" panose="02010600030101010101" pitchFamily="2" charset="-122"/>
                <a:cs typeface="Times New Roman" panose="02020603050405020304" pitchFamily="18" charset="0"/>
              </a:rPr>
              <a:t>“</a:t>
            </a:r>
            <a:r>
              <a:rPr lang="zh-CN" altLang="zh-CN" sz="1800" dirty="0">
                <a:effectLst/>
                <a:ea typeface="宋体" panose="02010600030101010101" pitchFamily="2" charset="-122"/>
                <a:cs typeface="Times New Roman" panose="02020603050405020304" pitchFamily="18" charset="0"/>
              </a:rPr>
              <a:t>负样本</a:t>
            </a:r>
            <a:r>
              <a:rPr lang="en-US" altLang="zh-CN" sz="1800" dirty="0">
                <a:effectLst/>
                <a:ea typeface="宋体" panose="02010600030101010101" pitchFamily="2" charset="-122"/>
                <a:cs typeface="Times New Roman" panose="02020603050405020304" pitchFamily="18" charset="0"/>
              </a:rPr>
              <a:t>”</a:t>
            </a:r>
            <a:r>
              <a:rPr lang="zh-CN" altLang="zh-CN" sz="1800" dirty="0">
                <a:effectLst/>
                <a:ea typeface="宋体" panose="02010600030101010101" pitchFamily="2" charset="-122"/>
                <a:cs typeface="Times New Roman" panose="02020603050405020304" pitchFamily="18" charset="0"/>
              </a:rPr>
              <a:t>通常指无相互作用的药物</a:t>
            </a:r>
            <a:r>
              <a:rPr lang="en-US" altLang="zh-CN" sz="1800" dirty="0">
                <a:effectLst/>
                <a:ea typeface="宋体" panose="02010600030101010101" pitchFamily="2" charset="-122"/>
                <a:cs typeface="Times New Roman" panose="02020603050405020304" pitchFamily="18" charset="0"/>
              </a:rPr>
              <a:t>-</a:t>
            </a:r>
            <a:r>
              <a:rPr lang="zh-CN" altLang="zh-CN" sz="1800" dirty="0">
                <a:effectLst/>
                <a:ea typeface="宋体" panose="02010600030101010101" pitchFamily="2" charset="-122"/>
                <a:cs typeface="Times New Roman" panose="02020603050405020304" pitchFamily="18" charset="0"/>
              </a:rPr>
              <a:t>蛋白组合。然而现实中很难明确哪些药物</a:t>
            </a:r>
            <a:r>
              <a:rPr lang="en-US" altLang="zh-CN" sz="1800" dirty="0">
                <a:effectLst/>
                <a:ea typeface="宋体" panose="02010600030101010101" pitchFamily="2" charset="-122"/>
                <a:cs typeface="Times New Roman" panose="02020603050405020304" pitchFamily="18" charset="0"/>
              </a:rPr>
              <a:t>-</a:t>
            </a:r>
            <a:r>
              <a:rPr lang="zh-CN" altLang="zh-CN" sz="1800" dirty="0">
                <a:effectLst/>
                <a:ea typeface="宋体" panose="02010600030101010101" pitchFamily="2" charset="-122"/>
                <a:cs typeface="Times New Roman" panose="02020603050405020304" pitchFamily="18" charset="0"/>
              </a:rPr>
              <a:t>靶点确实不相互作用，导致负样本的定义缺乏统一标准。许多研究往往将未经验证的任意药物</a:t>
            </a:r>
            <a:r>
              <a:rPr lang="en-US" altLang="zh-CN" sz="1800" dirty="0">
                <a:effectLst/>
                <a:ea typeface="宋体" panose="02010600030101010101" pitchFamily="2" charset="-122"/>
                <a:cs typeface="Times New Roman" panose="02020603050405020304" pitchFamily="18" charset="0"/>
              </a:rPr>
              <a:t>-</a:t>
            </a:r>
            <a:r>
              <a:rPr lang="zh-CN" altLang="zh-CN" sz="1800" dirty="0">
                <a:effectLst/>
                <a:ea typeface="宋体" panose="02010600030101010101" pitchFamily="2" charset="-122"/>
                <a:cs typeface="Times New Roman" panose="02020603050405020304" pitchFamily="18" charset="0"/>
              </a:rPr>
              <a:t>靶点对当作负样本，这可能把尚未被发现的真实相互作用错标为负例。结果是训练数据中混入错误标签，模型学习受到干扰。此外，正负样本数量常极不平衡（真实相互作用很少，假定无作用的对非常多），负样本选择不当会加剧类别不平衡问题</a:t>
            </a:r>
            <a:r>
              <a:rPr lang="en-US" altLang="zh-CN" sz="1800" dirty="0">
                <a:effectLst/>
                <a:latin typeface="Times New Roman" panose="02020603050405020304" pitchFamily="18" charset="0"/>
                <a:ea typeface="宋体" panose="02010600030101010101" pitchFamily="2" charset="-122"/>
              </a:rPr>
              <a:t>​</a:t>
            </a:r>
            <a:r>
              <a:rPr lang="en-US" altLang="zh-CN" sz="1800" dirty="0">
                <a:effectLst/>
                <a:latin typeface="Times New Roman" panose="02020603050405020304" pitchFamily="18" charset="0"/>
                <a:ea typeface="等线" panose="02010600030101010101" pitchFamily="2" charset="-122"/>
              </a:rPr>
              <a:t>[86]</a:t>
            </a:r>
            <a:r>
              <a:rPr lang="zh-CN" altLang="zh-CN" sz="1800" dirty="0">
                <a:effectLst/>
                <a:ea typeface="宋体" panose="02010600030101010101" pitchFamily="2" charset="-122"/>
                <a:cs typeface="Times New Roman" panose="02020603050405020304" pitchFamily="18" charset="0"/>
              </a:rPr>
              <a:t>。这些因素会导致模型性能下降：要么错将潜在相互作用当负样本忽略掉，要么模型偏向预测</a:t>
            </a:r>
            <a:r>
              <a:rPr lang="en-US" altLang="zh-CN" sz="1800" dirty="0">
                <a:effectLst/>
                <a:ea typeface="宋体" panose="02010600030101010101" pitchFamily="2" charset="-122"/>
                <a:cs typeface="Times New Roman" panose="02020603050405020304" pitchFamily="18" charset="0"/>
              </a:rPr>
              <a:t>“</a:t>
            </a:r>
            <a:r>
              <a:rPr lang="zh-CN" altLang="zh-CN" sz="1800" dirty="0">
                <a:effectLst/>
                <a:ea typeface="宋体" panose="02010600030101010101" pitchFamily="2" charset="-122"/>
                <a:cs typeface="Times New Roman" panose="02020603050405020304" pitchFamily="18" charset="0"/>
              </a:rPr>
              <a:t>大多数</a:t>
            </a:r>
            <a:r>
              <a:rPr lang="en-US" altLang="zh-CN" sz="1800" dirty="0">
                <a:effectLst/>
                <a:ea typeface="宋体" panose="02010600030101010101" pitchFamily="2" charset="-122"/>
                <a:cs typeface="Times New Roman" panose="02020603050405020304" pitchFamily="18" charset="0"/>
              </a:rPr>
              <a:t>”</a:t>
            </a:r>
            <a:r>
              <a:rPr lang="zh-CN" altLang="zh-CN" sz="1800" dirty="0">
                <a:effectLst/>
                <a:ea typeface="宋体" panose="02010600030101010101" pitchFamily="2" charset="-122"/>
                <a:cs typeface="Times New Roman" panose="02020603050405020304" pitchFamily="18" charset="0"/>
              </a:rPr>
              <a:t>的负类，难以识别少数正类</a:t>
            </a:r>
            <a:endParaRPr lang="zh-CN" altLang="en-US" sz="2000" dirty="0"/>
          </a:p>
        </p:txBody>
      </p:sp>
    </p:spTree>
    <p:extLst>
      <p:ext uri="{BB962C8B-B14F-4D97-AF65-F5344CB8AC3E}">
        <p14:creationId xmlns:p14="http://schemas.microsoft.com/office/powerpoint/2010/main" val="40060342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DDDB2-2E38-37E2-6E1B-4D773150DE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7275123-395F-7F6B-1600-85B35E28D108}"/>
              </a:ext>
            </a:extLst>
          </p:cNvPr>
          <p:cNvSpPr>
            <a:spLocks noGrp="1"/>
          </p:cNvSpPr>
          <p:nvPr>
            <p:ph type="ctrTitle"/>
          </p:nvPr>
        </p:nvSpPr>
        <p:spPr>
          <a:xfrm>
            <a:off x="-143471" y="-53608"/>
            <a:ext cx="1641231" cy="425083"/>
          </a:xfrm>
        </p:spPr>
        <p:txBody>
          <a:bodyPr>
            <a:noAutofit/>
          </a:bodyPr>
          <a:lstStyle/>
          <a:p>
            <a:r>
              <a:rPr lang="zh-CN" altLang="en-US" sz="2000" b="1" dirty="0">
                <a:highlight>
                  <a:srgbClr val="FFFF00"/>
                </a:highlight>
                <a:latin typeface="宋体" panose="02010600030101010101" pitchFamily="2" charset="-122"/>
                <a:ea typeface="宋体" panose="02010600030101010101" pitchFamily="2" charset="-122"/>
              </a:rPr>
              <a:t>技术路线</a:t>
            </a:r>
          </a:p>
        </p:txBody>
      </p:sp>
      <p:sp>
        <p:nvSpPr>
          <p:cNvPr id="3" name="副标题 2">
            <a:extLst>
              <a:ext uri="{FF2B5EF4-FFF2-40B4-BE49-F238E27FC236}">
                <a16:creationId xmlns:a16="http://schemas.microsoft.com/office/drawing/2014/main" id="{960A936A-24F3-7F2F-438C-B7505DFCFFA8}"/>
              </a:ext>
            </a:extLst>
          </p:cNvPr>
          <p:cNvSpPr>
            <a:spLocks noGrp="1"/>
          </p:cNvSpPr>
          <p:nvPr>
            <p:ph type="subTitle" idx="1"/>
          </p:nvPr>
        </p:nvSpPr>
        <p:spPr>
          <a:xfrm>
            <a:off x="0" y="371475"/>
            <a:ext cx="11887200" cy="295009"/>
          </a:xfrm>
        </p:spPr>
        <p:txBody>
          <a:bodyPr>
            <a:normAutofit fontScale="85000" lnSpcReduction="20000"/>
          </a:bodyPr>
          <a:lstStyle/>
          <a:p>
            <a:pPr algn="just"/>
            <a:r>
              <a:rPr lang="zh-CN" altLang="en-US" sz="2000" dirty="0"/>
              <a:t>负样本筛选</a:t>
            </a:r>
          </a:p>
        </p:txBody>
      </p:sp>
      <p:grpSp>
        <p:nvGrpSpPr>
          <p:cNvPr id="47" name="组合 46">
            <a:extLst>
              <a:ext uri="{FF2B5EF4-FFF2-40B4-BE49-F238E27FC236}">
                <a16:creationId xmlns:a16="http://schemas.microsoft.com/office/drawing/2014/main" id="{D01050AC-44E7-4D04-7B4D-504E141D2EB2}"/>
              </a:ext>
            </a:extLst>
          </p:cNvPr>
          <p:cNvGrpSpPr/>
          <p:nvPr/>
        </p:nvGrpSpPr>
        <p:grpSpPr>
          <a:xfrm>
            <a:off x="173958" y="781050"/>
            <a:ext cx="11315436" cy="5840474"/>
            <a:chOff x="173958" y="781050"/>
            <a:chExt cx="11315436" cy="5840474"/>
          </a:xfrm>
        </p:grpSpPr>
        <p:cxnSp>
          <p:nvCxnSpPr>
            <p:cNvPr id="110" name="连接符: 肘形 109">
              <a:extLst>
                <a:ext uri="{FF2B5EF4-FFF2-40B4-BE49-F238E27FC236}">
                  <a16:creationId xmlns:a16="http://schemas.microsoft.com/office/drawing/2014/main" id="{1B259189-144F-7BAC-E27B-5AB564D9DAFC}"/>
                </a:ext>
              </a:extLst>
            </p:cNvPr>
            <p:cNvCxnSpPr>
              <a:cxnSpLocks/>
              <a:stCxn id="22" idx="3"/>
              <a:endCxn id="35" idx="1"/>
            </p:cNvCxnSpPr>
            <p:nvPr/>
          </p:nvCxnSpPr>
          <p:spPr>
            <a:xfrm>
              <a:off x="1979225" y="3987319"/>
              <a:ext cx="1213409" cy="899212"/>
            </a:xfrm>
            <a:prstGeom prst="bentConnector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93" name="直接箭头连接符 192">
              <a:extLst>
                <a:ext uri="{FF2B5EF4-FFF2-40B4-BE49-F238E27FC236}">
                  <a16:creationId xmlns:a16="http://schemas.microsoft.com/office/drawing/2014/main" id="{6F7258D2-E3DE-8B0F-D599-BADB33030ADF}"/>
                </a:ext>
              </a:extLst>
            </p:cNvPr>
            <p:cNvCxnSpPr>
              <a:cxnSpLocks/>
              <a:stCxn id="32" idx="3"/>
              <a:endCxn id="33" idx="1"/>
            </p:cNvCxnSpPr>
            <p:nvPr/>
          </p:nvCxnSpPr>
          <p:spPr>
            <a:xfrm>
              <a:off x="5657849" y="2627767"/>
              <a:ext cx="1030742" cy="1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30" name="组合 29">
              <a:extLst>
                <a:ext uri="{FF2B5EF4-FFF2-40B4-BE49-F238E27FC236}">
                  <a16:creationId xmlns:a16="http://schemas.microsoft.com/office/drawing/2014/main" id="{FF187B56-0BAE-44AC-293C-246CA3CF9814}"/>
                </a:ext>
              </a:extLst>
            </p:cNvPr>
            <p:cNvGrpSpPr/>
            <p:nvPr/>
          </p:nvGrpSpPr>
          <p:grpSpPr>
            <a:xfrm>
              <a:off x="173958" y="781050"/>
              <a:ext cx="11315436" cy="5840474"/>
              <a:chOff x="173958" y="781050"/>
              <a:chExt cx="11315436" cy="5840474"/>
            </a:xfrm>
          </p:grpSpPr>
          <p:cxnSp>
            <p:nvCxnSpPr>
              <p:cNvPr id="202" name="连接符: 肘形 201">
                <a:extLst>
                  <a:ext uri="{FF2B5EF4-FFF2-40B4-BE49-F238E27FC236}">
                    <a16:creationId xmlns:a16="http://schemas.microsoft.com/office/drawing/2014/main" id="{A9CB7E7F-BC72-CF7F-E0C0-069D8B84BE9A}"/>
                  </a:ext>
                </a:extLst>
              </p:cNvPr>
              <p:cNvCxnSpPr>
                <a:cxnSpLocks/>
                <a:stCxn id="33" idx="3"/>
                <a:endCxn id="43" idx="3"/>
              </p:cNvCxnSpPr>
              <p:nvPr/>
            </p:nvCxnSpPr>
            <p:spPr>
              <a:xfrm>
                <a:off x="7739145" y="2627910"/>
                <a:ext cx="3749833" cy="3567384"/>
              </a:xfrm>
              <a:prstGeom prst="bentConnector3">
                <a:avLst>
                  <a:gd name="adj1" fmla="val 106096"/>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29" name="组合 28">
                <a:extLst>
                  <a:ext uri="{FF2B5EF4-FFF2-40B4-BE49-F238E27FC236}">
                    <a16:creationId xmlns:a16="http://schemas.microsoft.com/office/drawing/2014/main" id="{97116B41-A5F6-37BE-66D9-E82B28456A97}"/>
                  </a:ext>
                </a:extLst>
              </p:cNvPr>
              <p:cNvGrpSpPr/>
              <p:nvPr/>
            </p:nvGrpSpPr>
            <p:grpSpPr>
              <a:xfrm>
                <a:off x="173958" y="781050"/>
                <a:ext cx="11315436" cy="5840474"/>
                <a:chOff x="173958" y="781050"/>
                <a:chExt cx="11315436" cy="5840474"/>
              </a:xfrm>
            </p:grpSpPr>
            <p:sp>
              <p:nvSpPr>
                <p:cNvPr id="4" name="流程图: 磁盘 3">
                  <a:extLst>
                    <a:ext uri="{FF2B5EF4-FFF2-40B4-BE49-F238E27FC236}">
                      <a16:creationId xmlns:a16="http://schemas.microsoft.com/office/drawing/2014/main" id="{EB26F505-46F6-0C1B-1FBE-20915228A4A8}"/>
                    </a:ext>
                  </a:extLst>
                </p:cNvPr>
                <p:cNvSpPr/>
                <p:nvPr/>
              </p:nvSpPr>
              <p:spPr>
                <a:xfrm>
                  <a:off x="391877" y="1409160"/>
                  <a:ext cx="570539" cy="235671"/>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a:extLst>
                    <a:ext uri="{FF2B5EF4-FFF2-40B4-BE49-F238E27FC236}">
                      <a16:creationId xmlns:a16="http://schemas.microsoft.com/office/drawing/2014/main" id="{EB60FE71-5F3C-071F-A991-7DD4C538D3A9}"/>
                    </a:ext>
                  </a:extLst>
                </p:cNvPr>
                <p:cNvSpPr txBox="1"/>
                <p:nvPr/>
              </p:nvSpPr>
              <p:spPr>
                <a:xfrm>
                  <a:off x="377992" y="1704170"/>
                  <a:ext cx="542136" cy="261610"/>
                </a:xfrm>
                <a:prstGeom prst="rect">
                  <a:avLst/>
                </a:prstGeom>
                <a:noFill/>
              </p:spPr>
              <p:txBody>
                <a:bodyPr wrap="none" rtlCol="0">
                  <a:spAutoFit/>
                </a:bodyPr>
                <a:lstStyle/>
                <a:p>
                  <a:r>
                    <a:rPr lang="en-US" altLang="zh-CN" sz="1100" dirty="0"/>
                    <a:t>PFAM</a:t>
                  </a:r>
                </a:p>
              </p:txBody>
            </p:sp>
            <p:sp>
              <p:nvSpPr>
                <p:cNvPr id="6" name="流程图: 磁盘 5">
                  <a:extLst>
                    <a:ext uri="{FF2B5EF4-FFF2-40B4-BE49-F238E27FC236}">
                      <a16:creationId xmlns:a16="http://schemas.microsoft.com/office/drawing/2014/main" id="{7446C4BF-04E1-37BC-617C-A4CF0540F7F9}"/>
                    </a:ext>
                  </a:extLst>
                </p:cNvPr>
                <p:cNvSpPr/>
                <p:nvPr/>
              </p:nvSpPr>
              <p:spPr>
                <a:xfrm>
                  <a:off x="1181799" y="1409160"/>
                  <a:ext cx="570539" cy="235671"/>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17463301-926E-6264-9343-494DF5D84B51}"/>
                    </a:ext>
                  </a:extLst>
                </p:cNvPr>
                <p:cNvSpPr txBox="1"/>
                <p:nvPr/>
              </p:nvSpPr>
              <p:spPr>
                <a:xfrm>
                  <a:off x="990963" y="871383"/>
                  <a:ext cx="954107" cy="276999"/>
                </a:xfrm>
                <a:prstGeom prst="rect">
                  <a:avLst/>
                </a:prstGeom>
                <a:noFill/>
              </p:spPr>
              <p:txBody>
                <a:bodyPr wrap="none" rtlCol="0">
                  <a:spAutoFit/>
                </a:bodyPr>
                <a:lstStyle/>
                <a:p>
                  <a:r>
                    <a:rPr lang="zh-CN" altLang="en-US" sz="1200" dirty="0"/>
                    <a:t>蛋白质数据</a:t>
                  </a:r>
                  <a:endParaRPr lang="en-US" altLang="zh-CN" sz="1200" dirty="0"/>
                </a:p>
              </p:txBody>
            </p:sp>
            <p:sp>
              <p:nvSpPr>
                <p:cNvPr id="8" name="流程图: 磁盘 7">
                  <a:extLst>
                    <a:ext uri="{FF2B5EF4-FFF2-40B4-BE49-F238E27FC236}">
                      <a16:creationId xmlns:a16="http://schemas.microsoft.com/office/drawing/2014/main" id="{ADD3B483-8780-430A-EAC4-270DC2E8C59C}"/>
                    </a:ext>
                  </a:extLst>
                </p:cNvPr>
                <p:cNvSpPr/>
                <p:nvPr/>
              </p:nvSpPr>
              <p:spPr>
                <a:xfrm>
                  <a:off x="2022521" y="1409160"/>
                  <a:ext cx="570539" cy="235671"/>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a:extLst>
                    <a:ext uri="{FF2B5EF4-FFF2-40B4-BE49-F238E27FC236}">
                      <a16:creationId xmlns:a16="http://schemas.microsoft.com/office/drawing/2014/main" id="{D745C5D3-9B85-C5BB-B5FE-2813F29AC97A}"/>
                    </a:ext>
                  </a:extLst>
                </p:cNvPr>
                <p:cNvSpPr txBox="1"/>
                <p:nvPr/>
              </p:nvSpPr>
              <p:spPr>
                <a:xfrm>
                  <a:off x="2122940" y="1704170"/>
                  <a:ext cx="388248" cy="261610"/>
                </a:xfrm>
                <a:prstGeom prst="rect">
                  <a:avLst/>
                </a:prstGeom>
                <a:noFill/>
              </p:spPr>
              <p:txBody>
                <a:bodyPr wrap="none" rtlCol="0">
                  <a:spAutoFit/>
                </a:bodyPr>
                <a:lstStyle/>
                <a:p>
                  <a:r>
                    <a:rPr lang="en-US" altLang="zh-CN" sz="1100" dirty="0"/>
                    <a:t>GO</a:t>
                  </a:r>
                </a:p>
              </p:txBody>
            </p:sp>
            <p:sp>
              <p:nvSpPr>
                <p:cNvPr id="10" name="文本框 9">
                  <a:extLst>
                    <a:ext uri="{FF2B5EF4-FFF2-40B4-BE49-F238E27FC236}">
                      <a16:creationId xmlns:a16="http://schemas.microsoft.com/office/drawing/2014/main" id="{10F83C01-A8D7-362E-2270-560763BD94C8}"/>
                    </a:ext>
                  </a:extLst>
                </p:cNvPr>
                <p:cNvSpPr txBox="1"/>
                <p:nvPr/>
              </p:nvSpPr>
              <p:spPr>
                <a:xfrm>
                  <a:off x="1185855" y="1698808"/>
                  <a:ext cx="527709" cy="261610"/>
                </a:xfrm>
                <a:prstGeom prst="rect">
                  <a:avLst/>
                </a:prstGeom>
                <a:noFill/>
              </p:spPr>
              <p:txBody>
                <a:bodyPr wrap="none" rtlCol="0">
                  <a:spAutoFit/>
                </a:bodyPr>
                <a:lstStyle/>
                <a:p>
                  <a:r>
                    <a:rPr lang="en-US" altLang="zh-CN" sz="1100" dirty="0"/>
                    <a:t>UCSC</a:t>
                  </a:r>
                </a:p>
              </p:txBody>
            </p:sp>
            <p:sp>
              <p:nvSpPr>
                <p:cNvPr id="11" name="流程图: 磁盘 10">
                  <a:extLst>
                    <a:ext uri="{FF2B5EF4-FFF2-40B4-BE49-F238E27FC236}">
                      <a16:creationId xmlns:a16="http://schemas.microsoft.com/office/drawing/2014/main" id="{03BC2603-B3E6-70B9-42BC-CCEB9D991AF8}"/>
                    </a:ext>
                  </a:extLst>
                </p:cNvPr>
                <p:cNvSpPr/>
                <p:nvPr/>
              </p:nvSpPr>
              <p:spPr>
                <a:xfrm>
                  <a:off x="3263671" y="1403798"/>
                  <a:ext cx="570539" cy="235671"/>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a:extLst>
                    <a:ext uri="{FF2B5EF4-FFF2-40B4-BE49-F238E27FC236}">
                      <a16:creationId xmlns:a16="http://schemas.microsoft.com/office/drawing/2014/main" id="{08A06520-F478-ADEA-D8D1-D2F24E5A477B}"/>
                    </a:ext>
                  </a:extLst>
                </p:cNvPr>
                <p:cNvSpPr txBox="1"/>
                <p:nvPr/>
              </p:nvSpPr>
              <p:spPr>
                <a:xfrm>
                  <a:off x="3192634" y="1698808"/>
                  <a:ext cx="625492" cy="261610"/>
                </a:xfrm>
                <a:prstGeom prst="rect">
                  <a:avLst/>
                </a:prstGeom>
                <a:noFill/>
              </p:spPr>
              <p:txBody>
                <a:bodyPr wrap="none" rtlCol="0">
                  <a:spAutoFit/>
                </a:bodyPr>
                <a:lstStyle/>
                <a:p>
                  <a:r>
                    <a:rPr lang="en-US" altLang="zh-CN" sz="1100" dirty="0"/>
                    <a:t>STITCH</a:t>
                  </a:r>
                </a:p>
              </p:txBody>
            </p:sp>
            <p:sp>
              <p:nvSpPr>
                <p:cNvPr id="13" name="流程图: 磁盘 12">
                  <a:extLst>
                    <a:ext uri="{FF2B5EF4-FFF2-40B4-BE49-F238E27FC236}">
                      <a16:creationId xmlns:a16="http://schemas.microsoft.com/office/drawing/2014/main" id="{D59B15B1-D695-5DE3-3545-CC9E94DC37FC}"/>
                    </a:ext>
                  </a:extLst>
                </p:cNvPr>
                <p:cNvSpPr/>
                <p:nvPr/>
              </p:nvSpPr>
              <p:spPr>
                <a:xfrm>
                  <a:off x="4158368" y="1403798"/>
                  <a:ext cx="570539" cy="235671"/>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0EC43D40-8D99-AA41-8286-DB25D1A65B60}"/>
                    </a:ext>
                  </a:extLst>
                </p:cNvPr>
                <p:cNvSpPr txBox="1"/>
                <p:nvPr/>
              </p:nvSpPr>
              <p:spPr>
                <a:xfrm>
                  <a:off x="3746764" y="900285"/>
                  <a:ext cx="1107996" cy="276999"/>
                </a:xfrm>
                <a:prstGeom prst="rect">
                  <a:avLst/>
                </a:prstGeom>
                <a:noFill/>
              </p:spPr>
              <p:txBody>
                <a:bodyPr wrap="none" rtlCol="0">
                  <a:spAutoFit/>
                </a:bodyPr>
                <a:lstStyle/>
                <a:p>
                  <a:r>
                    <a:rPr lang="zh-CN" altLang="en-US" sz="1200" dirty="0"/>
                    <a:t>相互作用数据</a:t>
                  </a:r>
                  <a:endParaRPr lang="en-US" altLang="zh-CN" sz="1200" dirty="0"/>
                </a:p>
              </p:txBody>
            </p:sp>
            <p:sp>
              <p:nvSpPr>
                <p:cNvPr id="15" name="流程图: 磁盘 14">
                  <a:extLst>
                    <a:ext uri="{FF2B5EF4-FFF2-40B4-BE49-F238E27FC236}">
                      <a16:creationId xmlns:a16="http://schemas.microsoft.com/office/drawing/2014/main" id="{A4C9434A-CEB4-D17F-E0F6-1785EB4F4510}"/>
                    </a:ext>
                  </a:extLst>
                </p:cNvPr>
                <p:cNvSpPr/>
                <p:nvPr/>
              </p:nvSpPr>
              <p:spPr>
                <a:xfrm>
                  <a:off x="4976865" y="1394273"/>
                  <a:ext cx="570539" cy="235671"/>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80102C24-C993-D3BD-B9CE-D12A4B44CDDF}"/>
                    </a:ext>
                  </a:extLst>
                </p:cNvPr>
                <p:cNvSpPr txBox="1"/>
                <p:nvPr/>
              </p:nvSpPr>
              <p:spPr>
                <a:xfrm>
                  <a:off x="4862966" y="1698808"/>
                  <a:ext cx="780983" cy="261610"/>
                </a:xfrm>
                <a:prstGeom prst="rect">
                  <a:avLst/>
                </a:prstGeom>
                <a:noFill/>
              </p:spPr>
              <p:txBody>
                <a:bodyPr wrap="none" rtlCol="0">
                  <a:spAutoFit/>
                </a:bodyPr>
                <a:lstStyle/>
                <a:p>
                  <a:r>
                    <a:rPr lang="en-US" altLang="zh-CN" sz="1100" dirty="0" err="1"/>
                    <a:t>DrugBank</a:t>
                  </a:r>
                  <a:endParaRPr lang="en-US" altLang="zh-CN" sz="1100" dirty="0"/>
                </a:p>
              </p:txBody>
            </p:sp>
            <p:sp>
              <p:nvSpPr>
                <p:cNvPr id="17" name="文本框 16">
                  <a:extLst>
                    <a:ext uri="{FF2B5EF4-FFF2-40B4-BE49-F238E27FC236}">
                      <a16:creationId xmlns:a16="http://schemas.microsoft.com/office/drawing/2014/main" id="{5F2352B7-88FC-3BFF-5981-62D06B70CFA2}"/>
                    </a:ext>
                  </a:extLst>
                </p:cNvPr>
                <p:cNvSpPr txBox="1"/>
                <p:nvPr/>
              </p:nvSpPr>
              <p:spPr>
                <a:xfrm>
                  <a:off x="4076696" y="1693446"/>
                  <a:ext cx="702436" cy="261610"/>
                </a:xfrm>
                <a:prstGeom prst="rect">
                  <a:avLst/>
                </a:prstGeom>
                <a:noFill/>
              </p:spPr>
              <p:txBody>
                <a:bodyPr wrap="none" rtlCol="0">
                  <a:spAutoFit/>
                </a:bodyPr>
                <a:lstStyle/>
                <a:p>
                  <a:r>
                    <a:rPr lang="en-US" altLang="zh-CN" sz="1100" dirty="0"/>
                    <a:t>Matador</a:t>
                  </a:r>
                </a:p>
              </p:txBody>
            </p:sp>
            <p:sp>
              <p:nvSpPr>
                <p:cNvPr id="18" name="流程图: 可选过程 17">
                  <a:extLst>
                    <a:ext uri="{FF2B5EF4-FFF2-40B4-BE49-F238E27FC236}">
                      <a16:creationId xmlns:a16="http://schemas.microsoft.com/office/drawing/2014/main" id="{17AAD993-2252-B234-FDB9-179C117A9ACB}"/>
                    </a:ext>
                  </a:extLst>
                </p:cNvPr>
                <p:cNvSpPr/>
                <p:nvPr/>
              </p:nvSpPr>
              <p:spPr>
                <a:xfrm>
                  <a:off x="274399" y="2371725"/>
                  <a:ext cx="751822" cy="369332"/>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t>领域相似性</a:t>
                  </a:r>
                </a:p>
              </p:txBody>
            </p:sp>
            <p:sp>
              <p:nvSpPr>
                <p:cNvPr id="19" name="流程图: 可选过程 18">
                  <a:extLst>
                    <a:ext uri="{FF2B5EF4-FFF2-40B4-BE49-F238E27FC236}">
                      <a16:creationId xmlns:a16="http://schemas.microsoft.com/office/drawing/2014/main" id="{F252B0F5-D757-8B9C-8574-6489FBA4118E}"/>
                    </a:ext>
                  </a:extLst>
                </p:cNvPr>
                <p:cNvSpPr/>
                <p:nvPr/>
              </p:nvSpPr>
              <p:spPr>
                <a:xfrm>
                  <a:off x="1066706" y="2384425"/>
                  <a:ext cx="751822" cy="369332"/>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t>序列相似性</a:t>
                  </a:r>
                </a:p>
              </p:txBody>
            </p:sp>
            <p:sp>
              <p:nvSpPr>
                <p:cNvPr id="20" name="流程图: 可选过程 19">
                  <a:extLst>
                    <a:ext uri="{FF2B5EF4-FFF2-40B4-BE49-F238E27FC236}">
                      <a16:creationId xmlns:a16="http://schemas.microsoft.com/office/drawing/2014/main" id="{AD7BE6B9-0B12-9BB0-C619-CECFB80DEF3B}"/>
                    </a:ext>
                  </a:extLst>
                </p:cNvPr>
                <p:cNvSpPr/>
                <p:nvPr/>
              </p:nvSpPr>
              <p:spPr>
                <a:xfrm>
                  <a:off x="1935213" y="2369582"/>
                  <a:ext cx="751822" cy="369332"/>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t>注释相似性</a:t>
                  </a:r>
                </a:p>
              </p:txBody>
            </p:sp>
            <p:sp>
              <p:nvSpPr>
                <p:cNvPr id="21" name="流程图: 过程 20">
                  <a:extLst>
                    <a:ext uri="{FF2B5EF4-FFF2-40B4-BE49-F238E27FC236}">
                      <a16:creationId xmlns:a16="http://schemas.microsoft.com/office/drawing/2014/main" id="{5AA5A8A1-540C-1F7D-51B4-66CD229C7CD7}"/>
                    </a:ext>
                  </a:extLst>
                </p:cNvPr>
                <p:cNvSpPr/>
                <p:nvPr/>
              </p:nvSpPr>
              <p:spPr>
                <a:xfrm>
                  <a:off x="928671" y="3094333"/>
                  <a:ext cx="1050554" cy="369332"/>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蛋白质</a:t>
                  </a:r>
                  <a:r>
                    <a:rPr lang="en-US" altLang="zh-CN" sz="1100" dirty="0"/>
                    <a:t>-</a:t>
                  </a:r>
                  <a:r>
                    <a:rPr lang="zh-CN" altLang="en-US" sz="1100" dirty="0"/>
                    <a:t>蛋白质相似性</a:t>
                  </a:r>
                </a:p>
              </p:txBody>
            </p:sp>
            <p:sp>
              <p:nvSpPr>
                <p:cNvPr id="22" name="流程图: 过程 21">
                  <a:extLst>
                    <a:ext uri="{FF2B5EF4-FFF2-40B4-BE49-F238E27FC236}">
                      <a16:creationId xmlns:a16="http://schemas.microsoft.com/office/drawing/2014/main" id="{5B22877A-13DC-767C-5012-76381F3C203C}"/>
                    </a:ext>
                  </a:extLst>
                </p:cNvPr>
                <p:cNvSpPr/>
                <p:nvPr/>
              </p:nvSpPr>
              <p:spPr>
                <a:xfrm>
                  <a:off x="928671" y="3802653"/>
                  <a:ext cx="1050554" cy="369332"/>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药物</a:t>
                  </a:r>
                  <a:r>
                    <a:rPr lang="en-US" altLang="zh-CN" sz="1100" dirty="0"/>
                    <a:t>-</a:t>
                  </a:r>
                  <a:r>
                    <a:rPr lang="zh-CN" altLang="en-US" sz="1100" dirty="0"/>
                    <a:t>药物相似性</a:t>
                  </a:r>
                </a:p>
              </p:txBody>
            </p:sp>
            <p:sp>
              <p:nvSpPr>
                <p:cNvPr id="23" name="流程图: 可选过程 22">
                  <a:extLst>
                    <a:ext uri="{FF2B5EF4-FFF2-40B4-BE49-F238E27FC236}">
                      <a16:creationId xmlns:a16="http://schemas.microsoft.com/office/drawing/2014/main" id="{C0FAAF1C-3272-C882-BAE4-E1EBDB71DDBE}"/>
                    </a:ext>
                  </a:extLst>
                </p:cNvPr>
                <p:cNvSpPr/>
                <p:nvPr/>
              </p:nvSpPr>
              <p:spPr>
                <a:xfrm>
                  <a:off x="431449" y="4543835"/>
                  <a:ext cx="751822" cy="369332"/>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t>结构相似性</a:t>
                  </a:r>
                </a:p>
              </p:txBody>
            </p:sp>
            <p:sp>
              <p:nvSpPr>
                <p:cNvPr id="24" name="流程图: 可选过程 23">
                  <a:extLst>
                    <a:ext uri="{FF2B5EF4-FFF2-40B4-BE49-F238E27FC236}">
                      <a16:creationId xmlns:a16="http://schemas.microsoft.com/office/drawing/2014/main" id="{8D32C367-2A05-4537-B152-2D41D327DF4B}"/>
                    </a:ext>
                  </a:extLst>
                </p:cNvPr>
                <p:cNvSpPr/>
                <p:nvPr/>
              </p:nvSpPr>
              <p:spPr>
                <a:xfrm>
                  <a:off x="1603314" y="4543835"/>
                  <a:ext cx="751822" cy="369332"/>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t>副作用相似性</a:t>
                  </a:r>
                </a:p>
              </p:txBody>
            </p:sp>
            <p:sp>
              <p:nvSpPr>
                <p:cNvPr id="25" name="流程图: 磁盘 24">
                  <a:extLst>
                    <a:ext uri="{FF2B5EF4-FFF2-40B4-BE49-F238E27FC236}">
                      <a16:creationId xmlns:a16="http://schemas.microsoft.com/office/drawing/2014/main" id="{8AC36749-899D-68E1-8CAB-06919DA37C38}"/>
                    </a:ext>
                  </a:extLst>
                </p:cNvPr>
                <p:cNvSpPr/>
                <p:nvPr/>
              </p:nvSpPr>
              <p:spPr>
                <a:xfrm>
                  <a:off x="511626" y="5562242"/>
                  <a:ext cx="570539" cy="235671"/>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文本框 25">
                  <a:extLst>
                    <a:ext uri="{FF2B5EF4-FFF2-40B4-BE49-F238E27FC236}">
                      <a16:creationId xmlns:a16="http://schemas.microsoft.com/office/drawing/2014/main" id="{3E8324E4-E277-7D58-82D4-20F18931D379}"/>
                    </a:ext>
                  </a:extLst>
                </p:cNvPr>
                <p:cNvSpPr txBox="1"/>
                <p:nvPr/>
              </p:nvSpPr>
              <p:spPr>
                <a:xfrm>
                  <a:off x="426301" y="5857252"/>
                  <a:ext cx="776175" cy="261610"/>
                </a:xfrm>
                <a:prstGeom prst="rect">
                  <a:avLst/>
                </a:prstGeom>
                <a:noFill/>
              </p:spPr>
              <p:txBody>
                <a:bodyPr wrap="none" rtlCol="0">
                  <a:spAutoFit/>
                </a:bodyPr>
                <a:lstStyle/>
                <a:p>
                  <a:r>
                    <a:rPr lang="en-US" altLang="zh-CN" sz="1100" dirty="0"/>
                    <a:t>PubChem</a:t>
                  </a:r>
                </a:p>
              </p:txBody>
            </p:sp>
            <p:sp>
              <p:nvSpPr>
                <p:cNvPr id="27" name="流程图: 磁盘 26">
                  <a:extLst>
                    <a:ext uri="{FF2B5EF4-FFF2-40B4-BE49-F238E27FC236}">
                      <a16:creationId xmlns:a16="http://schemas.microsoft.com/office/drawing/2014/main" id="{0F03E1E6-7A11-0676-C008-CD80A379C5E1}"/>
                    </a:ext>
                  </a:extLst>
                </p:cNvPr>
                <p:cNvSpPr/>
                <p:nvPr/>
              </p:nvSpPr>
              <p:spPr>
                <a:xfrm>
                  <a:off x="1695248" y="5562242"/>
                  <a:ext cx="570539" cy="235671"/>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a:extLst>
                    <a:ext uri="{FF2B5EF4-FFF2-40B4-BE49-F238E27FC236}">
                      <a16:creationId xmlns:a16="http://schemas.microsoft.com/office/drawing/2014/main" id="{E70A5D1E-77CC-4B7E-324C-BA7A95AB6B9C}"/>
                    </a:ext>
                  </a:extLst>
                </p:cNvPr>
                <p:cNvSpPr txBox="1"/>
                <p:nvPr/>
              </p:nvSpPr>
              <p:spPr>
                <a:xfrm>
                  <a:off x="926045" y="6190911"/>
                  <a:ext cx="800219" cy="276999"/>
                </a:xfrm>
                <a:prstGeom prst="rect">
                  <a:avLst/>
                </a:prstGeom>
                <a:noFill/>
              </p:spPr>
              <p:txBody>
                <a:bodyPr wrap="none" rtlCol="0">
                  <a:spAutoFit/>
                </a:bodyPr>
                <a:lstStyle/>
                <a:p>
                  <a:r>
                    <a:rPr lang="zh-CN" altLang="en-US" sz="1200" dirty="0"/>
                    <a:t>药物数据</a:t>
                  </a:r>
                  <a:endParaRPr lang="en-US" altLang="zh-CN" sz="1200" dirty="0"/>
                </a:p>
              </p:txBody>
            </p:sp>
            <p:sp>
              <p:nvSpPr>
                <p:cNvPr id="31" name="文本框 30">
                  <a:extLst>
                    <a:ext uri="{FF2B5EF4-FFF2-40B4-BE49-F238E27FC236}">
                      <a16:creationId xmlns:a16="http://schemas.microsoft.com/office/drawing/2014/main" id="{212A9E2B-782F-8968-3F9A-0EB39FBA02BF}"/>
                    </a:ext>
                  </a:extLst>
                </p:cNvPr>
                <p:cNvSpPr txBox="1"/>
                <p:nvPr/>
              </p:nvSpPr>
              <p:spPr>
                <a:xfrm>
                  <a:off x="1713592" y="5851890"/>
                  <a:ext cx="542136" cy="261610"/>
                </a:xfrm>
                <a:prstGeom prst="rect">
                  <a:avLst/>
                </a:prstGeom>
                <a:noFill/>
              </p:spPr>
              <p:txBody>
                <a:bodyPr wrap="none" rtlCol="0">
                  <a:spAutoFit/>
                </a:bodyPr>
                <a:lstStyle/>
                <a:p>
                  <a:r>
                    <a:rPr lang="en-US" altLang="zh-CN" sz="1100" dirty="0"/>
                    <a:t>SIDER</a:t>
                  </a:r>
                </a:p>
              </p:txBody>
            </p:sp>
            <mc:AlternateContent xmlns:mc="http://schemas.openxmlformats.org/markup-compatibility/2006">
              <mc:Choice xmlns:a14="http://schemas.microsoft.com/office/drawing/2010/main" Requires="a14">
                <p:sp>
                  <p:nvSpPr>
                    <p:cNvPr id="32" name="流程图: 过程 31">
                      <a:extLst>
                        <a:ext uri="{FF2B5EF4-FFF2-40B4-BE49-F238E27FC236}">
                          <a16:creationId xmlns:a16="http://schemas.microsoft.com/office/drawing/2014/main" id="{CF8021D4-9C96-A721-9ED2-21CC462576E5}"/>
                        </a:ext>
                      </a:extLst>
                    </p:cNvPr>
                    <p:cNvSpPr/>
                    <p:nvPr/>
                  </p:nvSpPr>
                  <p:spPr>
                    <a:xfrm>
                      <a:off x="3192634" y="2440420"/>
                      <a:ext cx="2465215" cy="374694"/>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药物</a:t>
                      </a:r>
                      <a:r>
                        <a:rPr lang="en-US" altLang="zh-CN" sz="1100" dirty="0"/>
                        <a:t>-</a:t>
                      </a:r>
                      <a:r>
                        <a:rPr lang="zh-CN" altLang="en-US" sz="1100" dirty="0"/>
                        <a:t>蛋白质</a:t>
                      </a:r>
                      <a:r>
                        <a:rPr lang="en-US" altLang="zh-CN" sz="1100" dirty="0"/>
                        <a:t>pairs</a:t>
                      </a:r>
                      <a:r>
                        <a:rPr lang="zh-CN" altLang="en-US" sz="1100" dirty="0"/>
                        <a:t>，</a:t>
                      </a:r>
                      <a:br>
                        <a:rPr lang="en-US" altLang="zh-CN" sz="1100" dirty="0"/>
                      </a:br>
                      <a14:m>
                        <m:oMathPara xmlns:m="http://schemas.openxmlformats.org/officeDocument/2006/math">
                          <m:oMathParaPr>
                            <m:jc m:val="centerGroup"/>
                          </m:oMathParaPr>
                          <m:oMath xmlns:m="http://schemas.openxmlformats.org/officeDocument/2006/math">
                            <m:d>
                              <m:dPr>
                                <m:ctrlPr>
                                  <a:rPr lang="en-US" altLang="zh-CN" sz="1100" b="0" i="1" smtClean="0">
                                    <a:latin typeface="Cambria Math" panose="02040503050406030204" pitchFamily="18" charset="0"/>
                                  </a:rPr>
                                </m:ctrlPr>
                              </m:dPr>
                              <m:e>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𝑐</m:t>
                                    </m:r>
                                  </m:e>
                                  <m:sub>
                                    <m:r>
                                      <a:rPr lang="en-US" altLang="zh-CN" sz="1100" b="0" i="1" smtClean="0">
                                        <a:latin typeface="Cambria Math" panose="02040503050406030204" pitchFamily="18" charset="0"/>
                                      </a:rPr>
                                      <m:t>𝑖</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𝑝</m:t>
                                    </m:r>
                                  </m:e>
                                  <m:sub>
                                    <m:r>
                                      <a:rPr lang="en-US" altLang="zh-CN" sz="1100" b="0" i="1" smtClean="0">
                                        <a:latin typeface="Cambria Math" panose="02040503050406030204" pitchFamily="18" charset="0"/>
                                      </a:rPr>
                                      <m:t>𝑗</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𝑤</m:t>
                                    </m:r>
                                  </m:e>
                                  <m:sub>
                                    <m:r>
                                      <a:rPr lang="en-US" altLang="zh-CN" sz="1100" b="0" i="1" smtClean="0">
                                        <a:latin typeface="Cambria Math" panose="02040503050406030204" pitchFamily="18" charset="0"/>
                                      </a:rPr>
                                      <m:t>𝑖𝑗</m:t>
                                    </m:r>
                                  </m:sub>
                                </m:sSub>
                              </m:e>
                            </m:d>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𝑐</m:t>
                                </m:r>
                              </m:e>
                              <m:sub>
                                <m:r>
                                  <a:rPr lang="en-US" altLang="zh-CN" sz="1100" b="0" i="1" smtClean="0">
                                    <a:latin typeface="Cambria Math" panose="02040503050406030204" pitchFamily="18" charset="0"/>
                                  </a:rPr>
                                  <m:t>𝑘</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𝑝</m:t>
                                </m:r>
                              </m:e>
                              <m:sub>
                                <m:r>
                                  <a:rPr lang="en-US" altLang="zh-CN" sz="1100" b="0" i="1" smtClean="0">
                                    <a:latin typeface="Cambria Math" panose="02040503050406030204" pitchFamily="18" charset="0"/>
                                  </a:rPr>
                                  <m:t>𝑙</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𝑤</m:t>
                                </m:r>
                              </m:e>
                              <m:sub>
                                <m:r>
                                  <a:rPr lang="en-US" altLang="zh-CN" sz="1100" b="0" i="1" smtClean="0">
                                    <a:latin typeface="Cambria Math" panose="02040503050406030204" pitchFamily="18" charset="0"/>
                                  </a:rPr>
                                  <m:t>𝑘𝑙</m:t>
                                </m:r>
                              </m:sub>
                            </m:sSub>
                            <m:r>
                              <a:rPr lang="en-US" altLang="zh-CN" sz="1100" b="0" i="1" smtClean="0">
                                <a:latin typeface="Cambria Math" panose="02040503050406030204" pitchFamily="18" charset="0"/>
                              </a:rPr>
                              <m:t>)</m:t>
                            </m:r>
                            <m:r>
                              <a:rPr lang="en-US" altLang="zh-CN" sz="1100" b="0" i="1" smtClean="0">
                                <a:latin typeface="Cambria Math" panose="02040503050406030204" pitchFamily="18" charset="0"/>
                                <a:ea typeface="Cambria Math" panose="02040503050406030204" pitchFamily="18" charset="0"/>
                              </a:rPr>
                              <m:t>∈</m:t>
                            </m:r>
                            <m:r>
                              <a:rPr lang="en-US" altLang="zh-CN" sz="1100" b="0" i="1" smtClean="0">
                                <a:latin typeface="Cambria Math" panose="02040503050406030204" pitchFamily="18" charset="0"/>
                                <a:ea typeface="Cambria Math" panose="02040503050406030204" pitchFamily="18" charset="0"/>
                              </a:rPr>
                              <m:t>𝐾</m:t>
                            </m:r>
                          </m:oMath>
                        </m:oMathPara>
                      </a14:m>
                      <a:endParaRPr lang="zh-CN" altLang="en-US" sz="1100" dirty="0"/>
                    </a:p>
                  </p:txBody>
                </p:sp>
              </mc:Choice>
              <mc:Fallback>
                <p:sp>
                  <p:nvSpPr>
                    <p:cNvPr id="32" name="流程图: 过程 31">
                      <a:extLst>
                        <a:ext uri="{FF2B5EF4-FFF2-40B4-BE49-F238E27FC236}">
                          <a16:creationId xmlns:a16="http://schemas.microsoft.com/office/drawing/2014/main" id="{CF8021D4-9C96-A721-9ED2-21CC462576E5}"/>
                        </a:ext>
                      </a:extLst>
                    </p:cNvPr>
                    <p:cNvSpPr>
                      <a:spLocks noRot="1" noChangeAspect="1" noMove="1" noResize="1" noEditPoints="1" noAdjustHandles="1" noChangeArrowheads="1" noChangeShapeType="1" noTextEdit="1"/>
                    </p:cNvSpPr>
                    <p:nvPr/>
                  </p:nvSpPr>
                  <p:spPr>
                    <a:xfrm>
                      <a:off x="3192634" y="2440420"/>
                      <a:ext cx="2465215" cy="374694"/>
                    </a:xfrm>
                    <a:prstGeom prst="flowChartProcess">
                      <a:avLst/>
                    </a:prstGeom>
                    <a:blipFill>
                      <a:blip r:embed="rId3"/>
                      <a:stretch>
                        <a:fillRect t="-9231" b="-6154"/>
                      </a:stretch>
                    </a:blipFill>
                  </p:spPr>
                  <p:txBody>
                    <a:bodyPr/>
                    <a:lstStyle/>
                    <a:p>
                      <a:r>
                        <a:rPr lang="zh-CN" altLang="en-US">
                          <a:noFill/>
                        </a:rPr>
                        <a:t> </a:t>
                      </a:r>
                    </a:p>
                  </p:txBody>
                </p:sp>
              </mc:Fallback>
            </mc:AlternateContent>
            <p:sp>
              <p:nvSpPr>
                <p:cNvPr id="33" name="流程图: 过程 32">
                  <a:extLst>
                    <a:ext uri="{FF2B5EF4-FFF2-40B4-BE49-F238E27FC236}">
                      <a16:creationId xmlns:a16="http://schemas.microsoft.com/office/drawing/2014/main" id="{4F7CD3F4-1A94-7A41-4095-ACDE45640BA5}"/>
                    </a:ext>
                  </a:extLst>
                </p:cNvPr>
                <p:cNvSpPr/>
                <p:nvPr/>
              </p:nvSpPr>
              <p:spPr>
                <a:xfrm>
                  <a:off x="6688591" y="2443244"/>
                  <a:ext cx="1050554" cy="369332"/>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900" dirty="0"/>
                    <a:t>提取正相互作用</a:t>
                  </a:r>
                </a:p>
              </p:txBody>
            </p:sp>
            <mc:AlternateContent xmlns:mc="http://schemas.openxmlformats.org/markup-compatibility/2006">
              <mc:Choice xmlns:a14="http://schemas.microsoft.com/office/drawing/2010/main" Requires="a14">
                <p:sp>
                  <p:nvSpPr>
                    <p:cNvPr id="34" name="流程图: 过程 33">
                      <a:extLst>
                        <a:ext uri="{FF2B5EF4-FFF2-40B4-BE49-F238E27FC236}">
                          <a16:creationId xmlns:a16="http://schemas.microsoft.com/office/drawing/2014/main" id="{4B15E0B8-E5D0-A100-F1D9-692138D48482}"/>
                        </a:ext>
                      </a:extLst>
                    </p:cNvPr>
                    <p:cNvSpPr/>
                    <p:nvPr/>
                  </p:nvSpPr>
                  <p:spPr>
                    <a:xfrm>
                      <a:off x="3192634" y="3577320"/>
                      <a:ext cx="2465215" cy="518430"/>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通过</a:t>
                      </a:r>
                      <a14:m>
                        <m:oMath xmlns:m="http://schemas.openxmlformats.org/officeDocument/2006/math">
                          <m:d>
                            <m:dPr>
                              <m:ctrlPr>
                                <a:rPr lang="en-US" altLang="zh-CN" sz="1100" b="0" i="1" smtClean="0">
                                  <a:latin typeface="Cambria Math" panose="02040503050406030204" pitchFamily="18" charset="0"/>
                                </a:rPr>
                              </m:ctrlPr>
                            </m:dPr>
                            <m:e>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𝑐</m:t>
                                  </m:r>
                                </m:e>
                                <m:sub>
                                  <m:r>
                                    <a:rPr lang="en-US" altLang="zh-CN" sz="1100" b="0" i="1" smtClean="0">
                                      <a:latin typeface="Cambria Math" panose="02040503050406030204" pitchFamily="18" charset="0"/>
                                    </a:rPr>
                                    <m:t>𝑘</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𝑝</m:t>
                                  </m:r>
                                </m:e>
                                <m:sub>
                                  <m:r>
                                    <a:rPr lang="en-US" altLang="zh-CN" sz="1100" b="0" i="1" smtClean="0">
                                      <a:latin typeface="Cambria Math" panose="02040503050406030204" pitchFamily="18" charset="0"/>
                                    </a:rPr>
                                    <m:t>𝑙</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𝑤</m:t>
                                  </m:r>
                                </m:e>
                                <m:sub>
                                  <m:r>
                                    <a:rPr lang="en-US" altLang="zh-CN" sz="1100" b="0" i="1" smtClean="0">
                                      <a:latin typeface="Cambria Math" panose="02040503050406030204" pitchFamily="18" charset="0"/>
                                    </a:rPr>
                                    <m:t>𝑘𝑙</m:t>
                                  </m:r>
                                </m:sub>
                              </m:sSub>
                            </m:e>
                          </m:d>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𝑠𝑝𝑐</m:t>
                              </m:r>
                            </m:e>
                            <m:sub>
                              <m:r>
                                <a:rPr lang="en-US" altLang="zh-CN" sz="1100" b="0" i="1" smtClean="0">
                                  <a:latin typeface="Cambria Math" panose="02040503050406030204" pitchFamily="18" charset="0"/>
                                </a:rPr>
                                <m:t>𝑗𝑘𝑙</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𝑤</m:t>
                              </m:r>
                            </m:e>
                            <m:sub>
                              <m:r>
                                <a:rPr lang="en-US" altLang="zh-CN" sz="1100" b="0" i="1" smtClean="0">
                                  <a:latin typeface="Cambria Math" panose="02040503050406030204" pitchFamily="18" charset="0"/>
                                </a:rPr>
                                <m:t>𝑘𝑙</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𝑃𝑆</m:t>
                              </m:r>
                            </m:e>
                            <m:sub>
                              <m:r>
                                <a:rPr lang="en-US" altLang="zh-CN" sz="1100" b="0" i="1" smtClean="0">
                                  <a:latin typeface="Cambria Math" panose="02040503050406030204" pitchFamily="18" charset="0"/>
                                </a:rPr>
                                <m:t>𝑗𝑙</m:t>
                              </m:r>
                            </m:sub>
                          </m:sSub>
                          <m:r>
                            <a:rPr lang="en-US" altLang="zh-CN" sz="1100" b="0" i="1" smtClean="0">
                              <a:latin typeface="Cambria Math" panose="02040503050406030204" pitchFamily="18" charset="0"/>
                            </a:rPr>
                            <m:t>)</m:t>
                          </m:r>
                        </m:oMath>
                      </a14:m>
                      <a:r>
                        <a:rPr lang="zh-CN" altLang="en-US" sz="1100" dirty="0"/>
                        <a:t>计算</a:t>
                      </a:r>
                      <a14:m>
                        <m:oMath xmlns:m="http://schemas.openxmlformats.org/officeDocument/2006/math">
                          <m:sSub>
                            <m:sSubPr>
                              <m:ctrlPr>
                                <a:rPr lang="en-US" altLang="zh-CN" sz="1100" i="1">
                                  <a:latin typeface="Cambria Math" panose="02040503050406030204" pitchFamily="18" charset="0"/>
                                </a:rPr>
                              </m:ctrlPr>
                            </m:sSubPr>
                            <m:e>
                              <m:r>
                                <a:rPr lang="en-US" altLang="zh-CN" sz="1100" i="1">
                                  <a:latin typeface="Cambria Math" panose="02040503050406030204" pitchFamily="18" charset="0"/>
                                </a:rPr>
                                <m:t>𝑐</m:t>
                              </m:r>
                            </m:e>
                            <m:sub>
                              <m:r>
                                <a:rPr lang="en-US" altLang="zh-CN" sz="1100" i="1">
                                  <a:latin typeface="Cambria Math" panose="02040503050406030204" pitchFamily="18" charset="0"/>
                                </a:rPr>
                                <m:t>𝑘</m:t>
                              </m:r>
                            </m:sub>
                          </m:sSub>
                        </m:oMath>
                      </a14:m>
                      <a:r>
                        <a:rPr lang="zh-CN" altLang="en-US" sz="1100" dirty="0"/>
                        <a:t>和</a:t>
                      </a:r>
                      <a14:m>
                        <m:oMath xmlns:m="http://schemas.openxmlformats.org/officeDocument/2006/math">
                          <m:sSub>
                            <m:sSubPr>
                              <m:ctrlPr>
                                <a:rPr lang="en-US" altLang="zh-CN" sz="1100" i="1">
                                  <a:latin typeface="Cambria Math" panose="02040503050406030204" pitchFamily="18" charset="0"/>
                                </a:rPr>
                              </m:ctrlPr>
                            </m:sSubPr>
                            <m:e>
                              <m:r>
                                <a:rPr lang="en-US" altLang="zh-CN" sz="1100" i="1">
                                  <a:latin typeface="Cambria Math" panose="02040503050406030204" pitchFamily="18" charset="0"/>
                                </a:rPr>
                                <m:t>𝑝</m:t>
                              </m:r>
                            </m:e>
                            <m:sub>
                              <m:r>
                                <a:rPr lang="en-US" altLang="zh-CN" sz="1100" i="1">
                                  <a:latin typeface="Cambria Math" panose="02040503050406030204" pitchFamily="18" charset="0"/>
                                </a:rPr>
                                <m:t>𝑙</m:t>
                              </m:r>
                            </m:sub>
                          </m:sSub>
                        </m:oMath>
                      </a14:m>
                      <a:r>
                        <a:rPr lang="zh-CN" altLang="en-US" sz="1100" dirty="0"/>
                        <a:t>之间的加权得分</a:t>
                      </a:r>
                    </a:p>
                  </p:txBody>
                </p:sp>
              </mc:Choice>
              <mc:Fallback>
                <p:sp>
                  <p:nvSpPr>
                    <p:cNvPr id="34" name="流程图: 过程 33">
                      <a:extLst>
                        <a:ext uri="{FF2B5EF4-FFF2-40B4-BE49-F238E27FC236}">
                          <a16:creationId xmlns:a16="http://schemas.microsoft.com/office/drawing/2014/main" id="{4B15E0B8-E5D0-A100-F1D9-692138D48482}"/>
                        </a:ext>
                      </a:extLst>
                    </p:cNvPr>
                    <p:cNvSpPr>
                      <a:spLocks noRot="1" noChangeAspect="1" noMove="1" noResize="1" noEditPoints="1" noAdjustHandles="1" noChangeArrowheads="1" noChangeShapeType="1" noTextEdit="1"/>
                    </p:cNvSpPr>
                    <p:nvPr/>
                  </p:nvSpPr>
                  <p:spPr>
                    <a:xfrm>
                      <a:off x="3192634" y="3577320"/>
                      <a:ext cx="2465215" cy="518430"/>
                    </a:xfrm>
                    <a:prstGeom prst="flowChartProcess">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5" name="流程图: 过程 34">
                      <a:extLst>
                        <a:ext uri="{FF2B5EF4-FFF2-40B4-BE49-F238E27FC236}">
                          <a16:creationId xmlns:a16="http://schemas.microsoft.com/office/drawing/2014/main" id="{BD8DEB31-0F0B-E0F0-78A9-EB6079E0F9FD}"/>
                        </a:ext>
                      </a:extLst>
                    </p:cNvPr>
                    <p:cNvSpPr/>
                    <p:nvPr/>
                  </p:nvSpPr>
                  <p:spPr>
                    <a:xfrm>
                      <a:off x="3192634" y="4627316"/>
                      <a:ext cx="2465215" cy="518430"/>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通过</a:t>
                      </a:r>
                      <a14:m>
                        <m:oMath xmlns:m="http://schemas.openxmlformats.org/officeDocument/2006/math">
                          <m:d>
                            <m:dPr>
                              <m:ctrlPr>
                                <a:rPr lang="en-US" altLang="zh-CN" sz="1100" b="0" i="1" smtClean="0">
                                  <a:latin typeface="Cambria Math" panose="02040503050406030204" pitchFamily="18" charset="0"/>
                                </a:rPr>
                              </m:ctrlPr>
                            </m:dPr>
                            <m:e>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𝑐</m:t>
                                  </m:r>
                                </m:e>
                                <m:sub>
                                  <m:r>
                                    <a:rPr lang="en-US" altLang="zh-CN" sz="1100" b="0" i="1" smtClean="0">
                                      <a:latin typeface="Cambria Math" panose="02040503050406030204" pitchFamily="18" charset="0"/>
                                    </a:rPr>
                                    <m:t>𝑖</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𝑝</m:t>
                                  </m:r>
                                </m:e>
                                <m:sub>
                                  <m:r>
                                    <a:rPr lang="en-US" altLang="zh-CN" sz="1100" b="0" i="1" smtClean="0">
                                      <a:latin typeface="Cambria Math" panose="02040503050406030204" pitchFamily="18" charset="0"/>
                                    </a:rPr>
                                    <m:t>𝑗</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𝑤</m:t>
                                  </m:r>
                                </m:e>
                                <m:sub>
                                  <m:r>
                                    <a:rPr lang="en-US" altLang="zh-CN" sz="1100" b="0" i="1" smtClean="0">
                                      <a:latin typeface="Cambria Math" panose="02040503050406030204" pitchFamily="18" charset="0"/>
                                    </a:rPr>
                                    <m:t>𝑖𝑗</m:t>
                                  </m:r>
                                </m:sub>
                              </m:sSub>
                            </m:e>
                          </m:d>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𝑠𝑝𝑐</m:t>
                              </m:r>
                            </m:e>
                            <m:sub>
                              <m:r>
                                <a:rPr lang="en-US" altLang="zh-CN" sz="1100" b="0" i="1" smtClean="0">
                                  <a:latin typeface="Cambria Math" panose="02040503050406030204" pitchFamily="18" charset="0"/>
                                </a:rPr>
                                <m:t>𝑘𝑗𝑖</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𝑤</m:t>
                              </m:r>
                            </m:e>
                            <m:sub>
                              <m:r>
                                <a:rPr lang="en-US" altLang="zh-CN" sz="1100" b="0" i="1" smtClean="0">
                                  <a:latin typeface="Cambria Math" panose="02040503050406030204" pitchFamily="18" charset="0"/>
                                </a:rPr>
                                <m:t>𝑖𝑗</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𝐶𝑆</m:t>
                              </m:r>
                            </m:e>
                            <m:sub>
                              <m:r>
                                <a:rPr lang="en-US" altLang="zh-CN" sz="1100" b="0" i="1" smtClean="0">
                                  <a:latin typeface="Cambria Math" panose="02040503050406030204" pitchFamily="18" charset="0"/>
                                </a:rPr>
                                <m:t>𝑘𝑖</m:t>
                              </m:r>
                            </m:sub>
                          </m:sSub>
                          <m:r>
                            <a:rPr lang="en-US" altLang="zh-CN" sz="1100" b="0" i="1" smtClean="0">
                              <a:latin typeface="Cambria Math" panose="02040503050406030204" pitchFamily="18" charset="0"/>
                            </a:rPr>
                            <m:t>)</m:t>
                          </m:r>
                        </m:oMath>
                      </a14:m>
                      <a:r>
                        <a:rPr lang="zh-CN" altLang="en-US" sz="1100" dirty="0"/>
                        <a:t>计算</a:t>
                      </a:r>
                      <a14:m>
                        <m:oMath xmlns:m="http://schemas.openxmlformats.org/officeDocument/2006/math">
                          <m:sSub>
                            <m:sSubPr>
                              <m:ctrlPr>
                                <a:rPr lang="en-US" altLang="zh-CN" sz="1100" i="1" dirty="0" smtClean="0">
                                  <a:latin typeface="Cambria Math" panose="02040503050406030204" pitchFamily="18" charset="0"/>
                                </a:rPr>
                              </m:ctrlPr>
                            </m:sSubPr>
                            <m:e>
                              <m:r>
                                <a:rPr lang="en-US" altLang="zh-CN" sz="1100" b="0" i="1" dirty="0" smtClean="0">
                                  <a:latin typeface="Cambria Math" panose="02040503050406030204" pitchFamily="18" charset="0"/>
                                </a:rPr>
                                <m:t>𝑐</m:t>
                              </m:r>
                            </m:e>
                            <m:sub>
                              <m:r>
                                <a:rPr lang="en-US" altLang="zh-CN" sz="1100" b="0" i="1" dirty="0" smtClean="0">
                                  <a:latin typeface="Cambria Math" panose="02040503050406030204" pitchFamily="18" charset="0"/>
                                </a:rPr>
                                <m:t>𝑖</m:t>
                              </m:r>
                            </m:sub>
                          </m:sSub>
                        </m:oMath>
                      </a14:m>
                      <a:r>
                        <a:rPr lang="zh-CN" altLang="en-US" sz="1100" dirty="0"/>
                        <a:t>和</a:t>
                      </a:r>
                      <a14:m>
                        <m:oMath xmlns:m="http://schemas.openxmlformats.org/officeDocument/2006/math">
                          <m:sSub>
                            <m:sSubPr>
                              <m:ctrlPr>
                                <a:rPr lang="en-US" altLang="zh-CN" sz="1100" i="1">
                                  <a:latin typeface="Cambria Math" panose="02040503050406030204" pitchFamily="18" charset="0"/>
                                </a:rPr>
                              </m:ctrlPr>
                            </m:sSubPr>
                            <m:e>
                              <m:r>
                                <a:rPr lang="en-US" altLang="zh-CN" sz="1100" b="0" i="1" smtClean="0">
                                  <a:latin typeface="Cambria Math" panose="02040503050406030204" pitchFamily="18" charset="0"/>
                                </a:rPr>
                                <m:t>𝑝</m:t>
                              </m:r>
                            </m:e>
                            <m:sub>
                              <m:r>
                                <a:rPr lang="en-US" altLang="zh-CN" sz="1100" b="0" i="1" smtClean="0">
                                  <a:latin typeface="Cambria Math" panose="02040503050406030204" pitchFamily="18" charset="0"/>
                                </a:rPr>
                                <m:t>𝑗</m:t>
                              </m:r>
                            </m:sub>
                          </m:sSub>
                        </m:oMath>
                      </a14:m>
                      <a:r>
                        <a:rPr lang="zh-CN" altLang="en-US" sz="1100" dirty="0"/>
                        <a:t>之间的加权得分</a:t>
                      </a:r>
                    </a:p>
                  </p:txBody>
                </p:sp>
              </mc:Choice>
              <mc:Fallback>
                <p:sp>
                  <p:nvSpPr>
                    <p:cNvPr id="35" name="流程图: 过程 34">
                      <a:extLst>
                        <a:ext uri="{FF2B5EF4-FFF2-40B4-BE49-F238E27FC236}">
                          <a16:creationId xmlns:a16="http://schemas.microsoft.com/office/drawing/2014/main" id="{BD8DEB31-0F0B-E0F0-78A9-EB6079E0F9FD}"/>
                        </a:ext>
                      </a:extLst>
                    </p:cNvPr>
                    <p:cNvSpPr>
                      <a:spLocks noRot="1" noChangeAspect="1" noMove="1" noResize="1" noEditPoints="1" noAdjustHandles="1" noChangeArrowheads="1" noChangeShapeType="1" noTextEdit="1"/>
                    </p:cNvSpPr>
                    <p:nvPr/>
                  </p:nvSpPr>
                  <p:spPr>
                    <a:xfrm>
                      <a:off x="3192634" y="4627316"/>
                      <a:ext cx="2465215" cy="518430"/>
                    </a:xfrm>
                    <a:prstGeom prst="flowChartProcess">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8" name="流程图: 过程 37">
                      <a:extLst>
                        <a:ext uri="{FF2B5EF4-FFF2-40B4-BE49-F238E27FC236}">
                          <a16:creationId xmlns:a16="http://schemas.microsoft.com/office/drawing/2014/main" id="{26288E8A-8506-BB64-5E82-1545C2107EDD}"/>
                        </a:ext>
                      </a:extLst>
                    </p:cNvPr>
                    <p:cNvSpPr/>
                    <p:nvPr/>
                  </p:nvSpPr>
                  <p:spPr>
                    <a:xfrm>
                      <a:off x="5943599" y="3567795"/>
                      <a:ext cx="2465215" cy="518430"/>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针对</a:t>
                      </a:r>
                      <a14:m>
                        <m:oMath xmlns:m="http://schemas.openxmlformats.org/officeDocument/2006/math">
                          <m:sSub>
                            <m:sSubPr>
                              <m:ctrlPr>
                                <a:rPr lang="en-US" altLang="zh-CN" sz="1100" i="1" smtClean="0">
                                  <a:latin typeface="Cambria Math" panose="02040503050406030204" pitchFamily="18" charset="0"/>
                                </a:rPr>
                              </m:ctrlPr>
                            </m:sSubPr>
                            <m:e>
                              <m:r>
                                <a:rPr lang="en-US" altLang="zh-CN" sz="1100" b="0" i="1" smtClean="0">
                                  <a:latin typeface="Cambria Math" panose="02040503050406030204" pitchFamily="18" charset="0"/>
                                </a:rPr>
                                <m:t>𝑐</m:t>
                              </m:r>
                            </m:e>
                            <m:sub>
                              <m:r>
                                <a:rPr lang="en-US" altLang="zh-CN" sz="1100" b="0" i="1" smtClean="0">
                                  <a:latin typeface="Cambria Math" panose="02040503050406030204" pitchFamily="18" charset="0"/>
                                </a:rPr>
                                <m:t>𝑘</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𝑆𝑃𝐶</m:t>
                              </m:r>
                            </m:e>
                            <m:sub>
                              <m:r>
                                <a:rPr lang="en-US" altLang="zh-CN" sz="1100" b="0" i="1" smtClean="0">
                                  <a:latin typeface="Cambria Math" panose="02040503050406030204" pitchFamily="18" charset="0"/>
                                </a:rPr>
                                <m:t>𝑗𝑘</m:t>
                              </m:r>
                            </m:sub>
                          </m:sSub>
                          <m:r>
                            <a:rPr lang="en-US" altLang="zh-CN" sz="1100" b="0" i="1" smtClean="0">
                              <a:latin typeface="Cambria Math" panose="02040503050406030204" pitchFamily="18" charset="0"/>
                            </a:rPr>
                            <m:t>=</m:t>
                          </m:r>
                          <m:nary>
                            <m:naryPr>
                              <m:chr m:val="∑"/>
                              <m:limLoc m:val="subSup"/>
                              <m:supHide m:val="on"/>
                              <m:ctrlPr>
                                <a:rPr lang="en-US" altLang="zh-CN" sz="1100" b="0" i="1" smtClean="0">
                                  <a:latin typeface="Cambria Math" panose="02040503050406030204" pitchFamily="18" charset="0"/>
                                </a:rPr>
                              </m:ctrlPr>
                            </m:naryPr>
                            <m:sub>
                              <m:r>
                                <m:rPr>
                                  <m:brk m:alnAt="9"/>
                                </m:rPr>
                                <a:rPr lang="en-US" altLang="zh-CN" sz="1100" b="0" i="1" smtClean="0">
                                  <a:latin typeface="Cambria Math" panose="02040503050406030204" pitchFamily="18" charset="0"/>
                                </a:rPr>
                                <m:t>𝑙</m:t>
                              </m:r>
                            </m:sub>
                            <m:sup/>
                            <m:e>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𝑠𝑝𝑐</m:t>
                                  </m:r>
                                </m:e>
                                <m:sub>
                                  <m:r>
                                    <a:rPr lang="en-US" altLang="zh-CN" sz="1100" b="0" i="1" smtClean="0">
                                      <a:latin typeface="Cambria Math" panose="02040503050406030204" pitchFamily="18" charset="0"/>
                                    </a:rPr>
                                    <m:t>𝑗𝑘𝑙</m:t>
                                  </m:r>
                                </m:sub>
                              </m:sSub>
                            </m:e>
                          </m:nary>
                          <m:r>
                            <a:rPr lang="en-US" altLang="zh-CN" sz="1100" b="0" i="1" smtClean="0">
                              <a:latin typeface="Cambria Math" panose="02040503050406030204" pitchFamily="18" charset="0"/>
                            </a:rPr>
                            <m:t>)</m:t>
                          </m:r>
                        </m:oMath>
                      </a14:m>
                      <a:r>
                        <a:rPr lang="zh-CN" altLang="en-US" sz="1100" dirty="0"/>
                        <a:t>所靶向的蛋白质，汇总</a:t>
                      </a:r>
                      <a14:m>
                        <m:oMath xmlns:m="http://schemas.openxmlformats.org/officeDocument/2006/math">
                          <m:sSub>
                            <m:sSubPr>
                              <m:ctrlPr>
                                <a:rPr lang="en-US" altLang="zh-CN" sz="1100" i="1">
                                  <a:latin typeface="Cambria Math" panose="02040503050406030204" pitchFamily="18" charset="0"/>
                                </a:rPr>
                              </m:ctrlPr>
                            </m:sSubPr>
                            <m:e>
                              <m:r>
                                <a:rPr lang="en-US" altLang="zh-CN" sz="1100" i="1">
                                  <a:latin typeface="Cambria Math" panose="02040503050406030204" pitchFamily="18" charset="0"/>
                                </a:rPr>
                                <m:t>𝑠𝑝𝑐</m:t>
                              </m:r>
                            </m:e>
                            <m:sub>
                              <m:r>
                                <a:rPr lang="en-US" altLang="zh-CN" sz="1100" i="1">
                                  <a:latin typeface="Cambria Math" panose="02040503050406030204" pitchFamily="18" charset="0"/>
                                </a:rPr>
                                <m:t>𝑗𝑘𝑙</m:t>
                              </m:r>
                            </m:sub>
                          </m:sSub>
                        </m:oMath>
                      </a14:m>
                      <a:r>
                        <a:rPr lang="zh-CN" altLang="en-US" sz="1100" dirty="0"/>
                        <a:t>得分</a:t>
                      </a:r>
                    </a:p>
                  </p:txBody>
                </p:sp>
              </mc:Choice>
              <mc:Fallback>
                <p:sp>
                  <p:nvSpPr>
                    <p:cNvPr id="38" name="流程图: 过程 37">
                      <a:extLst>
                        <a:ext uri="{FF2B5EF4-FFF2-40B4-BE49-F238E27FC236}">
                          <a16:creationId xmlns:a16="http://schemas.microsoft.com/office/drawing/2014/main" id="{26288E8A-8506-BB64-5E82-1545C2107EDD}"/>
                        </a:ext>
                      </a:extLst>
                    </p:cNvPr>
                    <p:cNvSpPr>
                      <a:spLocks noRot="1" noChangeAspect="1" noMove="1" noResize="1" noEditPoints="1" noAdjustHandles="1" noChangeArrowheads="1" noChangeShapeType="1" noTextEdit="1"/>
                    </p:cNvSpPr>
                    <p:nvPr/>
                  </p:nvSpPr>
                  <p:spPr>
                    <a:xfrm>
                      <a:off x="5943599" y="3567795"/>
                      <a:ext cx="2465215" cy="518430"/>
                    </a:xfrm>
                    <a:prstGeom prst="flowChartProcess">
                      <a:avLst/>
                    </a:prstGeom>
                    <a:blipFill>
                      <a:blip r:embed="rId6"/>
                      <a:stretch>
                        <a:fillRect t="-37500" b="-30682"/>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9" name="流程图: 过程 38">
                      <a:extLst>
                        <a:ext uri="{FF2B5EF4-FFF2-40B4-BE49-F238E27FC236}">
                          <a16:creationId xmlns:a16="http://schemas.microsoft.com/office/drawing/2014/main" id="{4622EF61-C730-C078-F8D0-C4E014C945BE}"/>
                        </a:ext>
                      </a:extLst>
                    </p:cNvPr>
                    <p:cNvSpPr/>
                    <p:nvPr/>
                  </p:nvSpPr>
                  <p:spPr>
                    <a:xfrm>
                      <a:off x="5943598" y="4627316"/>
                      <a:ext cx="2465215" cy="518430"/>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针对作用于</a:t>
                      </a:r>
                      <a14:m>
                        <m:oMath xmlns:m="http://schemas.openxmlformats.org/officeDocument/2006/math">
                          <m:sSub>
                            <m:sSubPr>
                              <m:ctrlPr>
                                <a:rPr lang="en-US" altLang="zh-CN" sz="1100" i="1" smtClean="0">
                                  <a:latin typeface="Cambria Math" panose="02040503050406030204" pitchFamily="18" charset="0"/>
                                </a:rPr>
                              </m:ctrlPr>
                            </m:sSubPr>
                            <m:e>
                              <m:r>
                                <a:rPr lang="en-US" altLang="zh-CN" sz="1100" b="0" i="1" smtClean="0">
                                  <a:latin typeface="Cambria Math" panose="02040503050406030204" pitchFamily="18" charset="0"/>
                                </a:rPr>
                                <m:t>𝑝</m:t>
                              </m:r>
                            </m:e>
                            <m:sub>
                              <m:r>
                                <a:rPr lang="en-US" altLang="zh-CN" sz="1100" b="0" i="1" smtClean="0">
                                  <a:latin typeface="Cambria Math" panose="02040503050406030204" pitchFamily="18" charset="0"/>
                                </a:rPr>
                                <m:t>𝑗</m:t>
                              </m:r>
                            </m:sub>
                          </m:sSub>
                          <m:d>
                            <m:dPr>
                              <m:ctrlPr>
                                <a:rPr lang="en-US" altLang="zh-CN" sz="1100" b="0" i="1" smtClean="0">
                                  <a:latin typeface="Cambria Math" panose="02040503050406030204" pitchFamily="18" charset="0"/>
                                </a:rPr>
                              </m:ctrlPr>
                            </m:dPr>
                            <m:e>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𝑆𝐶𝑃</m:t>
                                  </m:r>
                                </m:e>
                                <m:sub>
                                  <m:r>
                                    <a:rPr lang="en-US" altLang="zh-CN" sz="1100" b="0" i="1" smtClean="0">
                                      <a:latin typeface="Cambria Math" panose="02040503050406030204" pitchFamily="18" charset="0"/>
                                    </a:rPr>
                                    <m:t>𝑘𝑗</m:t>
                                  </m:r>
                                </m:sub>
                              </m:sSub>
                              <m:r>
                                <a:rPr lang="en-US" altLang="zh-CN" sz="1100" b="0" i="1" smtClean="0">
                                  <a:latin typeface="Cambria Math" panose="02040503050406030204" pitchFamily="18" charset="0"/>
                                </a:rPr>
                                <m:t>=</m:t>
                              </m:r>
                              <m:nary>
                                <m:naryPr>
                                  <m:chr m:val="∑"/>
                                  <m:limLoc m:val="subSup"/>
                                  <m:supHide m:val="on"/>
                                  <m:ctrlPr>
                                    <a:rPr lang="en-US" altLang="zh-CN" sz="1100" b="0" i="1" smtClean="0">
                                      <a:latin typeface="Cambria Math" panose="02040503050406030204" pitchFamily="18" charset="0"/>
                                    </a:rPr>
                                  </m:ctrlPr>
                                </m:naryPr>
                                <m:sub>
                                  <m:r>
                                    <m:rPr>
                                      <m:brk m:alnAt="9"/>
                                    </m:rPr>
                                    <a:rPr lang="en-US" altLang="zh-CN" sz="1100" b="0" i="1" smtClean="0">
                                      <a:latin typeface="Cambria Math" panose="02040503050406030204" pitchFamily="18" charset="0"/>
                                    </a:rPr>
                                    <m:t>𝑖</m:t>
                                  </m:r>
                                </m:sub>
                                <m:sup/>
                                <m:e>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𝑠𝑐𝑝</m:t>
                                      </m:r>
                                    </m:e>
                                    <m:sub>
                                      <m:r>
                                        <a:rPr lang="en-US" altLang="zh-CN" sz="1100" b="0" i="1" smtClean="0">
                                          <a:latin typeface="Cambria Math" panose="02040503050406030204" pitchFamily="18" charset="0"/>
                                        </a:rPr>
                                        <m:t>𝑘𝑗𝑖</m:t>
                                      </m:r>
                                    </m:sub>
                                  </m:sSub>
                                </m:e>
                              </m:nary>
                            </m:e>
                          </m:d>
                        </m:oMath>
                      </a14:m>
                      <a:r>
                        <a:rPr lang="zh-CN" altLang="en-US" sz="1100" dirty="0"/>
                        <a:t>的药物，汇总</a:t>
                      </a:r>
                      <a14:m>
                        <m:oMath xmlns:m="http://schemas.openxmlformats.org/officeDocument/2006/math">
                          <m:sSub>
                            <m:sSubPr>
                              <m:ctrlPr>
                                <a:rPr lang="en-US" altLang="zh-CN" sz="1100" i="1">
                                  <a:latin typeface="Cambria Math" panose="02040503050406030204" pitchFamily="18" charset="0"/>
                                </a:rPr>
                              </m:ctrlPr>
                            </m:sSubPr>
                            <m:e>
                              <m:r>
                                <a:rPr lang="en-US" altLang="zh-CN" sz="1100" i="1">
                                  <a:latin typeface="Cambria Math" panose="02040503050406030204" pitchFamily="18" charset="0"/>
                                </a:rPr>
                                <m:t>𝑠𝑐𝑝</m:t>
                              </m:r>
                            </m:e>
                            <m:sub>
                              <m:r>
                                <a:rPr lang="en-US" altLang="zh-CN" sz="1100" i="1">
                                  <a:latin typeface="Cambria Math" panose="02040503050406030204" pitchFamily="18" charset="0"/>
                                </a:rPr>
                                <m:t>𝑘𝑗𝑖</m:t>
                              </m:r>
                            </m:sub>
                          </m:sSub>
                        </m:oMath>
                      </a14:m>
                      <a:r>
                        <a:rPr lang="zh-CN" altLang="en-US" sz="1100" dirty="0"/>
                        <a:t>得分</a:t>
                      </a:r>
                    </a:p>
                  </p:txBody>
                </p:sp>
              </mc:Choice>
              <mc:Fallback>
                <p:sp>
                  <p:nvSpPr>
                    <p:cNvPr id="39" name="流程图: 过程 38">
                      <a:extLst>
                        <a:ext uri="{FF2B5EF4-FFF2-40B4-BE49-F238E27FC236}">
                          <a16:creationId xmlns:a16="http://schemas.microsoft.com/office/drawing/2014/main" id="{4622EF61-C730-C078-F8D0-C4E014C945BE}"/>
                        </a:ext>
                      </a:extLst>
                    </p:cNvPr>
                    <p:cNvSpPr>
                      <a:spLocks noRot="1" noChangeAspect="1" noMove="1" noResize="1" noEditPoints="1" noAdjustHandles="1" noChangeArrowheads="1" noChangeShapeType="1" noTextEdit="1"/>
                    </p:cNvSpPr>
                    <p:nvPr/>
                  </p:nvSpPr>
                  <p:spPr>
                    <a:xfrm>
                      <a:off x="5943598" y="4627316"/>
                      <a:ext cx="2465215" cy="518430"/>
                    </a:xfrm>
                    <a:prstGeom prst="flowChartProcess">
                      <a:avLst/>
                    </a:prstGeom>
                    <a:blipFill>
                      <a:blip r:embed="rId7"/>
                      <a:stretch>
                        <a:fillRect t="-37500" b="-30682"/>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0" name="流程图: 过程 39">
                      <a:extLst>
                        <a:ext uri="{FF2B5EF4-FFF2-40B4-BE49-F238E27FC236}">
                          <a16:creationId xmlns:a16="http://schemas.microsoft.com/office/drawing/2014/main" id="{B49A57D0-6548-2A34-3F64-94AFFE48E30A}"/>
                        </a:ext>
                      </a:extLst>
                    </p:cNvPr>
                    <p:cNvSpPr/>
                    <p:nvPr/>
                  </p:nvSpPr>
                  <p:spPr>
                    <a:xfrm>
                      <a:off x="9024179" y="2795246"/>
                      <a:ext cx="2465215" cy="518430"/>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计算</a:t>
                      </a:r>
                      <a14:m>
                        <m:oMath xmlns:m="http://schemas.openxmlformats.org/officeDocument/2006/math">
                          <m:sSub>
                            <m:sSubPr>
                              <m:ctrlPr>
                                <a:rPr lang="en-US" altLang="zh-CN" sz="1100" i="1">
                                  <a:latin typeface="Cambria Math" panose="02040503050406030204" pitchFamily="18" charset="0"/>
                                </a:rPr>
                              </m:ctrlPr>
                            </m:sSubPr>
                            <m:e>
                              <m:r>
                                <a:rPr lang="en-US" altLang="zh-CN" sz="1100" i="1">
                                  <a:latin typeface="Cambria Math" panose="02040503050406030204" pitchFamily="18" charset="0"/>
                                </a:rPr>
                                <m:t>𝑐</m:t>
                              </m:r>
                            </m:e>
                            <m:sub>
                              <m:r>
                                <a:rPr lang="en-US" altLang="zh-CN" sz="1100" i="1">
                                  <a:latin typeface="Cambria Math" panose="02040503050406030204" pitchFamily="18" charset="0"/>
                                </a:rPr>
                                <m:t>𝑘</m:t>
                              </m:r>
                            </m:sub>
                          </m:sSub>
                        </m:oMath>
                      </a14:m>
                      <a:r>
                        <a:rPr lang="zh-CN" altLang="en-US" sz="1100" dirty="0"/>
                        <a:t>与</a:t>
                      </a:r>
                      <a14:m>
                        <m:oMath xmlns:m="http://schemas.openxmlformats.org/officeDocument/2006/math">
                          <m:sSub>
                            <m:sSubPr>
                              <m:ctrlPr>
                                <a:rPr lang="en-US" altLang="zh-CN" sz="1100" i="1">
                                  <a:latin typeface="Cambria Math" panose="02040503050406030204" pitchFamily="18" charset="0"/>
                                </a:rPr>
                              </m:ctrlPr>
                            </m:sSubPr>
                            <m:e>
                              <m:r>
                                <a:rPr lang="en-US" altLang="zh-CN" sz="1100" i="1">
                                  <a:latin typeface="Cambria Math" panose="02040503050406030204" pitchFamily="18" charset="0"/>
                                </a:rPr>
                                <m:t>𝑝</m:t>
                              </m:r>
                            </m:e>
                            <m:sub>
                              <m:r>
                                <a:rPr lang="en-US" altLang="zh-CN" sz="1100" i="1">
                                  <a:latin typeface="Cambria Math" panose="02040503050406030204" pitchFamily="18" charset="0"/>
                                </a:rPr>
                                <m:t>𝑗</m:t>
                              </m:r>
                            </m:sub>
                          </m:sSub>
                        </m:oMath>
                      </a14:m>
                      <a:r>
                        <a:rPr lang="zh-CN" altLang="en-US" sz="1100" dirty="0"/>
                        <a:t>之间的距离</a:t>
                      </a:r>
                      <a:br>
                        <a:rPr lang="en-US" altLang="zh-CN" sz="1100" dirty="0"/>
                      </a:br>
                      <a14:m>
                        <m:oMathPara xmlns:m="http://schemas.openxmlformats.org/officeDocument/2006/math">
                          <m:oMathParaPr>
                            <m:jc m:val="centerGroup"/>
                          </m:oMathParaPr>
                          <m:oMath xmlns:m="http://schemas.openxmlformats.org/officeDocument/2006/math">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𝑑</m:t>
                                </m:r>
                              </m:e>
                              <m:sub>
                                <m:r>
                                  <a:rPr lang="en-US" altLang="zh-CN" sz="1100" b="0" i="1" smtClean="0">
                                    <a:latin typeface="Cambria Math" panose="02040503050406030204" pitchFamily="18" charset="0"/>
                                  </a:rPr>
                                  <m:t>𝑘𝑗</m:t>
                                </m:r>
                              </m:sub>
                            </m:sSub>
                            <m:r>
                              <a:rPr lang="en-US" altLang="zh-CN" sz="1100" b="0" i="1" smtClean="0">
                                <a:latin typeface="Cambria Math" panose="02040503050406030204" pitchFamily="18" charset="0"/>
                              </a:rPr>
                              <m:t>=</m:t>
                            </m:r>
                            <m:r>
                              <m:rPr>
                                <m:sty m:val="p"/>
                              </m:rPr>
                              <a:rPr lang="en-US" altLang="zh-CN" sz="1100" b="0" i="0" smtClean="0">
                                <a:latin typeface="Cambria Math" panose="02040503050406030204" pitchFamily="18" charset="0"/>
                              </a:rPr>
                              <m:t>exp</m:t>
                            </m:r>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𝑆𝑃𝐶</m:t>
                                </m:r>
                              </m:e>
                              <m:sub>
                                <m:r>
                                  <a:rPr lang="en-US" altLang="zh-CN" sz="1100" b="0" i="1" smtClean="0">
                                    <a:latin typeface="Cambria Math" panose="02040503050406030204" pitchFamily="18" charset="0"/>
                                  </a:rPr>
                                  <m:t>𝑗𝑘</m:t>
                                </m:r>
                              </m:sub>
                            </m:sSub>
                            <m:r>
                              <a:rPr lang="en-US" altLang="zh-CN" sz="1100" b="0" i="1" smtClean="0">
                                <a:latin typeface="Cambria Math" panose="02040503050406030204" pitchFamily="18" charset="0"/>
                              </a:rPr>
                              <m:t>+</m:t>
                            </m:r>
                            <m:sSub>
                              <m:sSubPr>
                                <m:ctrlPr>
                                  <a:rPr lang="en-US" altLang="zh-CN" sz="1100" b="0" i="1" smtClean="0">
                                    <a:latin typeface="Cambria Math" panose="02040503050406030204" pitchFamily="18" charset="0"/>
                                  </a:rPr>
                                </m:ctrlPr>
                              </m:sSubPr>
                              <m:e>
                                <m:r>
                                  <a:rPr lang="en-US" altLang="zh-CN" sz="1100" b="0" i="1" smtClean="0">
                                    <a:latin typeface="Cambria Math" panose="02040503050406030204" pitchFamily="18" charset="0"/>
                                  </a:rPr>
                                  <m:t>𝑆𝐶𝑃</m:t>
                                </m:r>
                              </m:e>
                              <m:sub>
                                <m:r>
                                  <a:rPr lang="en-US" altLang="zh-CN" sz="1100" b="0" i="1" smtClean="0">
                                    <a:latin typeface="Cambria Math" panose="02040503050406030204" pitchFamily="18" charset="0"/>
                                  </a:rPr>
                                  <m:t>𝑘𝑗</m:t>
                                </m:r>
                              </m:sub>
                            </m:sSub>
                            <m:r>
                              <a:rPr lang="en-US" altLang="zh-CN" sz="1100" b="0" i="1" smtClean="0">
                                <a:latin typeface="Cambria Math" panose="02040503050406030204" pitchFamily="18" charset="0"/>
                              </a:rPr>
                              <m:t>)</m:t>
                            </m:r>
                          </m:oMath>
                        </m:oMathPara>
                      </a14:m>
                      <a:endParaRPr lang="zh-CN" altLang="en-US" sz="1100" dirty="0"/>
                    </a:p>
                  </p:txBody>
                </p:sp>
              </mc:Choice>
              <mc:Fallback>
                <p:sp>
                  <p:nvSpPr>
                    <p:cNvPr id="40" name="流程图: 过程 39">
                      <a:extLst>
                        <a:ext uri="{FF2B5EF4-FFF2-40B4-BE49-F238E27FC236}">
                          <a16:creationId xmlns:a16="http://schemas.microsoft.com/office/drawing/2014/main" id="{B49A57D0-6548-2A34-3F64-94AFFE48E30A}"/>
                        </a:ext>
                      </a:extLst>
                    </p:cNvPr>
                    <p:cNvSpPr>
                      <a:spLocks noRot="1" noChangeAspect="1" noMove="1" noResize="1" noEditPoints="1" noAdjustHandles="1" noChangeArrowheads="1" noChangeShapeType="1" noTextEdit="1"/>
                    </p:cNvSpPr>
                    <p:nvPr/>
                  </p:nvSpPr>
                  <p:spPr>
                    <a:xfrm>
                      <a:off x="9024179" y="2795246"/>
                      <a:ext cx="2465215" cy="518430"/>
                    </a:xfrm>
                    <a:prstGeom prst="flowChartProcess">
                      <a:avLst/>
                    </a:prstGeom>
                    <a:blipFill>
                      <a:blip r:embed="rId8"/>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1" name="流程图: 过程 40">
                      <a:extLst>
                        <a:ext uri="{FF2B5EF4-FFF2-40B4-BE49-F238E27FC236}">
                          <a16:creationId xmlns:a16="http://schemas.microsoft.com/office/drawing/2014/main" id="{0909D5E8-45AB-DB28-D5C6-C929BB6BF549}"/>
                        </a:ext>
                      </a:extLst>
                    </p:cNvPr>
                    <p:cNvSpPr/>
                    <p:nvPr/>
                  </p:nvSpPr>
                  <p:spPr>
                    <a:xfrm>
                      <a:off x="9024178" y="3706621"/>
                      <a:ext cx="2465215" cy="518430"/>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针对</a:t>
                      </a:r>
                      <a14:m>
                        <m:oMath xmlns:m="http://schemas.openxmlformats.org/officeDocument/2006/math">
                          <m:sSub>
                            <m:sSubPr>
                              <m:ctrlPr>
                                <a:rPr lang="en-US" altLang="zh-CN" sz="1100" i="1">
                                  <a:latin typeface="Cambria Math" panose="02040503050406030204" pitchFamily="18" charset="0"/>
                                </a:rPr>
                              </m:ctrlPr>
                            </m:sSubPr>
                            <m:e>
                              <m:r>
                                <a:rPr lang="en-US" altLang="zh-CN" sz="1100" i="1">
                                  <a:latin typeface="Cambria Math" panose="02040503050406030204" pitchFamily="18" charset="0"/>
                                </a:rPr>
                                <m:t>𝑑</m:t>
                              </m:r>
                            </m:e>
                            <m:sub>
                              <m:r>
                                <a:rPr lang="en-US" altLang="zh-CN" sz="1100" i="1">
                                  <a:latin typeface="Cambria Math" panose="02040503050406030204" pitchFamily="18" charset="0"/>
                                </a:rPr>
                                <m:t>𝑘𝑗</m:t>
                              </m:r>
                            </m:sub>
                          </m:sSub>
                        </m:oMath>
                      </a14:m>
                      <a:r>
                        <a:rPr lang="zh-CN" altLang="en-US" sz="1100" dirty="0"/>
                        <a:t>对相互作用排序，并选出负样本候选</a:t>
                      </a:r>
                    </a:p>
                  </p:txBody>
                </p:sp>
              </mc:Choice>
              <mc:Fallback>
                <p:sp>
                  <p:nvSpPr>
                    <p:cNvPr id="41" name="流程图: 过程 40">
                      <a:extLst>
                        <a:ext uri="{FF2B5EF4-FFF2-40B4-BE49-F238E27FC236}">
                          <a16:creationId xmlns:a16="http://schemas.microsoft.com/office/drawing/2014/main" id="{0909D5E8-45AB-DB28-D5C6-C929BB6BF549}"/>
                        </a:ext>
                      </a:extLst>
                    </p:cNvPr>
                    <p:cNvSpPr>
                      <a:spLocks noRot="1" noChangeAspect="1" noMove="1" noResize="1" noEditPoints="1" noAdjustHandles="1" noChangeArrowheads="1" noChangeShapeType="1" noTextEdit="1"/>
                    </p:cNvSpPr>
                    <p:nvPr/>
                  </p:nvSpPr>
                  <p:spPr>
                    <a:xfrm>
                      <a:off x="9024178" y="3706621"/>
                      <a:ext cx="2465215" cy="518430"/>
                    </a:xfrm>
                    <a:prstGeom prst="flowChartProcess">
                      <a:avLst/>
                    </a:prstGeom>
                    <a:blipFill>
                      <a:blip r:embed="rId9"/>
                      <a:stretch>
                        <a:fillRect/>
                      </a:stretch>
                    </a:blipFill>
                  </p:spPr>
                  <p:txBody>
                    <a:bodyPr/>
                    <a:lstStyle/>
                    <a:p>
                      <a:r>
                        <a:rPr lang="zh-CN" altLang="en-US">
                          <a:noFill/>
                        </a:rPr>
                        <a:t> </a:t>
                      </a:r>
                    </a:p>
                  </p:txBody>
                </p:sp>
              </mc:Fallback>
            </mc:AlternateContent>
            <p:sp>
              <p:nvSpPr>
                <p:cNvPr id="42" name="流程图: 过程 41">
                  <a:extLst>
                    <a:ext uri="{FF2B5EF4-FFF2-40B4-BE49-F238E27FC236}">
                      <a16:creationId xmlns:a16="http://schemas.microsoft.com/office/drawing/2014/main" id="{E86DD232-2625-8BF5-B151-46007C83BC97}"/>
                    </a:ext>
                  </a:extLst>
                </p:cNvPr>
                <p:cNvSpPr/>
                <p:nvPr/>
              </p:nvSpPr>
              <p:spPr>
                <a:xfrm>
                  <a:off x="9024178" y="4796688"/>
                  <a:ext cx="2465215" cy="518430"/>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根据正样本数量和特征差异性筛选候选样本</a:t>
                  </a:r>
                </a:p>
              </p:txBody>
            </p:sp>
            <p:sp>
              <p:nvSpPr>
                <p:cNvPr id="43" name="流程图: 过程 42">
                  <a:extLst>
                    <a:ext uri="{FF2B5EF4-FFF2-40B4-BE49-F238E27FC236}">
                      <a16:creationId xmlns:a16="http://schemas.microsoft.com/office/drawing/2014/main" id="{DE29786C-A65E-5E03-ED1D-75ACEE713D0C}"/>
                    </a:ext>
                  </a:extLst>
                </p:cNvPr>
                <p:cNvSpPr/>
                <p:nvPr/>
              </p:nvSpPr>
              <p:spPr>
                <a:xfrm>
                  <a:off x="9023763" y="5936079"/>
                  <a:ext cx="2465215" cy="518430"/>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100" dirty="0"/>
                    <a:t>构建训练集并提取化学基因组特征</a:t>
                  </a:r>
                </a:p>
              </p:txBody>
            </p:sp>
            <p:sp>
              <p:nvSpPr>
                <p:cNvPr id="44" name="流程图: 过程 43">
                  <a:extLst>
                    <a:ext uri="{FF2B5EF4-FFF2-40B4-BE49-F238E27FC236}">
                      <a16:creationId xmlns:a16="http://schemas.microsoft.com/office/drawing/2014/main" id="{86DA6929-0B86-C6E3-ED70-847900D34AE6}"/>
                    </a:ext>
                  </a:extLst>
                </p:cNvPr>
                <p:cNvSpPr/>
                <p:nvPr/>
              </p:nvSpPr>
              <p:spPr>
                <a:xfrm>
                  <a:off x="248998" y="781050"/>
                  <a:ext cx="2577229" cy="1293523"/>
                </a:xfrm>
                <a:prstGeom prst="flowChartProcess">
                  <a:avLst/>
                </a:prstGeom>
                <a:noFill/>
                <a:ln>
                  <a:solidFill>
                    <a:schemeClr val="accent6">
                      <a:lumMod val="75000"/>
                    </a:schemeClr>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流程图: 过程 44">
                  <a:extLst>
                    <a:ext uri="{FF2B5EF4-FFF2-40B4-BE49-F238E27FC236}">
                      <a16:creationId xmlns:a16="http://schemas.microsoft.com/office/drawing/2014/main" id="{F312380A-3D28-8A08-DB4B-7EB49116C3A3}"/>
                    </a:ext>
                  </a:extLst>
                </p:cNvPr>
                <p:cNvSpPr/>
                <p:nvPr/>
              </p:nvSpPr>
              <p:spPr>
                <a:xfrm>
                  <a:off x="3007510" y="793685"/>
                  <a:ext cx="2747209" cy="1293523"/>
                </a:xfrm>
                <a:prstGeom prst="flowChartProcess">
                  <a:avLst/>
                </a:prstGeom>
                <a:noFill/>
                <a:ln>
                  <a:solidFill>
                    <a:schemeClr val="accent6">
                      <a:lumMod val="75000"/>
                    </a:schemeClr>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流程图: 过程 45">
                  <a:extLst>
                    <a:ext uri="{FF2B5EF4-FFF2-40B4-BE49-F238E27FC236}">
                      <a16:creationId xmlns:a16="http://schemas.microsoft.com/office/drawing/2014/main" id="{2A624C13-20EA-9D91-D3D2-C65FAD0761AF}"/>
                    </a:ext>
                  </a:extLst>
                </p:cNvPr>
                <p:cNvSpPr/>
                <p:nvPr/>
              </p:nvSpPr>
              <p:spPr>
                <a:xfrm>
                  <a:off x="173958" y="5328001"/>
                  <a:ext cx="2438036" cy="1293523"/>
                </a:xfrm>
                <a:prstGeom prst="flowChartProcess">
                  <a:avLst/>
                </a:prstGeom>
                <a:noFill/>
                <a:ln>
                  <a:solidFill>
                    <a:schemeClr val="accent6">
                      <a:lumMod val="75000"/>
                    </a:schemeClr>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文本框 62">
                  <a:extLst>
                    <a:ext uri="{FF2B5EF4-FFF2-40B4-BE49-F238E27FC236}">
                      <a16:creationId xmlns:a16="http://schemas.microsoft.com/office/drawing/2014/main" id="{60611208-CB73-5940-2783-655EE4139E55}"/>
                    </a:ext>
                  </a:extLst>
                </p:cNvPr>
                <p:cNvSpPr txBox="1"/>
                <p:nvPr/>
              </p:nvSpPr>
              <p:spPr>
                <a:xfrm>
                  <a:off x="398845" y="2995958"/>
                  <a:ext cx="372218" cy="276999"/>
                </a:xfrm>
                <a:prstGeom prst="rect">
                  <a:avLst/>
                </a:prstGeom>
                <a:noFill/>
              </p:spPr>
              <p:txBody>
                <a:bodyPr wrap="none" rtlCol="0">
                  <a:spAutoFit/>
                </a:bodyPr>
                <a:lstStyle/>
                <a:p>
                  <a:r>
                    <a:rPr lang="en-US" altLang="zh-CN" sz="1200" b="1" dirty="0"/>
                    <a:t>(1)</a:t>
                  </a:r>
                  <a:endParaRPr lang="zh-CN" altLang="en-US" sz="1200" b="1" dirty="0"/>
                </a:p>
              </p:txBody>
            </p:sp>
            <p:sp>
              <p:nvSpPr>
                <p:cNvPr id="64" name="文本框 63">
                  <a:extLst>
                    <a:ext uri="{FF2B5EF4-FFF2-40B4-BE49-F238E27FC236}">
                      <a16:creationId xmlns:a16="http://schemas.microsoft.com/office/drawing/2014/main" id="{9DEF6939-E4EC-A809-DEB3-4AB523B91AE9}"/>
                    </a:ext>
                  </a:extLst>
                </p:cNvPr>
                <p:cNvSpPr txBox="1"/>
                <p:nvPr/>
              </p:nvSpPr>
              <p:spPr>
                <a:xfrm>
                  <a:off x="2972690" y="3283238"/>
                  <a:ext cx="489236" cy="276999"/>
                </a:xfrm>
                <a:prstGeom prst="rect">
                  <a:avLst/>
                </a:prstGeom>
                <a:noFill/>
              </p:spPr>
              <p:txBody>
                <a:bodyPr wrap="none" rtlCol="0">
                  <a:spAutoFit/>
                </a:bodyPr>
                <a:lstStyle/>
                <a:p>
                  <a:r>
                    <a:rPr lang="en-US" altLang="zh-CN" sz="1200" b="1" dirty="0"/>
                    <a:t>(2.a)</a:t>
                  </a:r>
                  <a:endParaRPr lang="zh-CN" altLang="en-US" sz="1200" b="1" dirty="0"/>
                </a:p>
              </p:txBody>
            </p:sp>
            <p:sp>
              <p:nvSpPr>
                <p:cNvPr id="65" name="文本框 64">
                  <a:extLst>
                    <a:ext uri="{FF2B5EF4-FFF2-40B4-BE49-F238E27FC236}">
                      <a16:creationId xmlns:a16="http://schemas.microsoft.com/office/drawing/2014/main" id="{44730E24-5E7F-66F3-DF48-7EC1D44F7DCD}"/>
                    </a:ext>
                  </a:extLst>
                </p:cNvPr>
                <p:cNvSpPr txBox="1"/>
                <p:nvPr/>
              </p:nvSpPr>
              <p:spPr>
                <a:xfrm>
                  <a:off x="2928988" y="4316502"/>
                  <a:ext cx="502061" cy="276999"/>
                </a:xfrm>
                <a:prstGeom prst="rect">
                  <a:avLst/>
                </a:prstGeom>
                <a:noFill/>
              </p:spPr>
              <p:txBody>
                <a:bodyPr wrap="none" rtlCol="0">
                  <a:spAutoFit/>
                </a:bodyPr>
                <a:lstStyle/>
                <a:p>
                  <a:r>
                    <a:rPr lang="en-US" altLang="zh-CN" sz="1200" b="1" dirty="0"/>
                    <a:t>(2.b)</a:t>
                  </a:r>
                  <a:endParaRPr lang="zh-CN" altLang="en-US" sz="1200" b="1" dirty="0"/>
                </a:p>
              </p:txBody>
            </p:sp>
            <p:sp>
              <p:nvSpPr>
                <p:cNvPr id="67" name="文本框 66">
                  <a:extLst>
                    <a:ext uri="{FF2B5EF4-FFF2-40B4-BE49-F238E27FC236}">
                      <a16:creationId xmlns:a16="http://schemas.microsoft.com/office/drawing/2014/main" id="{EFC12167-4F0C-C2AA-9B95-893041DE254C}"/>
                    </a:ext>
                  </a:extLst>
                </p:cNvPr>
                <p:cNvSpPr txBox="1"/>
                <p:nvPr/>
              </p:nvSpPr>
              <p:spPr>
                <a:xfrm>
                  <a:off x="6312726" y="2364220"/>
                  <a:ext cx="372218" cy="276999"/>
                </a:xfrm>
                <a:prstGeom prst="rect">
                  <a:avLst/>
                </a:prstGeom>
                <a:noFill/>
              </p:spPr>
              <p:txBody>
                <a:bodyPr wrap="none" rtlCol="0">
                  <a:spAutoFit/>
                </a:bodyPr>
                <a:lstStyle/>
                <a:p>
                  <a:r>
                    <a:rPr lang="en-US" altLang="zh-CN" sz="1200" b="1" dirty="0"/>
                    <a:t>(3)</a:t>
                  </a:r>
                  <a:endParaRPr lang="zh-CN" altLang="en-US" sz="1200" b="1" dirty="0"/>
                </a:p>
              </p:txBody>
            </p:sp>
            <p:sp>
              <p:nvSpPr>
                <p:cNvPr id="68" name="文本框 67">
                  <a:extLst>
                    <a:ext uri="{FF2B5EF4-FFF2-40B4-BE49-F238E27FC236}">
                      <a16:creationId xmlns:a16="http://schemas.microsoft.com/office/drawing/2014/main" id="{FCEC1323-208A-08AF-1C82-BF34BB8DFCD1}"/>
                    </a:ext>
                  </a:extLst>
                </p:cNvPr>
                <p:cNvSpPr txBox="1"/>
                <p:nvPr/>
              </p:nvSpPr>
              <p:spPr>
                <a:xfrm>
                  <a:off x="8629865" y="2685610"/>
                  <a:ext cx="481222" cy="276999"/>
                </a:xfrm>
                <a:prstGeom prst="rect">
                  <a:avLst/>
                </a:prstGeom>
                <a:noFill/>
              </p:spPr>
              <p:txBody>
                <a:bodyPr wrap="none" rtlCol="0">
                  <a:spAutoFit/>
                </a:bodyPr>
                <a:lstStyle/>
                <a:p>
                  <a:r>
                    <a:rPr lang="en-US" altLang="zh-CN" sz="1200" b="1" dirty="0"/>
                    <a:t>(2.c)</a:t>
                  </a:r>
                  <a:endParaRPr lang="zh-CN" altLang="en-US" sz="1200" b="1" dirty="0"/>
                </a:p>
              </p:txBody>
            </p:sp>
            <p:sp>
              <p:nvSpPr>
                <p:cNvPr id="69" name="文本框 68">
                  <a:extLst>
                    <a:ext uri="{FF2B5EF4-FFF2-40B4-BE49-F238E27FC236}">
                      <a16:creationId xmlns:a16="http://schemas.microsoft.com/office/drawing/2014/main" id="{8F419A8E-C9C5-8B10-F891-4F2EBB52EEAB}"/>
                    </a:ext>
                  </a:extLst>
                </p:cNvPr>
                <p:cNvSpPr txBox="1"/>
                <p:nvPr/>
              </p:nvSpPr>
              <p:spPr>
                <a:xfrm>
                  <a:off x="8938981" y="4509415"/>
                  <a:ext cx="372218" cy="276999"/>
                </a:xfrm>
                <a:prstGeom prst="rect">
                  <a:avLst/>
                </a:prstGeom>
                <a:noFill/>
              </p:spPr>
              <p:txBody>
                <a:bodyPr wrap="none" rtlCol="0">
                  <a:spAutoFit/>
                </a:bodyPr>
                <a:lstStyle/>
                <a:p>
                  <a:r>
                    <a:rPr lang="en-US" altLang="zh-CN" sz="1200" b="1" dirty="0"/>
                    <a:t>(5)</a:t>
                  </a:r>
                  <a:endParaRPr lang="zh-CN" altLang="en-US" sz="1200" b="1" dirty="0"/>
                </a:p>
              </p:txBody>
            </p:sp>
            <p:sp>
              <p:nvSpPr>
                <p:cNvPr id="70" name="文本框 69">
                  <a:extLst>
                    <a:ext uri="{FF2B5EF4-FFF2-40B4-BE49-F238E27FC236}">
                      <a16:creationId xmlns:a16="http://schemas.microsoft.com/office/drawing/2014/main" id="{FF358AE5-0EBB-08A4-D9F1-1C5AC357459D}"/>
                    </a:ext>
                  </a:extLst>
                </p:cNvPr>
                <p:cNvSpPr txBox="1"/>
                <p:nvPr/>
              </p:nvSpPr>
              <p:spPr>
                <a:xfrm>
                  <a:off x="8938981" y="3445071"/>
                  <a:ext cx="372218" cy="276999"/>
                </a:xfrm>
                <a:prstGeom prst="rect">
                  <a:avLst/>
                </a:prstGeom>
                <a:noFill/>
              </p:spPr>
              <p:txBody>
                <a:bodyPr wrap="none" rtlCol="0">
                  <a:spAutoFit/>
                </a:bodyPr>
                <a:lstStyle/>
                <a:p>
                  <a:r>
                    <a:rPr lang="en-US" altLang="zh-CN" sz="1200" b="1" dirty="0"/>
                    <a:t>(4)</a:t>
                  </a:r>
                  <a:endParaRPr lang="zh-CN" altLang="en-US" sz="1200" b="1" dirty="0"/>
                </a:p>
              </p:txBody>
            </p:sp>
            <p:sp>
              <p:nvSpPr>
                <p:cNvPr id="71" name="文本框 70">
                  <a:extLst>
                    <a:ext uri="{FF2B5EF4-FFF2-40B4-BE49-F238E27FC236}">
                      <a16:creationId xmlns:a16="http://schemas.microsoft.com/office/drawing/2014/main" id="{3EC992CB-341B-DAC0-18CD-D7F0825AF42C}"/>
                    </a:ext>
                  </a:extLst>
                </p:cNvPr>
                <p:cNvSpPr txBox="1"/>
                <p:nvPr/>
              </p:nvSpPr>
              <p:spPr>
                <a:xfrm>
                  <a:off x="8938981" y="5680487"/>
                  <a:ext cx="372218" cy="276999"/>
                </a:xfrm>
                <a:prstGeom prst="rect">
                  <a:avLst/>
                </a:prstGeom>
                <a:noFill/>
              </p:spPr>
              <p:txBody>
                <a:bodyPr wrap="none" rtlCol="0">
                  <a:spAutoFit/>
                </a:bodyPr>
                <a:lstStyle/>
                <a:p>
                  <a:r>
                    <a:rPr lang="en-US" altLang="zh-CN" sz="1200" b="1" dirty="0"/>
                    <a:t>(6)</a:t>
                  </a:r>
                  <a:endParaRPr lang="zh-CN" altLang="en-US" sz="1200" b="1" dirty="0"/>
                </a:p>
              </p:txBody>
            </p:sp>
            <p:cxnSp>
              <p:nvCxnSpPr>
                <p:cNvPr id="73" name="直接箭头连接符 72">
                  <a:extLst>
                    <a:ext uri="{FF2B5EF4-FFF2-40B4-BE49-F238E27FC236}">
                      <a16:creationId xmlns:a16="http://schemas.microsoft.com/office/drawing/2014/main" id="{CBCFC069-E3AF-6F33-FC0A-2A664067CBFE}"/>
                    </a:ext>
                  </a:extLst>
                </p:cNvPr>
                <p:cNvCxnSpPr>
                  <a:cxnSpLocks/>
                  <a:stCxn id="5" idx="2"/>
                  <a:endCxn id="18" idx="0"/>
                </p:cNvCxnSpPr>
                <p:nvPr/>
              </p:nvCxnSpPr>
              <p:spPr>
                <a:xfrm>
                  <a:off x="649060" y="1965780"/>
                  <a:ext cx="1250" cy="4059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4" name="直接箭头连接符 73">
                  <a:extLst>
                    <a:ext uri="{FF2B5EF4-FFF2-40B4-BE49-F238E27FC236}">
                      <a16:creationId xmlns:a16="http://schemas.microsoft.com/office/drawing/2014/main" id="{BCA6E70D-95C7-AAE8-61D2-7CD379BCF5F7}"/>
                    </a:ext>
                  </a:extLst>
                </p:cNvPr>
                <p:cNvCxnSpPr>
                  <a:cxnSpLocks/>
                  <a:stCxn id="10" idx="2"/>
                  <a:endCxn id="19" idx="0"/>
                </p:cNvCxnSpPr>
                <p:nvPr/>
              </p:nvCxnSpPr>
              <p:spPr>
                <a:xfrm flipH="1">
                  <a:off x="1442617" y="1960418"/>
                  <a:ext cx="7093" cy="42400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8" name="直接箭头连接符 77">
                  <a:extLst>
                    <a:ext uri="{FF2B5EF4-FFF2-40B4-BE49-F238E27FC236}">
                      <a16:creationId xmlns:a16="http://schemas.microsoft.com/office/drawing/2014/main" id="{22ED55B6-1A1D-0107-F017-66E41CBA62D6}"/>
                    </a:ext>
                  </a:extLst>
                </p:cNvPr>
                <p:cNvCxnSpPr>
                  <a:cxnSpLocks/>
                  <a:stCxn id="9" idx="2"/>
                  <a:endCxn id="20" idx="0"/>
                </p:cNvCxnSpPr>
                <p:nvPr/>
              </p:nvCxnSpPr>
              <p:spPr>
                <a:xfrm flipH="1">
                  <a:off x="2311124" y="1965780"/>
                  <a:ext cx="5940" cy="40380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84" name="文本框 83">
                      <a:extLst>
                        <a:ext uri="{FF2B5EF4-FFF2-40B4-BE49-F238E27FC236}">
                          <a16:creationId xmlns:a16="http://schemas.microsoft.com/office/drawing/2014/main" id="{4F3B17F2-A2BB-EC47-A35E-83174DDC9775}"/>
                        </a:ext>
                      </a:extLst>
                    </p:cNvPr>
                    <p:cNvSpPr txBox="1"/>
                    <p:nvPr/>
                  </p:nvSpPr>
                  <p:spPr>
                    <a:xfrm>
                      <a:off x="2125560" y="2986447"/>
                      <a:ext cx="489236" cy="32508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𝑃𝑆</m:t>
                                </m:r>
                              </m:e>
                              <m:sub>
                                <m:r>
                                  <a:rPr lang="en-US" altLang="zh-CN" sz="1400" b="0" i="1" smtClean="0">
                                    <a:latin typeface="Cambria Math" panose="02040503050406030204" pitchFamily="18" charset="0"/>
                                  </a:rPr>
                                  <m:t>𝑗𝑙</m:t>
                                </m:r>
                              </m:sub>
                            </m:sSub>
                          </m:oMath>
                        </m:oMathPara>
                      </a14:m>
                      <a:endParaRPr lang="zh-CN" altLang="en-US" dirty="0"/>
                    </a:p>
                  </p:txBody>
                </p:sp>
              </mc:Choice>
              <mc:Fallback>
                <p:sp>
                  <p:nvSpPr>
                    <p:cNvPr id="84" name="文本框 83">
                      <a:extLst>
                        <a:ext uri="{FF2B5EF4-FFF2-40B4-BE49-F238E27FC236}">
                          <a16:creationId xmlns:a16="http://schemas.microsoft.com/office/drawing/2014/main" id="{4F3B17F2-A2BB-EC47-A35E-83174DDC9775}"/>
                        </a:ext>
                      </a:extLst>
                    </p:cNvPr>
                    <p:cNvSpPr txBox="1">
                      <a:spLocks noRot="1" noChangeAspect="1" noMove="1" noResize="1" noEditPoints="1" noAdjustHandles="1" noChangeArrowheads="1" noChangeShapeType="1" noTextEdit="1"/>
                    </p:cNvSpPr>
                    <p:nvPr/>
                  </p:nvSpPr>
                  <p:spPr>
                    <a:xfrm>
                      <a:off x="2125560" y="2986447"/>
                      <a:ext cx="489236" cy="325089"/>
                    </a:xfrm>
                    <a:prstGeom prst="rect">
                      <a:avLst/>
                    </a:prstGeom>
                    <a:blipFill>
                      <a:blip r:embed="rId10"/>
                      <a:stretch>
                        <a:fillRect b="-3774"/>
                      </a:stretch>
                    </a:blipFill>
                  </p:spPr>
                  <p:txBody>
                    <a:bodyPr/>
                    <a:lstStyle/>
                    <a:p>
                      <a:r>
                        <a:rPr lang="zh-CN" altLang="en-US">
                          <a:noFill/>
                        </a:rPr>
                        <a:t> </a:t>
                      </a:r>
                    </a:p>
                  </p:txBody>
                </p:sp>
              </mc:Fallback>
            </mc:AlternateContent>
            <p:cxnSp>
              <p:nvCxnSpPr>
                <p:cNvPr id="86" name="连接符: 肘形 85">
                  <a:extLst>
                    <a:ext uri="{FF2B5EF4-FFF2-40B4-BE49-F238E27FC236}">
                      <a16:creationId xmlns:a16="http://schemas.microsoft.com/office/drawing/2014/main" id="{88C04242-DF01-2FFC-C366-E826DBEAA781}"/>
                    </a:ext>
                  </a:extLst>
                </p:cNvPr>
                <p:cNvCxnSpPr>
                  <a:cxnSpLocks/>
                  <a:stCxn id="18" idx="2"/>
                  <a:endCxn id="21" idx="0"/>
                </p:cNvCxnSpPr>
                <p:nvPr/>
              </p:nvCxnSpPr>
              <p:spPr>
                <a:xfrm rot="16200000" flipH="1">
                  <a:off x="875491" y="2515876"/>
                  <a:ext cx="353276" cy="803638"/>
                </a:xfrm>
                <a:prstGeom prst="bentConnector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7" name="连接符: 肘形 86">
                  <a:extLst>
                    <a:ext uri="{FF2B5EF4-FFF2-40B4-BE49-F238E27FC236}">
                      <a16:creationId xmlns:a16="http://schemas.microsoft.com/office/drawing/2014/main" id="{A88C5FB4-9820-FFA7-B19D-1DDA33310730}"/>
                    </a:ext>
                  </a:extLst>
                </p:cNvPr>
                <p:cNvCxnSpPr>
                  <a:cxnSpLocks/>
                  <a:endCxn id="21" idx="0"/>
                </p:cNvCxnSpPr>
                <p:nvPr/>
              </p:nvCxnSpPr>
              <p:spPr>
                <a:xfrm rot="16200000" flipH="1">
                  <a:off x="1275137" y="2915522"/>
                  <a:ext cx="353382" cy="4240"/>
                </a:xfrm>
                <a:prstGeom prst="bentConnector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0" name="连接符: 肘形 89">
                  <a:extLst>
                    <a:ext uri="{FF2B5EF4-FFF2-40B4-BE49-F238E27FC236}">
                      <a16:creationId xmlns:a16="http://schemas.microsoft.com/office/drawing/2014/main" id="{5C560F92-EF60-B9AE-818F-B8B957B82EF0}"/>
                    </a:ext>
                  </a:extLst>
                </p:cNvPr>
                <p:cNvCxnSpPr>
                  <a:cxnSpLocks/>
                  <a:stCxn id="20" idx="2"/>
                  <a:endCxn id="21" idx="0"/>
                </p:cNvCxnSpPr>
                <p:nvPr/>
              </p:nvCxnSpPr>
              <p:spPr>
                <a:xfrm rot="5400000">
                  <a:off x="1704827" y="2488035"/>
                  <a:ext cx="355419" cy="857176"/>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4" name="连接符: 肘形 93">
                  <a:extLst>
                    <a:ext uri="{FF2B5EF4-FFF2-40B4-BE49-F238E27FC236}">
                      <a16:creationId xmlns:a16="http://schemas.microsoft.com/office/drawing/2014/main" id="{3A9E00F1-3831-284B-190C-326C282BB4F9}"/>
                    </a:ext>
                  </a:extLst>
                </p:cNvPr>
                <p:cNvCxnSpPr>
                  <a:cxnSpLocks/>
                  <a:stCxn id="24" idx="0"/>
                  <a:endCxn id="22" idx="2"/>
                </p:cNvCxnSpPr>
                <p:nvPr/>
              </p:nvCxnSpPr>
              <p:spPr>
                <a:xfrm rot="16200000" flipV="1">
                  <a:off x="1530662" y="4095271"/>
                  <a:ext cx="371850" cy="525277"/>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7" name="连接符: 肘形 96">
                  <a:extLst>
                    <a:ext uri="{FF2B5EF4-FFF2-40B4-BE49-F238E27FC236}">
                      <a16:creationId xmlns:a16="http://schemas.microsoft.com/office/drawing/2014/main" id="{E1048FCC-A29E-86BF-8024-EE8063D430E6}"/>
                    </a:ext>
                  </a:extLst>
                </p:cNvPr>
                <p:cNvCxnSpPr>
                  <a:cxnSpLocks/>
                  <a:stCxn id="23" idx="0"/>
                  <a:endCxn id="22" idx="2"/>
                </p:cNvCxnSpPr>
                <p:nvPr/>
              </p:nvCxnSpPr>
              <p:spPr>
                <a:xfrm rot="5400000" flipH="1" flipV="1">
                  <a:off x="944729" y="4034616"/>
                  <a:ext cx="371850" cy="646588"/>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0" name="直接箭头连接符 99">
                  <a:extLst>
                    <a:ext uri="{FF2B5EF4-FFF2-40B4-BE49-F238E27FC236}">
                      <a16:creationId xmlns:a16="http://schemas.microsoft.com/office/drawing/2014/main" id="{C15DD3F8-CB62-5E22-95A9-DB954704A296}"/>
                    </a:ext>
                  </a:extLst>
                </p:cNvPr>
                <p:cNvCxnSpPr>
                  <a:cxnSpLocks/>
                  <a:stCxn id="27" idx="1"/>
                  <a:endCxn id="24" idx="2"/>
                </p:cNvCxnSpPr>
                <p:nvPr/>
              </p:nvCxnSpPr>
              <p:spPr>
                <a:xfrm flipH="1" flipV="1">
                  <a:off x="1979225" y="4913167"/>
                  <a:ext cx="1293" cy="6490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3" name="直接箭头连接符 102">
                  <a:extLst>
                    <a:ext uri="{FF2B5EF4-FFF2-40B4-BE49-F238E27FC236}">
                      <a16:creationId xmlns:a16="http://schemas.microsoft.com/office/drawing/2014/main" id="{CB8B6480-F11D-62D7-9994-63E540E263D6}"/>
                    </a:ext>
                  </a:extLst>
                </p:cNvPr>
                <p:cNvCxnSpPr>
                  <a:cxnSpLocks/>
                  <a:stCxn id="25" idx="1"/>
                  <a:endCxn id="23" idx="2"/>
                </p:cNvCxnSpPr>
                <p:nvPr/>
              </p:nvCxnSpPr>
              <p:spPr>
                <a:xfrm flipV="1">
                  <a:off x="796896" y="4913167"/>
                  <a:ext cx="10464" cy="6490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7" name="连接符: 肘形 106">
                  <a:extLst>
                    <a:ext uri="{FF2B5EF4-FFF2-40B4-BE49-F238E27FC236}">
                      <a16:creationId xmlns:a16="http://schemas.microsoft.com/office/drawing/2014/main" id="{B4EE750F-10CE-E6D9-2C15-6A6471021918}"/>
                    </a:ext>
                  </a:extLst>
                </p:cNvPr>
                <p:cNvCxnSpPr>
                  <a:cxnSpLocks/>
                  <a:stCxn id="21" idx="3"/>
                  <a:endCxn id="34" idx="1"/>
                </p:cNvCxnSpPr>
                <p:nvPr/>
              </p:nvCxnSpPr>
              <p:spPr>
                <a:xfrm>
                  <a:off x="1979225" y="3278999"/>
                  <a:ext cx="1213409" cy="557536"/>
                </a:xfrm>
                <a:prstGeom prst="bentConnector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14" name="文本框 113">
                      <a:extLst>
                        <a:ext uri="{FF2B5EF4-FFF2-40B4-BE49-F238E27FC236}">
                          <a16:creationId xmlns:a16="http://schemas.microsoft.com/office/drawing/2014/main" id="{38A2434D-779D-59D7-94E6-C105DF9387AC}"/>
                        </a:ext>
                      </a:extLst>
                    </p:cNvPr>
                    <p:cNvSpPr txBox="1"/>
                    <p:nvPr/>
                  </p:nvSpPr>
                  <p:spPr>
                    <a:xfrm>
                      <a:off x="2082018" y="3706621"/>
                      <a:ext cx="48122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𝐶𝑆</m:t>
                                </m:r>
                              </m:e>
                              <m:sub>
                                <m:r>
                                  <a:rPr lang="en-US" altLang="zh-CN" sz="1400" b="0" i="1" smtClean="0">
                                    <a:latin typeface="Cambria Math" panose="02040503050406030204" pitchFamily="18" charset="0"/>
                                  </a:rPr>
                                  <m:t>𝑖𝑘</m:t>
                                </m:r>
                              </m:sub>
                            </m:sSub>
                          </m:oMath>
                        </m:oMathPara>
                      </a14:m>
                      <a:endParaRPr lang="zh-CN" altLang="en-US" dirty="0"/>
                    </a:p>
                  </p:txBody>
                </p:sp>
              </mc:Choice>
              <mc:Fallback>
                <p:sp>
                  <p:nvSpPr>
                    <p:cNvPr id="114" name="文本框 113">
                      <a:extLst>
                        <a:ext uri="{FF2B5EF4-FFF2-40B4-BE49-F238E27FC236}">
                          <a16:creationId xmlns:a16="http://schemas.microsoft.com/office/drawing/2014/main" id="{38A2434D-779D-59D7-94E6-C105DF9387AC}"/>
                        </a:ext>
                      </a:extLst>
                    </p:cNvPr>
                    <p:cNvSpPr txBox="1">
                      <a:spLocks noRot="1" noChangeAspect="1" noMove="1" noResize="1" noEditPoints="1" noAdjustHandles="1" noChangeArrowheads="1" noChangeShapeType="1" noTextEdit="1"/>
                    </p:cNvSpPr>
                    <p:nvPr/>
                  </p:nvSpPr>
                  <p:spPr>
                    <a:xfrm>
                      <a:off x="2082018" y="3706621"/>
                      <a:ext cx="481223" cy="307777"/>
                    </a:xfrm>
                    <a:prstGeom prst="rect">
                      <a:avLst/>
                    </a:prstGeom>
                    <a:blipFill>
                      <a:blip r:embed="rId11"/>
                      <a:stretch>
                        <a:fillRect/>
                      </a:stretch>
                    </a:blipFill>
                  </p:spPr>
                  <p:txBody>
                    <a:bodyPr/>
                    <a:lstStyle/>
                    <a:p>
                      <a:r>
                        <a:rPr lang="zh-CN" altLang="en-US">
                          <a:noFill/>
                        </a:rPr>
                        <a:t> </a:t>
                      </a:r>
                    </a:p>
                  </p:txBody>
                </p:sp>
              </mc:Fallback>
            </mc:AlternateContent>
            <p:cxnSp>
              <p:nvCxnSpPr>
                <p:cNvPr id="115" name="连接符: 肘形 114">
                  <a:extLst>
                    <a:ext uri="{FF2B5EF4-FFF2-40B4-BE49-F238E27FC236}">
                      <a16:creationId xmlns:a16="http://schemas.microsoft.com/office/drawing/2014/main" id="{6447D38F-7BAB-61EB-650C-885520481CEE}"/>
                    </a:ext>
                  </a:extLst>
                </p:cNvPr>
                <p:cNvCxnSpPr>
                  <a:cxnSpLocks/>
                  <a:stCxn id="12" idx="2"/>
                  <a:endCxn id="32" idx="0"/>
                </p:cNvCxnSpPr>
                <p:nvPr/>
              </p:nvCxnSpPr>
              <p:spPr>
                <a:xfrm rot="16200000" flipH="1">
                  <a:off x="3725310" y="1740488"/>
                  <a:ext cx="480002" cy="919862"/>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8" name="连接符: 肘形 117">
                  <a:extLst>
                    <a:ext uri="{FF2B5EF4-FFF2-40B4-BE49-F238E27FC236}">
                      <a16:creationId xmlns:a16="http://schemas.microsoft.com/office/drawing/2014/main" id="{322432E0-7EE2-0B6A-09AB-80D1B36F3ECC}"/>
                    </a:ext>
                  </a:extLst>
                </p:cNvPr>
                <p:cNvCxnSpPr>
                  <a:cxnSpLocks/>
                  <a:stCxn id="16" idx="2"/>
                  <a:endCxn id="32" idx="0"/>
                </p:cNvCxnSpPr>
                <p:nvPr/>
              </p:nvCxnSpPr>
              <p:spPr>
                <a:xfrm rot="5400000">
                  <a:off x="4599349" y="1786311"/>
                  <a:ext cx="480002" cy="828216"/>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2" name="连接符: 肘形 121">
                  <a:extLst>
                    <a:ext uri="{FF2B5EF4-FFF2-40B4-BE49-F238E27FC236}">
                      <a16:creationId xmlns:a16="http://schemas.microsoft.com/office/drawing/2014/main" id="{F26935C0-6E14-61FE-95F8-9290DF1615C0}"/>
                    </a:ext>
                  </a:extLst>
                </p:cNvPr>
                <p:cNvCxnSpPr>
                  <a:cxnSpLocks/>
                  <a:stCxn id="17" idx="2"/>
                  <a:endCxn id="32" idx="0"/>
                </p:cNvCxnSpPr>
                <p:nvPr/>
              </p:nvCxnSpPr>
              <p:spPr>
                <a:xfrm rot="5400000">
                  <a:off x="4183896" y="2196402"/>
                  <a:ext cx="485364" cy="2672"/>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5" name="连接符: 肘形 124">
                  <a:extLst>
                    <a:ext uri="{FF2B5EF4-FFF2-40B4-BE49-F238E27FC236}">
                      <a16:creationId xmlns:a16="http://schemas.microsoft.com/office/drawing/2014/main" id="{2840C643-E02E-5BE8-9B2E-FA4DC45AE2A7}"/>
                    </a:ext>
                  </a:extLst>
                </p:cNvPr>
                <p:cNvCxnSpPr>
                  <a:cxnSpLocks/>
                </p:cNvCxnSpPr>
                <p:nvPr/>
              </p:nvCxnSpPr>
              <p:spPr>
                <a:xfrm rot="10800000" flipH="1" flipV="1">
                  <a:off x="3192633" y="2789692"/>
                  <a:ext cx="9523" cy="1170666"/>
                </a:xfrm>
                <a:prstGeom prst="bentConnector4">
                  <a:avLst>
                    <a:gd name="adj1" fmla="val -2800588"/>
                    <a:gd name="adj2" fmla="val 10031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9" name="连接符: 肘形 128">
                  <a:extLst>
                    <a:ext uri="{FF2B5EF4-FFF2-40B4-BE49-F238E27FC236}">
                      <a16:creationId xmlns:a16="http://schemas.microsoft.com/office/drawing/2014/main" id="{1D9DB6AB-B666-A72E-DC8A-63F44C2800F3}"/>
                    </a:ext>
                  </a:extLst>
                </p:cNvPr>
                <p:cNvCxnSpPr>
                  <a:cxnSpLocks/>
                </p:cNvCxnSpPr>
                <p:nvPr/>
              </p:nvCxnSpPr>
              <p:spPr>
                <a:xfrm rot="10800000" flipV="1">
                  <a:off x="3173584" y="2475367"/>
                  <a:ext cx="12700" cy="2220664"/>
                </a:xfrm>
                <a:prstGeom prst="bentConnector4">
                  <a:avLst>
                    <a:gd name="adj1" fmla="val 3150000"/>
                    <a:gd name="adj2" fmla="val 10011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79" name="直接箭头连接符 178">
                  <a:extLst>
                    <a:ext uri="{FF2B5EF4-FFF2-40B4-BE49-F238E27FC236}">
                      <a16:creationId xmlns:a16="http://schemas.microsoft.com/office/drawing/2014/main" id="{B8C9782F-032B-4E2D-7F42-B047CC33107E}"/>
                    </a:ext>
                  </a:extLst>
                </p:cNvPr>
                <p:cNvCxnSpPr>
                  <a:cxnSpLocks/>
                  <a:endCxn id="38" idx="1"/>
                </p:cNvCxnSpPr>
                <p:nvPr/>
              </p:nvCxnSpPr>
              <p:spPr>
                <a:xfrm>
                  <a:off x="5660048" y="3822765"/>
                  <a:ext cx="283551" cy="42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1" name="直接箭头连接符 180">
                  <a:extLst>
                    <a:ext uri="{FF2B5EF4-FFF2-40B4-BE49-F238E27FC236}">
                      <a16:creationId xmlns:a16="http://schemas.microsoft.com/office/drawing/2014/main" id="{7F5CC5CB-2C2E-9E29-6EF6-63F7A1894AD6}"/>
                    </a:ext>
                  </a:extLst>
                </p:cNvPr>
                <p:cNvCxnSpPr>
                  <a:cxnSpLocks/>
                  <a:stCxn id="35" idx="3"/>
                  <a:endCxn id="39" idx="1"/>
                </p:cNvCxnSpPr>
                <p:nvPr/>
              </p:nvCxnSpPr>
              <p:spPr>
                <a:xfrm>
                  <a:off x="5657849" y="4886531"/>
                  <a:ext cx="285749"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2" name="连接符: 肘形 181">
                  <a:extLst>
                    <a:ext uri="{FF2B5EF4-FFF2-40B4-BE49-F238E27FC236}">
                      <a16:creationId xmlns:a16="http://schemas.microsoft.com/office/drawing/2014/main" id="{8F04A014-D0E5-FAFC-3194-552F211F17D6}"/>
                    </a:ext>
                  </a:extLst>
                </p:cNvPr>
                <p:cNvCxnSpPr>
                  <a:cxnSpLocks/>
                  <a:endCxn id="40" idx="1"/>
                </p:cNvCxnSpPr>
                <p:nvPr/>
              </p:nvCxnSpPr>
              <p:spPr>
                <a:xfrm flipV="1">
                  <a:off x="8408814" y="3054461"/>
                  <a:ext cx="615365" cy="921139"/>
                </a:xfrm>
                <a:prstGeom prst="bentConnector3">
                  <a:avLst>
                    <a:gd name="adj1" fmla="val 36998"/>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9" name="连接符: 肘形 188">
                  <a:extLst>
                    <a:ext uri="{FF2B5EF4-FFF2-40B4-BE49-F238E27FC236}">
                      <a16:creationId xmlns:a16="http://schemas.microsoft.com/office/drawing/2014/main" id="{E23C26E6-6C89-3C86-DE75-D0DFFAA54C29}"/>
                    </a:ext>
                  </a:extLst>
                </p:cNvPr>
                <p:cNvCxnSpPr>
                  <a:cxnSpLocks/>
                </p:cNvCxnSpPr>
                <p:nvPr/>
              </p:nvCxnSpPr>
              <p:spPr>
                <a:xfrm flipV="1">
                  <a:off x="8420243" y="3180191"/>
                  <a:ext cx="615366" cy="1832070"/>
                </a:xfrm>
                <a:prstGeom prst="bentConnector3">
                  <a:avLst>
                    <a:gd name="adj1" fmla="val 5557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7" name="直接箭头连接符 206">
                  <a:extLst>
                    <a:ext uri="{FF2B5EF4-FFF2-40B4-BE49-F238E27FC236}">
                      <a16:creationId xmlns:a16="http://schemas.microsoft.com/office/drawing/2014/main" id="{A1561F02-860D-E243-DAEB-540F37906C5B}"/>
                    </a:ext>
                  </a:extLst>
                </p:cNvPr>
                <p:cNvCxnSpPr>
                  <a:cxnSpLocks/>
                  <a:stCxn id="40" idx="2"/>
                  <a:endCxn id="41" idx="0"/>
                </p:cNvCxnSpPr>
                <p:nvPr/>
              </p:nvCxnSpPr>
              <p:spPr>
                <a:xfrm flipH="1">
                  <a:off x="10256786" y="3313676"/>
                  <a:ext cx="1" cy="3929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0" name="直接箭头连接符 209">
                  <a:extLst>
                    <a:ext uri="{FF2B5EF4-FFF2-40B4-BE49-F238E27FC236}">
                      <a16:creationId xmlns:a16="http://schemas.microsoft.com/office/drawing/2014/main" id="{8AA5B53A-ABC9-8611-7FF3-6E6B098325B3}"/>
                    </a:ext>
                  </a:extLst>
                </p:cNvPr>
                <p:cNvCxnSpPr>
                  <a:cxnSpLocks/>
                  <a:stCxn id="41" idx="2"/>
                </p:cNvCxnSpPr>
                <p:nvPr/>
              </p:nvCxnSpPr>
              <p:spPr>
                <a:xfrm flipH="1">
                  <a:off x="10256370" y="4225051"/>
                  <a:ext cx="416" cy="59873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2" name="直接箭头连接符 211">
                  <a:extLst>
                    <a:ext uri="{FF2B5EF4-FFF2-40B4-BE49-F238E27FC236}">
                      <a16:creationId xmlns:a16="http://schemas.microsoft.com/office/drawing/2014/main" id="{8533A188-A0B6-C96D-2A0E-86FC1F251721}"/>
                    </a:ext>
                  </a:extLst>
                </p:cNvPr>
                <p:cNvCxnSpPr>
                  <a:cxnSpLocks/>
                  <a:stCxn id="42" idx="2"/>
                  <a:endCxn id="43" idx="0"/>
                </p:cNvCxnSpPr>
                <p:nvPr/>
              </p:nvCxnSpPr>
              <p:spPr>
                <a:xfrm flipH="1">
                  <a:off x="10256371" y="5315118"/>
                  <a:ext cx="415" cy="6209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grpSp>
    </p:spTree>
    <p:extLst>
      <p:ext uri="{BB962C8B-B14F-4D97-AF65-F5344CB8AC3E}">
        <p14:creationId xmlns:p14="http://schemas.microsoft.com/office/powerpoint/2010/main" val="1056345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48E1A-B348-B838-E8AD-66337B84DF1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9E26EDD-2EA7-6CC5-CF38-0693BD74F16F}"/>
              </a:ext>
            </a:extLst>
          </p:cNvPr>
          <p:cNvSpPr>
            <a:spLocks noGrp="1"/>
          </p:cNvSpPr>
          <p:nvPr>
            <p:ph type="ctrTitle"/>
          </p:nvPr>
        </p:nvSpPr>
        <p:spPr>
          <a:xfrm>
            <a:off x="-143471" y="-53608"/>
            <a:ext cx="1641231" cy="425083"/>
          </a:xfrm>
        </p:spPr>
        <p:txBody>
          <a:bodyPr>
            <a:noAutofit/>
          </a:bodyPr>
          <a:lstStyle/>
          <a:p>
            <a:r>
              <a:rPr lang="zh-CN" altLang="en-US" sz="2000" b="1" dirty="0">
                <a:highlight>
                  <a:srgbClr val="FFFF00"/>
                </a:highlight>
                <a:latin typeface="宋体" panose="02010600030101010101" pitchFamily="2" charset="-122"/>
                <a:ea typeface="宋体" panose="02010600030101010101" pitchFamily="2" charset="-122"/>
              </a:rPr>
              <a:t>技术路线</a:t>
            </a:r>
          </a:p>
        </p:txBody>
      </p:sp>
      <p:sp>
        <p:nvSpPr>
          <p:cNvPr id="3" name="副标题 2">
            <a:extLst>
              <a:ext uri="{FF2B5EF4-FFF2-40B4-BE49-F238E27FC236}">
                <a16:creationId xmlns:a16="http://schemas.microsoft.com/office/drawing/2014/main" id="{8DE2A1B0-5FD6-C92B-755F-31D312B72FD8}"/>
              </a:ext>
            </a:extLst>
          </p:cNvPr>
          <p:cNvSpPr>
            <a:spLocks noGrp="1"/>
          </p:cNvSpPr>
          <p:nvPr>
            <p:ph type="subTitle" idx="1"/>
          </p:nvPr>
        </p:nvSpPr>
        <p:spPr>
          <a:xfrm>
            <a:off x="0" y="371475"/>
            <a:ext cx="11887200" cy="295009"/>
          </a:xfrm>
        </p:spPr>
        <p:txBody>
          <a:bodyPr>
            <a:normAutofit fontScale="85000" lnSpcReduction="20000"/>
          </a:bodyPr>
          <a:lstStyle/>
          <a:p>
            <a:pPr algn="just"/>
            <a:r>
              <a:rPr lang="zh-CN" altLang="en-US" sz="2000" dirty="0"/>
              <a:t>负样本筛选</a:t>
            </a:r>
          </a:p>
        </p:txBody>
      </p:sp>
      <p:grpSp>
        <p:nvGrpSpPr>
          <p:cNvPr id="5" name="组合 4">
            <a:extLst>
              <a:ext uri="{FF2B5EF4-FFF2-40B4-BE49-F238E27FC236}">
                <a16:creationId xmlns:a16="http://schemas.microsoft.com/office/drawing/2014/main" id="{F445021E-D1EF-A1AC-6004-BFDA83139DD0}"/>
              </a:ext>
            </a:extLst>
          </p:cNvPr>
          <p:cNvGrpSpPr/>
          <p:nvPr/>
        </p:nvGrpSpPr>
        <p:grpSpPr>
          <a:xfrm>
            <a:off x="1642163" y="963436"/>
            <a:ext cx="8455662" cy="5191411"/>
            <a:chOff x="1642163" y="963436"/>
            <a:chExt cx="8455662" cy="5191411"/>
          </a:xfrm>
        </p:grpSpPr>
        <p:cxnSp>
          <p:nvCxnSpPr>
            <p:cNvPr id="59" name="直接连接符 58">
              <a:extLst>
                <a:ext uri="{FF2B5EF4-FFF2-40B4-BE49-F238E27FC236}">
                  <a16:creationId xmlns:a16="http://schemas.microsoft.com/office/drawing/2014/main" id="{7BE4D1C0-C2D7-B567-B839-1E57BDB5BBDC}"/>
                </a:ext>
              </a:extLst>
            </p:cNvPr>
            <p:cNvCxnSpPr>
              <a:stCxn id="29" idx="0"/>
              <a:endCxn id="52" idx="1"/>
            </p:cNvCxnSpPr>
            <p:nvPr/>
          </p:nvCxnSpPr>
          <p:spPr>
            <a:xfrm>
              <a:off x="3361041" y="1396314"/>
              <a:ext cx="4658498" cy="1285102"/>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直接连接符 59">
              <a:extLst>
                <a:ext uri="{FF2B5EF4-FFF2-40B4-BE49-F238E27FC236}">
                  <a16:creationId xmlns:a16="http://schemas.microsoft.com/office/drawing/2014/main" id="{E1258B7A-6BDB-4929-AB71-7BBE3FE10A4C}"/>
                </a:ext>
              </a:extLst>
            </p:cNvPr>
            <p:cNvCxnSpPr>
              <a:cxnSpLocks/>
              <a:stCxn id="30" idx="0"/>
              <a:endCxn id="52" idx="1"/>
            </p:cNvCxnSpPr>
            <p:nvPr/>
          </p:nvCxnSpPr>
          <p:spPr>
            <a:xfrm flipV="1">
              <a:off x="3361041" y="2681416"/>
              <a:ext cx="4658498" cy="1"/>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5" name="直接连接符 74">
              <a:extLst>
                <a:ext uri="{FF2B5EF4-FFF2-40B4-BE49-F238E27FC236}">
                  <a16:creationId xmlns:a16="http://schemas.microsoft.com/office/drawing/2014/main" id="{9A51BB67-D531-9671-C266-BB54A1EA1774}"/>
                </a:ext>
              </a:extLst>
            </p:cNvPr>
            <p:cNvCxnSpPr>
              <a:cxnSpLocks/>
              <a:stCxn id="49" idx="0"/>
              <a:endCxn id="52" idx="1"/>
            </p:cNvCxnSpPr>
            <p:nvPr/>
          </p:nvCxnSpPr>
          <p:spPr>
            <a:xfrm flipV="1">
              <a:off x="3361041" y="2681416"/>
              <a:ext cx="4658498" cy="2693774"/>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直接连接符 81">
              <a:extLst>
                <a:ext uri="{FF2B5EF4-FFF2-40B4-BE49-F238E27FC236}">
                  <a16:creationId xmlns:a16="http://schemas.microsoft.com/office/drawing/2014/main" id="{F1CF7C71-54AD-3C0E-2730-33E2CBB71A7A}"/>
                </a:ext>
              </a:extLst>
            </p:cNvPr>
            <p:cNvCxnSpPr>
              <a:cxnSpLocks/>
              <a:stCxn id="47" idx="0"/>
              <a:endCxn id="54" idx="1"/>
            </p:cNvCxnSpPr>
            <p:nvPr/>
          </p:nvCxnSpPr>
          <p:spPr>
            <a:xfrm flipV="1">
              <a:off x="3361041" y="4077729"/>
              <a:ext cx="4658497" cy="1"/>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23" name="连接符: 曲线 122">
              <a:extLst>
                <a:ext uri="{FF2B5EF4-FFF2-40B4-BE49-F238E27FC236}">
                  <a16:creationId xmlns:a16="http://schemas.microsoft.com/office/drawing/2014/main" id="{5DB4C358-F863-C9CC-A879-EF7F66FD8B8E}"/>
                </a:ext>
              </a:extLst>
            </p:cNvPr>
            <p:cNvCxnSpPr>
              <a:cxnSpLocks/>
              <a:stCxn id="47" idx="3"/>
              <a:endCxn id="49" idx="3"/>
            </p:cNvCxnSpPr>
            <p:nvPr/>
          </p:nvCxnSpPr>
          <p:spPr>
            <a:xfrm rot="10800000" flipV="1">
              <a:off x="2496068" y="4077730"/>
              <a:ext cx="12700" cy="1297460"/>
            </a:xfrm>
            <a:prstGeom prst="curvedConnector3">
              <a:avLst>
                <a:gd name="adj1" fmla="val 1800000"/>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直接连接符 162">
              <a:extLst>
                <a:ext uri="{FF2B5EF4-FFF2-40B4-BE49-F238E27FC236}">
                  <a16:creationId xmlns:a16="http://schemas.microsoft.com/office/drawing/2014/main" id="{9468FD6C-E0BD-F21E-EBA2-0159BE681E60}"/>
                </a:ext>
              </a:extLst>
            </p:cNvPr>
            <p:cNvCxnSpPr>
              <a:cxnSpLocks/>
              <a:stCxn id="47" idx="0"/>
              <a:endCxn id="52" idx="1"/>
            </p:cNvCxnSpPr>
            <p:nvPr/>
          </p:nvCxnSpPr>
          <p:spPr>
            <a:xfrm flipV="1">
              <a:off x="3361041" y="2681416"/>
              <a:ext cx="4658498" cy="1396314"/>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nvGrpSpPr>
            <p:cNvPr id="4" name="组合 3">
              <a:extLst>
                <a:ext uri="{FF2B5EF4-FFF2-40B4-BE49-F238E27FC236}">
                  <a16:creationId xmlns:a16="http://schemas.microsoft.com/office/drawing/2014/main" id="{730A5BA3-9E98-7D0B-DD07-7D981481BCDB}"/>
                </a:ext>
              </a:extLst>
            </p:cNvPr>
            <p:cNvGrpSpPr/>
            <p:nvPr/>
          </p:nvGrpSpPr>
          <p:grpSpPr>
            <a:xfrm>
              <a:off x="1642163" y="963436"/>
              <a:ext cx="8455662" cy="5191411"/>
              <a:chOff x="1642163" y="963436"/>
              <a:chExt cx="8455662" cy="5191411"/>
            </a:xfrm>
          </p:grpSpPr>
          <mc:AlternateContent xmlns:mc="http://schemas.openxmlformats.org/markup-compatibility/2006">
            <mc:Choice xmlns:a14="http://schemas.microsoft.com/office/drawing/2010/main" Requires="a14">
              <p:sp>
                <p:nvSpPr>
                  <p:cNvPr id="29" name="六边形 28">
                    <a:extLst>
                      <a:ext uri="{FF2B5EF4-FFF2-40B4-BE49-F238E27FC236}">
                        <a16:creationId xmlns:a16="http://schemas.microsoft.com/office/drawing/2014/main" id="{578E3C10-1B94-2439-4C3A-D9ABDEFC2BB4}"/>
                      </a:ext>
                    </a:extLst>
                  </p:cNvPr>
                  <p:cNvSpPr/>
                  <p:nvPr/>
                </p:nvSpPr>
                <p:spPr>
                  <a:xfrm>
                    <a:off x="2496068" y="1112108"/>
                    <a:ext cx="864973" cy="568411"/>
                  </a:xfrm>
                  <a:prstGeom prst="hexago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𝑐</m:t>
                              </m:r>
                            </m:e>
                            <m:sub>
                              <m:r>
                                <a:rPr lang="en-US" altLang="zh-CN" b="0" i="1" smtClean="0">
                                  <a:solidFill>
                                    <a:schemeClr val="tx1"/>
                                  </a:solidFill>
                                  <a:latin typeface="Cambria Math" panose="02040503050406030204" pitchFamily="18" charset="0"/>
                                </a:rPr>
                                <m:t>1</m:t>
                              </m:r>
                            </m:sub>
                          </m:sSub>
                        </m:oMath>
                      </m:oMathPara>
                    </a14:m>
                    <a:endParaRPr lang="zh-CN" altLang="en-US" dirty="0">
                      <a:solidFill>
                        <a:schemeClr val="tx1"/>
                      </a:solidFill>
                    </a:endParaRPr>
                  </a:p>
                </p:txBody>
              </p:sp>
            </mc:Choice>
            <mc:Fallback>
              <p:sp>
                <p:nvSpPr>
                  <p:cNvPr id="29" name="六边形 28">
                    <a:extLst>
                      <a:ext uri="{FF2B5EF4-FFF2-40B4-BE49-F238E27FC236}">
                        <a16:creationId xmlns:a16="http://schemas.microsoft.com/office/drawing/2014/main" id="{578E3C10-1B94-2439-4C3A-D9ABDEFC2BB4}"/>
                      </a:ext>
                    </a:extLst>
                  </p:cNvPr>
                  <p:cNvSpPr>
                    <a:spLocks noRot="1" noChangeAspect="1" noMove="1" noResize="1" noEditPoints="1" noAdjustHandles="1" noChangeArrowheads="1" noChangeShapeType="1" noTextEdit="1"/>
                  </p:cNvSpPr>
                  <p:nvPr/>
                </p:nvSpPr>
                <p:spPr>
                  <a:xfrm>
                    <a:off x="2496068" y="1112108"/>
                    <a:ext cx="864973" cy="568411"/>
                  </a:xfrm>
                  <a:prstGeom prst="hexagon">
                    <a:avLst/>
                  </a:prstGeom>
                  <a:blipFill>
                    <a:blip r:embed="rId3"/>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0" name="六边形 29">
                    <a:extLst>
                      <a:ext uri="{FF2B5EF4-FFF2-40B4-BE49-F238E27FC236}">
                        <a16:creationId xmlns:a16="http://schemas.microsoft.com/office/drawing/2014/main" id="{E16E667A-5204-4F99-3D2D-EC87F83943EC}"/>
                      </a:ext>
                    </a:extLst>
                  </p:cNvPr>
                  <p:cNvSpPr/>
                  <p:nvPr/>
                </p:nvSpPr>
                <p:spPr>
                  <a:xfrm>
                    <a:off x="2496068" y="2397211"/>
                    <a:ext cx="864973" cy="568411"/>
                  </a:xfrm>
                  <a:prstGeom prst="hexago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𝑐</m:t>
                              </m:r>
                            </m:e>
                            <m:sub>
                              <m:r>
                                <a:rPr lang="en-US" altLang="zh-CN" b="0" i="1" smtClean="0">
                                  <a:solidFill>
                                    <a:schemeClr val="tx1"/>
                                  </a:solidFill>
                                  <a:latin typeface="Cambria Math" panose="02040503050406030204" pitchFamily="18" charset="0"/>
                                </a:rPr>
                                <m:t>𝑖</m:t>
                              </m:r>
                            </m:sub>
                          </m:sSub>
                        </m:oMath>
                      </m:oMathPara>
                    </a14:m>
                    <a:endParaRPr lang="zh-CN" altLang="en-US" dirty="0">
                      <a:solidFill>
                        <a:schemeClr val="tx1"/>
                      </a:solidFill>
                    </a:endParaRPr>
                  </a:p>
                </p:txBody>
              </p:sp>
            </mc:Choice>
            <mc:Fallback>
              <p:sp>
                <p:nvSpPr>
                  <p:cNvPr id="30" name="六边形 29">
                    <a:extLst>
                      <a:ext uri="{FF2B5EF4-FFF2-40B4-BE49-F238E27FC236}">
                        <a16:creationId xmlns:a16="http://schemas.microsoft.com/office/drawing/2014/main" id="{E16E667A-5204-4F99-3D2D-EC87F83943EC}"/>
                      </a:ext>
                    </a:extLst>
                  </p:cNvPr>
                  <p:cNvSpPr>
                    <a:spLocks noRot="1" noChangeAspect="1" noMove="1" noResize="1" noEditPoints="1" noAdjustHandles="1" noChangeArrowheads="1" noChangeShapeType="1" noTextEdit="1"/>
                  </p:cNvSpPr>
                  <p:nvPr/>
                </p:nvSpPr>
                <p:spPr>
                  <a:xfrm>
                    <a:off x="2496068" y="2397211"/>
                    <a:ext cx="864973" cy="568411"/>
                  </a:xfrm>
                  <a:prstGeom prst="hexagon">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7" name="六边形 46">
                    <a:extLst>
                      <a:ext uri="{FF2B5EF4-FFF2-40B4-BE49-F238E27FC236}">
                        <a16:creationId xmlns:a16="http://schemas.microsoft.com/office/drawing/2014/main" id="{D35A55D4-D45E-F840-ECC6-DB16D23EAA5C}"/>
                      </a:ext>
                    </a:extLst>
                  </p:cNvPr>
                  <p:cNvSpPr/>
                  <p:nvPr/>
                </p:nvSpPr>
                <p:spPr>
                  <a:xfrm>
                    <a:off x="2496068" y="3793524"/>
                    <a:ext cx="864973" cy="568411"/>
                  </a:xfrm>
                  <a:prstGeom prst="hexago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𝑐</m:t>
                              </m:r>
                            </m:e>
                            <m:sub>
                              <m:r>
                                <a:rPr lang="en-US" altLang="zh-CN" b="0" i="1" smtClean="0">
                                  <a:solidFill>
                                    <a:schemeClr val="tx1"/>
                                  </a:solidFill>
                                  <a:latin typeface="Cambria Math" panose="02040503050406030204" pitchFamily="18" charset="0"/>
                                </a:rPr>
                                <m:t>𝑘</m:t>
                              </m:r>
                            </m:sub>
                          </m:sSub>
                        </m:oMath>
                      </m:oMathPara>
                    </a14:m>
                    <a:endParaRPr lang="zh-CN" altLang="en-US" dirty="0">
                      <a:solidFill>
                        <a:schemeClr val="tx1"/>
                      </a:solidFill>
                    </a:endParaRPr>
                  </a:p>
                </p:txBody>
              </p:sp>
            </mc:Choice>
            <mc:Fallback>
              <p:sp>
                <p:nvSpPr>
                  <p:cNvPr id="47" name="六边形 46">
                    <a:extLst>
                      <a:ext uri="{FF2B5EF4-FFF2-40B4-BE49-F238E27FC236}">
                        <a16:creationId xmlns:a16="http://schemas.microsoft.com/office/drawing/2014/main" id="{D35A55D4-D45E-F840-ECC6-DB16D23EAA5C}"/>
                      </a:ext>
                    </a:extLst>
                  </p:cNvPr>
                  <p:cNvSpPr>
                    <a:spLocks noRot="1" noChangeAspect="1" noMove="1" noResize="1" noEditPoints="1" noAdjustHandles="1" noChangeArrowheads="1" noChangeShapeType="1" noTextEdit="1"/>
                  </p:cNvSpPr>
                  <p:nvPr/>
                </p:nvSpPr>
                <p:spPr>
                  <a:xfrm>
                    <a:off x="2496068" y="3793524"/>
                    <a:ext cx="864973" cy="568411"/>
                  </a:xfrm>
                  <a:prstGeom prst="hexagon">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9" name="六边形 48">
                    <a:extLst>
                      <a:ext uri="{FF2B5EF4-FFF2-40B4-BE49-F238E27FC236}">
                        <a16:creationId xmlns:a16="http://schemas.microsoft.com/office/drawing/2014/main" id="{7ABCFBBB-E770-F960-3467-A3CDEDB1CD90}"/>
                      </a:ext>
                    </a:extLst>
                  </p:cNvPr>
                  <p:cNvSpPr/>
                  <p:nvPr/>
                </p:nvSpPr>
                <p:spPr>
                  <a:xfrm>
                    <a:off x="2496068" y="5090984"/>
                    <a:ext cx="864973" cy="568411"/>
                  </a:xfrm>
                  <a:prstGeom prst="hexago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𝑐</m:t>
                              </m:r>
                            </m:e>
                            <m:sub>
                              <m:r>
                                <a:rPr lang="en-US" altLang="zh-CN" b="0" i="1" smtClean="0">
                                  <a:solidFill>
                                    <a:schemeClr val="tx1"/>
                                  </a:solidFill>
                                  <a:latin typeface="Cambria Math" panose="02040503050406030204" pitchFamily="18" charset="0"/>
                                </a:rPr>
                                <m:t>𝑁</m:t>
                              </m:r>
                            </m:sub>
                          </m:sSub>
                        </m:oMath>
                      </m:oMathPara>
                    </a14:m>
                    <a:endParaRPr lang="zh-CN" altLang="en-US" dirty="0">
                      <a:solidFill>
                        <a:schemeClr val="tx1"/>
                      </a:solidFill>
                    </a:endParaRPr>
                  </a:p>
                </p:txBody>
              </p:sp>
            </mc:Choice>
            <mc:Fallback>
              <p:sp>
                <p:nvSpPr>
                  <p:cNvPr id="49" name="六边形 48">
                    <a:extLst>
                      <a:ext uri="{FF2B5EF4-FFF2-40B4-BE49-F238E27FC236}">
                        <a16:creationId xmlns:a16="http://schemas.microsoft.com/office/drawing/2014/main" id="{7ABCFBBB-E770-F960-3467-A3CDEDB1CD90}"/>
                      </a:ext>
                    </a:extLst>
                  </p:cNvPr>
                  <p:cNvSpPr>
                    <a:spLocks noRot="1" noChangeAspect="1" noMove="1" noResize="1" noEditPoints="1" noAdjustHandles="1" noChangeArrowheads="1" noChangeShapeType="1" noTextEdit="1"/>
                  </p:cNvSpPr>
                  <p:nvPr/>
                </p:nvSpPr>
                <p:spPr>
                  <a:xfrm>
                    <a:off x="2496068" y="5090984"/>
                    <a:ext cx="864973" cy="568411"/>
                  </a:xfrm>
                  <a:prstGeom prst="hexagon">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50" name="矩形: 圆角 49">
                    <a:extLst>
                      <a:ext uri="{FF2B5EF4-FFF2-40B4-BE49-F238E27FC236}">
                        <a16:creationId xmlns:a16="http://schemas.microsoft.com/office/drawing/2014/main" id="{33ED1691-CEE9-8926-6B7C-39257629335F}"/>
                      </a:ext>
                    </a:extLst>
                  </p:cNvPr>
                  <p:cNvSpPr/>
                  <p:nvPr/>
                </p:nvSpPr>
                <p:spPr>
                  <a:xfrm>
                    <a:off x="8019539" y="963436"/>
                    <a:ext cx="864973" cy="56841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𝑝</m:t>
                              </m:r>
                            </m:e>
                            <m:sub>
                              <m:r>
                                <a:rPr lang="en-US" altLang="zh-CN" b="0" i="1" smtClean="0">
                                  <a:solidFill>
                                    <a:schemeClr val="tx1"/>
                                  </a:solidFill>
                                  <a:latin typeface="Cambria Math" panose="02040503050406030204" pitchFamily="18" charset="0"/>
                                </a:rPr>
                                <m:t>1</m:t>
                              </m:r>
                            </m:sub>
                          </m:sSub>
                        </m:oMath>
                      </m:oMathPara>
                    </a14:m>
                    <a:endParaRPr lang="zh-CN" altLang="en-US" dirty="0">
                      <a:solidFill>
                        <a:schemeClr val="tx1"/>
                      </a:solidFill>
                    </a:endParaRPr>
                  </a:p>
                </p:txBody>
              </p:sp>
            </mc:Choice>
            <mc:Fallback>
              <p:sp>
                <p:nvSpPr>
                  <p:cNvPr id="50" name="矩形: 圆角 49">
                    <a:extLst>
                      <a:ext uri="{FF2B5EF4-FFF2-40B4-BE49-F238E27FC236}">
                        <a16:creationId xmlns:a16="http://schemas.microsoft.com/office/drawing/2014/main" id="{33ED1691-CEE9-8926-6B7C-39257629335F}"/>
                      </a:ext>
                    </a:extLst>
                  </p:cNvPr>
                  <p:cNvSpPr>
                    <a:spLocks noRot="1" noChangeAspect="1" noMove="1" noResize="1" noEditPoints="1" noAdjustHandles="1" noChangeArrowheads="1" noChangeShapeType="1" noTextEdit="1"/>
                  </p:cNvSpPr>
                  <p:nvPr/>
                </p:nvSpPr>
                <p:spPr>
                  <a:xfrm>
                    <a:off x="8019539" y="963436"/>
                    <a:ext cx="864973" cy="568411"/>
                  </a:xfrm>
                  <a:prstGeom prst="roundRect">
                    <a:avLst/>
                  </a:prstGeom>
                  <a:blipFill>
                    <a:blip r:embed="rId7"/>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52" name="矩形: 圆角 51">
                    <a:extLst>
                      <a:ext uri="{FF2B5EF4-FFF2-40B4-BE49-F238E27FC236}">
                        <a16:creationId xmlns:a16="http://schemas.microsoft.com/office/drawing/2014/main" id="{FC0840B2-6325-BAC8-7B64-B683E54EFF6F}"/>
                      </a:ext>
                    </a:extLst>
                  </p:cNvPr>
                  <p:cNvSpPr/>
                  <p:nvPr/>
                </p:nvSpPr>
                <p:spPr>
                  <a:xfrm>
                    <a:off x="8019539" y="2397210"/>
                    <a:ext cx="864973" cy="56841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𝑝</m:t>
                              </m:r>
                            </m:e>
                            <m:sub>
                              <m:r>
                                <a:rPr lang="en-US" altLang="zh-CN" b="0" i="1" smtClean="0">
                                  <a:solidFill>
                                    <a:schemeClr val="tx1"/>
                                  </a:solidFill>
                                  <a:latin typeface="Cambria Math" panose="02040503050406030204" pitchFamily="18" charset="0"/>
                                </a:rPr>
                                <m:t>𝑗</m:t>
                              </m:r>
                            </m:sub>
                          </m:sSub>
                        </m:oMath>
                      </m:oMathPara>
                    </a14:m>
                    <a:endParaRPr lang="zh-CN" altLang="en-US" dirty="0">
                      <a:solidFill>
                        <a:schemeClr val="tx1"/>
                      </a:solidFill>
                    </a:endParaRPr>
                  </a:p>
                </p:txBody>
              </p:sp>
            </mc:Choice>
            <mc:Fallback>
              <p:sp>
                <p:nvSpPr>
                  <p:cNvPr id="52" name="矩形: 圆角 51">
                    <a:extLst>
                      <a:ext uri="{FF2B5EF4-FFF2-40B4-BE49-F238E27FC236}">
                        <a16:creationId xmlns:a16="http://schemas.microsoft.com/office/drawing/2014/main" id="{FC0840B2-6325-BAC8-7B64-B683E54EFF6F}"/>
                      </a:ext>
                    </a:extLst>
                  </p:cNvPr>
                  <p:cNvSpPr>
                    <a:spLocks noRot="1" noChangeAspect="1" noMove="1" noResize="1" noEditPoints="1" noAdjustHandles="1" noChangeArrowheads="1" noChangeShapeType="1" noTextEdit="1"/>
                  </p:cNvSpPr>
                  <p:nvPr/>
                </p:nvSpPr>
                <p:spPr>
                  <a:xfrm>
                    <a:off x="8019539" y="2397210"/>
                    <a:ext cx="864973" cy="568411"/>
                  </a:xfrm>
                  <a:prstGeom prst="roundRect">
                    <a:avLst/>
                  </a:prstGeom>
                  <a:blipFill>
                    <a:blip r:embed="rId8"/>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54" name="矩形: 圆角 53">
                    <a:extLst>
                      <a:ext uri="{FF2B5EF4-FFF2-40B4-BE49-F238E27FC236}">
                        <a16:creationId xmlns:a16="http://schemas.microsoft.com/office/drawing/2014/main" id="{FC60A4A5-4A39-1D33-BC96-D16B71DB967D}"/>
                      </a:ext>
                    </a:extLst>
                  </p:cNvPr>
                  <p:cNvSpPr/>
                  <p:nvPr/>
                </p:nvSpPr>
                <p:spPr>
                  <a:xfrm>
                    <a:off x="8019538" y="3793523"/>
                    <a:ext cx="864973" cy="56841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𝑝</m:t>
                              </m:r>
                            </m:e>
                            <m:sub>
                              <m:r>
                                <a:rPr lang="en-US" altLang="zh-CN" b="0" i="1" smtClean="0">
                                  <a:solidFill>
                                    <a:schemeClr val="tx1"/>
                                  </a:solidFill>
                                  <a:latin typeface="Cambria Math" panose="02040503050406030204" pitchFamily="18" charset="0"/>
                                </a:rPr>
                                <m:t>𝑙</m:t>
                              </m:r>
                            </m:sub>
                          </m:sSub>
                        </m:oMath>
                      </m:oMathPara>
                    </a14:m>
                    <a:endParaRPr lang="zh-CN" altLang="en-US" dirty="0">
                      <a:solidFill>
                        <a:schemeClr val="tx1"/>
                      </a:solidFill>
                    </a:endParaRPr>
                  </a:p>
                </p:txBody>
              </p:sp>
            </mc:Choice>
            <mc:Fallback>
              <p:sp>
                <p:nvSpPr>
                  <p:cNvPr id="54" name="矩形: 圆角 53">
                    <a:extLst>
                      <a:ext uri="{FF2B5EF4-FFF2-40B4-BE49-F238E27FC236}">
                        <a16:creationId xmlns:a16="http://schemas.microsoft.com/office/drawing/2014/main" id="{FC60A4A5-4A39-1D33-BC96-D16B71DB967D}"/>
                      </a:ext>
                    </a:extLst>
                  </p:cNvPr>
                  <p:cNvSpPr>
                    <a:spLocks noRot="1" noChangeAspect="1" noMove="1" noResize="1" noEditPoints="1" noAdjustHandles="1" noChangeArrowheads="1" noChangeShapeType="1" noTextEdit="1"/>
                  </p:cNvSpPr>
                  <p:nvPr/>
                </p:nvSpPr>
                <p:spPr>
                  <a:xfrm>
                    <a:off x="8019538" y="3793523"/>
                    <a:ext cx="864973" cy="568411"/>
                  </a:xfrm>
                  <a:prstGeom prst="roundRect">
                    <a:avLst/>
                  </a:prstGeom>
                  <a:blipFill>
                    <a:blip r:embed="rId9"/>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55" name="矩形: 圆角 54">
                    <a:extLst>
                      <a:ext uri="{FF2B5EF4-FFF2-40B4-BE49-F238E27FC236}">
                        <a16:creationId xmlns:a16="http://schemas.microsoft.com/office/drawing/2014/main" id="{7D3FEF05-0A18-7FE5-3B32-35BDC7B4A1CF}"/>
                      </a:ext>
                    </a:extLst>
                  </p:cNvPr>
                  <p:cNvSpPr/>
                  <p:nvPr/>
                </p:nvSpPr>
                <p:spPr>
                  <a:xfrm>
                    <a:off x="8019538" y="5090983"/>
                    <a:ext cx="864973" cy="56841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𝑝</m:t>
                              </m:r>
                            </m:e>
                            <m:sub>
                              <m:r>
                                <a:rPr lang="en-US" altLang="zh-CN" b="0" i="1" smtClean="0">
                                  <a:solidFill>
                                    <a:schemeClr val="tx1"/>
                                  </a:solidFill>
                                  <a:latin typeface="Cambria Math" panose="02040503050406030204" pitchFamily="18" charset="0"/>
                                </a:rPr>
                                <m:t>𝑀</m:t>
                              </m:r>
                            </m:sub>
                          </m:sSub>
                        </m:oMath>
                      </m:oMathPara>
                    </a14:m>
                    <a:endParaRPr lang="zh-CN" altLang="en-US" dirty="0">
                      <a:solidFill>
                        <a:schemeClr val="tx1"/>
                      </a:solidFill>
                    </a:endParaRPr>
                  </a:p>
                </p:txBody>
              </p:sp>
            </mc:Choice>
            <mc:Fallback>
              <p:sp>
                <p:nvSpPr>
                  <p:cNvPr id="55" name="矩形: 圆角 54">
                    <a:extLst>
                      <a:ext uri="{FF2B5EF4-FFF2-40B4-BE49-F238E27FC236}">
                        <a16:creationId xmlns:a16="http://schemas.microsoft.com/office/drawing/2014/main" id="{7D3FEF05-0A18-7FE5-3B32-35BDC7B4A1CF}"/>
                      </a:ext>
                    </a:extLst>
                  </p:cNvPr>
                  <p:cNvSpPr>
                    <a:spLocks noRot="1" noChangeAspect="1" noMove="1" noResize="1" noEditPoints="1" noAdjustHandles="1" noChangeArrowheads="1" noChangeShapeType="1" noTextEdit="1"/>
                  </p:cNvSpPr>
                  <p:nvPr/>
                </p:nvSpPr>
                <p:spPr>
                  <a:xfrm>
                    <a:off x="8019538" y="5090983"/>
                    <a:ext cx="864973" cy="568411"/>
                  </a:xfrm>
                  <a:prstGeom prst="roundRect">
                    <a:avLst/>
                  </a:prstGeom>
                  <a:blipFill>
                    <a:blip r:embed="rId10"/>
                    <a:stretch>
                      <a:fillRect/>
                    </a:stretch>
                  </a:blipFill>
                </p:spPr>
                <p:txBody>
                  <a:bodyPr/>
                  <a:lstStyle/>
                  <a:p>
                    <a:r>
                      <a:rPr lang="zh-CN" altLang="en-US">
                        <a:noFill/>
                      </a:rPr>
                      <a:t> </a:t>
                    </a:r>
                  </a:p>
                </p:txBody>
              </p:sp>
            </mc:Fallback>
          </mc:AlternateContent>
          <p:cxnSp>
            <p:nvCxnSpPr>
              <p:cNvPr id="79" name="直接连接符 78">
                <a:extLst>
                  <a:ext uri="{FF2B5EF4-FFF2-40B4-BE49-F238E27FC236}">
                    <a16:creationId xmlns:a16="http://schemas.microsoft.com/office/drawing/2014/main" id="{97135C30-C71D-21CF-FF3C-5435A578EF85}"/>
                  </a:ext>
                </a:extLst>
              </p:cNvPr>
              <p:cNvCxnSpPr>
                <a:cxnSpLocks/>
                <a:stCxn id="47" idx="0"/>
                <a:endCxn id="50" idx="1"/>
              </p:cNvCxnSpPr>
              <p:nvPr/>
            </p:nvCxnSpPr>
            <p:spPr>
              <a:xfrm flipV="1">
                <a:off x="3361041" y="1247642"/>
                <a:ext cx="4658498" cy="2830088"/>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88" name="直接连接符 87">
                <a:extLst>
                  <a:ext uri="{FF2B5EF4-FFF2-40B4-BE49-F238E27FC236}">
                    <a16:creationId xmlns:a16="http://schemas.microsoft.com/office/drawing/2014/main" id="{73DDA9A5-F54B-DDF2-56DD-5609466082DE}"/>
                  </a:ext>
                </a:extLst>
              </p:cNvPr>
              <p:cNvCxnSpPr>
                <a:cxnSpLocks/>
                <a:stCxn id="47" idx="0"/>
                <a:endCxn id="55" idx="1"/>
              </p:cNvCxnSpPr>
              <p:nvPr/>
            </p:nvCxnSpPr>
            <p:spPr>
              <a:xfrm>
                <a:off x="3361041" y="4077730"/>
                <a:ext cx="4658497" cy="1297459"/>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2" name="文本框 91">
                    <a:extLst>
                      <a:ext uri="{FF2B5EF4-FFF2-40B4-BE49-F238E27FC236}">
                        <a16:creationId xmlns:a16="http://schemas.microsoft.com/office/drawing/2014/main" id="{EEEAE71D-DC2D-8FE8-A488-CD348549AA46}"/>
                      </a:ext>
                    </a:extLst>
                  </p:cNvPr>
                  <p:cNvSpPr txBox="1"/>
                  <p:nvPr/>
                </p:nvSpPr>
                <p:spPr>
                  <a:xfrm>
                    <a:off x="3361041" y="1013256"/>
                    <a:ext cx="595741" cy="39164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rgbClr val="FF0000"/>
                                  </a:solidFill>
                                  <a:latin typeface="Cambria Math" panose="02040503050406030204" pitchFamily="18" charset="0"/>
                                </a:rPr>
                              </m:ctrlPr>
                            </m:sSubPr>
                            <m:e>
                              <m:r>
                                <a:rPr lang="en-US" altLang="zh-CN" b="0" i="1" smtClean="0">
                                  <a:solidFill>
                                    <a:srgbClr val="FF0000"/>
                                  </a:solidFill>
                                  <a:latin typeface="Cambria Math" panose="02040503050406030204" pitchFamily="18" charset="0"/>
                                </a:rPr>
                                <m:t>𝑤</m:t>
                              </m:r>
                            </m:e>
                            <m:sub>
                              <m:r>
                                <a:rPr lang="en-US" altLang="zh-CN" b="0" i="1" smtClean="0">
                                  <a:solidFill>
                                    <a:srgbClr val="FF0000"/>
                                  </a:solidFill>
                                  <a:latin typeface="Cambria Math" panose="02040503050406030204" pitchFamily="18" charset="0"/>
                                </a:rPr>
                                <m:t>1</m:t>
                              </m:r>
                              <m:r>
                                <a:rPr lang="en-US" altLang="zh-CN" b="0" i="1" smtClean="0">
                                  <a:solidFill>
                                    <a:srgbClr val="FF0000"/>
                                  </a:solidFill>
                                  <a:latin typeface="Cambria Math" panose="02040503050406030204" pitchFamily="18" charset="0"/>
                                </a:rPr>
                                <m:t>𝑗</m:t>
                              </m:r>
                            </m:sub>
                          </m:sSub>
                        </m:oMath>
                      </m:oMathPara>
                    </a14:m>
                    <a:endParaRPr lang="zh-CN" altLang="en-US" dirty="0"/>
                  </a:p>
                </p:txBody>
              </p:sp>
            </mc:Choice>
            <mc:Fallback>
              <p:sp>
                <p:nvSpPr>
                  <p:cNvPr id="92" name="文本框 91">
                    <a:extLst>
                      <a:ext uri="{FF2B5EF4-FFF2-40B4-BE49-F238E27FC236}">
                        <a16:creationId xmlns:a16="http://schemas.microsoft.com/office/drawing/2014/main" id="{EEEAE71D-DC2D-8FE8-A488-CD348549AA46}"/>
                      </a:ext>
                    </a:extLst>
                  </p:cNvPr>
                  <p:cNvSpPr txBox="1">
                    <a:spLocks noRot="1" noChangeAspect="1" noMove="1" noResize="1" noEditPoints="1" noAdjustHandles="1" noChangeArrowheads="1" noChangeShapeType="1" noTextEdit="1"/>
                  </p:cNvSpPr>
                  <p:nvPr/>
                </p:nvSpPr>
                <p:spPr>
                  <a:xfrm>
                    <a:off x="3361041" y="1013256"/>
                    <a:ext cx="595741" cy="391646"/>
                  </a:xfrm>
                  <a:prstGeom prst="rect">
                    <a:avLst/>
                  </a:prstGeom>
                  <a:blipFill>
                    <a:blip r:embed="rId11"/>
                    <a:stretch>
                      <a:fillRect b="-9375"/>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93" name="文本框 92">
                    <a:extLst>
                      <a:ext uri="{FF2B5EF4-FFF2-40B4-BE49-F238E27FC236}">
                        <a16:creationId xmlns:a16="http://schemas.microsoft.com/office/drawing/2014/main" id="{6A0892C0-9550-59C4-29DB-820D8AA455A3}"/>
                      </a:ext>
                    </a:extLst>
                  </p:cNvPr>
                  <p:cNvSpPr txBox="1"/>
                  <p:nvPr/>
                </p:nvSpPr>
                <p:spPr>
                  <a:xfrm>
                    <a:off x="3361041" y="2271040"/>
                    <a:ext cx="562590" cy="39164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rgbClr val="FF0000"/>
                                  </a:solidFill>
                                  <a:latin typeface="Cambria Math" panose="02040503050406030204" pitchFamily="18" charset="0"/>
                                </a:rPr>
                              </m:ctrlPr>
                            </m:sSubPr>
                            <m:e>
                              <m:r>
                                <a:rPr lang="en-US" altLang="zh-CN" b="0" i="1" smtClean="0">
                                  <a:solidFill>
                                    <a:srgbClr val="FF0000"/>
                                  </a:solidFill>
                                  <a:latin typeface="Cambria Math" panose="02040503050406030204" pitchFamily="18" charset="0"/>
                                </a:rPr>
                                <m:t>𝑤</m:t>
                              </m:r>
                            </m:e>
                            <m:sub>
                              <m:r>
                                <a:rPr lang="en-US" altLang="zh-CN" b="0" i="1" smtClean="0">
                                  <a:solidFill>
                                    <a:srgbClr val="FF0000"/>
                                  </a:solidFill>
                                  <a:latin typeface="Cambria Math" panose="02040503050406030204" pitchFamily="18" charset="0"/>
                                </a:rPr>
                                <m:t>𝑖𝑗</m:t>
                              </m:r>
                            </m:sub>
                          </m:sSub>
                        </m:oMath>
                      </m:oMathPara>
                    </a14:m>
                    <a:endParaRPr lang="zh-CN" altLang="en-US" dirty="0"/>
                  </a:p>
                </p:txBody>
              </p:sp>
            </mc:Choice>
            <mc:Fallback>
              <p:sp>
                <p:nvSpPr>
                  <p:cNvPr id="93" name="文本框 92">
                    <a:extLst>
                      <a:ext uri="{FF2B5EF4-FFF2-40B4-BE49-F238E27FC236}">
                        <a16:creationId xmlns:a16="http://schemas.microsoft.com/office/drawing/2014/main" id="{6A0892C0-9550-59C4-29DB-820D8AA455A3}"/>
                      </a:ext>
                    </a:extLst>
                  </p:cNvPr>
                  <p:cNvSpPr txBox="1">
                    <a:spLocks noRot="1" noChangeAspect="1" noMove="1" noResize="1" noEditPoints="1" noAdjustHandles="1" noChangeArrowheads="1" noChangeShapeType="1" noTextEdit="1"/>
                  </p:cNvSpPr>
                  <p:nvPr/>
                </p:nvSpPr>
                <p:spPr>
                  <a:xfrm>
                    <a:off x="3361041" y="2271040"/>
                    <a:ext cx="562590" cy="391646"/>
                  </a:xfrm>
                  <a:prstGeom prst="rect">
                    <a:avLst/>
                  </a:prstGeom>
                  <a:blipFill>
                    <a:blip r:embed="rId12"/>
                    <a:stretch>
                      <a:fillRect b="-7813"/>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95" name="文本框 94">
                    <a:extLst>
                      <a:ext uri="{FF2B5EF4-FFF2-40B4-BE49-F238E27FC236}">
                        <a16:creationId xmlns:a16="http://schemas.microsoft.com/office/drawing/2014/main" id="{27D253D7-E81D-DA24-1261-A8339D42A804}"/>
                      </a:ext>
                    </a:extLst>
                  </p:cNvPr>
                  <p:cNvSpPr txBox="1"/>
                  <p:nvPr/>
                </p:nvSpPr>
                <p:spPr>
                  <a:xfrm>
                    <a:off x="3361040" y="5189836"/>
                    <a:ext cx="629916" cy="39164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rgbClr val="FF0000"/>
                                  </a:solidFill>
                                  <a:latin typeface="Cambria Math" panose="02040503050406030204" pitchFamily="18" charset="0"/>
                                </a:rPr>
                              </m:ctrlPr>
                            </m:sSubPr>
                            <m:e>
                              <m:r>
                                <a:rPr lang="en-US" altLang="zh-CN" b="0" i="1" smtClean="0">
                                  <a:solidFill>
                                    <a:srgbClr val="FF0000"/>
                                  </a:solidFill>
                                  <a:latin typeface="Cambria Math" panose="02040503050406030204" pitchFamily="18" charset="0"/>
                                </a:rPr>
                                <m:t>𝑤</m:t>
                              </m:r>
                            </m:e>
                            <m:sub>
                              <m:r>
                                <a:rPr lang="en-US" altLang="zh-CN" b="0" i="1" smtClean="0">
                                  <a:solidFill>
                                    <a:srgbClr val="FF0000"/>
                                  </a:solidFill>
                                  <a:latin typeface="Cambria Math" panose="02040503050406030204" pitchFamily="18" charset="0"/>
                                </a:rPr>
                                <m:t>𝑁𝑗</m:t>
                              </m:r>
                            </m:sub>
                          </m:sSub>
                        </m:oMath>
                      </m:oMathPara>
                    </a14:m>
                    <a:endParaRPr lang="zh-CN" altLang="en-US" dirty="0"/>
                  </a:p>
                </p:txBody>
              </p:sp>
            </mc:Choice>
            <mc:Fallback>
              <p:sp>
                <p:nvSpPr>
                  <p:cNvPr id="95" name="文本框 94">
                    <a:extLst>
                      <a:ext uri="{FF2B5EF4-FFF2-40B4-BE49-F238E27FC236}">
                        <a16:creationId xmlns:a16="http://schemas.microsoft.com/office/drawing/2014/main" id="{27D253D7-E81D-DA24-1261-A8339D42A804}"/>
                      </a:ext>
                    </a:extLst>
                  </p:cNvPr>
                  <p:cNvSpPr txBox="1">
                    <a:spLocks noRot="1" noChangeAspect="1" noMove="1" noResize="1" noEditPoints="1" noAdjustHandles="1" noChangeArrowheads="1" noChangeShapeType="1" noTextEdit="1"/>
                  </p:cNvSpPr>
                  <p:nvPr/>
                </p:nvSpPr>
                <p:spPr>
                  <a:xfrm>
                    <a:off x="3361040" y="5189836"/>
                    <a:ext cx="629916" cy="391646"/>
                  </a:xfrm>
                  <a:prstGeom prst="rect">
                    <a:avLst/>
                  </a:prstGeom>
                  <a:blipFill>
                    <a:blip r:embed="rId13"/>
                    <a:stretch>
                      <a:fillRect b="-7692"/>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96" name="文本框 95">
                    <a:extLst>
                      <a:ext uri="{FF2B5EF4-FFF2-40B4-BE49-F238E27FC236}">
                        <a16:creationId xmlns:a16="http://schemas.microsoft.com/office/drawing/2014/main" id="{B6125809-8E1F-3D02-9429-53A91FE8C6C2}"/>
                      </a:ext>
                    </a:extLst>
                  </p:cNvPr>
                  <p:cNvSpPr txBox="1"/>
                  <p:nvPr/>
                </p:nvSpPr>
                <p:spPr>
                  <a:xfrm>
                    <a:off x="7289182" y="963437"/>
                    <a:ext cx="61933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chemeClr val="tx2">
                                      <a:lumMod val="75000"/>
                                      <a:lumOff val="25000"/>
                                    </a:schemeClr>
                                  </a:solidFill>
                                  <a:latin typeface="Cambria Math" panose="02040503050406030204" pitchFamily="18" charset="0"/>
                                </a:rPr>
                              </m:ctrlPr>
                            </m:sSubPr>
                            <m:e>
                              <m:r>
                                <a:rPr lang="en-US" altLang="zh-CN" b="0" i="1" smtClean="0">
                                  <a:solidFill>
                                    <a:schemeClr val="tx2">
                                      <a:lumMod val="75000"/>
                                      <a:lumOff val="25000"/>
                                    </a:schemeClr>
                                  </a:solidFill>
                                  <a:latin typeface="Cambria Math" panose="02040503050406030204" pitchFamily="18" charset="0"/>
                                </a:rPr>
                                <m:t>𝑤</m:t>
                              </m:r>
                            </m:e>
                            <m:sub>
                              <m:r>
                                <a:rPr lang="en-US" altLang="zh-CN" b="0" i="1" smtClean="0">
                                  <a:solidFill>
                                    <a:schemeClr val="tx2">
                                      <a:lumMod val="75000"/>
                                      <a:lumOff val="25000"/>
                                    </a:schemeClr>
                                  </a:solidFill>
                                  <a:latin typeface="Cambria Math" panose="02040503050406030204" pitchFamily="18" charset="0"/>
                                </a:rPr>
                                <m:t>𝑘</m:t>
                              </m:r>
                              <m:r>
                                <a:rPr lang="en-US" altLang="zh-CN" b="0" i="1" smtClean="0">
                                  <a:solidFill>
                                    <a:schemeClr val="tx2">
                                      <a:lumMod val="75000"/>
                                      <a:lumOff val="25000"/>
                                    </a:schemeClr>
                                  </a:solidFill>
                                  <a:latin typeface="Cambria Math" panose="02040503050406030204" pitchFamily="18" charset="0"/>
                                </a:rPr>
                                <m:t>1</m:t>
                              </m:r>
                            </m:sub>
                          </m:sSub>
                        </m:oMath>
                      </m:oMathPara>
                    </a14:m>
                    <a:endParaRPr lang="zh-CN" altLang="en-US" dirty="0"/>
                  </a:p>
                </p:txBody>
              </p:sp>
            </mc:Choice>
            <mc:Fallback>
              <p:sp>
                <p:nvSpPr>
                  <p:cNvPr id="96" name="文本框 95">
                    <a:extLst>
                      <a:ext uri="{FF2B5EF4-FFF2-40B4-BE49-F238E27FC236}">
                        <a16:creationId xmlns:a16="http://schemas.microsoft.com/office/drawing/2014/main" id="{B6125809-8E1F-3D02-9429-53A91FE8C6C2}"/>
                      </a:ext>
                    </a:extLst>
                  </p:cNvPr>
                  <p:cNvSpPr txBox="1">
                    <a:spLocks noRot="1" noChangeAspect="1" noMove="1" noResize="1" noEditPoints="1" noAdjustHandles="1" noChangeArrowheads="1" noChangeShapeType="1" noTextEdit="1"/>
                  </p:cNvSpPr>
                  <p:nvPr/>
                </p:nvSpPr>
                <p:spPr>
                  <a:xfrm>
                    <a:off x="7289182" y="963437"/>
                    <a:ext cx="619337" cy="369332"/>
                  </a:xfrm>
                  <a:prstGeom prst="rect">
                    <a:avLst/>
                  </a:prstGeom>
                  <a:blipFill>
                    <a:blip r:embed="rId14"/>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01" name="文本框 100">
                    <a:extLst>
                      <a:ext uri="{FF2B5EF4-FFF2-40B4-BE49-F238E27FC236}">
                        <a16:creationId xmlns:a16="http://schemas.microsoft.com/office/drawing/2014/main" id="{91DBCC30-1BD2-3859-B9A9-8740D25838C0}"/>
                      </a:ext>
                    </a:extLst>
                  </p:cNvPr>
                  <p:cNvSpPr txBox="1"/>
                  <p:nvPr/>
                </p:nvSpPr>
                <p:spPr>
                  <a:xfrm>
                    <a:off x="7409944" y="3672013"/>
                    <a:ext cx="58663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chemeClr val="tx2">
                                      <a:lumMod val="75000"/>
                                      <a:lumOff val="25000"/>
                                    </a:schemeClr>
                                  </a:solidFill>
                                  <a:latin typeface="Cambria Math" panose="02040503050406030204" pitchFamily="18" charset="0"/>
                                </a:rPr>
                              </m:ctrlPr>
                            </m:sSubPr>
                            <m:e>
                              <m:r>
                                <a:rPr lang="en-US" altLang="zh-CN" b="0" i="1" smtClean="0">
                                  <a:solidFill>
                                    <a:schemeClr val="tx2">
                                      <a:lumMod val="75000"/>
                                      <a:lumOff val="25000"/>
                                    </a:schemeClr>
                                  </a:solidFill>
                                  <a:latin typeface="Cambria Math" panose="02040503050406030204" pitchFamily="18" charset="0"/>
                                </a:rPr>
                                <m:t>𝑤</m:t>
                              </m:r>
                            </m:e>
                            <m:sub>
                              <m:r>
                                <a:rPr lang="en-US" altLang="zh-CN" b="0" i="1" smtClean="0">
                                  <a:solidFill>
                                    <a:schemeClr val="tx2">
                                      <a:lumMod val="75000"/>
                                      <a:lumOff val="25000"/>
                                    </a:schemeClr>
                                  </a:solidFill>
                                  <a:latin typeface="Cambria Math" panose="02040503050406030204" pitchFamily="18" charset="0"/>
                                </a:rPr>
                                <m:t>𝑘𝑙</m:t>
                              </m:r>
                            </m:sub>
                          </m:sSub>
                        </m:oMath>
                      </m:oMathPara>
                    </a14:m>
                    <a:endParaRPr lang="zh-CN" altLang="en-US" dirty="0"/>
                  </a:p>
                </p:txBody>
              </p:sp>
            </mc:Choice>
            <mc:Fallback>
              <p:sp>
                <p:nvSpPr>
                  <p:cNvPr id="101" name="文本框 100">
                    <a:extLst>
                      <a:ext uri="{FF2B5EF4-FFF2-40B4-BE49-F238E27FC236}">
                        <a16:creationId xmlns:a16="http://schemas.microsoft.com/office/drawing/2014/main" id="{91DBCC30-1BD2-3859-B9A9-8740D25838C0}"/>
                      </a:ext>
                    </a:extLst>
                  </p:cNvPr>
                  <p:cNvSpPr txBox="1">
                    <a:spLocks noRot="1" noChangeAspect="1" noMove="1" noResize="1" noEditPoints="1" noAdjustHandles="1" noChangeArrowheads="1" noChangeShapeType="1" noTextEdit="1"/>
                  </p:cNvSpPr>
                  <p:nvPr/>
                </p:nvSpPr>
                <p:spPr>
                  <a:xfrm>
                    <a:off x="7409944" y="3672013"/>
                    <a:ext cx="586634" cy="369332"/>
                  </a:xfrm>
                  <a:prstGeom prst="rect">
                    <a:avLst/>
                  </a:prstGeom>
                  <a:blipFill>
                    <a:blip r:embed="rId15"/>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02" name="文本框 101">
                    <a:extLst>
                      <a:ext uri="{FF2B5EF4-FFF2-40B4-BE49-F238E27FC236}">
                        <a16:creationId xmlns:a16="http://schemas.microsoft.com/office/drawing/2014/main" id="{7E250647-D5C5-E911-5570-474AF2DBB4E8}"/>
                      </a:ext>
                    </a:extLst>
                  </p:cNvPr>
                  <p:cNvSpPr txBox="1"/>
                  <p:nvPr/>
                </p:nvSpPr>
                <p:spPr>
                  <a:xfrm>
                    <a:off x="7462618" y="5227299"/>
                    <a:ext cx="67313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chemeClr val="tx2">
                                      <a:lumMod val="75000"/>
                                      <a:lumOff val="25000"/>
                                    </a:schemeClr>
                                  </a:solidFill>
                                  <a:latin typeface="Cambria Math" panose="02040503050406030204" pitchFamily="18" charset="0"/>
                                </a:rPr>
                              </m:ctrlPr>
                            </m:sSubPr>
                            <m:e>
                              <m:r>
                                <a:rPr lang="en-US" altLang="zh-CN" b="0" i="1" smtClean="0">
                                  <a:solidFill>
                                    <a:schemeClr val="tx2">
                                      <a:lumMod val="75000"/>
                                      <a:lumOff val="25000"/>
                                    </a:schemeClr>
                                  </a:solidFill>
                                  <a:latin typeface="Cambria Math" panose="02040503050406030204" pitchFamily="18" charset="0"/>
                                </a:rPr>
                                <m:t>𝑤</m:t>
                              </m:r>
                            </m:e>
                            <m:sub>
                              <m:r>
                                <a:rPr lang="en-US" altLang="zh-CN" b="0" i="1" smtClean="0">
                                  <a:solidFill>
                                    <a:schemeClr val="tx2">
                                      <a:lumMod val="75000"/>
                                      <a:lumOff val="25000"/>
                                    </a:schemeClr>
                                  </a:solidFill>
                                  <a:latin typeface="Cambria Math" panose="02040503050406030204" pitchFamily="18" charset="0"/>
                                </a:rPr>
                                <m:t>𝑘𝑀</m:t>
                              </m:r>
                            </m:sub>
                          </m:sSub>
                        </m:oMath>
                      </m:oMathPara>
                    </a14:m>
                    <a:endParaRPr lang="zh-CN" altLang="en-US" dirty="0"/>
                  </a:p>
                </p:txBody>
              </p:sp>
            </mc:Choice>
            <mc:Fallback>
              <p:sp>
                <p:nvSpPr>
                  <p:cNvPr id="102" name="文本框 101">
                    <a:extLst>
                      <a:ext uri="{FF2B5EF4-FFF2-40B4-BE49-F238E27FC236}">
                        <a16:creationId xmlns:a16="http://schemas.microsoft.com/office/drawing/2014/main" id="{7E250647-D5C5-E911-5570-474AF2DBB4E8}"/>
                      </a:ext>
                    </a:extLst>
                  </p:cNvPr>
                  <p:cNvSpPr txBox="1">
                    <a:spLocks noRot="1" noChangeAspect="1" noMove="1" noResize="1" noEditPoints="1" noAdjustHandles="1" noChangeArrowheads="1" noChangeShapeType="1" noTextEdit="1"/>
                  </p:cNvSpPr>
                  <p:nvPr/>
                </p:nvSpPr>
                <p:spPr>
                  <a:xfrm>
                    <a:off x="7462618" y="5227299"/>
                    <a:ext cx="673133" cy="369332"/>
                  </a:xfrm>
                  <a:prstGeom prst="rect">
                    <a:avLst/>
                  </a:prstGeom>
                  <a:blipFill>
                    <a:blip r:embed="rId16"/>
                    <a:stretch>
                      <a:fillRect/>
                    </a:stretch>
                  </a:blipFill>
                </p:spPr>
                <p:txBody>
                  <a:bodyPr/>
                  <a:lstStyle/>
                  <a:p>
                    <a:r>
                      <a:rPr lang="zh-CN" altLang="en-US">
                        <a:noFill/>
                      </a:rPr>
                      <a:t> </a:t>
                    </a:r>
                  </a:p>
                </p:txBody>
              </p:sp>
            </mc:Fallback>
          </mc:AlternateContent>
          <p:cxnSp>
            <p:nvCxnSpPr>
              <p:cNvPr id="106" name="连接符: 曲线 105">
                <a:extLst>
                  <a:ext uri="{FF2B5EF4-FFF2-40B4-BE49-F238E27FC236}">
                    <a16:creationId xmlns:a16="http://schemas.microsoft.com/office/drawing/2014/main" id="{91DCC33A-27B9-1867-7A1E-B1EC880003E4}"/>
                  </a:ext>
                </a:extLst>
              </p:cNvPr>
              <p:cNvCxnSpPr>
                <a:cxnSpLocks/>
              </p:cNvCxnSpPr>
              <p:nvPr/>
            </p:nvCxnSpPr>
            <p:spPr>
              <a:xfrm>
                <a:off x="2490503" y="1387274"/>
                <a:ext cx="22198" cy="2703983"/>
              </a:xfrm>
              <a:prstGeom prst="curvedConnector3">
                <a:avLst>
                  <a:gd name="adj1" fmla="val -3921642"/>
                </a:avLst>
              </a:prstGeom>
              <a:ln>
                <a:solidFill>
                  <a:srgbClr val="FF0000"/>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16" name="文本框 115">
                    <a:extLst>
                      <a:ext uri="{FF2B5EF4-FFF2-40B4-BE49-F238E27FC236}">
                        <a16:creationId xmlns:a16="http://schemas.microsoft.com/office/drawing/2014/main" id="{3D16B128-1C9F-5AAC-80F4-B8E94FDCA99E}"/>
                      </a:ext>
                    </a:extLst>
                  </p:cNvPr>
                  <p:cNvSpPr txBox="1"/>
                  <p:nvPr/>
                </p:nvSpPr>
                <p:spPr>
                  <a:xfrm>
                    <a:off x="1642163" y="1248774"/>
                    <a:ext cx="52200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rgbClr val="FF0000"/>
                                  </a:solidFill>
                                  <a:latin typeface="Cambria Math" panose="02040503050406030204" pitchFamily="18" charset="0"/>
                                </a:rPr>
                              </m:ctrlPr>
                            </m:sSubPr>
                            <m:e>
                              <m:r>
                                <a:rPr lang="en-US" altLang="zh-CN" b="0" i="1" smtClean="0">
                                  <a:solidFill>
                                    <a:srgbClr val="FF0000"/>
                                  </a:solidFill>
                                  <a:latin typeface="Cambria Math" panose="02040503050406030204" pitchFamily="18" charset="0"/>
                                </a:rPr>
                                <m:t>𝐶𝑆</m:t>
                              </m:r>
                            </m:e>
                            <m:sub>
                              <m:r>
                                <a:rPr lang="en-US" altLang="zh-CN" b="0" i="1" smtClean="0">
                                  <a:solidFill>
                                    <a:srgbClr val="FF0000"/>
                                  </a:solidFill>
                                  <a:latin typeface="Cambria Math" panose="02040503050406030204" pitchFamily="18" charset="0"/>
                                </a:rPr>
                                <m:t>𝑘</m:t>
                              </m:r>
                              <m:r>
                                <a:rPr lang="en-US" altLang="zh-CN" b="0" i="1" smtClean="0">
                                  <a:solidFill>
                                    <a:srgbClr val="FF0000"/>
                                  </a:solidFill>
                                  <a:latin typeface="Cambria Math" panose="02040503050406030204" pitchFamily="18" charset="0"/>
                                </a:rPr>
                                <m:t>1</m:t>
                              </m:r>
                            </m:sub>
                          </m:sSub>
                        </m:oMath>
                      </m:oMathPara>
                    </a14:m>
                    <a:endParaRPr lang="zh-CN" altLang="en-US" dirty="0"/>
                  </a:p>
                </p:txBody>
              </p:sp>
            </mc:Choice>
            <mc:Fallback>
              <p:sp>
                <p:nvSpPr>
                  <p:cNvPr id="116" name="文本框 115">
                    <a:extLst>
                      <a:ext uri="{FF2B5EF4-FFF2-40B4-BE49-F238E27FC236}">
                        <a16:creationId xmlns:a16="http://schemas.microsoft.com/office/drawing/2014/main" id="{3D16B128-1C9F-5AAC-80F4-B8E94FDCA99E}"/>
                      </a:ext>
                    </a:extLst>
                  </p:cNvPr>
                  <p:cNvSpPr txBox="1">
                    <a:spLocks noRot="1" noChangeAspect="1" noMove="1" noResize="1" noEditPoints="1" noAdjustHandles="1" noChangeArrowheads="1" noChangeShapeType="1" noTextEdit="1"/>
                  </p:cNvSpPr>
                  <p:nvPr/>
                </p:nvSpPr>
                <p:spPr>
                  <a:xfrm>
                    <a:off x="1642163" y="1248774"/>
                    <a:ext cx="522002" cy="276999"/>
                  </a:xfrm>
                  <a:prstGeom prst="rect">
                    <a:avLst/>
                  </a:prstGeom>
                  <a:blipFill>
                    <a:blip r:embed="rId17"/>
                    <a:stretch>
                      <a:fillRect l="-9302" r="-3488" b="-17778"/>
                    </a:stretch>
                  </a:blipFill>
                </p:spPr>
                <p:txBody>
                  <a:bodyPr/>
                  <a:lstStyle/>
                  <a:p>
                    <a:r>
                      <a:rPr lang="zh-CN" altLang="en-US">
                        <a:noFill/>
                      </a:rPr>
                      <a:t> </a:t>
                    </a:r>
                  </a:p>
                </p:txBody>
              </p:sp>
            </mc:Fallback>
          </mc:AlternateContent>
          <p:cxnSp>
            <p:nvCxnSpPr>
              <p:cNvPr id="117" name="连接符: 曲线 116">
                <a:extLst>
                  <a:ext uri="{FF2B5EF4-FFF2-40B4-BE49-F238E27FC236}">
                    <a16:creationId xmlns:a16="http://schemas.microsoft.com/office/drawing/2014/main" id="{3D5280D3-51B4-EA3E-3301-F3CA78D31BB3}"/>
                  </a:ext>
                </a:extLst>
              </p:cNvPr>
              <p:cNvCxnSpPr>
                <a:cxnSpLocks/>
                <a:stCxn id="30" idx="3"/>
                <a:endCxn id="47" idx="3"/>
              </p:cNvCxnSpPr>
              <p:nvPr/>
            </p:nvCxnSpPr>
            <p:spPr>
              <a:xfrm rot="10800000" flipV="1">
                <a:off x="2496068" y="2681416"/>
                <a:ext cx="12700" cy="1396313"/>
              </a:xfrm>
              <a:prstGeom prst="curvedConnector3">
                <a:avLst>
                  <a:gd name="adj1" fmla="val 1800000"/>
                </a:avLst>
              </a:prstGeom>
              <a:ln>
                <a:solidFill>
                  <a:srgbClr val="FF0000"/>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1" name="文本框 120">
                    <a:extLst>
                      <a:ext uri="{FF2B5EF4-FFF2-40B4-BE49-F238E27FC236}">
                        <a16:creationId xmlns:a16="http://schemas.microsoft.com/office/drawing/2014/main" id="{7CEBC56D-C209-D731-45F2-D3AFF3CB7E41}"/>
                      </a:ext>
                    </a:extLst>
                  </p:cNvPr>
                  <p:cNvSpPr txBox="1"/>
                  <p:nvPr/>
                </p:nvSpPr>
                <p:spPr>
                  <a:xfrm>
                    <a:off x="1884991" y="2566467"/>
                    <a:ext cx="48930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rgbClr val="FF0000"/>
                                  </a:solidFill>
                                  <a:latin typeface="Cambria Math" panose="02040503050406030204" pitchFamily="18" charset="0"/>
                                </a:rPr>
                              </m:ctrlPr>
                            </m:sSubPr>
                            <m:e>
                              <m:r>
                                <a:rPr lang="en-US" altLang="zh-CN" b="0" i="1" smtClean="0">
                                  <a:solidFill>
                                    <a:srgbClr val="FF0000"/>
                                  </a:solidFill>
                                  <a:latin typeface="Cambria Math" panose="02040503050406030204" pitchFamily="18" charset="0"/>
                                </a:rPr>
                                <m:t>𝐶𝑆</m:t>
                              </m:r>
                            </m:e>
                            <m:sub>
                              <m:r>
                                <a:rPr lang="en-US" altLang="zh-CN" b="0" i="1" smtClean="0">
                                  <a:solidFill>
                                    <a:srgbClr val="FF0000"/>
                                  </a:solidFill>
                                  <a:latin typeface="Cambria Math" panose="02040503050406030204" pitchFamily="18" charset="0"/>
                                </a:rPr>
                                <m:t>𝑘𝑖</m:t>
                              </m:r>
                            </m:sub>
                          </m:sSub>
                        </m:oMath>
                      </m:oMathPara>
                    </a14:m>
                    <a:endParaRPr lang="zh-CN" altLang="en-US" dirty="0"/>
                  </a:p>
                </p:txBody>
              </p:sp>
            </mc:Choice>
            <mc:Fallback>
              <p:sp>
                <p:nvSpPr>
                  <p:cNvPr id="121" name="文本框 120">
                    <a:extLst>
                      <a:ext uri="{FF2B5EF4-FFF2-40B4-BE49-F238E27FC236}">
                        <a16:creationId xmlns:a16="http://schemas.microsoft.com/office/drawing/2014/main" id="{7CEBC56D-C209-D731-45F2-D3AFF3CB7E41}"/>
                      </a:ext>
                    </a:extLst>
                  </p:cNvPr>
                  <p:cNvSpPr txBox="1">
                    <a:spLocks noRot="1" noChangeAspect="1" noMove="1" noResize="1" noEditPoints="1" noAdjustHandles="1" noChangeArrowheads="1" noChangeShapeType="1" noTextEdit="1"/>
                  </p:cNvSpPr>
                  <p:nvPr/>
                </p:nvSpPr>
                <p:spPr>
                  <a:xfrm>
                    <a:off x="1884991" y="2566467"/>
                    <a:ext cx="489300" cy="276999"/>
                  </a:xfrm>
                  <a:prstGeom prst="rect">
                    <a:avLst/>
                  </a:prstGeom>
                  <a:blipFill>
                    <a:blip r:embed="rId18"/>
                    <a:stretch>
                      <a:fillRect l="-10000" r="-5000" b="-20000"/>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27" name="文本框 126">
                    <a:extLst>
                      <a:ext uri="{FF2B5EF4-FFF2-40B4-BE49-F238E27FC236}">
                        <a16:creationId xmlns:a16="http://schemas.microsoft.com/office/drawing/2014/main" id="{D494BEBE-78CE-6D23-D93D-225AB14E95C8}"/>
                      </a:ext>
                    </a:extLst>
                  </p:cNvPr>
                  <p:cNvSpPr txBox="1"/>
                  <p:nvPr/>
                </p:nvSpPr>
                <p:spPr>
                  <a:xfrm>
                    <a:off x="1734724" y="4912837"/>
                    <a:ext cx="55476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rgbClr val="FF0000"/>
                                  </a:solidFill>
                                  <a:latin typeface="Cambria Math" panose="02040503050406030204" pitchFamily="18" charset="0"/>
                                </a:rPr>
                              </m:ctrlPr>
                            </m:sSubPr>
                            <m:e>
                              <m:r>
                                <a:rPr lang="en-US" altLang="zh-CN" b="0" i="1" smtClean="0">
                                  <a:solidFill>
                                    <a:srgbClr val="FF0000"/>
                                  </a:solidFill>
                                  <a:latin typeface="Cambria Math" panose="02040503050406030204" pitchFamily="18" charset="0"/>
                                </a:rPr>
                                <m:t>𝐶𝑆</m:t>
                              </m:r>
                            </m:e>
                            <m:sub>
                              <m:r>
                                <a:rPr lang="en-US" altLang="zh-CN" b="0" i="1" smtClean="0">
                                  <a:solidFill>
                                    <a:srgbClr val="FF0000"/>
                                  </a:solidFill>
                                  <a:latin typeface="Cambria Math" panose="02040503050406030204" pitchFamily="18" charset="0"/>
                                </a:rPr>
                                <m:t>𝑘𝑁</m:t>
                              </m:r>
                            </m:sub>
                          </m:sSub>
                        </m:oMath>
                      </m:oMathPara>
                    </a14:m>
                    <a:endParaRPr lang="zh-CN" altLang="en-US" dirty="0"/>
                  </a:p>
                </p:txBody>
              </p:sp>
            </mc:Choice>
            <mc:Fallback>
              <p:sp>
                <p:nvSpPr>
                  <p:cNvPr id="127" name="文本框 126">
                    <a:extLst>
                      <a:ext uri="{FF2B5EF4-FFF2-40B4-BE49-F238E27FC236}">
                        <a16:creationId xmlns:a16="http://schemas.microsoft.com/office/drawing/2014/main" id="{D494BEBE-78CE-6D23-D93D-225AB14E95C8}"/>
                      </a:ext>
                    </a:extLst>
                  </p:cNvPr>
                  <p:cNvSpPr txBox="1">
                    <a:spLocks noRot="1" noChangeAspect="1" noMove="1" noResize="1" noEditPoints="1" noAdjustHandles="1" noChangeArrowheads="1" noChangeShapeType="1" noTextEdit="1"/>
                  </p:cNvSpPr>
                  <p:nvPr/>
                </p:nvSpPr>
                <p:spPr>
                  <a:xfrm>
                    <a:off x="1734724" y="4912837"/>
                    <a:ext cx="554767" cy="276999"/>
                  </a:xfrm>
                  <a:prstGeom prst="rect">
                    <a:avLst/>
                  </a:prstGeom>
                  <a:blipFill>
                    <a:blip r:embed="rId19"/>
                    <a:stretch>
                      <a:fillRect l="-9890" r="-3297" b="-17778"/>
                    </a:stretch>
                  </a:blipFill>
                </p:spPr>
                <p:txBody>
                  <a:bodyPr/>
                  <a:lstStyle/>
                  <a:p>
                    <a:r>
                      <a:rPr lang="zh-CN" altLang="en-US">
                        <a:noFill/>
                      </a:rPr>
                      <a:t> </a:t>
                    </a:r>
                  </a:p>
                </p:txBody>
              </p:sp>
            </mc:Fallback>
          </mc:AlternateContent>
          <p:cxnSp>
            <p:nvCxnSpPr>
              <p:cNvPr id="130" name="连接符: 曲线 129">
                <a:extLst>
                  <a:ext uri="{FF2B5EF4-FFF2-40B4-BE49-F238E27FC236}">
                    <a16:creationId xmlns:a16="http://schemas.microsoft.com/office/drawing/2014/main" id="{65442EEC-07A8-8984-E16B-D07E63F79D50}"/>
                  </a:ext>
                </a:extLst>
              </p:cNvPr>
              <p:cNvCxnSpPr>
                <a:cxnSpLocks/>
                <a:stCxn id="50" idx="3"/>
                <a:endCxn id="52" idx="3"/>
              </p:cNvCxnSpPr>
              <p:nvPr/>
            </p:nvCxnSpPr>
            <p:spPr>
              <a:xfrm>
                <a:off x="8884512" y="1247642"/>
                <a:ext cx="12700" cy="1433774"/>
              </a:xfrm>
              <a:prstGeom prst="curvedConnector3">
                <a:avLst>
                  <a:gd name="adj1" fmla="val 1800000"/>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31" name="文本框 130">
                    <a:extLst>
                      <a:ext uri="{FF2B5EF4-FFF2-40B4-BE49-F238E27FC236}">
                        <a16:creationId xmlns:a16="http://schemas.microsoft.com/office/drawing/2014/main" id="{9A6F11BD-59E3-5BB1-3FCD-9809FB5D355D}"/>
                      </a:ext>
                    </a:extLst>
                  </p:cNvPr>
                  <p:cNvSpPr txBox="1"/>
                  <p:nvPr/>
                </p:nvSpPr>
                <p:spPr>
                  <a:xfrm>
                    <a:off x="9045037" y="1093365"/>
                    <a:ext cx="482248" cy="2993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chemeClr val="accent1">
                                      <a:lumMod val="75000"/>
                                    </a:schemeClr>
                                  </a:solidFill>
                                  <a:latin typeface="Cambria Math" panose="02040503050406030204" pitchFamily="18" charset="0"/>
                                </a:rPr>
                              </m:ctrlPr>
                            </m:sSubPr>
                            <m:e>
                              <m:r>
                                <a:rPr lang="en-US" altLang="zh-CN" b="0" i="1" smtClean="0">
                                  <a:solidFill>
                                    <a:schemeClr val="accent1">
                                      <a:lumMod val="75000"/>
                                    </a:schemeClr>
                                  </a:solidFill>
                                  <a:latin typeface="Cambria Math" panose="02040503050406030204" pitchFamily="18" charset="0"/>
                                </a:rPr>
                                <m:t>𝑃𝑆</m:t>
                              </m:r>
                            </m:e>
                            <m:sub>
                              <m:r>
                                <a:rPr lang="en-US" altLang="zh-CN" b="0" i="1" smtClean="0">
                                  <a:solidFill>
                                    <a:schemeClr val="accent1">
                                      <a:lumMod val="75000"/>
                                    </a:schemeClr>
                                  </a:solidFill>
                                  <a:latin typeface="Cambria Math" panose="02040503050406030204" pitchFamily="18" charset="0"/>
                                </a:rPr>
                                <m:t>𝑗</m:t>
                              </m:r>
                              <m:r>
                                <a:rPr lang="en-US" altLang="zh-CN" b="0" i="1" smtClean="0">
                                  <a:solidFill>
                                    <a:schemeClr val="accent1">
                                      <a:lumMod val="75000"/>
                                    </a:schemeClr>
                                  </a:solidFill>
                                  <a:latin typeface="Cambria Math" panose="02040503050406030204" pitchFamily="18" charset="0"/>
                                </a:rPr>
                                <m:t>1</m:t>
                              </m:r>
                            </m:sub>
                          </m:sSub>
                        </m:oMath>
                      </m:oMathPara>
                    </a14:m>
                    <a:endParaRPr lang="zh-CN" altLang="en-US" dirty="0"/>
                  </a:p>
                </p:txBody>
              </p:sp>
            </mc:Choice>
            <mc:Fallback>
              <p:sp>
                <p:nvSpPr>
                  <p:cNvPr id="131" name="文本框 130">
                    <a:extLst>
                      <a:ext uri="{FF2B5EF4-FFF2-40B4-BE49-F238E27FC236}">
                        <a16:creationId xmlns:a16="http://schemas.microsoft.com/office/drawing/2014/main" id="{9A6F11BD-59E3-5BB1-3FCD-9809FB5D355D}"/>
                      </a:ext>
                    </a:extLst>
                  </p:cNvPr>
                  <p:cNvSpPr txBox="1">
                    <a:spLocks noRot="1" noChangeAspect="1" noMove="1" noResize="1" noEditPoints="1" noAdjustHandles="1" noChangeArrowheads="1" noChangeShapeType="1" noTextEdit="1"/>
                  </p:cNvSpPr>
                  <p:nvPr/>
                </p:nvSpPr>
                <p:spPr>
                  <a:xfrm>
                    <a:off x="9045037" y="1093365"/>
                    <a:ext cx="482248" cy="299313"/>
                  </a:xfrm>
                  <a:prstGeom prst="rect">
                    <a:avLst/>
                  </a:prstGeom>
                  <a:blipFill>
                    <a:blip r:embed="rId20"/>
                    <a:stretch>
                      <a:fillRect l="-11392" r="-8861" b="-26531"/>
                    </a:stretch>
                  </a:blipFill>
                </p:spPr>
                <p:txBody>
                  <a:bodyPr/>
                  <a:lstStyle/>
                  <a:p>
                    <a:r>
                      <a:rPr lang="zh-CN" altLang="en-US">
                        <a:noFill/>
                      </a:rPr>
                      <a:t> </a:t>
                    </a:r>
                  </a:p>
                </p:txBody>
              </p:sp>
            </mc:Fallback>
          </mc:AlternateContent>
          <p:cxnSp>
            <p:nvCxnSpPr>
              <p:cNvPr id="132" name="连接符: 曲线 131">
                <a:extLst>
                  <a:ext uri="{FF2B5EF4-FFF2-40B4-BE49-F238E27FC236}">
                    <a16:creationId xmlns:a16="http://schemas.microsoft.com/office/drawing/2014/main" id="{515F39F6-7197-5A88-C9DF-08258D11BB8A}"/>
                  </a:ext>
                </a:extLst>
              </p:cNvPr>
              <p:cNvCxnSpPr>
                <a:cxnSpLocks/>
                <a:stCxn id="52" idx="3"/>
                <a:endCxn id="54" idx="3"/>
              </p:cNvCxnSpPr>
              <p:nvPr/>
            </p:nvCxnSpPr>
            <p:spPr>
              <a:xfrm flipH="1">
                <a:off x="8884511" y="2681416"/>
                <a:ext cx="1" cy="1396313"/>
              </a:xfrm>
              <a:prstGeom prst="curvedConnector3">
                <a:avLst>
                  <a:gd name="adj1" fmla="val -22860000000"/>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35" name="文本框 134">
                    <a:extLst>
                      <a:ext uri="{FF2B5EF4-FFF2-40B4-BE49-F238E27FC236}">
                        <a16:creationId xmlns:a16="http://schemas.microsoft.com/office/drawing/2014/main" id="{8CA3114A-B457-BCB6-02DC-AE91E6FE1DD7}"/>
                      </a:ext>
                    </a:extLst>
                  </p:cNvPr>
                  <p:cNvSpPr txBox="1"/>
                  <p:nvPr/>
                </p:nvSpPr>
                <p:spPr>
                  <a:xfrm>
                    <a:off x="9100751" y="3643866"/>
                    <a:ext cx="449547" cy="2993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chemeClr val="accent1">
                                      <a:lumMod val="75000"/>
                                    </a:schemeClr>
                                  </a:solidFill>
                                  <a:latin typeface="Cambria Math" panose="02040503050406030204" pitchFamily="18" charset="0"/>
                                </a:rPr>
                              </m:ctrlPr>
                            </m:sSubPr>
                            <m:e>
                              <m:r>
                                <a:rPr lang="en-US" altLang="zh-CN" b="0" i="1" smtClean="0">
                                  <a:solidFill>
                                    <a:schemeClr val="accent1">
                                      <a:lumMod val="75000"/>
                                    </a:schemeClr>
                                  </a:solidFill>
                                  <a:latin typeface="Cambria Math" panose="02040503050406030204" pitchFamily="18" charset="0"/>
                                </a:rPr>
                                <m:t>𝑃𝑆</m:t>
                              </m:r>
                            </m:e>
                            <m:sub>
                              <m:r>
                                <a:rPr lang="en-US" altLang="zh-CN" b="0" i="1" smtClean="0">
                                  <a:solidFill>
                                    <a:schemeClr val="accent1">
                                      <a:lumMod val="75000"/>
                                    </a:schemeClr>
                                  </a:solidFill>
                                  <a:latin typeface="Cambria Math" panose="02040503050406030204" pitchFamily="18" charset="0"/>
                                </a:rPr>
                                <m:t>𝑗𝑙</m:t>
                              </m:r>
                            </m:sub>
                          </m:sSub>
                        </m:oMath>
                      </m:oMathPara>
                    </a14:m>
                    <a:endParaRPr lang="zh-CN" altLang="en-US" dirty="0"/>
                  </a:p>
                </p:txBody>
              </p:sp>
            </mc:Choice>
            <mc:Fallback>
              <p:sp>
                <p:nvSpPr>
                  <p:cNvPr id="135" name="文本框 134">
                    <a:extLst>
                      <a:ext uri="{FF2B5EF4-FFF2-40B4-BE49-F238E27FC236}">
                        <a16:creationId xmlns:a16="http://schemas.microsoft.com/office/drawing/2014/main" id="{8CA3114A-B457-BCB6-02DC-AE91E6FE1DD7}"/>
                      </a:ext>
                    </a:extLst>
                  </p:cNvPr>
                  <p:cNvSpPr txBox="1">
                    <a:spLocks noRot="1" noChangeAspect="1" noMove="1" noResize="1" noEditPoints="1" noAdjustHandles="1" noChangeArrowheads="1" noChangeShapeType="1" noTextEdit="1"/>
                  </p:cNvSpPr>
                  <p:nvPr/>
                </p:nvSpPr>
                <p:spPr>
                  <a:xfrm>
                    <a:off x="9100751" y="3643866"/>
                    <a:ext cx="449547" cy="299313"/>
                  </a:xfrm>
                  <a:prstGeom prst="rect">
                    <a:avLst/>
                  </a:prstGeom>
                  <a:blipFill>
                    <a:blip r:embed="rId21"/>
                    <a:stretch>
                      <a:fillRect l="-12162" r="-8108" b="-26531"/>
                    </a:stretch>
                  </a:blipFill>
                </p:spPr>
                <p:txBody>
                  <a:bodyPr/>
                  <a:lstStyle/>
                  <a:p>
                    <a:r>
                      <a:rPr lang="zh-CN" altLang="en-US">
                        <a:noFill/>
                      </a:rPr>
                      <a:t> </a:t>
                    </a:r>
                  </a:p>
                </p:txBody>
              </p:sp>
            </mc:Fallback>
          </mc:AlternateContent>
          <p:grpSp>
            <p:nvGrpSpPr>
              <p:cNvPr id="162" name="组合 161">
                <a:extLst>
                  <a:ext uri="{FF2B5EF4-FFF2-40B4-BE49-F238E27FC236}">
                    <a16:creationId xmlns:a16="http://schemas.microsoft.com/office/drawing/2014/main" id="{5EF99E53-AC3F-E99C-B5DF-48AB86C1594F}"/>
                  </a:ext>
                </a:extLst>
              </p:cNvPr>
              <p:cNvGrpSpPr/>
              <p:nvPr/>
            </p:nvGrpSpPr>
            <p:grpSpPr>
              <a:xfrm>
                <a:off x="8884512" y="2681416"/>
                <a:ext cx="988538" cy="2693772"/>
                <a:chOff x="8884512" y="2681416"/>
                <a:chExt cx="988538" cy="2693772"/>
              </a:xfrm>
            </p:grpSpPr>
            <p:cxnSp>
              <p:nvCxnSpPr>
                <p:cNvPr id="136" name="连接符: 曲线 135">
                  <a:extLst>
                    <a:ext uri="{FF2B5EF4-FFF2-40B4-BE49-F238E27FC236}">
                      <a16:creationId xmlns:a16="http://schemas.microsoft.com/office/drawing/2014/main" id="{FAD7286B-E3BF-6B29-3D9A-F874E13DD7A2}"/>
                    </a:ext>
                  </a:extLst>
                </p:cNvPr>
                <p:cNvCxnSpPr>
                  <a:cxnSpLocks/>
                  <a:endCxn id="55" idx="3"/>
                </p:cNvCxnSpPr>
                <p:nvPr/>
              </p:nvCxnSpPr>
              <p:spPr>
                <a:xfrm rot="5400000">
                  <a:off x="8781295" y="4283434"/>
                  <a:ext cx="1194971" cy="988538"/>
                </a:xfrm>
                <a:prstGeom prst="curvedConnector2">
                  <a:avLst/>
                </a:prstGeom>
              </p:spPr>
              <p:style>
                <a:lnRef idx="2">
                  <a:schemeClr val="accent1"/>
                </a:lnRef>
                <a:fillRef idx="0">
                  <a:schemeClr val="accent1"/>
                </a:fillRef>
                <a:effectRef idx="1">
                  <a:schemeClr val="accent1"/>
                </a:effectRef>
                <a:fontRef idx="minor">
                  <a:schemeClr val="tx1"/>
                </a:fontRef>
              </p:style>
            </p:cxnSp>
            <p:cxnSp>
              <p:nvCxnSpPr>
                <p:cNvPr id="150" name="连接符: 曲线 149">
                  <a:extLst>
                    <a:ext uri="{FF2B5EF4-FFF2-40B4-BE49-F238E27FC236}">
                      <a16:creationId xmlns:a16="http://schemas.microsoft.com/office/drawing/2014/main" id="{24ECE132-87DA-9F4C-A3B9-C8A7DEE8362F}"/>
                    </a:ext>
                  </a:extLst>
                </p:cNvPr>
                <p:cNvCxnSpPr>
                  <a:cxnSpLocks/>
                  <a:stCxn id="52" idx="3"/>
                </p:cNvCxnSpPr>
                <p:nvPr/>
              </p:nvCxnSpPr>
              <p:spPr>
                <a:xfrm>
                  <a:off x="8884512" y="2681416"/>
                  <a:ext cx="988538" cy="1543465"/>
                </a:xfrm>
                <a:prstGeom prst="curvedConnector2">
                  <a:avLst/>
                </a:prstGeom>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mc:Choice xmlns:a14="http://schemas.microsoft.com/office/drawing/2010/main" Requires="a14">
              <p:sp>
                <p:nvSpPr>
                  <p:cNvPr id="161" name="文本框 160">
                    <a:extLst>
                      <a:ext uri="{FF2B5EF4-FFF2-40B4-BE49-F238E27FC236}">
                        <a16:creationId xmlns:a16="http://schemas.microsoft.com/office/drawing/2014/main" id="{1F8DA320-37D2-AAAB-03CE-6A26ED08038A}"/>
                      </a:ext>
                    </a:extLst>
                  </p:cNvPr>
                  <p:cNvSpPr txBox="1"/>
                  <p:nvPr/>
                </p:nvSpPr>
                <p:spPr>
                  <a:xfrm>
                    <a:off x="9561781" y="5037674"/>
                    <a:ext cx="536044" cy="2993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chemeClr val="accent1">
                                      <a:lumMod val="75000"/>
                                    </a:schemeClr>
                                  </a:solidFill>
                                  <a:latin typeface="Cambria Math" panose="02040503050406030204" pitchFamily="18" charset="0"/>
                                </a:rPr>
                              </m:ctrlPr>
                            </m:sSubPr>
                            <m:e>
                              <m:r>
                                <a:rPr lang="en-US" altLang="zh-CN" b="0" i="1" smtClean="0">
                                  <a:solidFill>
                                    <a:schemeClr val="accent1">
                                      <a:lumMod val="75000"/>
                                    </a:schemeClr>
                                  </a:solidFill>
                                  <a:latin typeface="Cambria Math" panose="02040503050406030204" pitchFamily="18" charset="0"/>
                                </a:rPr>
                                <m:t>𝑃𝑆</m:t>
                              </m:r>
                            </m:e>
                            <m:sub>
                              <m:r>
                                <a:rPr lang="en-US" altLang="zh-CN" b="0" i="1" smtClean="0">
                                  <a:solidFill>
                                    <a:schemeClr val="accent1">
                                      <a:lumMod val="75000"/>
                                    </a:schemeClr>
                                  </a:solidFill>
                                  <a:latin typeface="Cambria Math" panose="02040503050406030204" pitchFamily="18" charset="0"/>
                                </a:rPr>
                                <m:t>𝑗𝑀</m:t>
                              </m:r>
                            </m:sub>
                          </m:sSub>
                        </m:oMath>
                      </m:oMathPara>
                    </a14:m>
                    <a:endParaRPr lang="zh-CN" altLang="en-US" dirty="0"/>
                  </a:p>
                </p:txBody>
              </p:sp>
            </mc:Choice>
            <mc:Fallback>
              <p:sp>
                <p:nvSpPr>
                  <p:cNvPr id="161" name="文本框 160">
                    <a:extLst>
                      <a:ext uri="{FF2B5EF4-FFF2-40B4-BE49-F238E27FC236}">
                        <a16:creationId xmlns:a16="http://schemas.microsoft.com/office/drawing/2014/main" id="{1F8DA320-37D2-AAAB-03CE-6A26ED08038A}"/>
                      </a:ext>
                    </a:extLst>
                  </p:cNvPr>
                  <p:cNvSpPr txBox="1">
                    <a:spLocks noRot="1" noChangeAspect="1" noMove="1" noResize="1" noEditPoints="1" noAdjustHandles="1" noChangeArrowheads="1" noChangeShapeType="1" noTextEdit="1"/>
                  </p:cNvSpPr>
                  <p:nvPr/>
                </p:nvSpPr>
                <p:spPr>
                  <a:xfrm>
                    <a:off x="9561781" y="5037674"/>
                    <a:ext cx="536044" cy="299313"/>
                  </a:xfrm>
                  <a:prstGeom prst="rect">
                    <a:avLst/>
                  </a:prstGeom>
                  <a:blipFill>
                    <a:blip r:embed="rId22"/>
                    <a:stretch>
                      <a:fillRect l="-10345" r="-8046" b="-26531"/>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66" name="文本框 165">
                    <a:extLst>
                      <a:ext uri="{FF2B5EF4-FFF2-40B4-BE49-F238E27FC236}">
                        <a16:creationId xmlns:a16="http://schemas.microsoft.com/office/drawing/2014/main" id="{1A4410A9-1F95-C773-BB1C-31BE9900B181}"/>
                      </a:ext>
                    </a:extLst>
                  </p:cNvPr>
                  <p:cNvSpPr txBox="1"/>
                  <p:nvPr/>
                </p:nvSpPr>
                <p:spPr>
                  <a:xfrm>
                    <a:off x="6306805" y="2627695"/>
                    <a:ext cx="840423" cy="39164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𝑆𝐶𝑃</m:t>
                              </m:r>
                            </m:e>
                            <m:sub>
                              <m:r>
                                <a:rPr lang="en-US" altLang="zh-CN" b="0" i="1" smtClean="0">
                                  <a:solidFill>
                                    <a:schemeClr val="tx1"/>
                                  </a:solidFill>
                                  <a:latin typeface="Cambria Math" panose="02040503050406030204" pitchFamily="18" charset="0"/>
                                </a:rPr>
                                <m:t>𝐾𝑗</m:t>
                              </m:r>
                            </m:sub>
                          </m:sSub>
                        </m:oMath>
                      </m:oMathPara>
                    </a14:m>
                    <a:endParaRPr lang="zh-CN" altLang="en-US" dirty="0"/>
                  </a:p>
                </p:txBody>
              </p:sp>
            </mc:Choice>
            <mc:Fallback>
              <p:sp>
                <p:nvSpPr>
                  <p:cNvPr id="166" name="文本框 165">
                    <a:extLst>
                      <a:ext uri="{FF2B5EF4-FFF2-40B4-BE49-F238E27FC236}">
                        <a16:creationId xmlns:a16="http://schemas.microsoft.com/office/drawing/2014/main" id="{1A4410A9-1F95-C773-BB1C-31BE9900B181}"/>
                      </a:ext>
                    </a:extLst>
                  </p:cNvPr>
                  <p:cNvSpPr txBox="1">
                    <a:spLocks noRot="1" noChangeAspect="1" noMove="1" noResize="1" noEditPoints="1" noAdjustHandles="1" noChangeArrowheads="1" noChangeShapeType="1" noTextEdit="1"/>
                  </p:cNvSpPr>
                  <p:nvPr/>
                </p:nvSpPr>
                <p:spPr>
                  <a:xfrm>
                    <a:off x="6306805" y="2627695"/>
                    <a:ext cx="840423" cy="391646"/>
                  </a:xfrm>
                  <a:prstGeom prst="rect">
                    <a:avLst/>
                  </a:prstGeom>
                  <a:blipFill>
                    <a:blip r:embed="rId23"/>
                    <a:stretch>
                      <a:fillRect b="-9375"/>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67" name="文本框 166">
                    <a:extLst>
                      <a:ext uri="{FF2B5EF4-FFF2-40B4-BE49-F238E27FC236}">
                        <a16:creationId xmlns:a16="http://schemas.microsoft.com/office/drawing/2014/main" id="{70371114-19FD-DC1E-541B-E7A9A72842AA}"/>
                      </a:ext>
                    </a:extLst>
                  </p:cNvPr>
                  <p:cNvSpPr txBox="1"/>
                  <p:nvPr/>
                </p:nvSpPr>
                <p:spPr>
                  <a:xfrm>
                    <a:off x="4124858" y="3716459"/>
                    <a:ext cx="830484" cy="39164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𝑆𝑃𝐶</m:t>
                              </m:r>
                            </m:e>
                            <m:sub>
                              <m:r>
                                <a:rPr lang="en-US" altLang="zh-CN" b="0" i="1" smtClean="0">
                                  <a:solidFill>
                                    <a:schemeClr val="tx1"/>
                                  </a:solidFill>
                                  <a:latin typeface="Cambria Math" panose="02040503050406030204" pitchFamily="18" charset="0"/>
                                </a:rPr>
                                <m:t>𝑗𝐾</m:t>
                              </m:r>
                            </m:sub>
                          </m:sSub>
                        </m:oMath>
                      </m:oMathPara>
                    </a14:m>
                    <a:endParaRPr lang="zh-CN" altLang="en-US" dirty="0"/>
                  </a:p>
                </p:txBody>
              </p:sp>
            </mc:Choice>
            <mc:Fallback>
              <p:sp>
                <p:nvSpPr>
                  <p:cNvPr id="167" name="文本框 166">
                    <a:extLst>
                      <a:ext uri="{FF2B5EF4-FFF2-40B4-BE49-F238E27FC236}">
                        <a16:creationId xmlns:a16="http://schemas.microsoft.com/office/drawing/2014/main" id="{70371114-19FD-DC1E-541B-E7A9A72842AA}"/>
                      </a:ext>
                    </a:extLst>
                  </p:cNvPr>
                  <p:cNvSpPr txBox="1">
                    <a:spLocks noRot="1" noChangeAspect="1" noMove="1" noResize="1" noEditPoints="1" noAdjustHandles="1" noChangeArrowheads="1" noChangeShapeType="1" noTextEdit="1"/>
                  </p:cNvSpPr>
                  <p:nvPr/>
                </p:nvSpPr>
                <p:spPr>
                  <a:xfrm>
                    <a:off x="4124858" y="3716459"/>
                    <a:ext cx="830484" cy="391646"/>
                  </a:xfrm>
                  <a:prstGeom prst="rect">
                    <a:avLst/>
                  </a:prstGeom>
                  <a:blipFill>
                    <a:blip r:embed="rId24"/>
                    <a:stretch>
                      <a:fillRect b="-7813"/>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68" name="文本框 167">
                    <a:extLst>
                      <a:ext uri="{FF2B5EF4-FFF2-40B4-BE49-F238E27FC236}">
                        <a16:creationId xmlns:a16="http://schemas.microsoft.com/office/drawing/2014/main" id="{5D180190-827C-E6A2-0AE5-EE3135DE4D88}"/>
                      </a:ext>
                    </a:extLst>
                  </p:cNvPr>
                  <p:cNvSpPr txBox="1"/>
                  <p:nvPr/>
                </p:nvSpPr>
                <p:spPr>
                  <a:xfrm>
                    <a:off x="2768895" y="1838532"/>
                    <a:ext cx="3193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zh-CN" altLang="en-US" i="1" smtClean="0">
                              <a:latin typeface="Cambria Math" panose="02040503050406030204" pitchFamily="18" charset="0"/>
                            </a:rPr>
                            <m:t>⋮</m:t>
                          </m:r>
                        </m:oMath>
                      </m:oMathPara>
                    </a14:m>
                    <a:endParaRPr lang="zh-CN" altLang="en-US" dirty="0"/>
                  </a:p>
                </p:txBody>
              </p:sp>
            </mc:Choice>
            <mc:Fallback>
              <p:sp>
                <p:nvSpPr>
                  <p:cNvPr id="168" name="文本框 167">
                    <a:extLst>
                      <a:ext uri="{FF2B5EF4-FFF2-40B4-BE49-F238E27FC236}">
                        <a16:creationId xmlns:a16="http://schemas.microsoft.com/office/drawing/2014/main" id="{5D180190-827C-E6A2-0AE5-EE3135DE4D88}"/>
                      </a:ext>
                    </a:extLst>
                  </p:cNvPr>
                  <p:cNvSpPr txBox="1">
                    <a:spLocks noRot="1" noChangeAspect="1" noMove="1" noResize="1" noEditPoints="1" noAdjustHandles="1" noChangeArrowheads="1" noChangeShapeType="1" noTextEdit="1"/>
                  </p:cNvSpPr>
                  <p:nvPr/>
                </p:nvSpPr>
                <p:spPr>
                  <a:xfrm>
                    <a:off x="2768895" y="1838532"/>
                    <a:ext cx="319318" cy="369332"/>
                  </a:xfrm>
                  <a:prstGeom prst="rect">
                    <a:avLst/>
                  </a:prstGeom>
                  <a:blipFill>
                    <a:blip r:embed="rId25"/>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69" name="文本框 168">
                    <a:extLst>
                      <a:ext uri="{FF2B5EF4-FFF2-40B4-BE49-F238E27FC236}">
                        <a16:creationId xmlns:a16="http://schemas.microsoft.com/office/drawing/2014/main" id="{147F07A8-E779-0855-9FD6-865F32D6523E}"/>
                      </a:ext>
                    </a:extLst>
                  </p:cNvPr>
                  <p:cNvSpPr txBox="1"/>
                  <p:nvPr/>
                </p:nvSpPr>
                <p:spPr>
                  <a:xfrm>
                    <a:off x="2760463" y="3194907"/>
                    <a:ext cx="3193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zh-CN" altLang="en-US" i="1" smtClean="0">
                              <a:latin typeface="Cambria Math" panose="02040503050406030204" pitchFamily="18" charset="0"/>
                            </a:rPr>
                            <m:t>⋮</m:t>
                          </m:r>
                        </m:oMath>
                      </m:oMathPara>
                    </a14:m>
                    <a:endParaRPr lang="zh-CN" altLang="en-US" dirty="0"/>
                  </a:p>
                </p:txBody>
              </p:sp>
            </mc:Choice>
            <mc:Fallback>
              <p:sp>
                <p:nvSpPr>
                  <p:cNvPr id="169" name="文本框 168">
                    <a:extLst>
                      <a:ext uri="{FF2B5EF4-FFF2-40B4-BE49-F238E27FC236}">
                        <a16:creationId xmlns:a16="http://schemas.microsoft.com/office/drawing/2014/main" id="{147F07A8-E779-0855-9FD6-865F32D6523E}"/>
                      </a:ext>
                    </a:extLst>
                  </p:cNvPr>
                  <p:cNvSpPr txBox="1">
                    <a:spLocks noRot="1" noChangeAspect="1" noMove="1" noResize="1" noEditPoints="1" noAdjustHandles="1" noChangeArrowheads="1" noChangeShapeType="1" noTextEdit="1"/>
                  </p:cNvSpPr>
                  <p:nvPr/>
                </p:nvSpPr>
                <p:spPr>
                  <a:xfrm>
                    <a:off x="2760463" y="3194907"/>
                    <a:ext cx="319318" cy="369332"/>
                  </a:xfrm>
                  <a:prstGeom prst="rect">
                    <a:avLst/>
                  </a:prstGeom>
                  <a:blipFill>
                    <a:blip r:embed="rId26"/>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70" name="文本框 169">
                    <a:extLst>
                      <a:ext uri="{FF2B5EF4-FFF2-40B4-BE49-F238E27FC236}">
                        <a16:creationId xmlns:a16="http://schemas.microsoft.com/office/drawing/2014/main" id="{1B9ABEA2-6F8F-5F15-3FA9-DB65B5E0BA5C}"/>
                      </a:ext>
                    </a:extLst>
                  </p:cNvPr>
                  <p:cNvSpPr txBox="1"/>
                  <p:nvPr/>
                </p:nvSpPr>
                <p:spPr>
                  <a:xfrm>
                    <a:off x="2775245" y="4541793"/>
                    <a:ext cx="3193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zh-CN" altLang="en-US" i="1" smtClean="0">
                              <a:latin typeface="Cambria Math" panose="02040503050406030204" pitchFamily="18" charset="0"/>
                            </a:rPr>
                            <m:t>⋮</m:t>
                          </m:r>
                        </m:oMath>
                      </m:oMathPara>
                    </a14:m>
                    <a:endParaRPr lang="zh-CN" altLang="en-US" dirty="0"/>
                  </a:p>
                </p:txBody>
              </p:sp>
            </mc:Choice>
            <mc:Fallback>
              <p:sp>
                <p:nvSpPr>
                  <p:cNvPr id="170" name="文本框 169">
                    <a:extLst>
                      <a:ext uri="{FF2B5EF4-FFF2-40B4-BE49-F238E27FC236}">
                        <a16:creationId xmlns:a16="http://schemas.microsoft.com/office/drawing/2014/main" id="{1B9ABEA2-6F8F-5F15-3FA9-DB65B5E0BA5C}"/>
                      </a:ext>
                    </a:extLst>
                  </p:cNvPr>
                  <p:cNvSpPr txBox="1">
                    <a:spLocks noRot="1" noChangeAspect="1" noMove="1" noResize="1" noEditPoints="1" noAdjustHandles="1" noChangeArrowheads="1" noChangeShapeType="1" noTextEdit="1"/>
                  </p:cNvSpPr>
                  <p:nvPr/>
                </p:nvSpPr>
                <p:spPr>
                  <a:xfrm>
                    <a:off x="2775245" y="4541793"/>
                    <a:ext cx="319318" cy="369332"/>
                  </a:xfrm>
                  <a:prstGeom prst="rect">
                    <a:avLst/>
                  </a:prstGeom>
                  <a:blipFill>
                    <a:blip r:embed="rId27"/>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71" name="文本框 170">
                    <a:extLst>
                      <a:ext uri="{FF2B5EF4-FFF2-40B4-BE49-F238E27FC236}">
                        <a16:creationId xmlns:a16="http://schemas.microsoft.com/office/drawing/2014/main" id="{793E4655-CF41-30C4-DE0E-2400D40FB244}"/>
                      </a:ext>
                    </a:extLst>
                  </p:cNvPr>
                  <p:cNvSpPr txBox="1"/>
                  <p:nvPr/>
                </p:nvSpPr>
                <p:spPr>
                  <a:xfrm>
                    <a:off x="8300799" y="4541793"/>
                    <a:ext cx="3193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zh-CN" altLang="en-US" i="1" smtClean="0">
                              <a:latin typeface="Cambria Math" panose="02040503050406030204" pitchFamily="18" charset="0"/>
                            </a:rPr>
                            <m:t>⋮</m:t>
                          </m:r>
                        </m:oMath>
                      </m:oMathPara>
                    </a14:m>
                    <a:endParaRPr lang="zh-CN" altLang="en-US" dirty="0"/>
                  </a:p>
                </p:txBody>
              </p:sp>
            </mc:Choice>
            <mc:Fallback>
              <p:sp>
                <p:nvSpPr>
                  <p:cNvPr id="171" name="文本框 170">
                    <a:extLst>
                      <a:ext uri="{FF2B5EF4-FFF2-40B4-BE49-F238E27FC236}">
                        <a16:creationId xmlns:a16="http://schemas.microsoft.com/office/drawing/2014/main" id="{793E4655-CF41-30C4-DE0E-2400D40FB244}"/>
                      </a:ext>
                    </a:extLst>
                  </p:cNvPr>
                  <p:cNvSpPr txBox="1">
                    <a:spLocks noRot="1" noChangeAspect="1" noMove="1" noResize="1" noEditPoints="1" noAdjustHandles="1" noChangeArrowheads="1" noChangeShapeType="1" noTextEdit="1"/>
                  </p:cNvSpPr>
                  <p:nvPr/>
                </p:nvSpPr>
                <p:spPr>
                  <a:xfrm>
                    <a:off x="8300799" y="4541793"/>
                    <a:ext cx="319318" cy="369332"/>
                  </a:xfrm>
                  <a:prstGeom prst="rect">
                    <a:avLst/>
                  </a:prstGeom>
                  <a:blipFill>
                    <a:blip r:embed="rId28"/>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72" name="文本框 171">
                    <a:extLst>
                      <a:ext uri="{FF2B5EF4-FFF2-40B4-BE49-F238E27FC236}">
                        <a16:creationId xmlns:a16="http://schemas.microsoft.com/office/drawing/2014/main" id="{AEF3F3AC-883F-E13A-B8AE-F02F1BAD3538}"/>
                      </a:ext>
                    </a:extLst>
                  </p:cNvPr>
                  <p:cNvSpPr txBox="1"/>
                  <p:nvPr/>
                </p:nvSpPr>
                <p:spPr>
                  <a:xfrm>
                    <a:off x="8286017" y="3152684"/>
                    <a:ext cx="3193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zh-CN" altLang="en-US" i="1" smtClean="0">
                              <a:latin typeface="Cambria Math" panose="02040503050406030204" pitchFamily="18" charset="0"/>
                            </a:rPr>
                            <m:t>⋮</m:t>
                          </m:r>
                        </m:oMath>
                      </m:oMathPara>
                    </a14:m>
                    <a:endParaRPr lang="zh-CN" altLang="en-US" dirty="0"/>
                  </a:p>
                </p:txBody>
              </p:sp>
            </mc:Choice>
            <mc:Fallback>
              <p:sp>
                <p:nvSpPr>
                  <p:cNvPr id="172" name="文本框 171">
                    <a:extLst>
                      <a:ext uri="{FF2B5EF4-FFF2-40B4-BE49-F238E27FC236}">
                        <a16:creationId xmlns:a16="http://schemas.microsoft.com/office/drawing/2014/main" id="{AEF3F3AC-883F-E13A-B8AE-F02F1BAD3538}"/>
                      </a:ext>
                    </a:extLst>
                  </p:cNvPr>
                  <p:cNvSpPr txBox="1">
                    <a:spLocks noRot="1" noChangeAspect="1" noMove="1" noResize="1" noEditPoints="1" noAdjustHandles="1" noChangeArrowheads="1" noChangeShapeType="1" noTextEdit="1"/>
                  </p:cNvSpPr>
                  <p:nvPr/>
                </p:nvSpPr>
                <p:spPr>
                  <a:xfrm>
                    <a:off x="8286017" y="3152684"/>
                    <a:ext cx="319318" cy="369332"/>
                  </a:xfrm>
                  <a:prstGeom prst="rect">
                    <a:avLst/>
                  </a:prstGeom>
                  <a:blipFill>
                    <a:blip r:embed="rId29"/>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73" name="文本框 172">
                    <a:extLst>
                      <a:ext uri="{FF2B5EF4-FFF2-40B4-BE49-F238E27FC236}">
                        <a16:creationId xmlns:a16="http://schemas.microsoft.com/office/drawing/2014/main" id="{A766BD53-6F36-2F8D-5188-36511DF80909}"/>
                      </a:ext>
                    </a:extLst>
                  </p:cNvPr>
                  <p:cNvSpPr txBox="1"/>
                  <p:nvPr/>
                </p:nvSpPr>
                <p:spPr>
                  <a:xfrm>
                    <a:off x="8286017" y="1779863"/>
                    <a:ext cx="3193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zh-CN" altLang="en-US" i="1" smtClean="0">
                              <a:latin typeface="Cambria Math" panose="02040503050406030204" pitchFamily="18" charset="0"/>
                            </a:rPr>
                            <m:t>⋮</m:t>
                          </m:r>
                        </m:oMath>
                      </m:oMathPara>
                    </a14:m>
                    <a:endParaRPr lang="zh-CN" altLang="en-US" dirty="0"/>
                  </a:p>
                </p:txBody>
              </p:sp>
            </mc:Choice>
            <mc:Fallback>
              <p:sp>
                <p:nvSpPr>
                  <p:cNvPr id="173" name="文本框 172">
                    <a:extLst>
                      <a:ext uri="{FF2B5EF4-FFF2-40B4-BE49-F238E27FC236}">
                        <a16:creationId xmlns:a16="http://schemas.microsoft.com/office/drawing/2014/main" id="{A766BD53-6F36-2F8D-5188-36511DF80909}"/>
                      </a:ext>
                    </a:extLst>
                  </p:cNvPr>
                  <p:cNvSpPr txBox="1">
                    <a:spLocks noRot="1" noChangeAspect="1" noMove="1" noResize="1" noEditPoints="1" noAdjustHandles="1" noChangeArrowheads="1" noChangeShapeType="1" noTextEdit="1"/>
                  </p:cNvSpPr>
                  <p:nvPr/>
                </p:nvSpPr>
                <p:spPr>
                  <a:xfrm>
                    <a:off x="8286017" y="1779863"/>
                    <a:ext cx="319318" cy="369332"/>
                  </a:xfrm>
                  <a:prstGeom prst="rect">
                    <a:avLst/>
                  </a:prstGeom>
                  <a:blipFill>
                    <a:blip r:embed="rId30"/>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74" name="文本框 173">
                    <a:extLst>
                      <a:ext uri="{FF2B5EF4-FFF2-40B4-BE49-F238E27FC236}">
                        <a16:creationId xmlns:a16="http://schemas.microsoft.com/office/drawing/2014/main" id="{937E6AB8-2A6D-A7AF-4D1D-07D49A3728FA}"/>
                      </a:ext>
                    </a:extLst>
                  </p:cNvPr>
                  <p:cNvSpPr txBox="1"/>
                  <p:nvPr/>
                </p:nvSpPr>
                <p:spPr>
                  <a:xfrm>
                    <a:off x="4355704" y="5763201"/>
                    <a:ext cx="3163558" cy="39164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𝑑</m:t>
                              </m:r>
                            </m:e>
                            <m:sub>
                              <m:r>
                                <a:rPr lang="en-US" altLang="zh-CN" b="0" i="1" smtClean="0">
                                  <a:solidFill>
                                    <a:schemeClr val="tx1"/>
                                  </a:solidFill>
                                  <a:latin typeface="Cambria Math" panose="02040503050406030204" pitchFamily="18" charset="0"/>
                                </a:rPr>
                                <m:t>𝑘𝑗</m:t>
                              </m:r>
                            </m:sub>
                          </m:sSub>
                          <m:r>
                            <a:rPr lang="en-US" altLang="zh-CN" b="0" i="1" smtClean="0">
                              <a:solidFill>
                                <a:schemeClr val="tx1"/>
                              </a:solidFill>
                              <a:latin typeface="Cambria Math" panose="02040503050406030204" pitchFamily="18" charset="0"/>
                            </a:rPr>
                            <m:t>=</m:t>
                          </m:r>
                          <m:r>
                            <m:rPr>
                              <m:sty m:val="p"/>
                            </m:rPr>
                            <a:rPr lang="en-US" altLang="zh-CN" b="0" i="0" smtClean="0">
                              <a:solidFill>
                                <a:schemeClr val="tx1"/>
                              </a:solidFill>
                              <a:latin typeface="Cambria Math" panose="02040503050406030204" pitchFamily="18" charset="0"/>
                            </a:rPr>
                            <m:t>exp</m:t>
                          </m:r>
                          <m:r>
                            <a:rPr lang="en-US" altLang="zh-CN" b="0" i="0" smtClean="0">
                              <a:solidFill>
                                <a:schemeClr val="tx1"/>
                              </a:solidFill>
                              <a:latin typeface="Cambria Math" panose="02040503050406030204" pitchFamily="18" charset="0"/>
                            </a:rPr>
                            <m:t>[−(</m:t>
                          </m:r>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𝑆𝑃𝐶</m:t>
                              </m:r>
                            </m:e>
                            <m:sub>
                              <m:r>
                                <a:rPr lang="en-US" altLang="zh-CN" b="0" i="1" smtClean="0">
                                  <a:solidFill>
                                    <a:schemeClr val="tx1"/>
                                  </a:solidFill>
                                  <a:latin typeface="Cambria Math" panose="02040503050406030204" pitchFamily="18" charset="0"/>
                                </a:rPr>
                                <m:t>𝑗𝑘</m:t>
                              </m:r>
                            </m:sub>
                          </m:sSub>
                          <m:r>
                            <a:rPr lang="en-US" altLang="zh-CN" b="0" i="1" smtClean="0">
                              <a:solidFill>
                                <a:schemeClr val="tx1"/>
                              </a:solidFill>
                              <a:latin typeface="Cambria Math" panose="02040503050406030204" pitchFamily="18" charset="0"/>
                            </a:rPr>
                            <m:t>+</m:t>
                          </m:r>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𝑆𝐶𝑃</m:t>
                              </m:r>
                            </m:e>
                            <m:sub>
                              <m:r>
                                <a:rPr lang="en-US" altLang="zh-CN" b="0" i="1" smtClean="0">
                                  <a:solidFill>
                                    <a:schemeClr val="tx1"/>
                                  </a:solidFill>
                                  <a:latin typeface="Cambria Math" panose="02040503050406030204" pitchFamily="18" charset="0"/>
                                </a:rPr>
                                <m:t>𝑘𝑗</m:t>
                              </m:r>
                            </m:sub>
                          </m:sSub>
                          <m:r>
                            <a:rPr lang="en-US" altLang="zh-CN" b="0" i="0" smtClean="0">
                              <a:solidFill>
                                <a:schemeClr val="tx1"/>
                              </a:solidFill>
                              <a:latin typeface="Cambria Math" panose="02040503050406030204" pitchFamily="18" charset="0"/>
                            </a:rPr>
                            <m:t>)]</m:t>
                          </m:r>
                        </m:oMath>
                      </m:oMathPara>
                    </a14:m>
                    <a:endParaRPr lang="zh-CN" altLang="en-US" dirty="0"/>
                  </a:p>
                </p:txBody>
              </p:sp>
            </mc:Choice>
            <mc:Fallback>
              <p:sp>
                <p:nvSpPr>
                  <p:cNvPr id="174" name="文本框 173">
                    <a:extLst>
                      <a:ext uri="{FF2B5EF4-FFF2-40B4-BE49-F238E27FC236}">
                        <a16:creationId xmlns:a16="http://schemas.microsoft.com/office/drawing/2014/main" id="{937E6AB8-2A6D-A7AF-4D1D-07D49A3728FA}"/>
                      </a:ext>
                    </a:extLst>
                  </p:cNvPr>
                  <p:cNvSpPr txBox="1">
                    <a:spLocks noRot="1" noChangeAspect="1" noMove="1" noResize="1" noEditPoints="1" noAdjustHandles="1" noChangeArrowheads="1" noChangeShapeType="1" noTextEdit="1"/>
                  </p:cNvSpPr>
                  <p:nvPr/>
                </p:nvSpPr>
                <p:spPr>
                  <a:xfrm>
                    <a:off x="4355704" y="5763201"/>
                    <a:ext cx="3163558" cy="391646"/>
                  </a:xfrm>
                  <a:prstGeom prst="rect">
                    <a:avLst/>
                  </a:prstGeom>
                  <a:blipFill>
                    <a:blip r:embed="rId31"/>
                    <a:stretch>
                      <a:fillRect b="-9231"/>
                    </a:stretch>
                  </a:blipFill>
                </p:spPr>
                <p:txBody>
                  <a:bodyPr/>
                  <a:lstStyle/>
                  <a:p>
                    <a:r>
                      <a:rPr lang="zh-CN" altLang="en-US">
                        <a:noFill/>
                      </a:rPr>
                      <a:t> </a:t>
                    </a:r>
                  </a:p>
                </p:txBody>
              </p:sp>
            </mc:Fallback>
          </mc:AlternateContent>
        </p:grpSp>
      </p:grpSp>
    </p:spTree>
    <p:extLst>
      <p:ext uri="{BB962C8B-B14F-4D97-AF65-F5344CB8AC3E}">
        <p14:creationId xmlns:p14="http://schemas.microsoft.com/office/powerpoint/2010/main" val="31637304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AE02-3289-8E0C-8777-AFABC42BB8B4}"/>
            </a:ext>
          </a:extLst>
        </p:cNvPr>
        <p:cNvGrpSpPr/>
        <p:nvPr/>
      </p:nvGrpSpPr>
      <p:grpSpPr>
        <a:xfrm>
          <a:off x="0" y="0"/>
          <a:ext cx="0" cy="0"/>
          <a:chOff x="0" y="0"/>
          <a:chExt cx="0" cy="0"/>
        </a:xfrm>
      </p:grpSpPr>
      <p:grpSp>
        <p:nvGrpSpPr>
          <p:cNvPr id="7" name="组合 6">
            <a:extLst>
              <a:ext uri="{FF2B5EF4-FFF2-40B4-BE49-F238E27FC236}">
                <a16:creationId xmlns:a16="http://schemas.microsoft.com/office/drawing/2014/main" id="{F5DF04E4-D611-22B5-4AE6-7FCB07930203}"/>
              </a:ext>
            </a:extLst>
          </p:cNvPr>
          <p:cNvGrpSpPr/>
          <p:nvPr/>
        </p:nvGrpSpPr>
        <p:grpSpPr>
          <a:xfrm>
            <a:off x="1002642" y="828634"/>
            <a:ext cx="10458647" cy="5385009"/>
            <a:chOff x="1650342" y="104734"/>
            <a:chExt cx="10458647" cy="5385009"/>
          </a:xfrm>
        </p:grpSpPr>
        <p:sp>
          <p:nvSpPr>
            <p:cNvPr id="4" name="文本框 3">
              <a:extLst>
                <a:ext uri="{FF2B5EF4-FFF2-40B4-BE49-F238E27FC236}">
                  <a16:creationId xmlns:a16="http://schemas.microsoft.com/office/drawing/2014/main" id="{FA6523F5-2FD0-4C29-5A42-8C23DEDD9068}"/>
                </a:ext>
              </a:extLst>
            </p:cNvPr>
            <p:cNvSpPr txBox="1"/>
            <p:nvPr/>
          </p:nvSpPr>
          <p:spPr>
            <a:xfrm>
              <a:off x="2691321" y="104734"/>
              <a:ext cx="492443" cy="276999"/>
            </a:xfrm>
            <a:prstGeom prst="rect">
              <a:avLst/>
            </a:prstGeom>
            <a:noFill/>
          </p:spPr>
          <p:txBody>
            <a:bodyPr wrap="none" rtlCol="0">
              <a:spAutoFit/>
            </a:bodyPr>
            <a:lstStyle/>
            <a:p>
              <a:r>
                <a:rPr lang="zh-CN" altLang="en-US" sz="1200" b="1" dirty="0"/>
                <a:t>输入</a:t>
              </a:r>
            </a:p>
          </p:txBody>
        </p:sp>
        <p:sp>
          <p:nvSpPr>
            <p:cNvPr id="6" name="文本框 5">
              <a:extLst>
                <a:ext uri="{FF2B5EF4-FFF2-40B4-BE49-F238E27FC236}">
                  <a16:creationId xmlns:a16="http://schemas.microsoft.com/office/drawing/2014/main" id="{FB508ED7-4F50-24A0-0F3B-8FFB5733851C}"/>
                </a:ext>
              </a:extLst>
            </p:cNvPr>
            <p:cNvSpPr txBox="1"/>
            <p:nvPr/>
          </p:nvSpPr>
          <p:spPr>
            <a:xfrm>
              <a:off x="2079871" y="3977699"/>
              <a:ext cx="663964" cy="276999"/>
            </a:xfrm>
            <a:prstGeom prst="rect">
              <a:avLst/>
            </a:prstGeom>
            <a:noFill/>
          </p:spPr>
          <p:txBody>
            <a:bodyPr wrap="none" rtlCol="0">
              <a:spAutoFit/>
            </a:bodyPr>
            <a:lstStyle/>
            <a:p>
              <a:r>
                <a:rPr lang="en-US" altLang="zh-CN" sz="1200" dirty="0"/>
                <a:t>CC</a:t>
              </a:r>
              <a:r>
                <a:rPr lang="en-US" altLang="zh-CN" sz="1200" b="1" dirty="0"/>
                <a:t>…</a:t>
              </a:r>
              <a:r>
                <a:rPr lang="en-US" altLang="zh-CN" sz="1200" dirty="0"/>
                <a:t>)O</a:t>
              </a:r>
              <a:endParaRPr lang="zh-CN" altLang="en-US" sz="1200" dirty="0"/>
            </a:p>
          </p:txBody>
        </p:sp>
        <p:sp>
          <p:nvSpPr>
            <p:cNvPr id="9" name="文本框 8">
              <a:extLst>
                <a:ext uri="{FF2B5EF4-FFF2-40B4-BE49-F238E27FC236}">
                  <a16:creationId xmlns:a16="http://schemas.microsoft.com/office/drawing/2014/main" id="{D292B6DD-71CE-7B06-6FED-9C2BEFF6C809}"/>
                </a:ext>
              </a:extLst>
            </p:cNvPr>
            <p:cNvSpPr txBox="1"/>
            <p:nvPr/>
          </p:nvSpPr>
          <p:spPr>
            <a:xfrm>
              <a:off x="2063475" y="921137"/>
              <a:ext cx="694421" cy="261610"/>
            </a:xfrm>
            <a:prstGeom prst="rect">
              <a:avLst/>
            </a:prstGeom>
            <a:noFill/>
          </p:spPr>
          <p:txBody>
            <a:bodyPr wrap="none" rtlCol="0">
              <a:spAutoFit/>
            </a:bodyPr>
            <a:lstStyle/>
            <a:p>
              <a:r>
                <a:rPr lang="en-US" altLang="zh-CN" sz="1100" dirty="0"/>
                <a:t>MS</a:t>
              </a:r>
              <a:r>
                <a:rPr lang="en-US" altLang="zh-CN" sz="1100" b="1" dirty="0"/>
                <a:t>…</a:t>
              </a:r>
              <a:r>
                <a:rPr lang="en-US" altLang="zh-CN" sz="1100" dirty="0"/>
                <a:t> AS</a:t>
              </a:r>
              <a:endParaRPr lang="zh-CN" altLang="en-US" sz="1100" dirty="0"/>
            </a:p>
          </p:txBody>
        </p:sp>
        <p:sp>
          <p:nvSpPr>
            <p:cNvPr id="10" name="文本框 9">
              <a:extLst>
                <a:ext uri="{FF2B5EF4-FFF2-40B4-BE49-F238E27FC236}">
                  <a16:creationId xmlns:a16="http://schemas.microsoft.com/office/drawing/2014/main" id="{C7489074-18F1-BD52-A368-40499F71A939}"/>
                </a:ext>
              </a:extLst>
            </p:cNvPr>
            <p:cNvSpPr txBox="1"/>
            <p:nvPr/>
          </p:nvSpPr>
          <p:spPr>
            <a:xfrm>
              <a:off x="2097504" y="686798"/>
              <a:ext cx="646331" cy="276999"/>
            </a:xfrm>
            <a:prstGeom prst="rect">
              <a:avLst/>
            </a:prstGeom>
            <a:noFill/>
          </p:spPr>
          <p:txBody>
            <a:bodyPr wrap="none" rtlCol="0">
              <a:spAutoFit/>
            </a:bodyPr>
            <a:lstStyle/>
            <a:p>
              <a:r>
                <a:rPr lang="zh-CN" altLang="en-US" sz="1200" b="1" dirty="0"/>
                <a:t>蛋白质</a:t>
              </a:r>
            </a:p>
          </p:txBody>
        </p:sp>
        <p:sp>
          <p:nvSpPr>
            <p:cNvPr id="11" name="文本框 10">
              <a:extLst>
                <a:ext uri="{FF2B5EF4-FFF2-40B4-BE49-F238E27FC236}">
                  <a16:creationId xmlns:a16="http://schemas.microsoft.com/office/drawing/2014/main" id="{59614FFC-9401-BB61-5123-12E2F99D5CE9}"/>
                </a:ext>
              </a:extLst>
            </p:cNvPr>
            <p:cNvSpPr txBox="1"/>
            <p:nvPr/>
          </p:nvSpPr>
          <p:spPr>
            <a:xfrm>
              <a:off x="2126213" y="4267041"/>
              <a:ext cx="646331" cy="261610"/>
            </a:xfrm>
            <a:prstGeom prst="rect">
              <a:avLst/>
            </a:prstGeom>
            <a:noFill/>
          </p:spPr>
          <p:txBody>
            <a:bodyPr wrap="square" rtlCol="0">
              <a:spAutoFit/>
            </a:bodyPr>
            <a:lstStyle/>
            <a:p>
              <a:r>
                <a:rPr lang="zh-CN" altLang="en-US" sz="1100" b="1" dirty="0"/>
                <a:t>药物</a:t>
              </a:r>
            </a:p>
          </p:txBody>
        </p:sp>
        <p:sp>
          <p:nvSpPr>
            <p:cNvPr id="14" name="文本框 13">
              <a:extLst>
                <a:ext uri="{FF2B5EF4-FFF2-40B4-BE49-F238E27FC236}">
                  <a16:creationId xmlns:a16="http://schemas.microsoft.com/office/drawing/2014/main" id="{0FA730AC-64C3-82C4-4E7B-5453F6E7ED30}"/>
                </a:ext>
              </a:extLst>
            </p:cNvPr>
            <p:cNvSpPr txBox="1"/>
            <p:nvPr/>
          </p:nvSpPr>
          <p:spPr>
            <a:xfrm>
              <a:off x="4928938" y="129189"/>
              <a:ext cx="492443" cy="276999"/>
            </a:xfrm>
            <a:prstGeom prst="rect">
              <a:avLst/>
            </a:prstGeom>
            <a:noFill/>
          </p:spPr>
          <p:txBody>
            <a:bodyPr wrap="none" rtlCol="0">
              <a:spAutoFit/>
            </a:bodyPr>
            <a:lstStyle/>
            <a:p>
              <a:r>
                <a:rPr lang="zh-CN" altLang="en-US" sz="1200" b="1" dirty="0"/>
                <a:t>编码</a:t>
              </a:r>
            </a:p>
          </p:txBody>
        </p:sp>
        <p:sp>
          <p:nvSpPr>
            <p:cNvPr id="18" name="文本框 17">
              <a:extLst>
                <a:ext uri="{FF2B5EF4-FFF2-40B4-BE49-F238E27FC236}">
                  <a16:creationId xmlns:a16="http://schemas.microsoft.com/office/drawing/2014/main" id="{52D51CD4-BBCD-6251-AAE7-94493FD98CCA}"/>
                </a:ext>
              </a:extLst>
            </p:cNvPr>
            <p:cNvSpPr txBox="1"/>
            <p:nvPr/>
          </p:nvSpPr>
          <p:spPr>
            <a:xfrm>
              <a:off x="3667054" y="516488"/>
              <a:ext cx="1261884" cy="276999"/>
            </a:xfrm>
            <a:prstGeom prst="rect">
              <a:avLst/>
            </a:prstGeom>
            <a:noFill/>
          </p:spPr>
          <p:txBody>
            <a:bodyPr wrap="none" rtlCol="0">
              <a:spAutoFit/>
            </a:bodyPr>
            <a:lstStyle/>
            <a:p>
              <a:r>
                <a:rPr lang="zh-CN" altLang="en-US" sz="1200" dirty="0"/>
                <a:t>多模态编码融合</a:t>
              </a:r>
            </a:p>
          </p:txBody>
        </p:sp>
        <p:sp>
          <p:nvSpPr>
            <p:cNvPr id="85" name="文本框 84">
              <a:extLst>
                <a:ext uri="{FF2B5EF4-FFF2-40B4-BE49-F238E27FC236}">
                  <a16:creationId xmlns:a16="http://schemas.microsoft.com/office/drawing/2014/main" id="{9EAD1A4D-4C61-78E1-0FEF-E2A743A78FF9}"/>
                </a:ext>
              </a:extLst>
            </p:cNvPr>
            <p:cNvSpPr txBox="1"/>
            <p:nvPr/>
          </p:nvSpPr>
          <p:spPr>
            <a:xfrm>
              <a:off x="5708929" y="833291"/>
              <a:ext cx="857927" cy="253916"/>
            </a:xfrm>
            <a:prstGeom prst="rect">
              <a:avLst/>
            </a:prstGeom>
            <a:noFill/>
          </p:spPr>
          <p:txBody>
            <a:bodyPr wrap="none" rtlCol="0">
              <a:spAutoFit/>
            </a:bodyPr>
            <a:lstStyle/>
            <a:p>
              <a:r>
                <a:rPr lang="zh-CN" altLang="en-US" sz="1050" dirty="0"/>
                <a:t>蛋白质表示</a:t>
              </a:r>
            </a:p>
          </p:txBody>
        </p:sp>
        <p:sp>
          <p:nvSpPr>
            <p:cNvPr id="86" name="文本框 85">
              <a:extLst>
                <a:ext uri="{FF2B5EF4-FFF2-40B4-BE49-F238E27FC236}">
                  <a16:creationId xmlns:a16="http://schemas.microsoft.com/office/drawing/2014/main" id="{49673FAA-F0A4-4B47-F646-3168940D6256}"/>
                </a:ext>
              </a:extLst>
            </p:cNvPr>
            <p:cNvSpPr txBox="1"/>
            <p:nvPr/>
          </p:nvSpPr>
          <p:spPr>
            <a:xfrm>
              <a:off x="5813025" y="4541110"/>
              <a:ext cx="723275" cy="253916"/>
            </a:xfrm>
            <a:prstGeom prst="rect">
              <a:avLst/>
            </a:prstGeom>
            <a:noFill/>
          </p:spPr>
          <p:txBody>
            <a:bodyPr wrap="none" rtlCol="0">
              <a:spAutoFit/>
            </a:bodyPr>
            <a:lstStyle/>
            <a:p>
              <a:r>
                <a:rPr lang="zh-CN" altLang="en-US" sz="1050" dirty="0"/>
                <a:t>药物表示</a:t>
              </a:r>
            </a:p>
          </p:txBody>
        </p:sp>
        <p:sp>
          <p:nvSpPr>
            <p:cNvPr id="87" name="文本框 86">
              <a:extLst>
                <a:ext uri="{FF2B5EF4-FFF2-40B4-BE49-F238E27FC236}">
                  <a16:creationId xmlns:a16="http://schemas.microsoft.com/office/drawing/2014/main" id="{86542F6A-34CD-E84D-6A02-865999BD9B03}"/>
                </a:ext>
              </a:extLst>
            </p:cNvPr>
            <p:cNvSpPr txBox="1"/>
            <p:nvPr/>
          </p:nvSpPr>
          <p:spPr>
            <a:xfrm>
              <a:off x="7529730" y="118461"/>
              <a:ext cx="1107996" cy="276999"/>
            </a:xfrm>
            <a:prstGeom prst="rect">
              <a:avLst/>
            </a:prstGeom>
            <a:noFill/>
          </p:spPr>
          <p:txBody>
            <a:bodyPr wrap="none" rtlCol="0">
              <a:spAutoFit/>
            </a:bodyPr>
            <a:lstStyle/>
            <a:p>
              <a:r>
                <a:rPr lang="zh-CN" altLang="en-US" sz="1200" b="1" dirty="0"/>
                <a:t>全局交互学习</a:t>
              </a:r>
            </a:p>
          </p:txBody>
        </p:sp>
        <p:sp>
          <p:nvSpPr>
            <p:cNvPr id="90" name="文本框 89">
              <a:extLst>
                <a:ext uri="{FF2B5EF4-FFF2-40B4-BE49-F238E27FC236}">
                  <a16:creationId xmlns:a16="http://schemas.microsoft.com/office/drawing/2014/main" id="{FBA382D2-7936-F192-6E54-B1252D1171A8}"/>
                </a:ext>
              </a:extLst>
            </p:cNvPr>
            <p:cNvSpPr txBox="1"/>
            <p:nvPr/>
          </p:nvSpPr>
          <p:spPr>
            <a:xfrm>
              <a:off x="10332609" y="1111253"/>
              <a:ext cx="889987" cy="261610"/>
            </a:xfrm>
            <a:prstGeom prst="rect">
              <a:avLst/>
            </a:prstGeom>
            <a:noFill/>
          </p:spPr>
          <p:txBody>
            <a:bodyPr wrap="none" rtlCol="0">
              <a:spAutoFit/>
            </a:bodyPr>
            <a:lstStyle/>
            <a:p>
              <a:r>
                <a:rPr lang="zh-CN" altLang="en-US" sz="1050" dirty="0"/>
                <a:t>多层感知机</a:t>
              </a:r>
            </a:p>
          </p:txBody>
        </p:sp>
        <p:sp>
          <p:nvSpPr>
            <p:cNvPr id="94" name="文本框 93">
              <a:extLst>
                <a:ext uri="{FF2B5EF4-FFF2-40B4-BE49-F238E27FC236}">
                  <a16:creationId xmlns:a16="http://schemas.microsoft.com/office/drawing/2014/main" id="{B51AEABA-0CCC-CACA-67B9-C43E400372BB}"/>
                </a:ext>
              </a:extLst>
            </p:cNvPr>
            <p:cNvSpPr txBox="1"/>
            <p:nvPr/>
          </p:nvSpPr>
          <p:spPr>
            <a:xfrm>
              <a:off x="10531380" y="129188"/>
              <a:ext cx="492443" cy="276999"/>
            </a:xfrm>
            <a:prstGeom prst="rect">
              <a:avLst/>
            </a:prstGeom>
            <a:noFill/>
          </p:spPr>
          <p:txBody>
            <a:bodyPr wrap="none" rtlCol="0">
              <a:spAutoFit/>
            </a:bodyPr>
            <a:lstStyle/>
            <a:p>
              <a:r>
                <a:rPr lang="zh-CN" altLang="en-US" sz="1200" b="1" dirty="0"/>
                <a:t>解码</a:t>
              </a:r>
            </a:p>
          </p:txBody>
        </p:sp>
        <p:pic>
          <p:nvPicPr>
            <p:cNvPr id="98" name="图片 97" descr="图片包含 游戏机, 灯光&#10;&#10;AI 生成的内容可能不正确。">
              <a:extLst>
                <a:ext uri="{FF2B5EF4-FFF2-40B4-BE49-F238E27FC236}">
                  <a16:creationId xmlns:a16="http://schemas.microsoft.com/office/drawing/2014/main" id="{64631FF4-B0B9-8AFB-C2B6-2F8B2433CC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0342" y="1019463"/>
              <a:ext cx="1487896" cy="1115922"/>
            </a:xfrm>
            <a:prstGeom prst="rect">
              <a:avLst/>
            </a:prstGeom>
          </p:spPr>
        </p:pic>
        <p:pic>
          <p:nvPicPr>
            <p:cNvPr id="67" name="图片 66" descr="图片包含 物体, 游戏机, 钟表, 黑暗&#10;&#10;AI 生成的内容可能不正确。">
              <a:extLst>
                <a:ext uri="{FF2B5EF4-FFF2-40B4-BE49-F238E27FC236}">
                  <a16:creationId xmlns:a16="http://schemas.microsoft.com/office/drawing/2014/main" id="{2848EE21-130A-0451-30AC-61420CB16A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38116" y="3269519"/>
              <a:ext cx="868830" cy="651622"/>
            </a:xfrm>
            <a:prstGeom prst="rect">
              <a:avLst/>
            </a:prstGeom>
          </p:spPr>
        </p:pic>
        <p:cxnSp>
          <p:nvCxnSpPr>
            <p:cNvPr id="155" name="直接箭头连接符 154">
              <a:extLst>
                <a:ext uri="{FF2B5EF4-FFF2-40B4-BE49-F238E27FC236}">
                  <a16:creationId xmlns:a16="http://schemas.microsoft.com/office/drawing/2014/main" id="{61A4FFD1-16D4-CD41-3E61-7D488720A6C5}"/>
                </a:ext>
              </a:extLst>
            </p:cNvPr>
            <p:cNvCxnSpPr>
              <a:cxnSpLocks/>
              <a:endCxn id="70" idx="1"/>
            </p:cNvCxnSpPr>
            <p:nvPr/>
          </p:nvCxnSpPr>
          <p:spPr>
            <a:xfrm flipH="1" flipV="1">
              <a:off x="3522636" y="4331482"/>
              <a:ext cx="300778" cy="19716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9" name="文本框 158">
              <a:extLst>
                <a:ext uri="{FF2B5EF4-FFF2-40B4-BE49-F238E27FC236}">
                  <a16:creationId xmlns:a16="http://schemas.microsoft.com/office/drawing/2014/main" id="{6910750F-4086-2BA9-E55F-00524E65C24C}"/>
                </a:ext>
              </a:extLst>
            </p:cNvPr>
            <p:cNvSpPr txBox="1"/>
            <p:nvPr/>
          </p:nvSpPr>
          <p:spPr>
            <a:xfrm>
              <a:off x="3881603" y="4433083"/>
              <a:ext cx="821531" cy="276999"/>
            </a:xfrm>
            <a:prstGeom prst="rect">
              <a:avLst/>
            </a:prstGeom>
            <a:noFill/>
          </p:spPr>
          <p:txBody>
            <a:bodyPr wrap="square">
              <a:spAutoFit/>
            </a:bodyPr>
            <a:lstStyle/>
            <a:p>
              <a:r>
                <a:rPr lang="zh-CN" altLang="zh-CN" sz="1200" dirty="0">
                  <a:effectLst/>
                  <a:ea typeface="宋体" panose="02010600030101010101" pitchFamily="2" charset="-122"/>
                  <a:cs typeface="Times New Roman" panose="02020603050405020304" pitchFamily="18" charset="0"/>
                </a:rPr>
                <a:t>图变换器</a:t>
              </a:r>
              <a:endParaRPr lang="zh-CN" altLang="en-US" sz="1200" dirty="0"/>
            </a:p>
          </p:txBody>
        </p:sp>
        <p:grpSp>
          <p:nvGrpSpPr>
            <p:cNvPr id="170" name="组合 169">
              <a:extLst>
                <a:ext uri="{FF2B5EF4-FFF2-40B4-BE49-F238E27FC236}">
                  <a16:creationId xmlns:a16="http://schemas.microsoft.com/office/drawing/2014/main" id="{1E337371-CE6F-88F6-989A-9B744F94E38E}"/>
                </a:ext>
              </a:extLst>
            </p:cNvPr>
            <p:cNvGrpSpPr/>
            <p:nvPr/>
          </p:nvGrpSpPr>
          <p:grpSpPr>
            <a:xfrm>
              <a:off x="2831995" y="3525886"/>
              <a:ext cx="928761" cy="805596"/>
              <a:chOff x="1594731" y="4331555"/>
              <a:chExt cx="1616075" cy="1401763"/>
            </a:xfrm>
          </p:grpSpPr>
          <p:sp>
            <p:nvSpPr>
              <p:cNvPr id="69" name="Freeform 47">
                <a:extLst>
                  <a:ext uri="{FF2B5EF4-FFF2-40B4-BE49-F238E27FC236}">
                    <a16:creationId xmlns:a16="http://schemas.microsoft.com/office/drawing/2014/main" id="{860E3C06-3A04-7E52-6C2D-95C4C7B881F9}"/>
                  </a:ext>
                </a:extLst>
              </p:cNvPr>
              <p:cNvSpPr>
                <a:spLocks/>
              </p:cNvSpPr>
              <p:nvPr/>
            </p:nvSpPr>
            <p:spPr bwMode="auto">
              <a:xfrm>
                <a:off x="2402769" y="4331555"/>
                <a:ext cx="441325" cy="1401763"/>
              </a:xfrm>
              <a:custGeom>
                <a:avLst/>
                <a:gdLst>
                  <a:gd name="T0" fmla="*/ 0 w 278"/>
                  <a:gd name="T1" fmla="*/ 486 h 883"/>
                  <a:gd name="T2" fmla="*/ 278 w 278"/>
                  <a:gd name="T3" fmla="*/ 883 h 883"/>
                  <a:gd name="T4" fmla="*/ 278 w 278"/>
                  <a:gd name="T5" fmla="*/ 397 h 883"/>
                  <a:gd name="T6" fmla="*/ 0 w 278"/>
                  <a:gd name="T7" fmla="*/ 0 h 883"/>
                  <a:gd name="T8" fmla="*/ 0 w 278"/>
                  <a:gd name="T9" fmla="*/ 486 h 883"/>
                </a:gdLst>
                <a:ahLst/>
                <a:cxnLst>
                  <a:cxn ang="0">
                    <a:pos x="T0" y="T1"/>
                  </a:cxn>
                  <a:cxn ang="0">
                    <a:pos x="T2" y="T3"/>
                  </a:cxn>
                  <a:cxn ang="0">
                    <a:pos x="T4" y="T5"/>
                  </a:cxn>
                  <a:cxn ang="0">
                    <a:pos x="T6" y="T7"/>
                  </a:cxn>
                  <a:cxn ang="0">
                    <a:pos x="T8" y="T9"/>
                  </a:cxn>
                </a:cxnLst>
                <a:rect l="0" t="0" r="r" b="b"/>
                <a:pathLst>
                  <a:path w="278" h="883">
                    <a:moveTo>
                      <a:pt x="0" y="486"/>
                    </a:moveTo>
                    <a:lnTo>
                      <a:pt x="278" y="883"/>
                    </a:lnTo>
                    <a:lnTo>
                      <a:pt x="278" y="397"/>
                    </a:lnTo>
                    <a:lnTo>
                      <a:pt x="0" y="0"/>
                    </a:lnTo>
                    <a:lnTo>
                      <a:pt x="0" y="486"/>
                    </a:lnTo>
                  </a:path>
                </a:pathLst>
              </a:custGeom>
              <a:solidFill>
                <a:srgbClr val="A5D6A1"/>
              </a:solidFill>
              <a:ln w="12700" cap="rnd">
                <a:solidFill>
                  <a:schemeClr val="accent4">
                    <a:lumMod val="50000"/>
                  </a:schemeClr>
                </a:solidFill>
                <a:prstDash val="solid"/>
                <a:round/>
                <a:headEnd/>
                <a:tailEnd/>
              </a:ln>
              <a:effectLst>
                <a:outerShdw blurRad="50800" dist="38100" dir="2700000" algn="tl" rotWithShape="0">
                  <a:prstClr val="black">
                    <a:alpha val="40000"/>
                  </a:prstClr>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70" name="Freeform 48">
                <a:extLst>
                  <a:ext uri="{FF2B5EF4-FFF2-40B4-BE49-F238E27FC236}">
                    <a16:creationId xmlns:a16="http://schemas.microsoft.com/office/drawing/2014/main" id="{371F8298-D47A-5127-6434-BE169751D2CD}"/>
                  </a:ext>
                </a:extLst>
              </p:cNvPr>
              <p:cNvSpPr>
                <a:spLocks/>
              </p:cNvSpPr>
              <p:nvPr/>
            </p:nvSpPr>
            <p:spPr bwMode="auto">
              <a:xfrm>
                <a:off x="2356731" y="4331555"/>
                <a:ext cx="439738" cy="1401763"/>
              </a:xfrm>
              <a:custGeom>
                <a:avLst/>
                <a:gdLst>
                  <a:gd name="T0" fmla="*/ 0 w 277"/>
                  <a:gd name="T1" fmla="*/ 486 h 883"/>
                  <a:gd name="T2" fmla="*/ 277 w 277"/>
                  <a:gd name="T3" fmla="*/ 883 h 883"/>
                  <a:gd name="T4" fmla="*/ 277 w 277"/>
                  <a:gd name="T5" fmla="*/ 397 h 883"/>
                  <a:gd name="T6" fmla="*/ 0 w 277"/>
                  <a:gd name="T7" fmla="*/ 0 h 883"/>
                  <a:gd name="T8" fmla="*/ 0 w 277"/>
                  <a:gd name="T9" fmla="*/ 486 h 883"/>
                </a:gdLst>
                <a:ahLst/>
                <a:cxnLst>
                  <a:cxn ang="0">
                    <a:pos x="T0" y="T1"/>
                  </a:cxn>
                  <a:cxn ang="0">
                    <a:pos x="T2" y="T3"/>
                  </a:cxn>
                  <a:cxn ang="0">
                    <a:pos x="T4" y="T5"/>
                  </a:cxn>
                  <a:cxn ang="0">
                    <a:pos x="T6" y="T7"/>
                  </a:cxn>
                  <a:cxn ang="0">
                    <a:pos x="T8" y="T9"/>
                  </a:cxn>
                </a:cxnLst>
                <a:rect l="0" t="0" r="r" b="b"/>
                <a:pathLst>
                  <a:path w="277" h="883">
                    <a:moveTo>
                      <a:pt x="0" y="486"/>
                    </a:moveTo>
                    <a:lnTo>
                      <a:pt x="277" y="883"/>
                    </a:lnTo>
                    <a:lnTo>
                      <a:pt x="277" y="397"/>
                    </a:lnTo>
                    <a:lnTo>
                      <a:pt x="0" y="0"/>
                    </a:lnTo>
                    <a:lnTo>
                      <a:pt x="0" y="486"/>
                    </a:lnTo>
                  </a:path>
                </a:pathLst>
              </a:custGeom>
              <a:solidFill>
                <a:srgbClr val="A5D6A1"/>
              </a:solidFill>
              <a:ln w="12700" cap="rnd">
                <a:solidFill>
                  <a:schemeClr val="accent4">
                    <a:lumMod val="50000"/>
                  </a:schemeClr>
                </a:solidFill>
                <a:prstDash val="solid"/>
                <a:round/>
                <a:headEnd/>
                <a:tailEnd/>
              </a:ln>
              <a:effectLst>
                <a:outerShdw blurRad="50800" dist="38100" dir="2700000" algn="tl" rotWithShape="0">
                  <a:prstClr val="black">
                    <a:alpha val="40000"/>
                  </a:prstClr>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99" name="Freeform 116">
                <a:extLst>
                  <a:ext uri="{FF2B5EF4-FFF2-40B4-BE49-F238E27FC236}">
                    <a16:creationId xmlns:a16="http://schemas.microsoft.com/office/drawing/2014/main" id="{80C1A5CD-0571-859F-6A57-6A2BAC44A314}"/>
                  </a:ext>
                </a:extLst>
              </p:cNvPr>
              <p:cNvSpPr>
                <a:spLocks/>
              </p:cNvSpPr>
              <p:nvPr/>
            </p:nvSpPr>
            <p:spPr bwMode="auto">
              <a:xfrm>
                <a:off x="1967794" y="4510943"/>
                <a:ext cx="68263" cy="71438"/>
              </a:xfrm>
              <a:custGeom>
                <a:avLst/>
                <a:gdLst>
                  <a:gd name="T0" fmla="*/ 0 w 43"/>
                  <a:gd name="T1" fmla="*/ 23 h 45"/>
                  <a:gd name="T2" fmla="*/ 21 w 43"/>
                  <a:gd name="T3" fmla="*/ 0 h 45"/>
                  <a:gd name="T4" fmla="*/ 43 w 43"/>
                  <a:gd name="T5" fmla="*/ 23 h 45"/>
                  <a:gd name="T6" fmla="*/ 43 w 43"/>
                  <a:gd name="T7" fmla="*/ 23 h 45"/>
                  <a:gd name="T8" fmla="*/ 21 w 43"/>
                  <a:gd name="T9" fmla="*/ 45 h 45"/>
                  <a:gd name="T10" fmla="*/ 0 w 43"/>
                  <a:gd name="T11" fmla="*/ 23 h 45"/>
                </a:gdLst>
                <a:ahLst/>
                <a:cxnLst>
                  <a:cxn ang="0">
                    <a:pos x="T0" y="T1"/>
                  </a:cxn>
                  <a:cxn ang="0">
                    <a:pos x="T2" y="T3"/>
                  </a:cxn>
                  <a:cxn ang="0">
                    <a:pos x="T4" y="T5"/>
                  </a:cxn>
                  <a:cxn ang="0">
                    <a:pos x="T6" y="T7"/>
                  </a:cxn>
                  <a:cxn ang="0">
                    <a:pos x="T8" y="T9"/>
                  </a:cxn>
                  <a:cxn ang="0">
                    <a:pos x="T10" y="T11"/>
                  </a:cxn>
                </a:cxnLst>
                <a:rect l="0" t="0" r="r" b="b"/>
                <a:pathLst>
                  <a:path w="43" h="45">
                    <a:moveTo>
                      <a:pt x="0" y="23"/>
                    </a:moveTo>
                    <a:cubicBezTo>
                      <a:pt x="0" y="11"/>
                      <a:pt x="9" y="0"/>
                      <a:pt x="21" y="0"/>
                    </a:cubicBezTo>
                    <a:cubicBezTo>
                      <a:pt x="34" y="0"/>
                      <a:pt x="43" y="11"/>
                      <a:pt x="43" y="23"/>
                    </a:cubicBezTo>
                    <a:cubicBezTo>
                      <a:pt x="43" y="23"/>
                      <a:pt x="43" y="23"/>
                      <a:pt x="43" y="23"/>
                    </a:cubicBezTo>
                    <a:cubicBezTo>
                      <a:pt x="43" y="35"/>
                      <a:pt x="34" y="45"/>
                      <a:pt x="21" y="45"/>
                    </a:cubicBezTo>
                    <a:cubicBezTo>
                      <a:pt x="9" y="45"/>
                      <a:pt x="0" y="35"/>
                      <a:pt x="0" y="23"/>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00" name="Freeform 117">
                <a:extLst>
                  <a:ext uri="{FF2B5EF4-FFF2-40B4-BE49-F238E27FC236}">
                    <a16:creationId xmlns:a16="http://schemas.microsoft.com/office/drawing/2014/main" id="{50273D58-0776-4C1E-C4D4-20479C06ADCE}"/>
                  </a:ext>
                </a:extLst>
              </p:cNvPr>
              <p:cNvSpPr>
                <a:spLocks/>
              </p:cNvSpPr>
              <p:nvPr/>
            </p:nvSpPr>
            <p:spPr bwMode="auto">
              <a:xfrm>
                <a:off x="1745544" y="4422043"/>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01" name="Freeform 118">
                <a:extLst>
                  <a:ext uri="{FF2B5EF4-FFF2-40B4-BE49-F238E27FC236}">
                    <a16:creationId xmlns:a16="http://schemas.microsoft.com/office/drawing/2014/main" id="{09D57DB5-55A1-E15C-631F-195832C06255}"/>
                  </a:ext>
                </a:extLst>
              </p:cNvPr>
              <p:cNvSpPr>
                <a:spLocks/>
              </p:cNvSpPr>
              <p:nvPr/>
            </p:nvSpPr>
            <p:spPr bwMode="auto">
              <a:xfrm>
                <a:off x="1594731" y="4569680"/>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02" name="Freeform 119">
                <a:extLst>
                  <a:ext uri="{FF2B5EF4-FFF2-40B4-BE49-F238E27FC236}">
                    <a16:creationId xmlns:a16="http://schemas.microsoft.com/office/drawing/2014/main" id="{686D1E60-DFE8-65DB-77EC-9F151AE8FC94}"/>
                  </a:ext>
                </a:extLst>
              </p:cNvPr>
              <p:cNvSpPr>
                <a:spLocks/>
              </p:cNvSpPr>
              <p:nvPr/>
            </p:nvSpPr>
            <p:spPr bwMode="auto">
              <a:xfrm>
                <a:off x="1618544" y="4768118"/>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03" name="Freeform 120">
                <a:extLst>
                  <a:ext uri="{FF2B5EF4-FFF2-40B4-BE49-F238E27FC236}">
                    <a16:creationId xmlns:a16="http://schemas.microsoft.com/office/drawing/2014/main" id="{D0F428C2-3715-0506-ED2B-69B4DB0D2901}"/>
                  </a:ext>
                </a:extLst>
              </p:cNvPr>
              <p:cNvSpPr>
                <a:spLocks/>
              </p:cNvSpPr>
              <p:nvPr/>
            </p:nvSpPr>
            <p:spPr bwMode="auto">
              <a:xfrm>
                <a:off x="1845556" y="4842730"/>
                <a:ext cx="68263" cy="71438"/>
              </a:xfrm>
              <a:custGeom>
                <a:avLst/>
                <a:gdLst>
                  <a:gd name="T0" fmla="*/ 0 w 43"/>
                  <a:gd name="T1" fmla="*/ 22 h 45"/>
                  <a:gd name="T2" fmla="*/ 22 w 43"/>
                  <a:gd name="T3" fmla="*/ 0 h 45"/>
                  <a:gd name="T4" fmla="*/ 43 w 43"/>
                  <a:gd name="T5" fmla="*/ 22 h 45"/>
                  <a:gd name="T6" fmla="*/ 43 w 43"/>
                  <a:gd name="T7" fmla="*/ 22 h 45"/>
                  <a:gd name="T8" fmla="*/ 22 w 43"/>
                  <a:gd name="T9" fmla="*/ 45 h 45"/>
                  <a:gd name="T10" fmla="*/ 0 w 43"/>
                  <a:gd name="T11" fmla="*/ 22 h 45"/>
                </a:gdLst>
                <a:ahLst/>
                <a:cxnLst>
                  <a:cxn ang="0">
                    <a:pos x="T0" y="T1"/>
                  </a:cxn>
                  <a:cxn ang="0">
                    <a:pos x="T2" y="T3"/>
                  </a:cxn>
                  <a:cxn ang="0">
                    <a:pos x="T4" y="T5"/>
                  </a:cxn>
                  <a:cxn ang="0">
                    <a:pos x="T6" y="T7"/>
                  </a:cxn>
                  <a:cxn ang="0">
                    <a:pos x="T8" y="T9"/>
                  </a:cxn>
                  <a:cxn ang="0">
                    <a:pos x="T10" y="T11"/>
                  </a:cxn>
                </a:cxnLst>
                <a:rect l="0" t="0" r="r" b="b"/>
                <a:pathLst>
                  <a:path w="43" h="45">
                    <a:moveTo>
                      <a:pt x="0" y="22"/>
                    </a:moveTo>
                    <a:cubicBezTo>
                      <a:pt x="0" y="10"/>
                      <a:pt x="9" y="0"/>
                      <a:pt x="22" y="0"/>
                    </a:cubicBezTo>
                    <a:cubicBezTo>
                      <a:pt x="34" y="0"/>
                      <a:pt x="43" y="10"/>
                      <a:pt x="43" y="22"/>
                    </a:cubicBezTo>
                    <a:cubicBezTo>
                      <a:pt x="43" y="22"/>
                      <a:pt x="43" y="22"/>
                      <a:pt x="43" y="22"/>
                    </a:cubicBezTo>
                    <a:cubicBezTo>
                      <a:pt x="43" y="34"/>
                      <a:pt x="34" y="45"/>
                      <a:pt x="22" y="45"/>
                    </a:cubicBezTo>
                    <a:cubicBezTo>
                      <a:pt x="9" y="45"/>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04" name="Freeform 121">
                <a:extLst>
                  <a:ext uri="{FF2B5EF4-FFF2-40B4-BE49-F238E27FC236}">
                    <a16:creationId xmlns:a16="http://schemas.microsoft.com/office/drawing/2014/main" id="{00BCA0C8-DA10-1E6C-3A2B-2451DF5986E6}"/>
                  </a:ext>
                </a:extLst>
              </p:cNvPr>
              <p:cNvSpPr>
                <a:spLocks/>
              </p:cNvSpPr>
              <p:nvPr/>
            </p:nvSpPr>
            <p:spPr bwMode="auto">
              <a:xfrm>
                <a:off x="1990019" y="4715730"/>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9"/>
                      <a:pt x="10" y="0"/>
                      <a:pt x="22" y="0"/>
                    </a:cubicBezTo>
                    <a:cubicBezTo>
                      <a:pt x="34" y="0"/>
                      <a:pt x="44" y="9"/>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05" name="Freeform 122">
                <a:extLst>
                  <a:ext uri="{FF2B5EF4-FFF2-40B4-BE49-F238E27FC236}">
                    <a16:creationId xmlns:a16="http://schemas.microsoft.com/office/drawing/2014/main" id="{D2C1213C-FAAF-114E-BBED-6E2B400F3983}"/>
                  </a:ext>
                </a:extLst>
              </p:cNvPr>
              <p:cNvSpPr>
                <a:spLocks/>
              </p:cNvSpPr>
              <p:nvPr/>
            </p:nvSpPr>
            <p:spPr bwMode="auto">
              <a:xfrm>
                <a:off x="2199569" y="4791930"/>
                <a:ext cx="69850" cy="68263"/>
              </a:xfrm>
              <a:custGeom>
                <a:avLst/>
                <a:gdLst>
                  <a:gd name="T0" fmla="*/ 0 w 44"/>
                  <a:gd name="T1" fmla="*/ 21 h 43"/>
                  <a:gd name="T2" fmla="*/ 22 w 44"/>
                  <a:gd name="T3" fmla="*/ 0 h 43"/>
                  <a:gd name="T4" fmla="*/ 44 w 44"/>
                  <a:gd name="T5" fmla="*/ 21 h 43"/>
                  <a:gd name="T6" fmla="*/ 44 w 44"/>
                  <a:gd name="T7" fmla="*/ 21 h 43"/>
                  <a:gd name="T8" fmla="*/ 22 w 44"/>
                  <a:gd name="T9" fmla="*/ 43 h 43"/>
                  <a:gd name="T10" fmla="*/ 0 w 44"/>
                  <a:gd name="T11" fmla="*/ 21 h 43"/>
                </a:gdLst>
                <a:ahLst/>
                <a:cxnLst>
                  <a:cxn ang="0">
                    <a:pos x="T0" y="T1"/>
                  </a:cxn>
                  <a:cxn ang="0">
                    <a:pos x="T2" y="T3"/>
                  </a:cxn>
                  <a:cxn ang="0">
                    <a:pos x="T4" y="T5"/>
                  </a:cxn>
                  <a:cxn ang="0">
                    <a:pos x="T6" y="T7"/>
                  </a:cxn>
                  <a:cxn ang="0">
                    <a:pos x="T8" y="T9"/>
                  </a:cxn>
                  <a:cxn ang="0">
                    <a:pos x="T10" y="T11"/>
                  </a:cxn>
                </a:cxnLst>
                <a:rect l="0" t="0" r="r" b="b"/>
                <a:pathLst>
                  <a:path w="44" h="43">
                    <a:moveTo>
                      <a:pt x="0" y="21"/>
                    </a:moveTo>
                    <a:cubicBezTo>
                      <a:pt x="0" y="9"/>
                      <a:pt x="10" y="0"/>
                      <a:pt x="22" y="0"/>
                    </a:cubicBezTo>
                    <a:cubicBezTo>
                      <a:pt x="34" y="0"/>
                      <a:pt x="44" y="9"/>
                      <a:pt x="44" y="21"/>
                    </a:cubicBezTo>
                    <a:cubicBezTo>
                      <a:pt x="44" y="21"/>
                      <a:pt x="44" y="21"/>
                      <a:pt x="44" y="21"/>
                    </a:cubicBezTo>
                    <a:cubicBezTo>
                      <a:pt x="44" y="34"/>
                      <a:pt x="34" y="43"/>
                      <a:pt x="22" y="43"/>
                    </a:cubicBezTo>
                    <a:cubicBezTo>
                      <a:pt x="10" y="43"/>
                      <a:pt x="0" y="34"/>
                      <a:pt x="0" y="21"/>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06" name="Freeform 123">
                <a:extLst>
                  <a:ext uri="{FF2B5EF4-FFF2-40B4-BE49-F238E27FC236}">
                    <a16:creationId xmlns:a16="http://schemas.microsoft.com/office/drawing/2014/main" id="{8C57791D-0809-74EC-F4FB-3E775F7915B0}"/>
                  </a:ext>
                </a:extLst>
              </p:cNvPr>
              <p:cNvSpPr>
                <a:spLocks/>
              </p:cNvSpPr>
              <p:nvPr/>
            </p:nvSpPr>
            <p:spPr bwMode="auto">
              <a:xfrm>
                <a:off x="2269419" y="5011005"/>
                <a:ext cx="69850" cy="71438"/>
              </a:xfrm>
              <a:custGeom>
                <a:avLst/>
                <a:gdLst>
                  <a:gd name="T0" fmla="*/ 0 w 44"/>
                  <a:gd name="T1" fmla="*/ 23 h 45"/>
                  <a:gd name="T2" fmla="*/ 21 w 44"/>
                  <a:gd name="T3" fmla="*/ 0 h 45"/>
                  <a:gd name="T4" fmla="*/ 44 w 44"/>
                  <a:gd name="T5" fmla="*/ 23 h 45"/>
                  <a:gd name="T6" fmla="*/ 44 w 44"/>
                  <a:gd name="T7" fmla="*/ 23 h 45"/>
                  <a:gd name="T8" fmla="*/ 21 w 44"/>
                  <a:gd name="T9" fmla="*/ 45 h 45"/>
                  <a:gd name="T10" fmla="*/ 0 w 44"/>
                  <a:gd name="T11" fmla="*/ 23 h 45"/>
                </a:gdLst>
                <a:ahLst/>
                <a:cxnLst>
                  <a:cxn ang="0">
                    <a:pos x="T0" y="T1"/>
                  </a:cxn>
                  <a:cxn ang="0">
                    <a:pos x="T2" y="T3"/>
                  </a:cxn>
                  <a:cxn ang="0">
                    <a:pos x="T4" y="T5"/>
                  </a:cxn>
                  <a:cxn ang="0">
                    <a:pos x="T6" y="T7"/>
                  </a:cxn>
                  <a:cxn ang="0">
                    <a:pos x="T8" y="T9"/>
                  </a:cxn>
                  <a:cxn ang="0">
                    <a:pos x="T10" y="T11"/>
                  </a:cxn>
                </a:cxnLst>
                <a:rect l="0" t="0" r="r" b="b"/>
                <a:pathLst>
                  <a:path w="44" h="45">
                    <a:moveTo>
                      <a:pt x="0" y="23"/>
                    </a:moveTo>
                    <a:cubicBezTo>
                      <a:pt x="0" y="11"/>
                      <a:pt x="9" y="0"/>
                      <a:pt x="21" y="0"/>
                    </a:cubicBezTo>
                    <a:cubicBezTo>
                      <a:pt x="34" y="0"/>
                      <a:pt x="44" y="11"/>
                      <a:pt x="44" y="23"/>
                    </a:cubicBezTo>
                    <a:cubicBezTo>
                      <a:pt x="44" y="23"/>
                      <a:pt x="44" y="23"/>
                      <a:pt x="44" y="23"/>
                    </a:cubicBezTo>
                    <a:cubicBezTo>
                      <a:pt x="44" y="35"/>
                      <a:pt x="34" y="45"/>
                      <a:pt x="21" y="45"/>
                    </a:cubicBezTo>
                    <a:cubicBezTo>
                      <a:pt x="9" y="45"/>
                      <a:pt x="0" y="35"/>
                      <a:pt x="0" y="23"/>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07" name="Freeform 124">
                <a:extLst>
                  <a:ext uri="{FF2B5EF4-FFF2-40B4-BE49-F238E27FC236}">
                    <a16:creationId xmlns:a16="http://schemas.microsoft.com/office/drawing/2014/main" id="{A19209A6-145E-C470-6826-45F14C0CA26C}"/>
                  </a:ext>
                </a:extLst>
              </p:cNvPr>
              <p:cNvSpPr>
                <a:spLocks/>
              </p:cNvSpPr>
              <p:nvPr/>
            </p:nvSpPr>
            <p:spPr bwMode="auto">
              <a:xfrm>
                <a:off x="2140831" y="5152293"/>
                <a:ext cx="69850" cy="68263"/>
              </a:xfrm>
              <a:custGeom>
                <a:avLst/>
                <a:gdLst>
                  <a:gd name="T0" fmla="*/ 0 w 44"/>
                  <a:gd name="T1" fmla="*/ 22 h 43"/>
                  <a:gd name="T2" fmla="*/ 22 w 44"/>
                  <a:gd name="T3" fmla="*/ 0 h 43"/>
                  <a:gd name="T4" fmla="*/ 44 w 44"/>
                  <a:gd name="T5" fmla="*/ 22 h 43"/>
                  <a:gd name="T6" fmla="*/ 44 w 44"/>
                  <a:gd name="T7" fmla="*/ 22 h 43"/>
                  <a:gd name="T8" fmla="*/ 22 w 44"/>
                  <a:gd name="T9" fmla="*/ 43 h 43"/>
                  <a:gd name="T10" fmla="*/ 0 w 44"/>
                  <a:gd name="T11" fmla="*/ 22 h 43"/>
                </a:gdLst>
                <a:ahLst/>
                <a:cxnLst>
                  <a:cxn ang="0">
                    <a:pos x="T0" y="T1"/>
                  </a:cxn>
                  <a:cxn ang="0">
                    <a:pos x="T2" y="T3"/>
                  </a:cxn>
                  <a:cxn ang="0">
                    <a:pos x="T4" y="T5"/>
                  </a:cxn>
                  <a:cxn ang="0">
                    <a:pos x="T6" y="T7"/>
                  </a:cxn>
                  <a:cxn ang="0">
                    <a:pos x="T8" y="T9"/>
                  </a:cxn>
                  <a:cxn ang="0">
                    <a:pos x="T10" y="T11"/>
                  </a:cxn>
                </a:cxnLst>
                <a:rect l="0" t="0" r="r" b="b"/>
                <a:pathLst>
                  <a:path w="44" h="43">
                    <a:moveTo>
                      <a:pt x="0" y="22"/>
                    </a:moveTo>
                    <a:cubicBezTo>
                      <a:pt x="0" y="9"/>
                      <a:pt x="10" y="0"/>
                      <a:pt x="22" y="0"/>
                    </a:cubicBezTo>
                    <a:cubicBezTo>
                      <a:pt x="34" y="0"/>
                      <a:pt x="44" y="9"/>
                      <a:pt x="44" y="22"/>
                    </a:cubicBezTo>
                    <a:cubicBezTo>
                      <a:pt x="44" y="22"/>
                      <a:pt x="44" y="22"/>
                      <a:pt x="44" y="22"/>
                    </a:cubicBezTo>
                    <a:cubicBezTo>
                      <a:pt x="44" y="34"/>
                      <a:pt x="34" y="43"/>
                      <a:pt x="22" y="43"/>
                    </a:cubicBezTo>
                    <a:cubicBezTo>
                      <a:pt x="10" y="43"/>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08" name="Freeform 125">
                <a:extLst>
                  <a:ext uri="{FF2B5EF4-FFF2-40B4-BE49-F238E27FC236}">
                    <a16:creationId xmlns:a16="http://schemas.microsoft.com/office/drawing/2014/main" id="{EAA7EE0C-3A79-F699-3697-92B08BA739ED}"/>
                  </a:ext>
                </a:extLst>
              </p:cNvPr>
              <p:cNvSpPr>
                <a:spLocks/>
              </p:cNvSpPr>
              <p:nvPr/>
            </p:nvSpPr>
            <p:spPr bwMode="auto">
              <a:xfrm>
                <a:off x="1909056" y="5058630"/>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9" y="0"/>
                      <a:pt x="22" y="0"/>
                    </a:cubicBezTo>
                    <a:cubicBezTo>
                      <a:pt x="34" y="0"/>
                      <a:pt x="44" y="10"/>
                      <a:pt x="44" y="22"/>
                    </a:cubicBezTo>
                    <a:cubicBezTo>
                      <a:pt x="44" y="22"/>
                      <a:pt x="44" y="22"/>
                      <a:pt x="44" y="22"/>
                    </a:cubicBezTo>
                    <a:cubicBezTo>
                      <a:pt x="44" y="34"/>
                      <a:pt x="34" y="44"/>
                      <a:pt x="22" y="44"/>
                    </a:cubicBezTo>
                    <a:cubicBezTo>
                      <a:pt x="9"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09" name="Freeform 126">
                <a:extLst>
                  <a:ext uri="{FF2B5EF4-FFF2-40B4-BE49-F238E27FC236}">
                    <a16:creationId xmlns:a16="http://schemas.microsoft.com/office/drawing/2014/main" id="{36331E75-B0D2-0999-9525-9D43D68B1838}"/>
                  </a:ext>
                </a:extLst>
              </p:cNvPr>
              <p:cNvSpPr>
                <a:spLocks/>
              </p:cNvSpPr>
              <p:nvPr/>
            </p:nvSpPr>
            <p:spPr bwMode="auto">
              <a:xfrm>
                <a:off x="1769356" y="5209443"/>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10" name="Freeform 127">
                <a:extLst>
                  <a:ext uri="{FF2B5EF4-FFF2-40B4-BE49-F238E27FC236}">
                    <a16:creationId xmlns:a16="http://schemas.microsoft.com/office/drawing/2014/main" id="{A3A520F9-A152-46E1-DF73-6D3B461AAE92}"/>
                  </a:ext>
                </a:extLst>
              </p:cNvPr>
              <p:cNvSpPr>
                <a:spLocks/>
              </p:cNvSpPr>
              <p:nvPr/>
            </p:nvSpPr>
            <p:spPr bwMode="auto">
              <a:xfrm>
                <a:off x="1780469" y="5396768"/>
                <a:ext cx="69850" cy="68263"/>
              </a:xfrm>
              <a:custGeom>
                <a:avLst/>
                <a:gdLst>
                  <a:gd name="T0" fmla="*/ 0 w 44"/>
                  <a:gd name="T1" fmla="*/ 21 h 43"/>
                  <a:gd name="T2" fmla="*/ 22 w 44"/>
                  <a:gd name="T3" fmla="*/ 0 h 43"/>
                  <a:gd name="T4" fmla="*/ 44 w 44"/>
                  <a:gd name="T5" fmla="*/ 21 h 43"/>
                  <a:gd name="T6" fmla="*/ 44 w 44"/>
                  <a:gd name="T7" fmla="*/ 21 h 43"/>
                  <a:gd name="T8" fmla="*/ 22 w 44"/>
                  <a:gd name="T9" fmla="*/ 43 h 43"/>
                  <a:gd name="T10" fmla="*/ 0 w 44"/>
                  <a:gd name="T11" fmla="*/ 21 h 43"/>
                </a:gdLst>
                <a:ahLst/>
                <a:cxnLst>
                  <a:cxn ang="0">
                    <a:pos x="T0" y="T1"/>
                  </a:cxn>
                  <a:cxn ang="0">
                    <a:pos x="T2" y="T3"/>
                  </a:cxn>
                  <a:cxn ang="0">
                    <a:pos x="T4" y="T5"/>
                  </a:cxn>
                  <a:cxn ang="0">
                    <a:pos x="T6" y="T7"/>
                  </a:cxn>
                  <a:cxn ang="0">
                    <a:pos x="T8" y="T9"/>
                  </a:cxn>
                  <a:cxn ang="0">
                    <a:pos x="T10" y="T11"/>
                  </a:cxn>
                </a:cxnLst>
                <a:rect l="0" t="0" r="r" b="b"/>
                <a:pathLst>
                  <a:path w="44" h="43">
                    <a:moveTo>
                      <a:pt x="0" y="21"/>
                    </a:moveTo>
                    <a:cubicBezTo>
                      <a:pt x="0" y="9"/>
                      <a:pt x="10" y="0"/>
                      <a:pt x="22" y="0"/>
                    </a:cubicBezTo>
                    <a:cubicBezTo>
                      <a:pt x="34" y="0"/>
                      <a:pt x="44" y="9"/>
                      <a:pt x="44" y="21"/>
                    </a:cubicBezTo>
                    <a:cubicBezTo>
                      <a:pt x="44" y="21"/>
                      <a:pt x="44" y="21"/>
                      <a:pt x="44" y="21"/>
                    </a:cubicBezTo>
                    <a:cubicBezTo>
                      <a:pt x="44" y="33"/>
                      <a:pt x="34" y="43"/>
                      <a:pt x="22" y="43"/>
                    </a:cubicBezTo>
                    <a:cubicBezTo>
                      <a:pt x="10" y="43"/>
                      <a:pt x="0" y="33"/>
                      <a:pt x="0" y="21"/>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11" name="Freeform 128">
                <a:extLst>
                  <a:ext uri="{FF2B5EF4-FFF2-40B4-BE49-F238E27FC236}">
                    <a16:creationId xmlns:a16="http://schemas.microsoft.com/office/drawing/2014/main" id="{127B8969-78D2-92EC-E45B-31BF9AF5D256}"/>
                  </a:ext>
                </a:extLst>
              </p:cNvPr>
              <p:cNvSpPr>
                <a:spLocks/>
              </p:cNvSpPr>
              <p:nvPr/>
            </p:nvSpPr>
            <p:spPr bwMode="auto">
              <a:xfrm>
                <a:off x="2013831" y="5482493"/>
                <a:ext cx="69850" cy="69850"/>
              </a:xfrm>
              <a:custGeom>
                <a:avLst/>
                <a:gdLst>
                  <a:gd name="T0" fmla="*/ 0 w 44"/>
                  <a:gd name="T1" fmla="*/ 22 h 44"/>
                  <a:gd name="T2" fmla="*/ 21 w 44"/>
                  <a:gd name="T3" fmla="*/ 0 h 44"/>
                  <a:gd name="T4" fmla="*/ 44 w 44"/>
                  <a:gd name="T5" fmla="*/ 22 h 44"/>
                  <a:gd name="T6" fmla="*/ 44 w 44"/>
                  <a:gd name="T7" fmla="*/ 22 h 44"/>
                  <a:gd name="T8" fmla="*/ 21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9" y="0"/>
                      <a:pt x="21" y="0"/>
                    </a:cubicBezTo>
                    <a:cubicBezTo>
                      <a:pt x="34" y="0"/>
                      <a:pt x="44" y="10"/>
                      <a:pt x="44" y="22"/>
                    </a:cubicBezTo>
                    <a:cubicBezTo>
                      <a:pt x="44" y="22"/>
                      <a:pt x="44" y="22"/>
                      <a:pt x="44" y="22"/>
                    </a:cubicBezTo>
                    <a:cubicBezTo>
                      <a:pt x="44" y="35"/>
                      <a:pt x="34" y="44"/>
                      <a:pt x="21" y="44"/>
                    </a:cubicBezTo>
                    <a:cubicBezTo>
                      <a:pt x="9" y="44"/>
                      <a:pt x="0" y="35"/>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12" name="Freeform 129">
                <a:extLst>
                  <a:ext uri="{FF2B5EF4-FFF2-40B4-BE49-F238E27FC236}">
                    <a16:creationId xmlns:a16="http://schemas.microsoft.com/office/drawing/2014/main" id="{D9A46682-6FAA-ACB7-14BF-206A2F24CE18}"/>
                  </a:ext>
                </a:extLst>
              </p:cNvPr>
              <p:cNvSpPr>
                <a:spLocks/>
              </p:cNvSpPr>
              <p:nvPr/>
            </p:nvSpPr>
            <p:spPr bwMode="auto">
              <a:xfrm>
                <a:off x="2164644" y="5349143"/>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9" y="0"/>
                      <a:pt x="22" y="0"/>
                    </a:cubicBezTo>
                    <a:cubicBezTo>
                      <a:pt x="34" y="0"/>
                      <a:pt x="44" y="10"/>
                      <a:pt x="44" y="22"/>
                    </a:cubicBezTo>
                    <a:cubicBezTo>
                      <a:pt x="44" y="22"/>
                      <a:pt x="44" y="22"/>
                      <a:pt x="44" y="22"/>
                    </a:cubicBezTo>
                    <a:cubicBezTo>
                      <a:pt x="44" y="34"/>
                      <a:pt x="34" y="44"/>
                      <a:pt x="22" y="44"/>
                    </a:cubicBezTo>
                    <a:cubicBezTo>
                      <a:pt x="9"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13" name="Line 130">
                <a:extLst>
                  <a:ext uri="{FF2B5EF4-FFF2-40B4-BE49-F238E27FC236}">
                    <a16:creationId xmlns:a16="http://schemas.microsoft.com/office/drawing/2014/main" id="{59A9AC38-3B9A-3904-E5ED-5B243A453717}"/>
                  </a:ext>
                </a:extLst>
              </p:cNvPr>
              <p:cNvSpPr>
                <a:spLocks noChangeShapeType="1"/>
              </p:cNvSpPr>
              <p:nvPr/>
            </p:nvSpPr>
            <p:spPr bwMode="auto">
              <a:xfrm flipV="1">
                <a:off x="1907469" y="4772880"/>
                <a:ext cx="92075" cy="84138"/>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14" name="Line 131">
                <a:extLst>
                  <a:ext uri="{FF2B5EF4-FFF2-40B4-BE49-F238E27FC236}">
                    <a16:creationId xmlns:a16="http://schemas.microsoft.com/office/drawing/2014/main" id="{07057A84-0CFA-D66C-2F5A-56A361DA211D}"/>
                  </a:ext>
                </a:extLst>
              </p:cNvPr>
              <p:cNvSpPr>
                <a:spLocks noChangeShapeType="1"/>
              </p:cNvSpPr>
              <p:nvPr/>
            </p:nvSpPr>
            <p:spPr bwMode="auto">
              <a:xfrm>
                <a:off x="2001131" y="4582380"/>
                <a:ext cx="23813" cy="13335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15" name="Line 132">
                <a:extLst>
                  <a:ext uri="{FF2B5EF4-FFF2-40B4-BE49-F238E27FC236}">
                    <a16:creationId xmlns:a16="http://schemas.microsoft.com/office/drawing/2014/main" id="{53F975A2-4C4B-4EE0-36B2-353F55CE4CBB}"/>
                  </a:ext>
                </a:extLst>
              </p:cNvPr>
              <p:cNvSpPr>
                <a:spLocks noChangeShapeType="1"/>
              </p:cNvSpPr>
              <p:nvPr/>
            </p:nvSpPr>
            <p:spPr bwMode="auto">
              <a:xfrm flipH="1" flipV="1">
                <a:off x="1810631" y="4474430"/>
                <a:ext cx="158750" cy="6032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16" name="Line 133">
                <a:extLst>
                  <a:ext uri="{FF2B5EF4-FFF2-40B4-BE49-F238E27FC236}">
                    <a16:creationId xmlns:a16="http://schemas.microsoft.com/office/drawing/2014/main" id="{537EF348-22AB-ABE9-5389-1F5E2B0C12A9}"/>
                  </a:ext>
                </a:extLst>
              </p:cNvPr>
              <p:cNvSpPr>
                <a:spLocks noChangeShapeType="1"/>
              </p:cNvSpPr>
              <p:nvPr/>
            </p:nvSpPr>
            <p:spPr bwMode="auto">
              <a:xfrm flipV="1">
                <a:off x="1656644" y="4482368"/>
                <a:ext cx="100013" cy="100013"/>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17" name="Line 134">
                <a:extLst>
                  <a:ext uri="{FF2B5EF4-FFF2-40B4-BE49-F238E27FC236}">
                    <a16:creationId xmlns:a16="http://schemas.microsoft.com/office/drawing/2014/main" id="{D54115B8-0D17-5910-ABC7-E72445C392AC}"/>
                  </a:ext>
                </a:extLst>
              </p:cNvPr>
              <p:cNvSpPr>
                <a:spLocks noChangeShapeType="1"/>
              </p:cNvSpPr>
              <p:nvPr/>
            </p:nvSpPr>
            <p:spPr bwMode="auto">
              <a:xfrm>
                <a:off x="1640769" y="4637943"/>
                <a:ext cx="12700" cy="13017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18" name="Line 135">
                <a:extLst>
                  <a:ext uri="{FF2B5EF4-FFF2-40B4-BE49-F238E27FC236}">
                    <a16:creationId xmlns:a16="http://schemas.microsoft.com/office/drawing/2014/main" id="{136242FA-4F34-3C08-AEEF-E2C5629C9F2F}"/>
                  </a:ext>
                </a:extLst>
              </p:cNvPr>
              <p:cNvSpPr>
                <a:spLocks noChangeShapeType="1"/>
              </p:cNvSpPr>
              <p:nvPr/>
            </p:nvSpPr>
            <p:spPr bwMode="auto">
              <a:xfrm flipH="1" flipV="1">
                <a:off x="1685219" y="4818918"/>
                <a:ext cx="160338" cy="58738"/>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19" name="Line 136">
                <a:extLst>
                  <a:ext uri="{FF2B5EF4-FFF2-40B4-BE49-F238E27FC236}">
                    <a16:creationId xmlns:a16="http://schemas.microsoft.com/office/drawing/2014/main" id="{E3486897-766F-B3F8-4D3C-EDC9FFE05DAA}"/>
                  </a:ext>
                </a:extLst>
              </p:cNvPr>
              <p:cNvSpPr>
                <a:spLocks noChangeShapeType="1"/>
              </p:cNvSpPr>
              <p:nvPr/>
            </p:nvSpPr>
            <p:spPr bwMode="auto">
              <a:xfrm>
                <a:off x="1880481" y="4914168"/>
                <a:ext cx="50800" cy="14605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0" name="Line 137">
                <a:extLst>
                  <a:ext uri="{FF2B5EF4-FFF2-40B4-BE49-F238E27FC236}">
                    <a16:creationId xmlns:a16="http://schemas.microsoft.com/office/drawing/2014/main" id="{45CF6CFC-EBC9-AC20-F790-E376C91FE86A}"/>
                  </a:ext>
                </a:extLst>
              </p:cNvPr>
              <p:cNvSpPr>
                <a:spLocks noChangeShapeType="1"/>
              </p:cNvSpPr>
              <p:nvPr/>
            </p:nvSpPr>
            <p:spPr bwMode="auto">
              <a:xfrm>
                <a:off x="2056694" y="4766530"/>
                <a:ext cx="142875" cy="58738"/>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1" name="Line 138">
                <a:extLst>
                  <a:ext uri="{FF2B5EF4-FFF2-40B4-BE49-F238E27FC236}">
                    <a16:creationId xmlns:a16="http://schemas.microsoft.com/office/drawing/2014/main" id="{4CFACDC3-9024-859D-DBDB-F82000404D98}"/>
                  </a:ext>
                </a:extLst>
              </p:cNvPr>
              <p:cNvSpPr>
                <a:spLocks noChangeShapeType="1"/>
              </p:cNvSpPr>
              <p:nvPr/>
            </p:nvSpPr>
            <p:spPr bwMode="auto">
              <a:xfrm>
                <a:off x="2245606" y="4858605"/>
                <a:ext cx="46038" cy="15557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2" name="Line 139">
                <a:extLst>
                  <a:ext uri="{FF2B5EF4-FFF2-40B4-BE49-F238E27FC236}">
                    <a16:creationId xmlns:a16="http://schemas.microsoft.com/office/drawing/2014/main" id="{2C5D87CC-263E-B887-4E77-B0A08F7004CB}"/>
                  </a:ext>
                </a:extLst>
              </p:cNvPr>
              <p:cNvSpPr>
                <a:spLocks noChangeShapeType="1"/>
              </p:cNvSpPr>
              <p:nvPr/>
            </p:nvSpPr>
            <p:spPr bwMode="auto">
              <a:xfrm flipV="1">
                <a:off x="2193219" y="5072918"/>
                <a:ext cx="87313" cy="8255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3" name="Line 140">
                <a:extLst>
                  <a:ext uri="{FF2B5EF4-FFF2-40B4-BE49-F238E27FC236}">
                    <a16:creationId xmlns:a16="http://schemas.microsoft.com/office/drawing/2014/main" id="{AE2E66C5-D524-1744-5918-59D78B6A8D3C}"/>
                  </a:ext>
                </a:extLst>
              </p:cNvPr>
              <p:cNvSpPr>
                <a:spLocks noChangeShapeType="1"/>
              </p:cNvSpPr>
              <p:nvPr/>
            </p:nvSpPr>
            <p:spPr bwMode="auto">
              <a:xfrm>
                <a:off x="1972556" y="5112605"/>
                <a:ext cx="169863" cy="6350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4" name="Line 141">
                <a:extLst>
                  <a:ext uri="{FF2B5EF4-FFF2-40B4-BE49-F238E27FC236}">
                    <a16:creationId xmlns:a16="http://schemas.microsoft.com/office/drawing/2014/main" id="{7EB8A770-E078-012D-1A69-0B8B85635356}"/>
                  </a:ext>
                </a:extLst>
              </p:cNvPr>
              <p:cNvSpPr>
                <a:spLocks noChangeShapeType="1"/>
              </p:cNvSpPr>
              <p:nvPr/>
            </p:nvSpPr>
            <p:spPr bwMode="auto">
              <a:xfrm>
                <a:off x="2175756" y="5220555"/>
                <a:ext cx="3175" cy="134938"/>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5" name="Line 142">
                <a:extLst>
                  <a:ext uri="{FF2B5EF4-FFF2-40B4-BE49-F238E27FC236}">
                    <a16:creationId xmlns:a16="http://schemas.microsoft.com/office/drawing/2014/main" id="{9FE4D4C3-852E-1195-6509-6D79DE0A9060}"/>
                  </a:ext>
                </a:extLst>
              </p:cNvPr>
              <p:cNvSpPr>
                <a:spLocks noChangeShapeType="1"/>
              </p:cNvSpPr>
              <p:nvPr/>
            </p:nvSpPr>
            <p:spPr bwMode="auto">
              <a:xfrm flipV="1">
                <a:off x="1821744" y="5118955"/>
                <a:ext cx="98425" cy="9525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6" name="Line 143">
                <a:extLst>
                  <a:ext uri="{FF2B5EF4-FFF2-40B4-BE49-F238E27FC236}">
                    <a16:creationId xmlns:a16="http://schemas.microsoft.com/office/drawing/2014/main" id="{712249A5-F7ED-A7F7-8D7C-AFF644B6F51A}"/>
                  </a:ext>
                </a:extLst>
              </p:cNvPr>
              <p:cNvSpPr>
                <a:spLocks noChangeShapeType="1"/>
              </p:cNvSpPr>
              <p:nvPr/>
            </p:nvSpPr>
            <p:spPr bwMode="auto">
              <a:xfrm>
                <a:off x="1804281" y="5279293"/>
                <a:ext cx="11113" cy="11747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7" name="Line 144">
                <a:extLst>
                  <a:ext uri="{FF2B5EF4-FFF2-40B4-BE49-F238E27FC236}">
                    <a16:creationId xmlns:a16="http://schemas.microsoft.com/office/drawing/2014/main" id="{1EE92C98-D629-51FB-573B-920A8E23C095}"/>
                  </a:ext>
                </a:extLst>
              </p:cNvPr>
              <p:cNvSpPr>
                <a:spLocks noChangeShapeType="1"/>
              </p:cNvSpPr>
              <p:nvPr/>
            </p:nvSpPr>
            <p:spPr bwMode="auto">
              <a:xfrm>
                <a:off x="1848731" y="5444393"/>
                <a:ext cx="166688" cy="61913"/>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8" name="Line 145">
                <a:extLst>
                  <a:ext uri="{FF2B5EF4-FFF2-40B4-BE49-F238E27FC236}">
                    <a16:creationId xmlns:a16="http://schemas.microsoft.com/office/drawing/2014/main" id="{1FF3C039-E993-E73C-6226-CF231B380078}"/>
                  </a:ext>
                </a:extLst>
              </p:cNvPr>
              <p:cNvSpPr>
                <a:spLocks noChangeShapeType="1"/>
              </p:cNvSpPr>
              <p:nvPr/>
            </p:nvSpPr>
            <p:spPr bwMode="auto">
              <a:xfrm flipV="1">
                <a:off x="2074156" y="5406293"/>
                <a:ext cx="98425" cy="87313"/>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9" name="Line 146">
                <a:extLst>
                  <a:ext uri="{FF2B5EF4-FFF2-40B4-BE49-F238E27FC236}">
                    <a16:creationId xmlns:a16="http://schemas.microsoft.com/office/drawing/2014/main" id="{20948235-E4D6-B655-2409-DE410D0D8AED}"/>
                  </a:ext>
                </a:extLst>
              </p:cNvPr>
              <p:cNvSpPr>
                <a:spLocks noChangeShapeType="1"/>
              </p:cNvSpPr>
              <p:nvPr/>
            </p:nvSpPr>
            <p:spPr bwMode="auto">
              <a:xfrm>
                <a:off x="2150356" y="5226905"/>
                <a:ext cx="1588" cy="133350"/>
              </a:xfrm>
              <a:prstGeom prst="line">
                <a:avLst/>
              </a:prstGeom>
              <a:noFill/>
              <a:ln w="12700" cap="rnd">
                <a:solidFill>
                  <a:schemeClr val="tx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30" name="Line 147">
                <a:extLst>
                  <a:ext uri="{FF2B5EF4-FFF2-40B4-BE49-F238E27FC236}">
                    <a16:creationId xmlns:a16="http://schemas.microsoft.com/office/drawing/2014/main" id="{37631147-72EA-55CA-0580-A3B5B1329679}"/>
                  </a:ext>
                </a:extLst>
              </p:cNvPr>
              <p:cNvSpPr>
                <a:spLocks noChangeShapeType="1"/>
              </p:cNvSpPr>
              <p:nvPr/>
            </p:nvSpPr>
            <p:spPr bwMode="auto">
              <a:xfrm>
                <a:off x="1863019" y="5418993"/>
                <a:ext cx="168275" cy="60325"/>
              </a:xfrm>
              <a:prstGeom prst="line">
                <a:avLst/>
              </a:prstGeom>
              <a:noFill/>
              <a:ln w="12700" cap="rnd">
                <a:solidFill>
                  <a:schemeClr val="tx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31" name="Freeform 148">
                <a:extLst>
                  <a:ext uri="{FF2B5EF4-FFF2-40B4-BE49-F238E27FC236}">
                    <a16:creationId xmlns:a16="http://schemas.microsoft.com/office/drawing/2014/main" id="{740148F5-AFDF-D9A9-ECDC-E04E1DA7607E}"/>
                  </a:ext>
                </a:extLst>
              </p:cNvPr>
              <p:cNvSpPr>
                <a:spLocks/>
              </p:cNvSpPr>
              <p:nvPr/>
            </p:nvSpPr>
            <p:spPr bwMode="auto">
              <a:xfrm>
                <a:off x="1748719" y="4483955"/>
                <a:ext cx="590550" cy="590550"/>
              </a:xfrm>
              <a:custGeom>
                <a:avLst/>
                <a:gdLst>
                  <a:gd name="T0" fmla="*/ 0 w 372"/>
                  <a:gd name="T1" fmla="*/ 186 h 372"/>
                  <a:gd name="T2" fmla="*/ 186 w 372"/>
                  <a:gd name="T3" fmla="*/ 0 h 372"/>
                  <a:gd name="T4" fmla="*/ 372 w 372"/>
                  <a:gd name="T5" fmla="*/ 186 h 372"/>
                  <a:gd name="T6" fmla="*/ 372 w 372"/>
                  <a:gd name="T7" fmla="*/ 186 h 372"/>
                  <a:gd name="T8" fmla="*/ 186 w 372"/>
                  <a:gd name="T9" fmla="*/ 372 h 372"/>
                  <a:gd name="T10" fmla="*/ 0 w 372"/>
                  <a:gd name="T11" fmla="*/ 186 h 372"/>
                </a:gdLst>
                <a:ahLst/>
                <a:cxnLst>
                  <a:cxn ang="0">
                    <a:pos x="T0" y="T1"/>
                  </a:cxn>
                  <a:cxn ang="0">
                    <a:pos x="T2" y="T3"/>
                  </a:cxn>
                  <a:cxn ang="0">
                    <a:pos x="T4" y="T5"/>
                  </a:cxn>
                  <a:cxn ang="0">
                    <a:pos x="T6" y="T7"/>
                  </a:cxn>
                  <a:cxn ang="0">
                    <a:pos x="T8" y="T9"/>
                  </a:cxn>
                  <a:cxn ang="0">
                    <a:pos x="T10" y="T11"/>
                  </a:cxn>
                </a:cxnLst>
                <a:rect l="0" t="0" r="r" b="b"/>
                <a:pathLst>
                  <a:path w="372" h="372">
                    <a:moveTo>
                      <a:pt x="0" y="186"/>
                    </a:moveTo>
                    <a:cubicBezTo>
                      <a:pt x="0" y="83"/>
                      <a:pt x="83" y="0"/>
                      <a:pt x="186" y="0"/>
                    </a:cubicBezTo>
                    <a:cubicBezTo>
                      <a:pt x="288" y="0"/>
                      <a:pt x="372" y="83"/>
                      <a:pt x="372" y="186"/>
                    </a:cubicBezTo>
                    <a:cubicBezTo>
                      <a:pt x="372" y="186"/>
                      <a:pt x="372" y="186"/>
                      <a:pt x="372" y="186"/>
                    </a:cubicBezTo>
                    <a:cubicBezTo>
                      <a:pt x="372" y="289"/>
                      <a:pt x="288" y="372"/>
                      <a:pt x="186" y="372"/>
                    </a:cubicBezTo>
                    <a:cubicBezTo>
                      <a:pt x="83" y="372"/>
                      <a:pt x="0" y="289"/>
                      <a:pt x="0" y="186"/>
                    </a:cubicBezTo>
                  </a:path>
                </a:pathLst>
              </a:custGeom>
              <a:noFill/>
              <a:ln w="12700" cap="rnd">
                <a:solidFill>
                  <a:srgbClr val="0070C0"/>
                </a:solidFill>
                <a:prstDash val="sysDash"/>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32" name="Freeform 149">
                <a:extLst>
                  <a:ext uri="{FF2B5EF4-FFF2-40B4-BE49-F238E27FC236}">
                    <a16:creationId xmlns:a16="http://schemas.microsoft.com/office/drawing/2014/main" id="{4C30EC93-2AE4-CE71-4CA9-B5DEEAAA1204}"/>
                  </a:ext>
                </a:extLst>
              </p:cNvPr>
              <p:cNvSpPr>
                <a:spLocks/>
              </p:cNvSpPr>
              <p:nvPr/>
            </p:nvSpPr>
            <p:spPr bwMode="auto">
              <a:xfrm>
                <a:off x="1642356" y="5171343"/>
                <a:ext cx="498475" cy="498475"/>
              </a:xfrm>
              <a:custGeom>
                <a:avLst/>
                <a:gdLst>
                  <a:gd name="T0" fmla="*/ 0 w 314"/>
                  <a:gd name="T1" fmla="*/ 157 h 314"/>
                  <a:gd name="T2" fmla="*/ 157 w 314"/>
                  <a:gd name="T3" fmla="*/ 0 h 314"/>
                  <a:gd name="T4" fmla="*/ 314 w 314"/>
                  <a:gd name="T5" fmla="*/ 157 h 314"/>
                  <a:gd name="T6" fmla="*/ 314 w 314"/>
                  <a:gd name="T7" fmla="*/ 157 h 314"/>
                  <a:gd name="T8" fmla="*/ 157 w 314"/>
                  <a:gd name="T9" fmla="*/ 314 h 314"/>
                  <a:gd name="T10" fmla="*/ 0 w 314"/>
                  <a:gd name="T11" fmla="*/ 157 h 314"/>
                </a:gdLst>
                <a:ahLst/>
                <a:cxnLst>
                  <a:cxn ang="0">
                    <a:pos x="T0" y="T1"/>
                  </a:cxn>
                  <a:cxn ang="0">
                    <a:pos x="T2" y="T3"/>
                  </a:cxn>
                  <a:cxn ang="0">
                    <a:pos x="T4" y="T5"/>
                  </a:cxn>
                  <a:cxn ang="0">
                    <a:pos x="T6" y="T7"/>
                  </a:cxn>
                  <a:cxn ang="0">
                    <a:pos x="T8" y="T9"/>
                  </a:cxn>
                  <a:cxn ang="0">
                    <a:pos x="T10" y="T11"/>
                  </a:cxn>
                </a:cxnLst>
                <a:rect l="0" t="0" r="r" b="b"/>
                <a:pathLst>
                  <a:path w="314" h="314">
                    <a:moveTo>
                      <a:pt x="0" y="157"/>
                    </a:moveTo>
                    <a:cubicBezTo>
                      <a:pt x="0" y="70"/>
                      <a:pt x="71" y="0"/>
                      <a:pt x="157" y="0"/>
                    </a:cubicBezTo>
                    <a:cubicBezTo>
                      <a:pt x="244" y="0"/>
                      <a:pt x="314" y="70"/>
                      <a:pt x="314" y="157"/>
                    </a:cubicBezTo>
                    <a:cubicBezTo>
                      <a:pt x="314" y="157"/>
                      <a:pt x="314" y="157"/>
                      <a:pt x="314" y="157"/>
                    </a:cubicBezTo>
                    <a:cubicBezTo>
                      <a:pt x="314" y="244"/>
                      <a:pt x="244" y="314"/>
                      <a:pt x="157" y="314"/>
                    </a:cubicBezTo>
                    <a:cubicBezTo>
                      <a:pt x="71" y="314"/>
                      <a:pt x="0" y="244"/>
                      <a:pt x="0" y="157"/>
                    </a:cubicBezTo>
                  </a:path>
                </a:pathLst>
              </a:custGeom>
              <a:noFill/>
              <a:ln w="12700" cap="rnd">
                <a:solidFill>
                  <a:srgbClr val="0070C0"/>
                </a:solidFill>
                <a:prstDash val="sysDash"/>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33" name="Line 150">
                <a:extLst>
                  <a:ext uri="{FF2B5EF4-FFF2-40B4-BE49-F238E27FC236}">
                    <a16:creationId xmlns:a16="http://schemas.microsoft.com/office/drawing/2014/main" id="{6B7CBE57-E2AE-B493-135A-02D87425E583}"/>
                  </a:ext>
                </a:extLst>
              </p:cNvPr>
              <p:cNvSpPr>
                <a:spLocks noChangeShapeType="1"/>
              </p:cNvSpPr>
              <p:nvPr/>
            </p:nvSpPr>
            <p:spPr bwMode="auto">
              <a:xfrm flipH="1" flipV="1">
                <a:off x="2029704" y="4568092"/>
                <a:ext cx="944476" cy="184151"/>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34" name="Line 151">
                <a:extLst>
                  <a:ext uri="{FF2B5EF4-FFF2-40B4-BE49-F238E27FC236}">
                    <a16:creationId xmlns:a16="http://schemas.microsoft.com/office/drawing/2014/main" id="{F0150C81-634E-2630-F926-F1D50E7081F9}"/>
                  </a:ext>
                </a:extLst>
              </p:cNvPr>
              <p:cNvSpPr>
                <a:spLocks noChangeShapeType="1"/>
              </p:cNvSpPr>
              <p:nvPr/>
            </p:nvSpPr>
            <p:spPr bwMode="auto">
              <a:xfrm flipH="1" flipV="1">
                <a:off x="2059869" y="4750654"/>
                <a:ext cx="892772" cy="1588"/>
              </a:xfrm>
              <a:prstGeom prst="line">
                <a:avLst/>
              </a:prstGeom>
              <a:noFill/>
              <a:ln w="12700" cap="rnd">
                <a:solidFill>
                  <a:srgbClr val="1473D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35" name="Line 152">
                <a:extLst>
                  <a:ext uri="{FF2B5EF4-FFF2-40B4-BE49-F238E27FC236}">
                    <a16:creationId xmlns:a16="http://schemas.microsoft.com/office/drawing/2014/main" id="{11C53FE4-762F-DBDC-CB10-EC675033F1C5}"/>
                  </a:ext>
                </a:extLst>
              </p:cNvPr>
              <p:cNvSpPr>
                <a:spLocks noChangeShapeType="1"/>
              </p:cNvSpPr>
              <p:nvPr/>
            </p:nvSpPr>
            <p:spPr bwMode="auto">
              <a:xfrm flipH="1">
                <a:off x="2269419" y="4761768"/>
                <a:ext cx="683222" cy="63500"/>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36" name="Line 153">
                <a:extLst>
                  <a:ext uri="{FF2B5EF4-FFF2-40B4-BE49-F238E27FC236}">
                    <a16:creationId xmlns:a16="http://schemas.microsoft.com/office/drawing/2014/main" id="{04D818BF-12E2-B45E-EBD0-66C9963AB3D7}"/>
                  </a:ext>
                </a:extLst>
              </p:cNvPr>
              <p:cNvSpPr>
                <a:spLocks noChangeShapeType="1"/>
              </p:cNvSpPr>
              <p:nvPr/>
            </p:nvSpPr>
            <p:spPr bwMode="auto">
              <a:xfrm flipH="1">
                <a:off x="1901117" y="4771292"/>
                <a:ext cx="1051523" cy="134937"/>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37" name="Line 154">
                <a:extLst>
                  <a:ext uri="{FF2B5EF4-FFF2-40B4-BE49-F238E27FC236}">
                    <a16:creationId xmlns:a16="http://schemas.microsoft.com/office/drawing/2014/main" id="{0A53B72F-E47B-41CF-FE06-7B0AF99ADF3F}"/>
                  </a:ext>
                </a:extLst>
              </p:cNvPr>
              <p:cNvSpPr>
                <a:spLocks noChangeShapeType="1"/>
              </p:cNvSpPr>
              <p:nvPr/>
            </p:nvSpPr>
            <p:spPr bwMode="auto">
              <a:xfrm flipH="1" flipV="1">
                <a:off x="1839205" y="5244367"/>
                <a:ext cx="1110256" cy="169863"/>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38" name="Line 155">
                <a:extLst>
                  <a:ext uri="{FF2B5EF4-FFF2-40B4-BE49-F238E27FC236}">
                    <a16:creationId xmlns:a16="http://schemas.microsoft.com/office/drawing/2014/main" id="{9CC2F531-7D72-35AA-CE5E-39C9F4C8C6CD}"/>
                  </a:ext>
                </a:extLst>
              </p:cNvPr>
              <p:cNvSpPr>
                <a:spLocks noChangeShapeType="1"/>
              </p:cNvSpPr>
              <p:nvPr/>
            </p:nvSpPr>
            <p:spPr bwMode="auto">
              <a:xfrm flipH="1" flipV="1">
                <a:off x="1842381" y="5407880"/>
                <a:ext cx="1110258" cy="14287"/>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39" name="Line 156">
                <a:extLst>
                  <a:ext uri="{FF2B5EF4-FFF2-40B4-BE49-F238E27FC236}">
                    <a16:creationId xmlns:a16="http://schemas.microsoft.com/office/drawing/2014/main" id="{F276D252-B5A9-4C03-A2ED-8916FA7F61D7}"/>
                  </a:ext>
                </a:extLst>
              </p:cNvPr>
              <p:cNvSpPr>
                <a:spLocks noChangeShapeType="1"/>
              </p:cNvSpPr>
              <p:nvPr/>
            </p:nvSpPr>
            <p:spPr bwMode="auto">
              <a:xfrm flipH="1">
                <a:off x="2083680" y="5417406"/>
                <a:ext cx="868959" cy="100012"/>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52" name="Line 333">
                <a:extLst>
                  <a:ext uri="{FF2B5EF4-FFF2-40B4-BE49-F238E27FC236}">
                    <a16:creationId xmlns:a16="http://schemas.microsoft.com/office/drawing/2014/main" id="{41187456-81CF-8E9C-BD62-C5D2262F9CDA}"/>
                  </a:ext>
                </a:extLst>
              </p:cNvPr>
              <p:cNvSpPr>
                <a:spLocks noChangeShapeType="1"/>
              </p:cNvSpPr>
              <p:nvPr/>
            </p:nvSpPr>
            <p:spPr bwMode="auto">
              <a:xfrm flipV="1">
                <a:off x="1840794" y="5138005"/>
                <a:ext cx="111125" cy="109538"/>
              </a:xfrm>
              <a:prstGeom prst="line">
                <a:avLst/>
              </a:prstGeom>
              <a:noFill/>
              <a:ln w="12700" cap="rnd">
                <a:solidFill>
                  <a:schemeClr val="tx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grpSp>
            <p:nvGrpSpPr>
              <p:cNvPr id="169" name="组合 168">
                <a:extLst>
                  <a:ext uri="{FF2B5EF4-FFF2-40B4-BE49-F238E27FC236}">
                    <a16:creationId xmlns:a16="http://schemas.microsoft.com/office/drawing/2014/main" id="{E7D27E15-B18D-0D36-B22D-E3FC9AC5C782}"/>
                  </a:ext>
                </a:extLst>
              </p:cNvPr>
              <p:cNvGrpSpPr/>
              <p:nvPr/>
            </p:nvGrpSpPr>
            <p:grpSpPr>
              <a:xfrm>
                <a:off x="2937089" y="4668105"/>
                <a:ext cx="273717" cy="968376"/>
                <a:chOff x="3100817" y="4387117"/>
                <a:chExt cx="419100" cy="1482725"/>
              </a:xfrm>
            </p:grpSpPr>
            <p:sp>
              <p:nvSpPr>
                <p:cNvPr id="160" name="Freeform 29">
                  <a:extLst>
                    <a:ext uri="{FF2B5EF4-FFF2-40B4-BE49-F238E27FC236}">
                      <a16:creationId xmlns:a16="http://schemas.microsoft.com/office/drawing/2014/main" id="{B4ED2643-0B81-D1BA-981A-EA4FE9B1F328}"/>
                    </a:ext>
                  </a:extLst>
                </p:cNvPr>
                <p:cNvSpPr>
                  <a:spLocks/>
                </p:cNvSpPr>
                <p:nvPr/>
              </p:nvSpPr>
              <p:spPr bwMode="auto">
                <a:xfrm>
                  <a:off x="3100817" y="4387117"/>
                  <a:ext cx="419100" cy="1482725"/>
                </a:xfrm>
                <a:custGeom>
                  <a:avLst/>
                  <a:gdLst>
                    <a:gd name="T0" fmla="*/ 363 w 436"/>
                    <a:gd name="T1" fmla="*/ 1542 h 1542"/>
                    <a:gd name="T2" fmla="*/ 436 w 436"/>
                    <a:gd name="T3" fmla="*/ 1470 h 1542"/>
                    <a:gd name="T4" fmla="*/ 436 w 436"/>
                    <a:gd name="T5" fmla="*/ 1470 h 1542"/>
                    <a:gd name="T6" fmla="*/ 436 w 436"/>
                    <a:gd name="T7" fmla="*/ 73 h 1542"/>
                    <a:gd name="T8" fmla="*/ 363 w 436"/>
                    <a:gd name="T9" fmla="*/ 0 h 1542"/>
                    <a:gd name="T10" fmla="*/ 363 w 436"/>
                    <a:gd name="T11" fmla="*/ 0 h 1542"/>
                    <a:gd name="T12" fmla="*/ 73 w 436"/>
                    <a:gd name="T13" fmla="*/ 0 h 1542"/>
                    <a:gd name="T14" fmla="*/ 0 w 436"/>
                    <a:gd name="T15" fmla="*/ 73 h 1542"/>
                    <a:gd name="T16" fmla="*/ 0 w 436"/>
                    <a:gd name="T17" fmla="*/ 1470 h 1542"/>
                    <a:gd name="T18" fmla="*/ 73 w 436"/>
                    <a:gd name="T19" fmla="*/ 1542 h 1542"/>
                    <a:gd name="T20" fmla="*/ 363 w 436"/>
                    <a:gd name="T21" fmla="*/ 1542 h 1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36" h="1542">
                      <a:moveTo>
                        <a:pt x="363" y="1542"/>
                      </a:moveTo>
                      <a:cubicBezTo>
                        <a:pt x="403" y="1542"/>
                        <a:pt x="436" y="1510"/>
                        <a:pt x="436" y="1470"/>
                      </a:cubicBezTo>
                      <a:lnTo>
                        <a:pt x="436" y="1470"/>
                      </a:lnTo>
                      <a:lnTo>
                        <a:pt x="436" y="73"/>
                      </a:lnTo>
                      <a:cubicBezTo>
                        <a:pt x="436" y="33"/>
                        <a:pt x="403" y="0"/>
                        <a:pt x="363" y="0"/>
                      </a:cubicBezTo>
                      <a:lnTo>
                        <a:pt x="363" y="0"/>
                      </a:lnTo>
                      <a:lnTo>
                        <a:pt x="73" y="0"/>
                      </a:lnTo>
                      <a:cubicBezTo>
                        <a:pt x="33" y="0"/>
                        <a:pt x="0" y="33"/>
                        <a:pt x="0" y="73"/>
                      </a:cubicBezTo>
                      <a:lnTo>
                        <a:pt x="0" y="1470"/>
                      </a:lnTo>
                      <a:cubicBezTo>
                        <a:pt x="0" y="1510"/>
                        <a:pt x="33" y="1542"/>
                        <a:pt x="73" y="1542"/>
                      </a:cubicBezTo>
                      <a:lnTo>
                        <a:pt x="363" y="1542"/>
                      </a:lnTo>
                    </a:path>
                  </a:pathLst>
                </a:cu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61" name="Freeform 30">
                  <a:extLst>
                    <a:ext uri="{FF2B5EF4-FFF2-40B4-BE49-F238E27FC236}">
                      <a16:creationId xmlns:a16="http://schemas.microsoft.com/office/drawing/2014/main" id="{DAF616CD-352A-7C63-8492-EF55E981E6DB}"/>
                    </a:ext>
                  </a:extLst>
                </p:cNvPr>
                <p:cNvSpPr>
                  <a:spLocks/>
                </p:cNvSpPr>
                <p:nvPr/>
              </p:nvSpPr>
              <p:spPr bwMode="auto">
                <a:xfrm>
                  <a:off x="3124630" y="4441092"/>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FFBA8C"/>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62" name="Freeform 31">
                  <a:extLst>
                    <a:ext uri="{FF2B5EF4-FFF2-40B4-BE49-F238E27FC236}">
                      <a16:creationId xmlns:a16="http://schemas.microsoft.com/office/drawing/2014/main" id="{EB130EE5-B747-FA88-F040-A6D8F484B6AF}"/>
                    </a:ext>
                  </a:extLst>
                </p:cNvPr>
                <p:cNvSpPr>
                  <a:spLocks/>
                </p:cNvSpPr>
                <p:nvPr/>
              </p:nvSpPr>
              <p:spPr bwMode="auto">
                <a:xfrm>
                  <a:off x="3124630" y="4679217"/>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44B43C"/>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63" name="Freeform 32">
                  <a:extLst>
                    <a:ext uri="{FF2B5EF4-FFF2-40B4-BE49-F238E27FC236}">
                      <a16:creationId xmlns:a16="http://schemas.microsoft.com/office/drawing/2014/main" id="{7E7D4BBA-6CC5-9E90-5EB4-FCEBDDF780DB}"/>
                    </a:ext>
                  </a:extLst>
                </p:cNvPr>
                <p:cNvSpPr>
                  <a:spLocks/>
                </p:cNvSpPr>
                <p:nvPr/>
              </p:nvSpPr>
              <p:spPr bwMode="auto">
                <a:xfrm>
                  <a:off x="3124630" y="4925280"/>
                  <a:ext cx="371475" cy="146050"/>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44B43C"/>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64" name="Freeform 33">
                  <a:extLst>
                    <a:ext uri="{FF2B5EF4-FFF2-40B4-BE49-F238E27FC236}">
                      <a16:creationId xmlns:a16="http://schemas.microsoft.com/office/drawing/2014/main" id="{A72C4191-CDCB-EAD7-E8BA-7AB7D64F13A4}"/>
                    </a:ext>
                  </a:extLst>
                </p:cNvPr>
                <p:cNvSpPr>
                  <a:spLocks/>
                </p:cNvSpPr>
                <p:nvPr/>
              </p:nvSpPr>
              <p:spPr bwMode="auto">
                <a:xfrm>
                  <a:off x="3124630" y="5423755"/>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FFBA8C"/>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65" name="Freeform 34">
                  <a:extLst>
                    <a:ext uri="{FF2B5EF4-FFF2-40B4-BE49-F238E27FC236}">
                      <a16:creationId xmlns:a16="http://schemas.microsoft.com/office/drawing/2014/main" id="{DA76F0D0-EF27-5A2E-3876-35EB53F50692}"/>
                    </a:ext>
                  </a:extLst>
                </p:cNvPr>
                <p:cNvSpPr>
                  <a:spLocks/>
                </p:cNvSpPr>
                <p:nvPr/>
              </p:nvSpPr>
              <p:spPr bwMode="auto">
                <a:xfrm>
                  <a:off x="3124630" y="5672992"/>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44B43C"/>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66" name="Freeform 35">
                  <a:extLst>
                    <a:ext uri="{FF2B5EF4-FFF2-40B4-BE49-F238E27FC236}">
                      <a16:creationId xmlns:a16="http://schemas.microsoft.com/office/drawing/2014/main" id="{825CDB97-9FBF-57F9-5A78-23E280D224E0}"/>
                    </a:ext>
                  </a:extLst>
                </p:cNvPr>
                <p:cNvSpPr>
                  <a:spLocks/>
                </p:cNvSpPr>
                <p:nvPr/>
              </p:nvSpPr>
              <p:spPr bwMode="auto">
                <a:xfrm>
                  <a:off x="3275442" y="5099905"/>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67" name="Freeform 36">
                  <a:extLst>
                    <a:ext uri="{FF2B5EF4-FFF2-40B4-BE49-F238E27FC236}">
                      <a16:creationId xmlns:a16="http://schemas.microsoft.com/office/drawing/2014/main" id="{5D75BCF1-EBB5-C6F7-47AE-DA56C2A9B655}"/>
                    </a:ext>
                  </a:extLst>
                </p:cNvPr>
                <p:cNvSpPr>
                  <a:spLocks/>
                </p:cNvSpPr>
                <p:nvPr/>
              </p:nvSpPr>
              <p:spPr bwMode="auto">
                <a:xfrm>
                  <a:off x="3275442" y="5215792"/>
                  <a:ext cx="69850" cy="71438"/>
                </a:xfrm>
                <a:custGeom>
                  <a:avLst/>
                  <a:gdLst>
                    <a:gd name="T0" fmla="*/ 0 w 44"/>
                    <a:gd name="T1" fmla="*/ 22 h 45"/>
                    <a:gd name="T2" fmla="*/ 22 w 44"/>
                    <a:gd name="T3" fmla="*/ 0 h 45"/>
                    <a:gd name="T4" fmla="*/ 44 w 44"/>
                    <a:gd name="T5" fmla="*/ 22 h 45"/>
                    <a:gd name="T6" fmla="*/ 44 w 44"/>
                    <a:gd name="T7" fmla="*/ 22 h 45"/>
                    <a:gd name="T8" fmla="*/ 22 w 44"/>
                    <a:gd name="T9" fmla="*/ 45 h 45"/>
                    <a:gd name="T10" fmla="*/ 0 w 44"/>
                    <a:gd name="T11" fmla="*/ 22 h 45"/>
                  </a:gdLst>
                  <a:ahLst/>
                  <a:cxnLst>
                    <a:cxn ang="0">
                      <a:pos x="T0" y="T1"/>
                    </a:cxn>
                    <a:cxn ang="0">
                      <a:pos x="T2" y="T3"/>
                    </a:cxn>
                    <a:cxn ang="0">
                      <a:pos x="T4" y="T5"/>
                    </a:cxn>
                    <a:cxn ang="0">
                      <a:pos x="T6" y="T7"/>
                    </a:cxn>
                    <a:cxn ang="0">
                      <a:pos x="T8" y="T9"/>
                    </a:cxn>
                    <a:cxn ang="0">
                      <a:pos x="T10" y="T11"/>
                    </a:cxn>
                  </a:cxnLst>
                  <a:rect l="0" t="0" r="r" b="b"/>
                  <a:pathLst>
                    <a:path w="44" h="45">
                      <a:moveTo>
                        <a:pt x="0" y="22"/>
                      </a:moveTo>
                      <a:cubicBezTo>
                        <a:pt x="0" y="10"/>
                        <a:pt x="10" y="0"/>
                        <a:pt x="22" y="0"/>
                      </a:cubicBezTo>
                      <a:cubicBezTo>
                        <a:pt x="34" y="0"/>
                        <a:pt x="44" y="10"/>
                        <a:pt x="44" y="22"/>
                      </a:cubicBezTo>
                      <a:cubicBezTo>
                        <a:pt x="44" y="22"/>
                        <a:pt x="44" y="22"/>
                        <a:pt x="44" y="22"/>
                      </a:cubicBezTo>
                      <a:cubicBezTo>
                        <a:pt x="44" y="34"/>
                        <a:pt x="34" y="45"/>
                        <a:pt x="22" y="45"/>
                      </a:cubicBezTo>
                      <a:cubicBezTo>
                        <a:pt x="10" y="45"/>
                        <a:pt x="0" y="34"/>
                        <a:pt x="0" y="22"/>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68" name="Freeform 37">
                  <a:extLst>
                    <a:ext uri="{FF2B5EF4-FFF2-40B4-BE49-F238E27FC236}">
                      <a16:creationId xmlns:a16="http://schemas.microsoft.com/office/drawing/2014/main" id="{F47595A7-5459-5A48-09C9-EA676AB124E3}"/>
                    </a:ext>
                  </a:extLst>
                </p:cNvPr>
                <p:cNvSpPr>
                  <a:spLocks/>
                </p:cNvSpPr>
                <p:nvPr/>
              </p:nvSpPr>
              <p:spPr bwMode="auto">
                <a:xfrm>
                  <a:off x="3275442" y="5333267"/>
                  <a:ext cx="69850" cy="69850"/>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4"/>
                        <a:pt x="34" y="44"/>
                        <a:pt x="22" y="44"/>
                      </a:cubicBezTo>
                      <a:cubicBezTo>
                        <a:pt x="10" y="44"/>
                        <a:pt x="0" y="34"/>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grpSp>
        <p:sp>
          <p:nvSpPr>
            <p:cNvPr id="172" name="Freeform 47">
              <a:extLst>
                <a:ext uri="{FF2B5EF4-FFF2-40B4-BE49-F238E27FC236}">
                  <a16:creationId xmlns:a16="http://schemas.microsoft.com/office/drawing/2014/main" id="{9FC0AF61-F0F1-4E86-65D9-CA07DDCE8A83}"/>
                </a:ext>
              </a:extLst>
            </p:cNvPr>
            <p:cNvSpPr>
              <a:spLocks/>
            </p:cNvSpPr>
            <p:nvPr/>
          </p:nvSpPr>
          <p:spPr bwMode="auto">
            <a:xfrm>
              <a:off x="3256972" y="724842"/>
              <a:ext cx="264209" cy="839196"/>
            </a:xfrm>
            <a:custGeom>
              <a:avLst/>
              <a:gdLst>
                <a:gd name="T0" fmla="*/ 0 w 278"/>
                <a:gd name="T1" fmla="*/ 486 h 883"/>
                <a:gd name="T2" fmla="*/ 278 w 278"/>
                <a:gd name="T3" fmla="*/ 883 h 883"/>
                <a:gd name="T4" fmla="*/ 278 w 278"/>
                <a:gd name="T5" fmla="*/ 397 h 883"/>
                <a:gd name="T6" fmla="*/ 0 w 278"/>
                <a:gd name="T7" fmla="*/ 0 h 883"/>
                <a:gd name="T8" fmla="*/ 0 w 278"/>
                <a:gd name="T9" fmla="*/ 486 h 883"/>
              </a:gdLst>
              <a:ahLst/>
              <a:cxnLst>
                <a:cxn ang="0">
                  <a:pos x="T0" y="T1"/>
                </a:cxn>
                <a:cxn ang="0">
                  <a:pos x="T2" y="T3"/>
                </a:cxn>
                <a:cxn ang="0">
                  <a:pos x="T4" y="T5"/>
                </a:cxn>
                <a:cxn ang="0">
                  <a:pos x="T6" y="T7"/>
                </a:cxn>
                <a:cxn ang="0">
                  <a:pos x="T8" y="T9"/>
                </a:cxn>
              </a:cxnLst>
              <a:rect l="0" t="0" r="r" b="b"/>
              <a:pathLst>
                <a:path w="278" h="883">
                  <a:moveTo>
                    <a:pt x="0" y="486"/>
                  </a:moveTo>
                  <a:lnTo>
                    <a:pt x="278" y="883"/>
                  </a:lnTo>
                  <a:lnTo>
                    <a:pt x="278" y="397"/>
                  </a:lnTo>
                  <a:lnTo>
                    <a:pt x="0" y="0"/>
                  </a:lnTo>
                  <a:lnTo>
                    <a:pt x="0" y="486"/>
                  </a:lnTo>
                </a:path>
              </a:pathLst>
            </a:custGeom>
            <a:solidFill>
              <a:srgbClr val="A5D6A1"/>
            </a:solidFill>
            <a:ln w="12700" cap="rnd">
              <a:solidFill>
                <a:schemeClr val="accent4">
                  <a:lumMod val="50000"/>
                </a:schemeClr>
              </a:solidFill>
              <a:prstDash val="solid"/>
              <a:round/>
              <a:headEnd/>
              <a:tailEnd/>
            </a:ln>
            <a:effectLst>
              <a:outerShdw blurRad="50800" dist="38100" dir="2700000" algn="tl" rotWithShape="0">
                <a:prstClr val="black">
                  <a:alpha val="40000"/>
                </a:prstClr>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173" name="Freeform 48">
              <a:extLst>
                <a:ext uri="{FF2B5EF4-FFF2-40B4-BE49-F238E27FC236}">
                  <a16:creationId xmlns:a16="http://schemas.microsoft.com/office/drawing/2014/main" id="{128E7A8D-E576-8FEA-CE87-AB9A08915A16}"/>
                </a:ext>
              </a:extLst>
            </p:cNvPr>
            <p:cNvSpPr>
              <a:spLocks/>
            </p:cNvSpPr>
            <p:nvPr/>
          </p:nvSpPr>
          <p:spPr bwMode="auto">
            <a:xfrm>
              <a:off x="3229411" y="724842"/>
              <a:ext cx="263259" cy="839196"/>
            </a:xfrm>
            <a:custGeom>
              <a:avLst/>
              <a:gdLst>
                <a:gd name="T0" fmla="*/ 0 w 277"/>
                <a:gd name="T1" fmla="*/ 486 h 883"/>
                <a:gd name="T2" fmla="*/ 277 w 277"/>
                <a:gd name="T3" fmla="*/ 883 h 883"/>
                <a:gd name="T4" fmla="*/ 277 w 277"/>
                <a:gd name="T5" fmla="*/ 397 h 883"/>
                <a:gd name="T6" fmla="*/ 0 w 277"/>
                <a:gd name="T7" fmla="*/ 0 h 883"/>
                <a:gd name="T8" fmla="*/ 0 w 277"/>
                <a:gd name="T9" fmla="*/ 486 h 883"/>
              </a:gdLst>
              <a:ahLst/>
              <a:cxnLst>
                <a:cxn ang="0">
                  <a:pos x="T0" y="T1"/>
                </a:cxn>
                <a:cxn ang="0">
                  <a:pos x="T2" y="T3"/>
                </a:cxn>
                <a:cxn ang="0">
                  <a:pos x="T4" y="T5"/>
                </a:cxn>
                <a:cxn ang="0">
                  <a:pos x="T6" y="T7"/>
                </a:cxn>
                <a:cxn ang="0">
                  <a:pos x="T8" y="T9"/>
                </a:cxn>
              </a:cxnLst>
              <a:rect l="0" t="0" r="r" b="b"/>
              <a:pathLst>
                <a:path w="277" h="883">
                  <a:moveTo>
                    <a:pt x="0" y="486"/>
                  </a:moveTo>
                  <a:lnTo>
                    <a:pt x="277" y="883"/>
                  </a:lnTo>
                  <a:lnTo>
                    <a:pt x="277" y="397"/>
                  </a:lnTo>
                  <a:lnTo>
                    <a:pt x="0" y="0"/>
                  </a:lnTo>
                  <a:lnTo>
                    <a:pt x="0" y="486"/>
                  </a:lnTo>
                </a:path>
              </a:pathLst>
            </a:custGeom>
            <a:solidFill>
              <a:srgbClr val="A5D6A1"/>
            </a:solidFill>
            <a:ln w="12700" cap="rnd">
              <a:solidFill>
                <a:schemeClr val="accent4">
                  <a:lumMod val="50000"/>
                </a:schemeClr>
              </a:solidFill>
              <a:prstDash val="solid"/>
              <a:round/>
              <a:headEnd/>
              <a:tailEnd/>
            </a:ln>
            <a:effectLst>
              <a:outerShdw blurRad="50800" dist="38100" dir="2700000" algn="tl" rotWithShape="0">
                <a:prstClr val="black">
                  <a:alpha val="40000"/>
                </a:prstClr>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174" name="Freeform 116">
              <a:extLst>
                <a:ext uri="{FF2B5EF4-FFF2-40B4-BE49-F238E27FC236}">
                  <a16:creationId xmlns:a16="http://schemas.microsoft.com/office/drawing/2014/main" id="{F8BDF43E-60A2-36CF-603C-ECDE6FF63E2E}"/>
                </a:ext>
              </a:extLst>
            </p:cNvPr>
            <p:cNvSpPr>
              <a:spLocks/>
            </p:cNvSpPr>
            <p:nvPr/>
          </p:nvSpPr>
          <p:spPr bwMode="auto">
            <a:xfrm>
              <a:off x="2996565" y="832237"/>
              <a:ext cx="40867" cy="42768"/>
            </a:xfrm>
            <a:custGeom>
              <a:avLst/>
              <a:gdLst>
                <a:gd name="T0" fmla="*/ 0 w 43"/>
                <a:gd name="T1" fmla="*/ 23 h 45"/>
                <a:gd name="T2" fmla="*/ 21 w 43"/>
                <a:gd name="T3" fmla="*/ 0 h 45"/>
                <a:gd name="T4" fmla="*/ 43 w 43"/>
                <a:gd name="T5" fmla="*/ 23 h 45"/>
                <a:gd name="T6" fmla="*/ 43 w 43"/>
                <a:gd name="T7" fmla="*/ 23 h 45"/>
                <a:gd name="T8" fmla="*/ 21 w 43"/>
                <a:gd name="T9" fmla="*/ 45 h 45"/>
                <a:gd name="T10" fmla="*/ 0 w 43"/>
                <a:gd name="T11" fmla="*/ 23 h 45"/>
              </a:gdLst>
              <a:ahLst/>
              <a:cxnLst>
                <a:cxn ang="0">
                  <a:pos x="T0" y="T1"/>
                </a:cxn>
                <a:cxn ang="0">
                  <a:pos x="T2" y="T3"/>
                </a:cxn>
                <a:cxn ang="0">
                  <a:pos x="T4" y="T5"/>
                </a:cxn>
                <a:cxn ang="0">
                  <a:pos x="T6" y="T7"/>
                </a:cxn>
                <a:cxn ang="0">
                  <a:pos x="T8" y="T9"/>
                </a:cxn>
                <a:cxn ang="0">
                  <a:pos x="T10" y="T11"/>
                </a:cxn>
              </a:cxnLst>
              <a:rect l="0" t="0" r="r" b="b"/>
              <a:pathLst>
                <a:path w="43" h="45">
                  <a:moveTo>
                    <a:pt x="0" y="23"/>
                  </a:moveTo>
                  <a:cubicBezTo>
                    <a:pt x="0" y="11"/>
                    <a:pt x="9" y="0"/>
                    <a:pt x="21" y="0"/>
                  </a:cubicBezTo>
                  <a:cubicBezTo>
                    <a:pt x="34" y="0"/>
                    <a:pt x="43" y="11"/>
                    <a:pt x="43" y="23"/>
                  </a:cubicBezTo>
                  <a:cubicBezTo>
                    <a:pt x="43" y="23"/>
                    <a:pt x="43" y="23"/>
                    <a:pt x="43" y="23"/>
                  </a:cubicBezTo>
                  <a:cubicBezTo>
                    <a:pt x="43" y="35"/>
                    <a:pt x="34" y="45"/>
                    <a:pt x="21" y="45"/>
                  </a:cubicBezTo>
                  <a:cubicBezTo>
                    <a:pt x="9" y="45"/>
                    <a:pt x="0" y="35"/>
                    <a:pt x="0" y="23"/>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75" name="Freeform 117">
              <a:extLst>
                <a:ext uri="{FF2B5EF4-FFF2-40B4-BE49-F238E27FC236}">
                  <a16:creationId xmlns:a16="http://schemas.microsoft.com/office/drawing/2014/main" id="{3B48DF4E-B619-6797-B3F1-D974BB67A57E}"/>
                </a:ext>
              </a:extLst>
            </p:cNvPr>
            <p:cNvSpPr>
              <a:spLocks/>
            </p:cNvSpPr>
            <p:nvPr/>
          </p:nvSpPr>
          <p:spPr bwMode="auto">
            <a:xfrm>
              <a:off x="2863510" y="779015"/>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76" name="Freeform 118">
              <a:extLst>
                <a:ext uri="{FF2B5EF4-FFF2-40B4-BE49-F238E27FC236}">
                  <a16:creationId xmlns:a16="http://schemas.microsoft.com/office/drawing/2014/main" id="{E62D83E6-89E7-70F1-276A-6180C3A63C01}"/>
                </a:ext>
              </a:extLst>
            </p:cNvPr>
            <p:cNvSpPr>
              <a:spLocks/>
            </p:cNvSpPr>
            <p:nvPr/>
          </p:nvSpPr>
          <p:spPr bwMode="auto">
            <a:xfrm>
              <a:off x="2784628" y="858848"/>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77" name="Freeform 119">
              <a:extLst>
                <a:ext uri="{FF2B5EF4-FFF2-40B4-BE49-F238E27FC236}">
                  <a16:creationId xmlns:a16="http://schemas.microsoft.com/office/drawing/2014/main" id="{19DF1FC5-2BD9-6498-DA3B-3CFAFF7A57E3}"/>
                </a:ext>
              </a:extLst>
            </p:cNvPr>
            <p:cNvSpPr>
              <a:spLocks/>
            </p:cNvSpPr>
            <p:nvPr/>
          </p:nvSpPr>
          <p:spPr bwMode="auto">
            <a:xfrm>
              <a:off x="2798884" y="977647"/>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78" name="Freeform 120">
              <a:extLst>
                <a:ext uri="{FF2B5EF4-FFF2-40B4-BE49-F238E27FC236}">
                  <a16:creationId xmlns:a16="http://schemas.microsoft.com/office/drawing/2014/main" id="{AB36658C-EC5A-CDD4-AB45-5BB96926F7D9}"/>
                </a:ext>
              </a:extLst>
            </p:cNvPr>
            <p:cNvSpPr>
              <a:spLocks/>
            </p:cNvSpPr>
            <p:nvPr/>
          </p:nvSpPr>
          <p:spPr bwMode="auto">
            <a:xfrm>
              <a:off x="2923385" y="1030868"/>
              <a:ext cx="40867" cy="42768"/>
            </a:xfrm>
            <a:custGeom>
              <a:avLst/>
              <a:gdLst>
                <a:gd name="T0" fmla="*/ 0 w 43"/>
                <a:gd name="T1" fmla="*/ 22 h 45"/>
                <a:gd name="T2" fmla="*/ 22 w 43"/>
                <a:gd name="T3" fmla="*/ 0 h 45"/>
                <a:gd name="T4" fmla="*/ 43 w 43"/>
                <a:gd name="T5" fmla="*/ 22 h 45"/>
                <a:gd name="T6" fmla="*/ 43 w 43"/>
                <a:gd name="T7" fmla="*/ 22 h 45"/>
                <a:gd name="T8" fmla="*/ 22 w 43"/>
                <a:gd name="T9" fmla="*/ 45 h 45"/>
                <a:gd name="T10" fmla="*/ 0 w 43"/>
                <a:gd name="T11" fmla="*/ 22 h 45"/>
              </a:gdLst>
              <a:ahLst/>
              <a:cxnLst>
                <a:cxn ang="0">
                  <a:pos x="T0" y="T1"/>
                </a:cxn>
                <a:cxn ang="0">
                  <a:pos x="T2" y="T3"/>
                </a:cxn>
                <a:cxn ang="0">
                  <a:pos x="T4" y="T5"/>
                </a:cxn>
                <a:cxn ang="0">
                  <a:pos x="T6" y="T7"/>
                </a:cxn>
                <a:cxn ang="0">
                  <a:pos x="T8" y="T9"/>
                </a:cxn>
                <a:cxn ang="0">
                  <a:pos x="T10" y="T11"/>
                </a:cxn>
              </a:cxnLst>
              <a:rect l="0" t="0" r="r" b="b"/>
              <a:pathLst>
                <a:path w="43" h="45">
                  <a:moveTo>
                    <a:pt x="0" y="22"/>
                  </a:moveTo>
                  <a:cubicBezTo>
                    <a:pt x="0" y="10"/>
                    <a:pt x="9" y="0"/>
                    <a:pt x="22" y="0"/>
                  </a:cubicBezTo>
                  <a:cubicBezTo>
                    <a:pt x="34" y="0"/>
                    <a:pt x="43" y="10"/>
                    <a:pt x="43" y="22"/>
                  </a:cubicBezTo>
                  <a:cubicBezTo>
                    <a:pt x="43" y="22"/>
                    <a:pt x="43" y="22"/>
                    <a:pt x="43" y="22"/>
                  </a:cubicBezTo>
                  <a:cubicBezTo>
                    <a:pt x="43" y="34"/>
                    <a:pt x="34" y="45"/>
                    <a:pt x="22" y="45"/>
                  </a:cubicBezTo>
                  <a:cubicBezTo>
                    <a:pt x="9" y="45"/>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79" name="Freeform 121">
              <a:extLst>
                <a:ext uri="{FF2B5EF4-FFF2-40B4-BE49-F238E27FC236}">
                  <a16:creationId xmlns:a16="http://schemas.microsoft.com/office/drawing/2014/main" id="{CD1E0A51-F874-B353-9BFF-81F586BFD208}"/>
                </a:ext>
              </a:extLst>
            </p:cNvPr>
            <p:cNvSpPr>
              <a:spLocks/>
            </p:cNvSpPr>
            <p:nvPr/>
          </p:nvSpPr>
          <p:spPr bwMode="auto">
            <a:xfrm>
              <a:off x="3009871" y="954837"/>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9"/>
                    <a:pt x="10" y="0"/>
                    <a:pt x="22" y="0"/>
                  </a:cubicBezTo>
                  <a:cubicBezTo>
                    <a:pt x="34" y="0"/>
                    <a:pt x="44" y="9"/>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80" name="Freeform 122">
              <a:extLst>
                <a:ext uri="{FF2B5EF4-FFF2-40B4-BE49-F238E27FC236}">
                  <a16:creationId xmlns:a16="http://schemas.microsoft.com/office/drawing/2014/main" id="{5D02309C-C203-DDD2-95C5-CEF664C38E59}"/>
                </a:ext>
              </a:extLst>
            </p:cNvPr>
            <p:cNvSpPr>
              <a:spLocks/>
            </p:cNvSpPr>
            <p:nvPr/>
          </p:nvSpPr>
          <p:spPr bwMode="auto">
            <a:xfrm>
              <a:off x="3135322" y="1000456"/>
              <a:ext cx="41817" cy="40867"/>
            </a:xfrm>
            <a:custGeom>
              <a:avLst/>
              <a:gdLst>
                <a:gd name="T0" fmla="*/ 0 w 44"/>
                <a:gd name="T1" fmla="*/ 21 h 43"/>
                <a:gd name="T2" fmla="*/ 22 w 44"/>
                <a:gd name="T3" fmla="*/ 0 h 43"/>
                <a:gd name="T4" fmla="*/ 44 w 44"/>
                <a:gd name="T5" fmla="*/ 21 h 43"/>
                <a:gd name="T6" fmla="*/ 44 w 44"/>
                <a:gd name="T7" fmla="*/ 21 h 43"/>
                <a:gd name="T8" fmla="*/ 22 w 44"/>
                <a:gd name="T9" fmla="*/ 43 h 43"/>
                <a:gd name="T10" fmla="*/ 0 w 44"/>
                <a:gd name="T11" fmla="*/ 21 h 43"/>
              </a:gdLst>
              <a:ahLst/>
              <a:cxnLst>
                <a:cxn ang="0">
                  <a:pos x="T0" y="T1"/>
                </a:cxn>
                <a:cxn ang="0">
                  <a:pos x="T2" y="T3"/>
                </a:cxn>
                <a:cxn ang="0">
                  <a:pos x="T4" y="T5"/>
                </a:cxn>
                <a:cxn ang="0">
                  <a:pos x="T6" y="T7"/>
                </a:cxn>
                <a:cxn ang="0">
                  <a:pos x="T8" y="T9"/>
                </a:cxn>
                <a:cxn ang="0">
                  <a:pos x="T10" y="T11"/>
                </a:cxn>
              </a:cxnLst>
              <a:rect l="0" t="0" r="r" b="b"/>
              <a:pathLst>
                <a:path w="44" h="43">
                  <a:moveTo>
                    <a:pt x="0" y="21"/>
                  </a:moveTo>
                  <a:cubicBezTo>
                    <a:pt x="0" y="9"/>
                    <a:pt x="10" y="0"/>
                    <a:pt x="22" y="0"/>
                  </a:cubicBezTo>
                  <a:cubicBezTo>
                    <a:pt x="34" y="0"/>
                    <a:pt x="44" y="9"/>
                    <a:pt x="44" y="21"/>
                  </a:cubicBezTo>
                  <a:cubicBezTo>
                    <a:pt x="44" y="21"/>
                    <a:pt x="44" y="21"/>
                    <a:pt x="44" y="21"/>
                  </a:cubicBezTo>
                  <a:cubicBezTo>
                    <a:pt x="44" y="34"/>
                    <a:pt x="34" y="43"/>
                    <a:pt x="22" y="43"/>
                  </a:cubicBezTo>
                  <a:cubicBezTo>
                    <a:pt x="10" y="43"/>
                    <a:pt x="0" y="34"/>
                    <a:pt x="0" y="21"/>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81" name="Freeform 123">
              <a:extLst>
                <a:ext uri="{FF2B5EF4-FFF2-40B4-BE49-F238E27FC236}">
                  <a16:creationId xmlns:a16="http://schemas.microsoft.com/office/drawing/2014/main" id="{E74F943A-FE9F-F3AD-4786-05049DE756C0}"/>
                </a:ext>
              </a:extLst>
            </p:cNvPr>
            <p:cNvSpPr>
              <a:spLocks/>
            </p:cNvSpPr>
            <p:nvPr/>
          </p:nvSpPr>
          <p:spPr bwMode="auto">
            <a:xfrm>
              <a:off x="3177139" y="1131610"/>
              <a:ext cx="41817" cy="42768"/>
            </a:xfrm>
            <a:custGeom>
              <a:avLst/>
              <a:gdLst>
                <a:gd name="T0" fmla="*/ 0 w 44"/>
                <a:gd name="T1" fmla="*/ 23 h 45"/>
                <a:gd name="T2" fmla="*/ 21 w 44"/>
                <a:gd name="T3" fmla="*/ 0 h 45"/>
                <a:gd name="T4" fmla="*/ 44 w 44"/>
                <a:gd name="T5" fmla="*/ 23 h 45"/>
                <a:gd name="T6" fmla="*/ 44 w 44"/>
                <a:gd name="T7" fmla="*/ 23 h 45"/>
                <a:gd name="T8" fmla="*/ 21 w 44"/>
                <a:gd name="T9" fmla="*/ 45 h 45"/>
                <a:gd name="T10" fmla="*/ 0 w 44"/>
                <a:gd name="T11" fmla="*/ 23 h 45"/>
              </a:gdLst>
              <a:ahLst/>
              <a:cxnLst>
                <a:cxn ang="0">
                  <a:pos x="T0" y="T1"/>
                </a:cxn>
                <a:cxn ang="0">
                  <a:pos x="T2" y="T3"/>
                </a:cxn>
                <a:cxn ang="0">
                  <a:pos x="T4" y="T5"/>
                </a:cxn>
                <a:cxn ang="0">
                  <a:pos x="T6" y="T7"/>
                </a:cxn>
                <a:cxn ang="0">
                  <a:pos x="T8" y="T9"/>
                </a:cxn>
                <a:cxn ang="0">
                  <a:pos x="T10" y="T11"/>
                </a:cxn>
              </a:cxnLst>
              <a:rect l="0" t="0" r="r" b="b"/>
              <a:pathLst>
                <a:path w="44" h="45">
                  <a:moveTo>
                    <a:pt x="0" y="23"/>
                  </a:moveTo>
                  <a:cubicBezTo>
                    <a:pt x="0" y="11"/>
                    <a:pt x="9" y="0"/>
                    <a:pt x="21" y="0"/>
                  </a:cubicBezTo>
                  <a:cubicBezTo>
                    <a:pt x="34" y="0"/>
                    <a:pt x="44" y="11"/>
                    <a:pt x="44" y="23"/>
                  </a:cubicBezTo>
                  <a:cubicBezTo>
                    <a:pt x="44" y="23"/>
                    <a:pt x="44" y="23"/>
                    <a:pt x="44" y="23"/>
                  </a:cubicBezTo>
                  <a:cubicBezTo>
                    <a:pt x="44" y="35"/>
                    <a:pt x="34" y="45"/>
                    <a:pt x="21" y="45"/>
                  </a:cubicBezTo>
                  <a:cubicBezTo>
                    <a:pt x="9" y="45"/>
                    <a:pt x="0" y="35"/>
                    <a:pt x="0" y="23"/>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82" name="Freeform 124">
              <a:extLst>
                <a:ext uri="{FF2B5EF4-FFF2-40B4-BE49-F238E27FC236}">
                  <a16:creationId xmlns:a16="http://schemas.microsoft.com/office/drawing/2014/main" id="{FDA13282-A592-9FDB-D273-6FA59BAFECB6}"/>
                </a:ext>
              </a:extLst>
            </p:cNvPr>
            <p:cNvSpPr>
              <a:spLocks/>
            </p:cNvSpPr>
            <p:nvPr/>
          </p:nvSpPr>
          <p:spPr bwMode="auto">
            <a:xfrm>
              <a:off x="3100157" y="1216195"/>
              <a:ext cx="41817" cy="40867"/>
            </a:xfrm>
            <a:custGeom>
              <a:avLst/>
              <a:gdLst>
                <a:gd name="T0" fmla="*/ 0 w 44"/>
                <a:gd name="T1" fmla="*/ 22 h 43"/>
                <a:gd name="T2" fmla="*/ 22 w 44"/>
                <a:gd name="T3" fmla="*/ 0 h 43"/>
                <a:gd name="T4" fmla="*/ 44 w 44"/>
                <a:gd name="T5" fmla="*/ 22 h 43"/>
                <a:gd name="T6" fmla="*/ 44 w 44"/>
                <a:gd name="T7" fmla="*/ 22 h 43"/>
                <a:gd name="T8" fmla="*/ 22 w 44"/>
                <a:gd name="T9" fmla="*/ 43 h 43"/>
                <a:gd name="T10" fmla="*/ 0 w 44"/>
                <a:gd name="T11" fmla="*/ 22 h 43"/>
              </a:gdLst>
              <a:ahLst/>
              <a:cxnLst>
                <a:cxn ang="0">
                  <a:pos x="T0" y="T1"/>
                </a:cxn>
                <a:cxn ang="0">
                  <a:pos x="T2" y="T3"/>
                </a:cxn>
                <a:cxn ang="0">
                  <a:pos x="T4" y="T5"/>
                </a:cxn>
                <a:cxn ang="0">
                  <a:pos x="T6" y="T7"/>
                </a:cxn>
                <a:cxn ang="0">
                  <a:pos x="T8" y="T9"/>
                </a:cxn>
                <a:cxn ang="0">
                  <a:pos x="T10" y="T11"/>
                </a:cxn>
              </a:cxnLst>
              <a:rect l="0" t="0" r="r" b="b"/>
              <a:pathLst>
                <a:path w="44" h="43">
                  <a:moveTo>
                    <a:pt x="0" y="22"/>
                  </a:moveTo>
                  <a:cubicBezTo>
                    <a:pt x="0" y="9"/>
                    <a:pt x="10" y="0"/>
                    <a:pt x="22" y="0"/>
                  </a:cubicBezTo>
                  <a:cubicBezTo>
                    <a:pt x="34" y="0"/>
                    <a:pt x="44" y="9"/>
                    <a:pt x="44" y="22"/>
                  </a:cubicBezTo>
                  <a:cubicBezTo>
                    <a:pt x="44" y="22"/>
                    <a:pt x="44" y="22"/>
                    <a:pt x="44" y="22"/>
                  </a:cubicBezTo>
                  <a:cubicBezTo>
                    <a:pt x="44" y="34"/>
                    <a:pt x="34" y="43"/>
                    <a:pt x="22" y="43"/>
                  </a:cubicBezTo>
                  <a:cubicBezTo>
                    <a:pt x="10" y="43"/>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83" name="Freeform 125">
              <a:extLst>
                <a:ext uri="{FF2B5EF4-FFF2-40B4-BE49-F238E27FC236}">
                  <a16:creationId xmlns:a16="http://schemas.microsoft.com/office/drawing/2014/main" id="{13D0C530-8949-ABC0-3573-F2E2CB9D0096}"/>
                </a:ext>
              </a:extLst>
            </p:cNvPr>
            <p:cNvSpPr>
              <a:spLocks/>
            </p:cNvSpPr>
            <p:nvPr/>
          </p:nvSpPr>
          <p:spPr bwMode="auto">
            <a:xfrm>
              <a:off x="2961400" y="1160121"/>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9" y="0"/>
                    <a:pt x="22" y="0"/>
                  </a:cubicBezTo>
                  <a:cubicBezTo>
                    <a:pt x="34" y="0"/>
                    <a:pt x="44" y="10"/>
                    <a:pt x="44" y="22"/>
                  </a:cubicBezTo>
                  <a:cubicBezTo>
                    <a:pt x="44" y="22"/>
                    <a:pt x="44" y="22"/>
                    <a:pt x="44" y="22"/>
                  </a:cubicBezTo>
                  <a:cubicBezTo>
                    <a:pt x="44" y="34"/>
                    <a:pt x="34" y="44"/>
                    <a:pt x="22" y="44"/>
                  </a:cubicBezTo>
                  <a:cubicBezTo>
                    <a:pt x="9"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84" name="Freeform 126">
              <a:extLst>
                <a:ext uri="{FF2B5EF4-FFF2-40B4-BE49-F238E27FC236}">
                  <a16:creationId xmlns:a16="http://schemas.microsoft.com/office/drawing/2014/main" id="{C7A3F847-F748-33F0-463E-A6860A2F3EC3}"/>
                </a:ext>
              </a:extLst>
            </p:cNvPr>
            <p:cNvSpPr>
              <a:spLocks/>
            </p:cNvSpPr>
            <p:nvPr/>
          </p:nvSpPr>
          <p:spPr bwMode="auto">
            <a:xfrm>
              <a:off x="2877766" y="1250409"/>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85" name="Freeform 127">
              <a:extLst>
                <a:ext uri="{FF2B5EF4-FFF2-40B4-BE49-F238E27FC236}">
                  <a16:creationId xmlns:a16="http://schemas.microsoft.com/office/drawing/2014/main" id="{2E4AA21D-52F1-A118-3AD7-4C5CA60DC514}"/>
                </a:ext>
              </a:extLst>
            </p:cNvPr>
            <p:cNvSpPr>
              <a:spLocks/>
            </p:cNvSpPr>
            <p:nvPr/>
          </p:nvSpPr>
          <p:spPr bwMode="auto">
            <a:xfrm>
              <a:off x="2884419" y="1362555"/>
              <a:ext cx="41817" cy="40867"/>
            </a:xfrm>
            <a:custGeom>
              <a:avLst/>
              <a:gdLst>
                <a:gd name="T0" fmla="*/ 0 w 44"/>
                <a:gd name="T1" fmla="*/ 21 h 43"/>
                <a:gd name="T2" fmla="*/ 22 w 44"/>
                <a:gd name="T3" fmla="*/ 0 h 43"/>
                <a:gd name="T4" fmla="*/ 44 w 44"/>
                <a:gd name="T5" fmla="*/ 21 h 43"/>
                <a:gd name="T6" fmla="*/ 44 w 44"/>
                <a:gd name="T7" fmla="*/ 21 h 43"/>
                <a:gd name="T8" fmla="*/ 22 w 44"/>
                <a:gd name="T9" fmla="*/ 43 h 43"/>
                <a:gd name="T10" fmla="*/ 0 w 44"/>
                <a:gd name="T11" fmla="*/ 21 h 43"/>
              </a:gdLst>
              <a:ahLst/>
              <a:cxnLst>
                <a:cxn ang="0">
                  <a:pos x="T0" y="T1"/>
                </a:cxn>
                <a:cxn ang="0">
                  <a:pos x="T2" y="T3"/>
                </a:cxn>
                <a:cxn ang="0">
                  <a:pos x="T4" y="T5"/>
                </a:cxn>
                <a:cxn ang="0">
                  <a:pos x="T6" y="T7"/>
                </a:cxn>
                <a:cxn ang="0">
                  <a:pos x="T8" y="T9"/>
                </a:cxn>
                <a:cxn ang="0">
                  <a:pos x="T10" y="T11"/>
                </a:cxn>
              </a:cxnLst>
              <a:rect l="0" t="0" r="r" b="b"/>
              <a:pathLst>
                <a:path w="44" h="43">
                  <a:moveTo>
                    <a:pt x="0" y="21"/>
                  </a:moveTo>
                  <a:cubicBezTo>
                    <a:pt x="0" y="9"/>
                    <a:pt x="10" y="0"/>
                    <a:pt x="22" y="0"/>
                  </a:cubicBezTo>
                  <a:cubicBezTo>
                    <a:pt x="34" y="0"/>
                    <a:pt x="44" y="9"/>
                    <a:pt x="44" y="21"/>
                  </a:cubicBezTo>
                  <a:cubicBezTo>
                    <a:pt x="44" y="21"/>
                    <a:pt x="44" y="21"/>
                    <a:pt x="44" y="21"/>
                  </a:cubicBezTo>
                  <a:cubicBezTo>
                    <a:pt x="44" y="33"/>
                    <a:pt x="34" y="43"/>
                    <a:pt x="22" y="43"/>
                  </a:cubicBezTo>
                  <a:cubicBezTo>
                    <a:pt x="10" y="43"/>
                    <a:pt x="0" y="33"/>
                    <a:pt x="0" y="21"/>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86" name="Freeform 128">
              <a:extLst>
                <a:ext uri="{FF2B5EF4-FFF2-40B4-BE49-F238E27FC236}">
                  <a16:creationId xmlns:a16="http://schemas.microsoft.com/office/drawing/2014/main" id="{3EF9A21F-47F7-DA4A-21EE-68B9DF5D9CB8}"/>
                </a:ext>
              </a:extLst>
            </p:cNvPr>
            <p:cNvSpPr>
              <a:spLocks/>
            </p:cNvSpPr>
            <p:nvPr/>
          </p:nvSpPr>
          <p:spPr bwMode="auto">
            <a:xfrm>
              <a:off x="3024126" y="1413876"/>
              <a:ext cx="41817" cy="41817"/>
            </a:xfrm>
            <a:custGeom>
              <a:avLst/>
              <a:gdLst>
                <a:gd name="T0" fmla="*/ 0 w 44"/>
                <a:gd name="T1" fmla="*/ 22 h 44"/>
                <a:gd name="T2" fmla="*/ 21 w 44"/>
                <a:gd name="T3" fmla="*/ 0 h 44"/>
                <a:gd name="T4" fmla="*/ 44 w 44"/>
                <a:gd name="T5" fmla="*/ 22 h 44"/>
                <a:gd name="T6" fmla="*/ 44 w 44"/>
                <a:gd name="T7" fmla="*/ 22 h 44"/>
                <a:gd name="T8" fmla="*/ 21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9" y="0"/>
                    <a:pt x="21" y="0"/>
                  </a:cubicBezTo>
                  <a:cubicBezTo>
                    <a:pt x="34" y="0"/>
                    <a:pt x="44" y="10"/>
                    <a:pt x="44" y="22"/>
                  </a:cubicBezTo>
                  <a:cubicBezTo>
                    <a:pt x="44" y="22"/>
                    <a:pt x="44" y="22"/>
                    <a:pt x="44" y="22"/>
                  </a:cubicBezTo>
                  <a:cubicBezTo>
                    <a:pt x="44" y="35"/>
                    <a:pt x="34" y="44"/>
                    <a:pt x="21" y="44"/>
                  </a:cubicBezTo>
                  <a:cubicBezTo>
                    <a:pt x="9" y="44"/>
                    <a:pt x="0" y="35"/>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dirty="0"/>
            </a:p>
          </p:txBody>
        </p:sp>
        <p:sp>
          <p:nvSpPr>
            <p:cNvPr id="187" name="Freeform 129">
              <a:extLst>
                <a:ext uri="{FF2B5EF4-FFF2-40B4-BE49-F238E27FC236}">
                  <a16:creationId xmlns:a16="http://schemas.microsoft.com/office/drawing/2014/main" id="{45073958-34B4-50F1-9063-B666E06393AD}"/>
                </a:ext>
              </a:extLst>
            </p:cNvPr>
            <p:cNvSpPr>
              <a:spLocks/>
            </p:cNvSpPr>
            <p:nvPr/>
          </p:nvSpPr>
          <p:spPr bwMode="auto">
            <a:xfrm>
              <a:off x="3114414" y="1334043"/>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9" y="0"/>
                    <a:pt x="22" y="0"/>
                  </a:cubicBezTo>
                  <a:cubicBezTo>
                    <a:pt x="34" y="0"/>
                    <a:pt x="44" y="10"/>
                    <a:pt x="44" y="22"/>
                  </a:cubicBezTo>
                  <a:cubicBezTo>
                    <a:pt x="44" y="22"/>
                    <a:pt x="44" y="22"/>
                    <a:pt x="44" y="22"/>
                  </a:cubicBezTo>
                  <a:cubicBezTo>
                    <a:pt x="44" y="34"/>
                    <a:pt x="34" y="44"/>
                    <a:pt x="22" y="44"/>
                  </a:cubicBezTo>
                  <a:cubicBezTo>
                    <a:pt x="9"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188" name="Line 130">
              <a:extLst>
                <a:ext uri="{FF2B5EF4-FFF2-40B4-BE49-F238E27FC236}">
                  <a16:creationId xmlns:a16="http://schemas.microsoft.com/office/drawing/2014/main" id="{F83BE165-FD0A-60C7-4496-8A1847DA0344}"/>
                </a:ext>
              </a:extLst>
            </p:cNvPr>
            <p:cNvSpPr>
              <a:spLocks noChangeShapeType="1"/>
            </p:cNvSpPr>
            <p:nvPr/>
          </p:nvSpPr>
          <p:spPr bwMode="auto">
            <a:xfrm flipV="1">
              <a:off x="2960450" y="989051"/>
              <a:ext cx="55123" cy="50371"/>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89" name="Line 131">
              <a:extLst>
                <a:ext uri="{FF2B5EF4-FFF2-40B4-BE49-F238E27FC236}">
                  <a16:creationId xmlns:a16="http://schemas.microsoft.com/office/drawing/2014/main" id="{F4D43E83-2401-3CE0-F9EB-B6077AD971F8}"/>
                </a:ext>
              </a:extLst>
            </p:cNvPr>
            <p:cNvSpPr>
              <a:spLocks noChangeShapeType="1"/>
            </p:cNvSpPr>
            <p:nvPr/>
          </p:nvSpPr>
          <p:spPr bwMode="auto">
            <a:xfrm>
              <a:off x="3016523" y="875004"/>
              <a:ext cx="14256" cy="79833"/>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90" name="Line 132">
              <a:extLst>
                <a:ext uri="{FF2B5EF4-FFF2-40B4-BE49-F238E27FC236}">
                  <a16:creationId xmlns:a16="http://schemas.microsoft.com/office/drawing/2014/main" id="{076639FB-CD4B-3FD1-4A10-FF862132D491}"/>
                </a:ext>
              </a:extLst>
            </p:cNvPr>
            <p:cNvSpPr>
              <a:spLocks noChangeShapeType="1"/>
            </p:cNvSpPr>
            <p:nvPr/>
          </p:nvSpPr>
          <p:spPr bwMode="auto">
            <a:xfrm flipH="1" flipV="1">
              <a:off x="2902476" y="810377"/>
              <a:ext cx="95039" cy="3611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91" name="Line 133">
              <a:extLst>
                <a:ext uri="{FF2B5EF4-FFF2-40B4-BE49-F238E27FC236}">
                  <a16:creationId xmlns:a16="http://schemas.microsoft.com/office/drawing/2014/main" id="{542713DF-2401-682C-1676-82AC64EB5A42}"/>
                </a:ext>
              </a:extLst>
            </p:cNvPr>
            <p:cNvSpPr>
              <a:spLocks noChangeShapeType="1"/>
            </p:cNvSpPr>
            <p:nvPr/>
          </p:nvSpPr>
          <p:spPr bwMode="auto">
            <a:xfrm flipV="1">
              <a:off x="2810289" y="815129"/>
              <a:ext cx="59875" cy="5987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92" name="Line 134">
              <a:extLst>
                <a:ext uri="{FF2B5EF4-FFF2-40B4-BE49-F238E27FC236}">
                  <a16:creationId xmlns:a16="http://schemas.microsoft.com/office/drawing/2014/main" id="{0887C12A-27B5-C4C4-F93A-C2AAD8539EB3}"/>
                </a:ext>
              </a:extLst>
            </p:cNvPr>
            <p:cNvSpPr>
              <a:spLocks noChangeShapeType="1"/>
            </p:cNvSpPr>
            <p:nvPr/>
          </p:nvSpPr>
          <p:spPr bwMode="auto">
            <a:xfrm>
              <a:off x="2812190" y="899715"/>
              <a:ext cx="7603" cy="77932"/>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94" name="Line 136">
              <a:extLst>
                <a:ext uri="{FF2B5EF4-FFF2-40B4-BE49-F238E27FC236}">
                  <a16:creationId xmlns:a16="http://schemas.microsoft.com/office/drawing/2014/main" id="{E555AA43-28F6-AAE3-65DB-27F91FE810CF}"/>
                </a:ext>
              </a:extLst>
            </p:cNvPr>
            <p:cNvSpPr>
              <a:spLocks noChangeShapeType="1"/>
            </p:cNvSpPr>
            <p:nvPr/>
          </p:nvSpPr>
          <p:spPr bwMode="auto">
            <a:xfrm>
              <a:off x="2944293" y="1073636"/>
              <a:ext cx="30413" cy="87436"/>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95" name="Line 137">
              <a:extLst>
                <a:ext uri="{FF2B5EF4-FFF2-40B4-BE49-F238E27FC236}">
                  <a16:creationId xmlns:a16="http://schemas.microsoft.com/office/drawing/2014/main" id="{8E74A485-70AE-AFC8-08FE-7B816F93929E}"/>
                </a:ext>
              </a:extLst>
            </p:cNvPr>
            <p:cNvSpPr>
              <a:spLocks noChangeShapeType="1"/>
            </p:cNvSpPr>
            <p:nvPr/>
          </p:nvSpPr>
          <p:spPr bwMode="auto">
            <a:xfrm>
              <a:off x="3049787" y="985249"/>
              <a:ext cx="85535" cy="3516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96" name="Line 138">
              <a:extLst>
                <a:ext uri="{FF2B5EF4-FFF2-40B4-BE49-F238E27FC236}">
                  <a16:creationId xmlns:a16="http://schemas.microsoft.com/office/drawing/2014/main" id="{37BB0EAE-C8C1-09F7-F70E-677C5C21BCBB}"/>
                </a:ext>
              </a:extLst>
            </p:cNvPr>
            <p:cNvSpPr>
              <a:spLocks noChangeShapeType="1"/>
            </p:cNvSpPr>
            <p:nvPr/>
          </p:nvSpPr>
          <p:spPr bwMode="auto">
            <a:xfrm>
              <a:off x="3162883" y="1040372"/>
              <a:ext cx="27562" cy="93138"/>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97" name="Line 139">
              <a:extLst>
                <a:ext uri="{FF2B5EF4-FFF2-40B4-BE49-F238E27FC236}">
                  <a16:creationId xmlns:a16="http://schemas.microsoft.com/office/drawing/2014/main" id="{EC01EF4F-C604-55C2-E4DB-1FE9DE05BE93}"/>
                </a:ext>
              </a:extLst>
            </p:cNvPr>
            <p:cNvSpPr>
              <a:spLocks noChangeShapeType="1"/>
            </p:cNvSpPr>
            <p:nvPr/>
          </p:nvSpPr>
          <p:spPr bwMode="auto">
            <a:xfrm flipV="1">
              <a:off x="3131521" y="1168675"/>
              <a:ext cx="52272" cy="4942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99" name="Line 141">
              <a:extLst>
                <a:ext uri="{FF2B5EF4-FFF2-40B4-BE49-F238E27FC236}">
                  <a16:creationId xmlns:a16="http://schemas.microsoft.com/office/drawing/2014/main" id="{B57CF9CA-B6E3-DB55-0CC1-CB2FC29ED8F4}"/>
                </a:ext>
              </a:extLst>
            </p:cNvPr>
            <p:cNvSpPr>
              <a:spLocks noChangeShapeType="1"/>
            </p:cNvSpPr>
            <p:nvPr/>
          </p:nvSpPr>
          <p:spPr bwMode="auto">
            <a:xfrm>
              <a:off x="3121066" y="1257061"/>
              <a:ext cx="1901" cy="80784"/>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00" name="Line 142">
              <a:extLst>
                <a:ext uri="{FF2B5EF4-FFF2-40B4-BE49-F238E27FC236}">
                  <a16:creationId xmlns:a16="http://schemas.microsoft.com/office/drawing/2014/main" id="{B1258B7C-BE8A-4B31-2FC8-2AC3E281C150}"/>
                </a:ext>
              </a:extLst>
            </p:cNvPr>
            <p:cNvSpPr>
              <a:spLocks noChangeShapeType="1"/>
            </p:cNvSpPr>
            <p:nvPr/>
          </p:nvSpPr>
          <p:spPr bwMode="auto">
            <a:xfrm>
              <a:off x="2911980" y="1389443"/>
              <a:ext cx="125452" cy="50094"/>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01" name="Line 143">
              <a:extLst>
                <a:ext uri="{FF2B5EF4-FFF2-40B4-BE49-F238E27FC236}">
                  <a16:creationId xmlns:a16="http://schemas.microsoft.com/office/drawing/2014/main" id="{EDFCC495-EE0E-3B1D-3E31-DC0B6C2B8CA6}"/>
                </a:ext>
              </a:extLst>
            </p:cNvPr>
            <p:cNvSpPr>
              <a:spLocks noChangeShapeType="1"/>
            </p:cNvSpPr>
            <p:nvPr/>
          </p:nvSpPr>
          <p:spPr bwMode="auto">
            <a:xfrm>
              <a:off x="2898675" y="1292226"/>
              <a:ext cx="6653" cy="70329"/>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03" name="Line 145">
              <a:extLst>
                <a:ext uri="{FF2B5EF4-FFF2-40B4-BE49-F238E27FC236}">
                  <a16:creationId xmlns:a16="http://schemas.microsoft.com/office/drawing/2014/main" id="{ABBB4593-66BB-A507-E3FD-71FD581F7467}"/>
                </a:ext>
              </a:extLst>
            </p:cNvPr>
            <p:cNvSpPr>
              <a:spLocks noChangeShapeType="1"/>
            </p:cNvSpPr>
            <p:nvPr/>
          </p:nvSpPr>
          <p:spPr bwMode="auto">
            <a:xfrm flipV="1">
              <a:off x="3060241" y="1368257"/>
              <a:ext cx="58924" cy="52272"/>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06" name="Freeform 148">
              <a:extLst>
                <a:ext uri="{FF2B5EF4-FFF2-40B4-BE49-F238E27FC236}">
                  <a16:creationId xmlns:a16="http://schemas.microsoft.com/office/drawing/2014/main" id="{7049C993-E3AC-5BAC-34EE-DD488A4F31F7}"/>
                </a:ext>
              </a:extLst>
            </p:cNvPr>
            <p:cNvSpPr>
              <a:spLocks/>
            </p:cNvSpPr>
            <p:nvPr/>
          </p:nvSpPr>
          <p:spPr bwMode="auto">
            <a:xfrm>
              <a:off x="2865411" y="816080"/>
              <a:ext cx="353545" cy="353546"/>
            </a:xfrm>
            <a:custGeom>
              <a:avLst/>
              <a:gdLst>
                <a:gd name="T0" fmla="*/ 0 w 372"/>
                <a:gd name="T1" fmla="*/ 186 h 372"/>
                <a:gd name="T2" fmla="*/ 186 w 372"/>
                <a:gd name="T3" fmla="*/ 0 h 372"/>
                <a:gd name="T4" fmla="*/ 372 w 372"/>
                <a:gd name="T5" fmla="*/ 186 h 372"/>
                <a:gd name="T6" fmla="*/ 372 w 372"/>
                <a:gd name="T7" fmla="*/ 186 h 372"/>
                <a:gd name="T8" fmla="*/ 186 w 372"/>
                <a:gd name="T9" fmla="*/ 372 h 372"/>
                <a:gd name="T10" fmla="*/ 0 w 372"/>
                <a:gd name="T11" fmla="*/ 186 h 372"/>
              </a:gdLst>
              <a:ahLst/>
              <a:cxnLst>
                <a:cxn ang="0">
                  <a:pos x="T0" y="T1"/>
                </a:cxn>
                <a:cxn ang="0">
                  <a:pos x="T2" y="T3"/>
                </a:cxn>
                <a:cxn ang="0">
                  <a:pos x="T4" y="T5"/>
                </a:cxn>
                <a:cxn ang="0">
                  <a:pos x="T6" y="T7"/>
                </a:cxn>
                <a:cxn ang="0">
                  <a:pos x="T8" y="T9"/>
                </a:cxn>
                <a:cxn ang="0">
                  <a:pos x="T10" y="T11"/>
                </a:cxn>
              </a:cxnLst>
              <a:rect l="0" t="0" r="r" b="b"/>
              <a:pathLst>
                <a:path w="372" h="372">
                  <a:moveTo>
                    <a:pt x="0" y="186"/>
                  </a:moveTo>
                  <a:cubicBezTo>
                    <a:pt x="0" y="83"/>
                    <a:pt x="83" y="0"/>
                    <a:pt x="186" y="0"/>
                  </a:cubicBezTo>
                  <a:cubicBezTo>
                    <a:pt x="288" y="0"/>
                    <a:pt x="372" y="83"/>
                    <a:pt x="372" y="186"/>
                  </a:cubicBezTo>
                  <a:cubicBezTo>
                    <a:pt x="372" y="186"/>
                    <a:pt x="372" y="186"/>
                    <a:pt x="372" y="186"/>
                  </a:cubicBezTo>
                  <a:cubicBezTo>
                    <a:pt x="372" y="289"/>
                    <a:pt x="288" y="372"/>
                    <a:pt x="186" y="372"/>
                  </a:cubicBezTo>
                  <a:cubicBezTo>
                    <a:pt x="83" y="372"/>
                    <a:pt x="0" y="289"/>
                    <a:pt x="0" y="186"/>
                  </a:cubicBezTo>
                </a:path>
              </a:pathLst>
            </a:custGeom>
            <a:noFill/>
            <a:ln w="12700" cap="rnd">
              <a:solidFill>
                <a:srgbClr val="0070C0"/>
              </a:solidFill>
              <a:prstDash val="sysDash"/>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07" name="Freeform 149">
              <a:extLst>
                <a:ext uri="{FF2B5EF4-FFF2-40B4-BE49-F238E27FC236}">
                  <a16:creationId xmlns:a16="http://schemas.microsoft.com/office/drawing/2014/main" id="{748B4DD7-022D-D1A6-9920-4E41E2314ED3}"/>
                </a:ext>
              </a:extLst>
            </p:cNvPr>
            <p:cNvSpPr>
              <a:spLocks/>
            </p:cNvSpPr>
            <p:nvPr/>
          </p:nvSpPr>
          <p:spPr bwMode="auto">
            <a:xfrm>
              <a:off x="2801735" y="1227599"/>
              <a:ext cx="298423" cy="298423"/>
            </a:xfrm>
            <a:custGeom>
              <a:avLst/>
              <a:gdLst>
                <a:gd name="T0" fmla="*/ 0 w 314"/>
                <a:gd name="T1" fmla="*/ 157 h 314"/>
                <a:gd name="T2" fmla="*/ 157 w 314"/>
                <a:gd name="T3" fmla="*/ 0 h 314"/>
                <a:gd name="T4" fmla="*/ 314 w 314"/>
                <a:gd name="T5" fmla="*/ 157 h 314"/>
                <a:gd name="T6" fmla="*/ 314 w 314"/>
                <a:gd name="T7" fmla="*/ 157 h 314"/>
                <a:gd name="T8" fmla="*/ 157 w 314"/>
                <a:gd name="T9" fmla="*/ 314 h 314"/>
                <a:gd name="T10" fmla="*/ 0 w 314"/>
                <a:gd name="T11" fmla="*/ 157 h 314"/>
              </a:gdLst>
              <a:ahLst/>
              <a:cxnLst>
                <a:cxn ang="0">
                  <a:pos x="T0" y="T1"/>
                </a:cxn>
                <a:cxn ang="0">
                  <a:pos x="T2" y="T3"/>
                </a:cxn>
                <a:cxn ang="0">
                  <a:pos x="T4" y="T5"/>
                </a:cxn>
                <a:cxn ang="0">
                  <a:pos x="T6" y="T7"/>
                </a:cxn>
                <a:cxn ang="0">
                  <a:pos x="T8" y="T9"/>
                </a:cxn>
                <a:cxn ang="0">
                  <a:pos x="T10" y="T11"/>
                </a:cxn>
              </a:cxnLst>
              <a:rect l="0" t="0" r="r" b="b"/>
              <a:pathLst>
                <a:path w="314" h="314">
                  <a:moveTo>
                    <a:pt x="0" y="157"/>
                  </a:moveTo>
                  <a:cubicBezTo>
                    <a:pt x="0" y="70"/>
                    <a:pt x="71" y="0"/>
                    <a:pt x="157" y="0"/>
                  </a:cubicBezTo>
                  <a:cubicBezTo>
                    <a:pt x="244" y="0"/>
                    <a:pt x="314" y="70"/>
                    <a:pt x="314" y="157"/>
                  </a:cubicBezTo>
                  <a:cubicBezTo>
                    <a:pt x="314" y="157"/>
                    <a:pt x="314" y="157"/>
                    <a:pt x="314" y="157"/>
                  </a:cubicBezTo>
                  <a:cubicBezTo>
                    <a:pt x="314" y="244"/>
                    <a:pt x="244" y="314"/>
                    <a:pt x="157" y="314"/>
                  </a:cubicBezTo>
                  <a:cubicBezTo>
                    <a:pt x="71" y="314"/>
                    <a:pt x="0" y="244"/>
                    <a:pt x="0" y="157"/>
                  </a:cubicBezTo>
                </a:path>
              </a:pathLst>
            </a:custGeom>
            <a:noFill/>
            <a:ln w="12700" cap="rnd">
              <a:solidFill>
                <a:srgbClr val="0070C0"/>
              </a:solidFill>
              <a:prstDash val="sysDash"/>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08" name="Line 150">
              <a:extLst>
                <a:ext uri="{FF2B5EF4-FFF2-40B4-BE49-F238E27FC236}">
                  <a16:creationId xmlns:a16="http://schemas.microsoft.com/office/drawing/2014/main" id="{9E83EFB5-A63D-57E6-AC40-0C8D86BA7982}"/>
                </a:ext>
              </a:extLst>
            </p:cNvPr>
            <p:cNvSpPr>
              <a:spLocks noChangeShapeType="1"/>
            </p:cNvSpPr>
            <p:nvPr/>
          </p:nvSpPr>
          <p:spPr bwMode="auto">
            <a:xfrm flipH="1" flipV="1">
              <a:off x="3033629" y="866450"/>
              <a:ext cx="565431" cy="110246"/>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09" name="Line 151">
              <a:extLst>
                <a:ext uri="{FF2B5EF4-FFF2-40B4-BE49-F238E27FC236}">
                  <a16:creationId xmlns:a16="http://schemas.microsoft.com/office/drawing/2014/main" id="{A76FC59C-14C9-C33F-F260-1993D53E9D51}"/>
                </a:ext>
              </a:extLst>
            </p:cNvPr>
            <p:cNvSpPr>
              <a:spLocks noChangeShapeType="1"/>
            </p:cNvSpPr>
            <p:nvPr/>
          </p:nvSpPr>
          <p:spPr bwMode="auto">
            <a:xfrm flipH="1" flipV="1">
              <a:off x="3051688" y="975745"/>
              <a:ext cx="534477" cy="951"/>
            </a:xfrm>
            <a:prstGeom prst="line">
              <a:avLst/>
            </a:prstGeom>
            <a:noFill/>
            <a:ln w="12700" cap="rnd">
              <a:solidFill>
                <a:srgbClr val="1473D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10" name="Line 152">
              <a:extLst>
                <a:ext uri="{FF2B5EF4-FFF2-40B4-BE49-F238E27FC236}">
                  <a16:creationId xmlns:a16="http://schemas.microsoft.com/office/drawing/2014/main" id="{063003A9-6CA0-2861-FAD8-0A93F27FA713}"/>
                </a:ext>
              </a:extLst>
            </p:cNvPr>
            <p:cNvSpPr>
              <a:spLocks noChangeShapeType="1"/>
            </p:cNvSpPr>
            <p:nvPr/>
          </p:nvSpPr>
          <p:spPr bwMode="auto">
            <a:xfrm flipH="1">
              <a:off x="3177139" y="982398"/>
              <a:ext cx="409026" cy="38016"/>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11" name="Line 153">
              <a:extLst>
                <a:ext uri="{FF2B5EF4-FFF2-40B4-BE49-F238E27FC236}">
                  <a16:creationId xmlns:a16="http://schemas.microsoft.com/office/drawing/2014/main" id="{FA50C377-C4A3-2719-5A43-F7116AB30B5A}"/>
                </a:ext>
              </a:extLst>
            </p:cNvPr>
            <p:cNvSpPr>
              <a:spLocks noChangeShapeType="1"/>
            </p:cNvSpPr>
            <p:nvPr/>
          </p:nvSpPr>
          <p:spPr bwMode="auto">
            <a:xfrm flipH="1">
              <a:off x="2956648" y="988100"/>
              <a:ext cx="629517" cy="80783"/>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12" name="Line 154">
              <a:extLst>
                <a:ext uri="{FF2B5EF4-FFF2-40B4-BE49-F238E27FC236}">
                  <a16:creationId xmlns:a16="http://schemas.microsoft.com/office/drawing/2014/main" id="{A9E8FE92-762E-E104-681B-07C3C98681B0}"/>
                </a:ext>
              </a:extLst>
            </p:cNvPr>
            <p:cNvSpPr>
              <a:spLocks noChangeShapeType="1"/>
            </p:cNvSpPr>
            <p:nvPr/>
          </p:nvSpPr>
          <p:spPr bwMode="auto">
            <a:xfrm flipH="1" flipV="1">
              <a:off x="2919583" y="1271317"/>
              <a:ext cx="664679" cy="101692"/>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13" name="Line 155">
              <a:extLst>
                <a:ext uri="{FF2B5EF4-FFF2-40B4-BE49-F238E27FC236}">
                  <a16:creationId xmlns:a16="http://schemas.microsoft.com/office/drawing/2014/main" id="{3737F913-D8AD-3BB0-A0AE-9C5166F8878D}"/>
                </a:ext>
              </a:extLst>
            </p:cNvPr>
            <p:cNvSpPr>
              <a:spLocks noChangeShapeType="1"/>
            </p:cNvSpPr>
            <p:nvPr/>
          </p:nvSpPr>
          <p:spPr bwMode="auto">
            <a:xfrm flipH="1" flipV="1">
              <a:off x="2921484" y="1369207"/>
              <a:ext cx="664680" cy="8553"/>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14" name="Line 156">
              <a:extLst>
                <a:ext uri="{FF2B5EF4-FFF2-40B4-BE49-F238E27FC236}">
                  <a16:creationId xmlns:a16="http://schemas.microsoft.com/office/drawing/2014/main" id="{E81A78F5-1A33-44C1-D093-7922FC5C55DE}"/>
                </a:ext>
              </a:extLst>
            </p:cNvPr>
            <p:cNvSpPr>
              <a:spLocks noChangeShapeType="1"/>
            </p:cNvSpPr>
            <p:nvPr/>
          </p:nvSpPr>
          <p:spPr bwMode="auto">
            <a:xfrm flipH="1">
              <a:off x="3065943" y="1374910"/>
              <a:ext cx="520221" cy="59874"/>
            </a:xfrm>
            <a:prstGeom prst="line">
              <a:avLst/>
            </a:prstGeom>
            <a:noFill/>
            <a:ln w="12700" cap="rnd">
              <a:solidFill>
                <a:srgbClr val="0070C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grpSp>
          <p:nvGrpSpPr>
            <p:cNvPr id="216" name="组合 215">
              <a:extLst>
                <a:ext uri="{FF2B5EF4-FFF2-40B4-BE49-F238E27FC236}">
                  <a16:creationId xmlns:a16="http://schemas.microsoft.com/office/drawing/2014/main" id="{7F170F3A-C28E-7FCA-E0CB-6A9769E225CC}"/>
                </a:ext>
              </a:extLst>
            </p:cNvPr>
            <p:cNvGrpSpPr/>
            <p:nvPr/>
          </p:nvGrpSpPr>
          <p:grpSpPr>
            <a:xfrm>
              <a:off x="3576854" y="926325"/>
              <a:ext cx="163867" cy="579739"/>
              <a:chOff x="3100817" y="4387117"/>
              <a:chExt cx="419100" cy="1482725"/>
            </a:xfrm>
          </p:grpSpPr>
          <p:sp>
            <p:nvSpPr>
              <p:cNvPr id="217" name="Freeform 29">
                <a:extLst>
                  <a:ext uri="{FF2B5EF4-FFF2-40B4-BE49-F238E27FC236}">
                    <a16:creationId xmlns:a16="http://schemas.microsoft.com/office/drawing/2014/main" id="{BC0AE14B-F4B8-E19C-6179-050EBEC016FE}"/>
                  </a:ext>
                </a:extLst>
              </p:cNvPr>
              <p:cNvSpPr>
                <a:spLocks/>
              </p:cNvSpPr>
              <p:nvPr/>
            </p:nvSpPr>
            <p:spPr bwMode="auto">
              <a:xfrm>
                <a:off x="3100817" y="4387117"/>
                <a:ext cx="419100" cy="1482725"/>
              </a:xfrm>
              <a:custGeom>
                <a:avLst/>
                <a:gdLst>
                  <a:gd name="T0" fmla="*/ 363 w 436"/>
                  <a:gd name="T1" fmla="*/ 1542 h 1542"/>
                  <a:gd name="T2" fmla="*/ 436 w 436"/>
                  <a:gd name="T3" fmla="*/ 1470 h 1542"/>
                  <a:gd name="T4" fmla="*/ 436 w 436"/>
                  <a:gd name="T5" fmla="*/ 1470 h 1542"/>
                  <a:gd name="T6" fmla="*/ 436 w 436"/>
                  <a:gd name="T7" fmla="*/ 73 h 1542"/>
                  <a:gd name="T8" fmla="*/ 363 w 436"/>
                  <a:gd name="T9" fmla="*/ 0 h 1542"/>
                  <a:gd name="T10" fmla="*/ 363 w 436"/>
                  <a:gd name="T11" fmla="*/ 0 h 1542"/>
                  <a:gd name="T12" fmla="*/ 73 w 436"/>
                  <a:gd name="T13" fmla="*/ 0 h 1542"/>
                  <a:gd name="T14" fmla="*/ 0 w 436"/>
                  <a:gd name="T15" fmla="*/ 73 h 1542"/>
                  <a:gd name="T16" fmla="*/ 0 w 436"/>
                  <a:gd name="T17" fmla="*/ 1470 h 1542"/>
                  <a:gd name="T18" fmla="*/ 73 w 436"/>
                  <a:gd name="T19" fmla="*/ 1542 h 1542"/>
                  <a:gd name="T20" fmla="*/ 363 w 436"/>
                  <a:gd name="T21" fmla="*/ 1542 h 1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36" h="1542">
                    <a:moveTo>
                      <a:pt x="363" y="1542"/>
                    </a:moveTo>
                    <a:cubicBezTo>
                      <a:pt x="403" y="1542"/>
                      <a:pt x="436" y="1510"/>
                      <a:pt x="436" y="1470"/>
                    </a:cubicBezTo>
                    <a:lnTo>
                      <a:pt x="436" y="1470"/>
                    </a:lnTo>
                    <a:lnTo>
                      <a:pt x="436" y="73"/>
                    </a:lnTo>
                    <a:cubicBezTo>
                      <a:pt x="436" y="33"/>
                      <a:pt x="403" y="0"/>
                      <a:pt x="363" y="0"/>
                    </a:cubicBezTo>
                    <a:lnTo>
                      <a:pt x="363" y="0"/>
                    </a:lnTo>
                    <a:lnTo>
                      <a:pt x="73" y="0"/>
                    </a:lnTo>
                    <a:cubicBezTo>
                      <a:pt x="33" y="0"/>
                      <a:pt x="0" y="33"/>
                      <a:pt x="0" y="73"/>
                    </a:cubicBezTo>
                    <a:lnTo>
                      <a:pt x="0" y="1470"/>
                    </a:lnTo>
                    <a:cubicBezTo>
                      <a:pt x="0" y="1510"/>
                      <a:pt x="33" y="1542"/>
                      <a:pt x="73" y="1542"/>
                    </a:cubicBezTo>
                    <a:lnTo>
                      <a:pt x="363" y="1542"/>
                    </a:lnTo>
                  </a:path>
                </a:pathLst>
              </a:cu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18" name="Freeform 30">
                <a:extLst>
                  <a:ext uri="{FF2B5EF4-FFF2-40B4-BE49-F238E27FC236}">
                    <a16:creationId xmlns:a16="http://schemas.microsoft.com/office/drawing/2014/main" id="{EE4C53AB-76E6-E5ED-44B0-B039A30C609B}"/>
                  </a:ext>
                </a:extLst>
              </p:cNvPr>
              <p:cNvSpPr>
                <a:spLocks/>
              </p:cNvSpPr>
              <p:nvPr/>
            </p:nvSpPr>
            <p:spPr bwMode="auto">
              <a:xfrm>
                <a:off x="3124630" y="4441092"/>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FFC0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19" name="Freeform 31">
                <a:extLst>
                  <a:ext uri="{FF2B5EF4-FFF2-40B4-BE49-F238E27FC236}">
                    <a16:creationId xmlns:a16="http://schemas.microsoft.com/office/drawing/2014/main" id="{748A7A2A-4254-5FFD-F652-EDD1E5AC7DC1}"/>
                  </a:ext>
                </a:extLst>
              </p:cNvPr>
              <p:cNvSpPr>
                <a:spLocks/>
              </p:cNvSpPr>
              <p:nvPr/>
            </p:nvSpPr>
            <p:spPr bwMode="auto">
              <a:xfrm>
                <a:off x="3124630" y="4679217"/>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3">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20" name="Freeform 32">
                <a:extLst>
                  <a:ext uri="{FF2B5EF4-FFF2-40B4-BE49-F238E27FC236}">
                    <a16:creationId xmlns:a16="http://schemas.microsoft.com/office/drawing/2014/main" id="{69474D4F-C14E-79B9-D49C-5FF3308754FC}"/>
                  </a:ext>
                </a:extLst>
              </p:cNvPr>
              <p:cNvSpPr>
                <a:spLocks/>
              </p:cNvSpPr>
              <p:nvPr/>
            </p:nvSpPr>
            <p:spPr bwMode="auto">
              <a:xfrm>
                <a:off x="3124630" y="4925280"/>
                <a:ext cx="371475" cy="146050"/>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3">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21" name="Freeform 33">
                <a:extLst>
                  <a:ext uri="{FF2B5EF4-FFF2-40B4-BE49-F238E27FC236}">
                    <a16:creationId xmlns:a16="http://schemas.microsoft.com/office/drawing/2014/main" id="{EFD89CEC-903C-AAF7-8006-EF847C5E4B16}"/>
                  </a:ext>
                </a:extLst>
              </p:cNvPr>
              <p:cNvSpPr>
                <a:spLocks/>
              </p:cNvSpPr>
              <p:nvPr/>
            </p:nvSpPr>
            <p:spPr bwMode="auto">
              <a:xfrm>
                <a:off x="3124630" y="5423755"/>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FFC0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22" name="Freeform 34">
                <a:extLst>
                  <a:ext uri="{FF2B5EF4-FFF2-40B4-BE49-F238E27FC236}">
                    <a16:creationId xmlns:a16="http://schemas.microsoft.com/office/drawing/2014/main" id="{2336B31C-288D-77FE-3DBE-3AA665B2BD47}"/>
                  </a:ext>
                </a:extLst>
              </p:cNvPr>
              <p:cNvSpPr>
                <a:spLocks/>
              </p:cNvSpPr>
              <p:nvPr/>
            </p:nvSpPr>
            <p:spPr bwMode="auto">
              <a:xfrm>
                <a:off x="3124630" y="5672992"/>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3">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23" name="Freeform 35">
                <a:extLst>
                  <a:ext uri="{FF2B5EF4-FFF2-40B4-BE49-F238E27FC236}">
                    <a16:creationId xmlns:a16="http://schemas.microsoft.com/office/drawing/2014/main" id="{529B6F88-B667-4D91-F15F-4C4066521B12}"/>
                  </a:ext>
                </a:extLst>
              </p:cNvPr>
              <p:cNvSpPr>
                <a:spLocks/>
              </p:cNvSpPr>
              <p:nvPr/>
            </p:nvSpPr>
            <p:spPr bwMode="auto">
              <a:xfrm>
                <a:off x="3275442" y="5099905"/>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24" name="Freeform 36">
                <a:extLst>
                  <a:ext uri="{FF2B5EF4-FFF2-40B4-BE49-F238E27FC236}">
                    <a16:creationId xmlns:a16="http://schemas.microsoft.com/office/drawing/2014/main" id="{A7B600DD-8A93-A68E-5B58-EA750DEF6EED}"/>
                  </a:ext>
                </a:extLst>
              </p:cNvPr>
              <p:cNvSpPr>
                <a:spLocks/>
              </p:cNvSpPr>
              <p:nvPr/>
            </p:nvSpPr>
            <p:spPr bwMode="auto">
              <a:xfrm>
                <a:off x="3275442" y="5215792"/>
                <a:ext cx="69850" cy="71438"/>
              </a:xfrm>
              <a:custGeom>
                <a:avLst/>
                <a:gdLst>
                  <a:gd name="T0" fmla="*/ 0 w 44"/>
                  <a:gd name="T1" fmla="*/ 22 h 45"/>
                  <a:gd name="T2" fmla="*/ 22 w 44"/>
                  <a:gd name="T3" fmla="*/ 0 h 45"/>
                  <a:gd name="T4" fmla="*/ 44 w 44"/>
                  <a:gd name="T5" fmla="*/ 22 h 45"/>
                  <a:gd name="T6" fmla="*/ 44 w 44"/>
                  <a:gd name="T7" fmla="*/ 22 h 45"/>
                  <a:gd name="T8" fmla="*/ 22 w 44"/>
                  <a:gd name="T9" fmla="*/ 45 h 45"/>
                  <a:gd name="T10" fmla="*/ 0 w 44"/>
                  <a:gd name="T11" fmla="*/ 22 h 45"/>
                </a:gdLst>
                <a:ahLst/>
                <a:cxnLst>
                  <a:cxn ang="0">
                    <a:pos x="T0" y="T1"/>
                  </a:cxn>
                  <a:cxn ang="0">
                    <a:pos x="T2" y="T3"/>
                  </a:cxn>
                  <a:cxn ang="0">
                    <a:pos x="T4" y="T5"/>
                  </a:cxn>
                  <a:cxn ang="0">
                    <a:pos x="T6" y="T7"/>
                  </a:cxn>
                  <a:cxn ang="0">
                    <a:pos x="T8" y="T9"/>
                  </a:cxn>
                  <a:cxn ang="0">
                    <a:pos x="T10" y="T11"/>
                  </a:cxn>
                </a:cxnLst>
                <a:rect l="0" t="0" r="r" b="b"/>
                <a:pathLst>
                  <a:path w="44" h="45">
                    <a:moveTo>
                      <a:pt x="0" y="22"/>
                    </a:moveTo>
                    <a:cubicBezTo>
                      <a:pt x="0" y="10"/>
                      <a:pt x="10" y="0"/>
                      <a:pt x="22" y="0"/>
                    </a:cubicBezTo>
                    <a:cubicBezTo>
                      <a:pt x="34" y="0"/>
                      <a:pt x="44" y="10"/>
                      <a:pt x="44" y="22"/>
                    </a:cubicBezTo>
                    <a:cubicBezTo>
                      <a:pt x="44" y="22"/>
                      <a:pt x="44" y="22"/>
                      <a:pt x="44" y="22"/>
                    </a:cubicBezTo>
                    <a:cubicBezTo>
                      <a:pt x="44" y="34"/>
                      <a:pt x="34" y="45"/>
                      <a:pt x="22" y="45"/>
                    </a:cubicBezTo>
                    <a:cubicBezTo>
                      <a:pt x="10" y="45"/>
                      <a:pt x="0" y="34"/>
                      <a:pt x="0" y="22"/>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25" name="Freeform 37">
                <a:extLst>
                  <a:ext uri="{FF2B5EF4-FFF2-40B4-BE49-F238E27FC236}">
                    <a16:creationId xmlns:a16="http://schemas.microsoft.com/office/drawing/2014/main" id="{813546BE-4AE4-9DA8-3BD2-D7F4049AD6F4}"/>
                  </a:ext>
                </a:extLst>
              </p:cNvPr>
              <p:cNvSpPr>
                <a:spLocks/>
              </p:cNvSpPr>
              <p:nvPr/>
            </p:nvSpPr>
            <p:spPr bwMode="auto">
              <a:xfrm>
                <a:off x="3275442" y="5333267"/>
                <a:ext cx="69850" cy="69850"/>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4"/>
                      <a:pt x="34" y="44"/>
                      <a:pt x="22" y="44"/>
                    </a:cubicBezTo>
                    <a:cubicBezTo>
                      <a:pt x="10" y="44"/>
                      <a:pt x="0" y="34"/>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grpSp>
          <p:nvGrpSpPr>
            <p:cNvPr id="279" name="组合 278">
              <a:extLst>
                <a:ext uri="{FF2B5EF4-FFF2-40B4-BE49-F238E27FC236}">
                  <a16:creationId xmlns:a16="http://schemas.microsoft.com/office/drawing/2014/main" id="{11BB8AF7-E650-436A-C04A-0CE151B427A0}"/>
                </a:ext>
              </a:extLst>
            </p:cNvPr>
            <p:cNvGrpSpPr/>
            <p:nvPr/>
          </p:nvGrpSpPr>
          <p:grpSpPr>
            <a:xfrm>
              <a:off x="3004592" y="1845578"/>
              <a:ext cx="488802" cy="287432"/>
              <a:chOff x="4043324" y="2328797"/>
              <a:chExt cx="628990" cy="369867"/>
            </a:xfrm>
          </p:grpSpPr>
          <p:sp>
            <p:nvSpPr>
              <p:cNvPr id="254" name="立方体 253">
                <a:extLst>
                  <a:ext uri="{FF2B5EF4-FFF2-40B4-BE49-F238E27FC236}">
                    <a16:creationId xmlns:a16="http://schemas.microsoft.com/office/drawing/2014/main" id="{4ADAA819-716B-FA38-D87B-908807167D24}"/>
                  </a:ext>
                </a:extLst>
              </p:cNvPr>
              <p:cNvSpPr/>
              <p:nvPr/>
            </p:nvSpPr>
            <p:spPr>
              <a:xfrm>
                <a:off x="4043362" y="2602690"/>
                <a:ext cx="138113" cy="95974"/>
              </a:xfrm>
              <a:prstGeom prst="cube">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立方体 254">
                <a:extLst>
                  <a:ext uri="{FF2B5EF4-FFF2-40B4-BE49-F238E27FC236}">
                    <a16:creationId xmlns:a16="http://schemas.microsoft.com/office/drawing/2014/main" id="{FD69A2BF-3C73-7BC6-B9B1-5199C264C716}"/>
                  </a:ext>
                </a:extLst>
              </p:cNvPr>
              <p:cNvSpPr/>
              <p:nvPr/>
            </p:nvSpPr>
            <p:spPr>
              <a:xfrm>
                <a:off x="4162465" y="2602690"/>
                <a:ext cx="138113" cy="95974"/>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6" name="立方体 255">
                <a:extLst>
                  <a:ext uri="{FF2B5EF4-FFF2-40B4-BE49-F238E27FC236}">
                    <a16:creationId xmlns:a16="http://schemas.microsoft.com/office/drawing/2014/main" id="{2BC24CD6-1C25-3DBE-B1E0-8182C2BBE3D3}"/>
                  </a:ext>
                </a:extLst>
              </p:cNvPr>
              <p:cNvSpPr/>
              <p:nvPr/>
            </p:nvSpPr>
            <p:spPr>
              <a:xfrm>
                <a:off x="4286330" y="2602690"/>
                <a:ext cx="138113" cy="95974"/>
              </a:xfrm>
              <a:prstGeom prst="cube">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7" name="立方体 256">
                <a:extLst>
                  <a:ext uri="{FF2B5EF4-FFF2-40B4-BE49-F238E27FC236}">
                    <a16:creationId xmlns:a16="http://schemas.microsoft.com/office/drawing/2014/main" id="{2B3DDA18-EAFA-386A-E796-5749AD11BB53}"/>
                  </a:ext>
                </a:extLst>
              </p:cNvPr>
              <p:cNvSpPr/>
              <p:nvPr/>
            </p:nvSpPr>
            <p:spPr>
              <a:xfrm>
                <a:off x="4410195" y="2601967"/>
                <a:ext cx="138113" cy="95974"/>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立方体 257">
                <a:extLst>
                  <a:ext uri="{FF2B5EF4-FFF2-40B4-BE49-F238E27FC236}">
                    <a16:creationId xmlns:a16="http://schemas.microsoft.com/office/drawing/2014/main" id="{1E26EBCE-A25B-E692-E84B-BDD4D955A6AF}"/>
                  </a:ext>
                </a:extLst>
              </p:cNvPr>
              <p:cNvSpPr/>
              <p:nvPr/>
            </p:nvSpPr>
            <p:spPr>
              <a:xfrm>
                <a:off x="4534060" y="2601967"/>
                <a:ext cx="138113" cy="95974"/>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9" name="立方体 258">
                <a:extLst>
                  <a:ext uri="{FF2B5EF4-FFF2-40B4-BE49-F238E27FC236}">
                    <a16:creationId xmlns:a16="http://schemas.microsoft.com/office/drawing/2014/main" id="{4EC4E5D6-DE0F-1A93-C203-B4AA6A48C91A}"/>
                  </a:ext>
                </a:extLst>
              </p:cNvPr>
              <p:cNvSpPr/>
              <p:nvPr/>
            </p:nvSpPr>
            <p:spPr>
              <a:xfrm>
                <a:off x="4043324" y="2531246"/>
                <a:ext cx="138113" cy="95974"/>
              </a:xfrm>
              <a:prstGeom prst="cube">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0" name="立方体 259">
                <a:extLst>
                  <a:ext uri="{FF2B5EF4-FFF2-40B4-BE49-F238E27FC236}">
                    <a16:creationId xmlns:a16="http://schemas.microsoft.com/office/drawing/2014/main" id="{E186426E-D585-E69E-BD02-06DD8D3BA273}"/>
                  </a:ext>
                </a:extLst>
              </p:cNvPr>
              <p:cNvSpPr/>
              <p:nvPr/>
            </p:nvSpPr>
            <p:spPr>
              <a:xfrm>
                <a:off x="4043362" y="2468299"/>
                <a:ext cx="138113" cy="95974"/>
              </a:xfrm>
              <a:prstGeom prst="cube">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1" name="立方体 260">
                <a:extLst>
                  <a:ext uri="{FF2B5EF4-FFF2-40B4-BE49-F238E27FC236}">
                    <a16:creationId xmlns:a16="http://schemas.microsoft.com/office/drawing/2014/main" id="{603438D4-FBE3-3BAF-D357-181A0D4FF431}"/>
                  </a:ext>
                </a:extLst>
              </p:cNvPr>
              <p:cNvSpPr/>
              <p:nvPr/>
            </p:nvSpPr>
            <p:spPr>
              <a:xfrm>
                <a:off x="4043324" y="2396855"/>
                <a:ext cx="138113" cy="95974"/>
              </a:xfrm>
              <a:prstGeom prst="cube">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2" name="立方体 261">
                <a:extLst>
                  <a:ext uri="{FF2B5EF4-FFF2-40B4-BE49-F238E27FC236}">
                    <a16:creationId xmlns:a16="http://schemas.microsoft.com/office/drawing/2014/main" id="{84249DD6-574B-9728-6A7B-E636F2F8F79C}"/>
                  </a:ext>
                </a:extLst>
              </p:cNvPr>
              <p:cNvSpPr/>
              <p:nvPr/>
            </p:nvSpPr>
            <p:spPr>
              <a:xfrm>
                <a:off x="4043324" y="2329499"/>
                <a:ext cx="138113" cy="95974"/>
              </a:xfrm>
              <a:prstGeom prst="cub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3" name="立方体 262">
                <a:extLst>
                  <a:ext uri="{FF2B5EF4-FFF2-40B4-BE49-F238E27FC236}">
                    <a16:creationId xmlns:a16="http://schemas.microsoft.com/office/drawing/2014/main" id="{47483848-7E08-2723-9C29-26C3179FC9DA}"/>
                  </a:ext>
                </a:extLst>
              </p:cNvPr>
              <p:cNvSpPr/>
              <p:nvPr/>
            </p:nvSpPr>
            <p:spPr>
              <a:xfrm>
                <a:off x="4164789" y="2530544"/>
                <a:ext cx="138113" cy="95974"/>
              </a:xfrm>
              <a:prstGeom prst="cube">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4" name="立方体 263">
                <a:extLst>
                  <a:ext uri="{FF2B5EF4-FFF2-40B4-BE49-F238E27FC236}">
                    <a16:creationId xmlns:a16="http://schemas.microsoft.com/office/drawing/2014/main" id="{46C85B53-936C-5616-DFF5-6B26E3837512}"/>
                  </a:ext>
                </a:extLst>
              </p:cNvPr>
              <p:cNvSpPr/>
              <p:nvPr/>
            </p:nvSpPr>
            <p:spPr>
              <a:xfrm>
                <a:off x="4164827" y="2467597"/>
                <a:ext cx="138113" cy="95974"/>
              </a:xfrm>
              <a:prstGeom prst="cube">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5" name="立方体 264">
                <a:extLst>
                  <a:ext uri="{FF2B5EF4-FFF2-40B4-BE49-F238E27FC236}">
                    <a16:creationId xmlns:a16="http://schemas.microsoft.com/office/drawing/2014/main" id="{DD4BB4FF-EE15-E3EC-CCBA-304733072686}"/>
                  </a:ext>
                </a:extLst>
              </p:cNvPr>
              <p:cNvSpPr/>
              <p:nvPr/>
            </p:nvSpPr>
            <p:spPr>
              <a:xfrm>
                <a:off x="4164789" y="2396153"/>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6" name="立方体 265">
                <a:extLst>
                  <a:ext uri="{FF2B5EF4-FFF2-40B4-BE49-F238E27FC236}">
                    <a16:creationId xmlns:a16="http://schemas.microsoft.com/office/drawing/2014/main" id="{BDF0193E-2556-D12B-DE86-79DFC60AE43B}"/>
                  </a:ext>
                </a:extLst>
              </p:cNvPr>
              <p:cNvSpPr/>
              <p:nvPr/>
            </p:nvSpPr>
            <p:spPr>
              <a:xfrm>
                <a:off x="4164789" y="2328797"/>
                <a:ext cx="138113" cy="95974"/>
              </a:xfrm>
              <a:prstGeom prst="cube">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7" name="立方体 266">
                <a:extLst>
                  <a:ext uri="{FF2B5EF4-FFF2-40B4-BE49-F238E27FC236}">
                    <a16:creationId xmlns:a16="http://schemas.microsoft.com/office/drawing/2014/main" id="{8ECC0A69-D6EE-796F-EFE7-F1323C8481AD}"/>
                  </a:ext>
                </a:extLst>
              </p:cNvPr>
              <p:cNvSpPr/>
              <p:nvPr/>
            </p:nvSpPr>
            <p:spPr>
              <a:xfrm>
                <a:off x="4283930" y="2531246"/>
                <a:ext cx="138113" cy="95974"/>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8" name="立方体 267">
                <a:extLst>
                  <a:ext uri="{FF2B5EF4-FFF2-40B4-BE49-F238E27FC236}">
                    <a16:creationId xmlns:a16="http://schemas.microsoft.com/office/drawing/2014/main" id="{B2AD13EF-E37C-0F8F-C895-C09242B43DB1}"/>
                  </a:ext>
                </a:extLst>
              </p:cNvPr>
              <p:cNvSpPr/>
              <p:nvPr/>
            </p:nvSpPr>
            <p:spPr>
              <a:xfrm>
                <a:off x="4283968" y="2468299"/>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9" name="立方体 268">
                <a:extLst>
                  <a:ext uri="{FF2B5EF4-FFF2-40B4-BE49-F238E27FC236}">
                    <a16:creationId xmlns:a16="http://schemas.microsoft.com/office/drawing/2014/main" id="{11BA5EAC-17BE-B80F-A75C-D64C64AB314F}"/>
                  </a:ext>
                </a:extLst>
              </p:cNvPr>
              <p:cNvSpPr/>
              <p:nvPr/>
            </p:nvSpPr>
            <p:spPr>
              <a:xfrm>
                <a:off x="4283930" y="2396855"/>
                <a:ext cx="138113" cy="95974"/>
              </a:xfrm>
              <a:prstGeom prst="cube">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立方体 269">
                <a:extLst>
                  <a:ext uri="{FF2B5EF4-FFF2-40B4-BE49-F238E27FC236}">
                    <a16:creationId xmlns:a16="http://schemas.microsoft.com/office/drawing/2014/main" id="{F3DDB2E7-9E71-82C9-84ED-5A646B6946E1}"/>
                  </a:ext>
                </a:extLst>
              </p:cNvPr>
              <p:cNvSpPr/>
              <p:nvPr/>
            </p:nvSpPr>
            <p:spPr>
              <a:xfrm>
                <a:off x="4283930" y="2329499"/>
                <a:ext cx="138113" cy="95974"/>
              </a:xfrm>
              <a:prstGeom prst="cube">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立方体 270">
                <a:extLst>
                  <a:ext uri="{FF2B5EF4-FFF2-40B4-BE49-F238E27FC236}">
                    <a16:creationId xmlns:a16="http://schemas.microsoft.com/office/drawing/2014/main" id="{26058CB4-AD8D-FCC5-B204-CFD466D9E896}"/>
                  </a:ext>
                </a:extLst>
              </p:cNvPr>
              <p:cNvSpPr/>
              <p:nvPr/>
            </p:nvSpPr>
            <p:spPr>
              <a:xfrm>
                <a:off x="4407776" y="2530544"/>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立方体 271">
                <a:extLst>
                  <a:ext uri="{FF2B5EF4-FFF2-40B4-BE49-F238E27FC236}">
                    <a16:creationId xmlns:a16="http://schemas.microsoft.com/office/drawing/2014/main" id="{E4E57340-92D3-9FB0-227B-F2588FDC1987}"/>
                  </a:ext>
                </a:extLst>
              </p:cNvPr>
              <p:cNvSpPr/>
              <p:nvPr/>
            </p:nvSpPr>
            <p:spPr>
              <a:xfrm>
                <a:off x="4407814" y="2467597"/>
                <a:ext cx="138113" cy="95974"/>
              </a:xfrm>
              <a:prstGeom prst="cube">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立方体 272">
                <a:extLst>
                  <a:ext uri="{FF2B5EF4-FFF2-40B4-BE49-F238E27FC236}">
                    <a16:creationId xmlns:a16="http://schemas.microsoft.com/office/drawing/2014/main" id="{657F46E3-DAFA-9778-67C4-3F54814832EE}"/>
                  </a:ext>
                </a:extLst>
              </p:cNvPr>
              <p:cNvSpPr/>
              <p:nvPr/>
            </p:nvSpPr>
            <p:spPr>
              <a:xfrm>
                <a:off x="4407776" y="2396153"/>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立方体 273">
                <a:extLst>
                  <a:ext uri="{FF2B5EF4-FFF2-40B4-BE49-F238E27FC236}">
                    <a16:creationId xmlns:a16="http://schemas.microsoft.com/office/drawing/2014/main" id="{6427A0A0-905C-9F7E-9755-D56B52B1CAA7}"/>
                  </a:ext>
                </a:extLst>
              </p:cNvPr>
              <p:cNvSpPr/>
              <p:nvPr/>
            </p:nvSpPr>
            <p:spPr>
              <a:xfrm>
                <a:off x="4407776" y="2328797"/>
                <a:ext cx="138113" cy="95974"/>
              </a:xfrm>
              <a:prstGeom prst="cube">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5" name="立方体 274">
                <a:extLst>
                  <a:ext uri="{FF2B5EF4-FFF2-40B4-BE49-F238E27FC236}">
                    <a16:creationId xmlns:a16="http://schemas.microsoft.com/office/drawing/2014/main" id="{DBFA9B9E-7A82-DEBA-4ACA-176BF5D6D7EE}"/>
                  </a:ext>
                </a:extLst>
              </p:cNvPr>
              <p:cNvSpPr/>
              <p:nvPr/>
            </p:nvSpPr>
            <p:spPr>
              <a:xfrm>
                <a:off x="4534163" y="2531218"/>
                <a:ext cx="138113" cy="95974"/>
              </a:xfrm>
              <a:prstGeom prst="cube">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6" name="立方体 275">
                <a:extLst>
                  <a:ext uri="{FF2B5EF4-FFF2-40B4-BE49-F238E27FC236}">
                    <a16:creationId xmlns:a16="http://schemas.microsoft.com/office/drawing/2014/main" id="{DBA80A84-B377-E758-FA0C-1B5BA4AC2B5E}"/>
                  </a:ext>
                </a:extLst>
              </p:cNvPr>
              <p:cNvSpPr/>
              <p:nvPr/>
            </p:nvSpPr>
            <p:spPr>
              <a:xfrm>
                <a:off x="4534201" y="2468271"/>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7" name="立方体 276">
                <a:extLst>
                  <a:ext uri="{FF2B5EF4-FFF2-40B4-BE49-F238E27FC236}">
                    <a16:creationId xmlns:a16="http://schemas.microsoft.com/office/drawing/2014/main" id="{016D8C40-9238-0D66-5F75-58449939C708}"/>
                  </a:ext>
                </a:extLst>
              </p:cNvPr>
              <p:cNvSpPr/>
              <p:nvPr/>
            </p:nvSpPr>
            <p:spPr>
              <a:xfrm>
                <a:off x="4534163" y="2396827"/>
                <a:ext cx="138113" cy="95974"/>
              </a:xfrm>
              <a:prstGeom prst="cube">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8" name="立方体 277">
                <a:extLst>
                  <a:ext uri="{FF2B5EF4-FFF2-40B4-BE49-F238E27FC236}">
                    <a16:creationId xmlns:a16="http://schemas.microsoft.com/office/drawing/2014/main" id="{21B1AF0A-1628-96EB-5745-D5C1C2936220}"/>
                  </a:ext>
                </a:extLst>
              </p:cNvPr>
              <p:cNvSpPr/>
              <p:nvPr/>
            </p:nvSpPr>
            <p:spPr>
              <a:xfrm>
                <a:off x="4534163" y="2329471"/>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81" name="文本框 280">
              <a:extLst>
                <a:ext uri="{FF2B5EF4-FFF2-40B4-BE49-F238E27FC236}">
                  <a16:creationId xmlns:a16="http://schemas.microsoft.com/office/drawing/2014/main" id="{9697561E-081A-D0CF-D248-05016EAA6C78}"/>
                </a:ext>
              </a:extLst>
            </p:cNvPr>
            <p:cNvSpPr txBox="1"/>
            <p:nvPr/>
          </p:nvSpPr>
          <p:spPr>
            <a:xfrm>
              <a:off x="2965950" y="1561186"/>
              <a:ext cx="890190" cy="307777"/>
            </a:xfrm>
            <a:prstGeom prst="rect">
              <a:avLst/>
            </a:prstGeom>
            <a:noFill/>
          </p:spPr>
          <p:txBody>
            <a:bodyPr wrap="square">
              <a:spAutoFit/>
            </a:bodyPr>
            <a:lstStyle/>
            <a:p>
              <a:r>
                <a:rPr lang="en-US" altLang="zh-CN" sz="700" dirty="0" err="1">
                  <a:effectLst/>
                  <a:latin typeface="宋体" panose="02010600030101010101" pitchFamily="2" charset="-122"/>
                  <a:cs typeface="Times New Roman" panose="02020603050405020304" pitchFamily="18" charset="0"/>
                </a:rPr>
                <a:t>ProtTrans</a:t>
              </a:r>
              <a:br>
                <a:rPr lang="en-US" altLang="zh-CN" sz="700" dirty="0">
                  <a:effectLst/>
                  <a:latin typeface="宋体" panose="02010600030101010101" pitchFamily="2" charset="-122"/>
                  <a:cs typeface="Times New Roman" panose="02020603050405020304" pitchFamily="18" charset="0"/>
                </a:rPr>
              </a:br>
              <a:r>
                <a:rPr lang="zh-CN" altLang="en-US" sz="700" dirty="0">
                  <a:effectLst/>
                  <a:latin typeface="宋体" panose="02010600030101010101" pitchFamily="2" charset="-122"/>
                  <a:cs typeface="Times New Roman" panose="02020603050405020304" pitchFamily="18" charset="0"/>
                </a:rPr>
                <a:t>序列嵌入</a:t>
              </a:r>
              <a:endParaRPr lang="zh-CN" altLang="en-US" sz="700" dirty="0"/>
            </a:p>
          </p:txBody>
        </p:sp>
        <p:grpSp>
          <p:nvGrpSpPr>
            <p:cNvPr id="282" name="组合 281">
              <a:extLst>
                <a:ext uri="{FF2B5EF4-FFF2-40B4-BE49-F238E27FC236}">
                  <a16:creationId xmlns:a16="http://schemas.microsoft.com/office/drawing/2014/main" id="{B5B31E42-9379-68D8-978F-B86723263AF7}"/>
                </a:ext>
              </a:extLst>
            </p:cNvPr>
            <p:cNvGrpSpPr/>
            <p:nvPr/>
          </p:nvGrpSpPr>
          <p:grpSpPr>
            <a:xfrm>
              <a:off x="3058622" y="2992694"/>
              <a:ext cx="509191" cy="299421"/>
              <a:chOff x="4043324" y="2328797"/>
              <a:chExt cx="628990" cy="369867"/>
            </a:xfrm>
          </p:grpSpPr>
          <p:sp>
            <p:nvSpPr>
              <p:cNvPr id="283" name="立方体 282">
                <a:extLst>
                  <a:ext uri="{FF2B5EF4-FFF2-40B4-BE49-F238E27FC236}">
                    <a16:creationId xmlns:a16="http://schemas.microsoft.com/office/drawing/2014/main" id="{BF022AAD-616A-9987-E1D8-AD2026F8FF2B}"/>
                  </a:ext>
                </a:extLst>
              </p:cNvPr>
              <p:cNvSpPr/>
              <p:nvPr/>
            </p:nvSpPr>
            <p:spPr>
              <a:xfrm>
                <a:off x="4043362" y="2602690"/>
                <a:ext cx="138113" cy="95974"/>
              </a:xfrm>
              <a:prstGeom prst="cube">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4" name="立方体 283">
                <a:extLst>
                  <a:ext uri="{FF2B5EF4-FFF2-40B4-BE49-F238E27FC236}">
                    <a16:creationId xmlns:a16="http://schemas.microsoft.com/office/drawing/2014/main" id="{828F4EA1-2B7C-13B4-123E-917AAF83F868}"/>
                  </a:ext>
                </a:extLst>
              </p:cNvPr>
              <p:cNvSpPr/>
              <p:nvPr/>
            </p:nvSpPr>
            <p:spPr>
              <a:xfrm>
                <a:off x="4162465" y="2602690"/>
                <a:ext cx="138113" cy="95974"/>
              </a:xfrm>
              <a:prstGeom prst="cube">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5" name="立方体 284">
                <a:extLst>
                  <a:ext uri="{FF2B5EF4-FFF2-40B4-BE49-F238E27FC236}">
                    <a16:creationId xmlns:a16="http://schemas.microsoft.com/office/drawing/2014/main" id="{8DDCC20E-4329-7941-2D98-CFDC59A0FF55}"/>
                  </a:ext>
                </a:extLst>
              </p:cNvPr>
              <p:cNvSpPr/>
              <p:nvPr/>
            </p:nvSpPr>
            <p:spPr>
              <a:xfrm>
                <a:off x="4286330" y="2602690"/>
                <a:ext cx="138113" cy="95974"/>
              </a:xfrm>
              <a:prstGeom prst="cube">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6" name="立方体 285">
                <a:extLst>
                  <a:ext uri="{FF2B5EF4-FFF2-40B4-BE49-F238E27FC236}">
                    <a16:creationId xmlns:a16="http://schemas.microsoft.com/office/drawing/2014/main" id="{DCBFCF7B-D027-3201-1441-E63135CF1727}"/>
                  </a:ext>
                </a:extLst>
              </p:cNvPr>
              <p:cNvSpPr/>
              <p:nvPr/>
            </p:nvSpPr>
            <p:spPr>
              <a:xfrm>
                <a:off x="4410195" y="2601967"/>
                <a:ext cx="138113" cy="95974"/>
              </a:xfrm>
              <a:prstGeom prst="cube">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7" name="立方体 286">
                <a:extLst>
                  <a:ext uri="{FF2B5EF4-FFF2-40B4-BE49-F238E27FC236}">
                    <a16:creationId xmlns:a16="http://schemas.microsoft.com/office/drawing/2014/main" id="{625CB021-0482-74AB-284D-7DA7CBBBB647}"/>
                  </a:ext>
                </a:extLst>
              </p:cNvPr>
              <p:cNvSpPr/>
              <p:nvPr/>
            </p:nvSpPr>
            <p:spPr>
              <a:xfrm>
                <a:off x="4534060" y="2601967"/>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8" name="立方体 287">
                <a:extLst>
                  <a:ext uri="{FF2B5EF4-FFF2-40B4-BE49-F238E27FC236}">
                    <a16:creationId xmlns:a16="http://schemas.microsoft.com/office/drawing/2014/main" id="{C0F9F5B9-1C97-830E-166E-E94E707825B0}"/>
                  </a:ext>
                </a:extLst>
              </p:cNvPr>
              <p:cNvSpPr/>
              <p:nvPr/>
            </p:nvSpPr>
            <p:spPr>
              <a:xfrm>
                <a:off x="4043324" y="2531246"/>
                <a:ext cx="138113" cy="95974"/>
              </a:xfrm>
              <a:prstGeom prst="cub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9" name="立方体 288">
                <a:extLst>
                  <a:ext uri="{FF2B5EF4-FFF2-40B4-BE49-F238E27FC236}">
                    <a16:creationId xmlns:a16="http://schemas.microsoft.com/office/drawing/2014/main" id="{5F4CBC3C-754B-E4D1-4EFB-FCF7EC9DDA1B}"/>
                  </a:ext>
                </a:extLst>
              </p:cNvPr>
              <p:cNvSpPr/>
              <p:nvPr/>
            </p:nvSpPr>
            <p:spPr>
              <a:xfrm>
                <a:off x="4043362" y="2468299"/>
                <a:ext cx="138113" cy="95974"/>
              </a:xfrm>
              <a:prstGeom prst="cube">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0" name="立方体 289">
                <a:extLst>
                  <a:ext uri="{FF2B5EF4-FFF2-40B4-BE49-F238E27FC236}">
                    <a16:creationId xmlns:a16="http://schemas.microsoft.com/office/drawing/2014/main" id="{15F88F6D-3E9E-6D90-BB20-939CECA65902}"/>
                  </a:ext>
                </a:extLst>
              </p:cNvPr>
              <p:cNvSpPr/>
              <p:nvPr/>
            </p:nvSpPr>
            <p:spPr>
              <a:xfrm>
                <a:off x="4043324" y="2396855"/>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1" name="立方体 290">
                <a:extLst>
                  <a:ext uri="{FF2B5EF4-FFF2-40B4-BE49-F238E27FC236}">
                    <a16:creationId xmlns:a16="http://schemas.microsoft.com/office/drawing/2014/main" id="{829CA633-0068-0FBE-486A-21DFE155E49A}"/>
                  </a:ext>
                </a:extLst>
              </p:cNvPr>
              <p:cNvSpPr/>
              <p:nvPr/>
            </p:nvSpPr>
            <p:spPr>
              <a:xfrm>
                <a:off x="4043324" y="2329499"/>
                <a:ext cx="138113" cy="95974"/>
              </a:xfrm>
              <a:prstGeom prst="cub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2" name="立方体 291">
                <a:extLst>
                  <a:ext uri="{FF2B5EF4-FFF2-40B4-BE49-F238E27FC236}">
                    <a16:creationId xmlns:a16="http://schemas.microsoft.com/office/drawing/2014/main" id="{7F9A4CE8-AF64-9D31-DFE5-858F4085A080}"/>
                  </a:ext>
                </a:extLst>
              </p:cNvPr>
              <p:cNvSpPr/>
              <p:nvPr/>
            </p:nvSpPr>
            <p:spPr>
              <a:xfrm>
                <a:off x="4164789" y="2530544"/>
                <a:ext cx="138113" cy="95974"/>
              </a:xfrm>
              <a:prstGeom prst="cube">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3" name="立方体 292">
                <a:extLst>
                  <a:ext uri="{FF2B5EF4-FFF2-40B4-BE49-F238E27FC236}">
                    <a16:creationId xmlns:a16="http://schemas.microsoft.com/office/drawing/2014/main" id="{7DE5C232-CB57-9008-5559-28A17C38D839}"/>
                  </a:ext>
                </a:extLst>
              </p:cNvPr>
              <p:cNvSpPr/>
              <p:nvPr/>
            </p:nvSpPr>
            <p:spPr>
              <a:xfrm>
                <a:off x="4164827" y="2467597"/>
                <a:ext cx="138113" cy="95974"/>
              </a:xfrm>
              <a:prstGeom prst="cub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4" name="立方体 293">
                <a:extLst>
                  <a:ext uri="{FF2B5EF4-FFF2-40B4-BE49-F238E27FC236}">
                    <a16:creationId xmlns:a16="http://schemas.microsoft.com/office/drawing/2014/main" id="{4C33067F-6CCB-EFD8-14AF-D9D4108A7A62}"/>
                  </a:ext>
                </a:extLst>
              </p:cNvPr>
              <p:cNvSpPr/>
              <p:nvPr/>
            </p:nvSpPr>
            <p:spPr>
              <a:xfrm>
                <a:off x="4164789" y="2396153"/>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5" name="立方体 294">
                <a:extLst>
                  <a:ext uri="{FF2B5EF4-FFF2-40B4-BE49-F238E27FC236}">
                    <a16:creationId xmlns:a16="http://schemas.microsoft.com/office/drawing/2014/main" id="{099FB614-614E-12F2-F727-E6298393A5BD}"/>
                  </a:ext>
                </a:extLst>
              </p:cNvPr>
              <p:cNvSpPr/>
              <p:nvPr/>
            </p:nvSpPr>
            <p:spPr>
              <a:xfrm>
                <a:off x="4164789" y="2328797"/>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6" name="立方体 295">
                <a:extLst>
                  <a:ext uri="{FF2B5EF4-FFF2-40B4-BE49-F238E27FC236}">
                    <a16:creationId xmlns:a16="http://schemas.microsoft.com/office/drawing/2014/main" id="{C2727884-5609-5100-4EA7-A0629EAFB818}"/>
                  </a:ext>
                </a:extLst>
              </p:cNvPr>
              <p:cNvSpPr/>
              <p:nvPr/>
            </p:nvSpPr>
            <p:spPr>
              <a:xfrm>
                <a:off x="4283930" y="2531246"/>
                <a:ext cx="138113" cy="95974"/>
              </a:xfrm>
              <a:prstGeom prst="cube">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7" name="立方体 296">
                <a:extLst>
                  <a:ext uri="{FF2B5EF4-FFF2-40B4-BE49-F238E27FC236}">
                    <a16:creationId xmlns:a16="http://schemas.microsoft.com/office/drawing/2014/main" id="{90182DFF-7E88-F43E-6F49-781044E65AF9}"/>
                  </a:ext>
                </a:extLst>
              </p:cNvPr>
              <p:cNvSpPr/>
              <p:nvPr/>
            </p:nvSpPr>
            <p:spPr>
              <a:xfrm>
                <a:off x="4283968" y="2468299"/>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8" name="立方体 297">
                <a:extLst>
                  <a:ext uri="{FF2B5EF4-FFF2-40B4-BE49-F238E27FC236}">
                    <a16:creationId xmlns:a16="http://schemas.microsoft.com/office/drawing/2014/main" id="{32B421E9-683B-CB06-7562-80A5937FC620}"/>
                  </a:ext>
                </a:extLst>
              </p:cNvPr>
              <p:cNvSpPr/>
              <p:nvPr/>
            </p:nvSpPr>
            <p:spPr>
              <a:xfrm>
                <a:off x="4283930" y="2396855"/>
                <a:ext cx="138113" cy="95974"/>
              </a:xfrm>
              <a:prstGeom prst="cube">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9" name="立方体 298">
                <a:extLst>
                  <a:ext uri="{FF2B5EF4-FFF2-40B4-BE49-F238E27FC236}">
                    <a16:creationId xmlns:a16="http://schemas.microsoft.com/office/drawing/2014/main" id="{8F8ED1FF-C559-A705-3B00-C0272CBB1592}"/>
                  </a:ext>
                </a:extLst>
              </p:cNvPr>
              <p:cNvSpPr/>
              <p:nvPr/>
            </p:nvSpPr>
            <p:spPr>
              <a:xfrm>
                <a:off x="4283930" y="2329499"/>
                <a:ext cx="138113" cy="95974"/>
              </a:xfrm>
              <a:prstGeom prst="cub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0" name="立方体 299">
                <a:extLst>
                  <a:ext uri="{FF2B5EF4-FFF2-40B4-BE49-F238E27FC236}">
                    <a16:creationId xmlns:a16="http://schemas.microsoft.com/office/drawing/2014/main" id="{129248AB-219A-34B8-018A-34B77466B3AB}"/>
                  </a:ext>
                </a:extLst>
              </p:cNvPr>
              <p:cNvSpPr/>
              <p:nvPr/>
            </p:nvSpPr>
            <p:spPr>
              <a:xfrm>
                <a:off x="4407776" y="2530544"/>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1" name="立方体 300">
                <a:extLst>
                  <a:ext uri="{FF2B5EF4-FFF2-40B4-BE49-F238E27FC236}">
                    <a16:creationId xmlns:a16="http://schemas.microsoft.com/office/drawing/2014/main" id="{7A35B2C9-B305-5920-D3BD-65C928C6E38E}"/>
                  </a:ext>
                </a:extLst>
              </p:cNvPr>
              <p:cNvSpPr/>
              <p:nvPr/>
            </p:nvSpPr>
            <p:spPr>
              <a:xfrm>
                <a:off x="4407814" y="2467597"/>
                <a:ext cx="138113" cy="95974"/>
              </a:xfrm>
              <a:prstGeom prst="cub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2" name="立方体 301">
                <a:extLst>
                  <a:ext uri="{FF2B5EF4-FFF2-40B4-BE49-F238E27FC236}">
                    <a16:creationId xmlns:a16="http://schemas.microsoft.com/office/drawing/2014/main" id="{FF810538-C5CD-4C0A-6BE2-B52C0E755150}"/>
                  </a:ext>
                </a:extLst>
              </p:cNvPr>
              <p:cNvSpPr/>
              <p:nvPr/>
            </p:nvSpPr>
            <p:spPr>
              <a:xfrm>
                <a:off x="4407776" y="2396153"/>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3" name="立方体 302">
                <a:extLst>
                  <a:ext uri="{FF2B5EF4-FFF2-40B4-BE49-F238E27FC236}">
                    <a16:creationId xmlns:a16="http://schemas.microsoft.com/office/drawing/2014/main" id="{CC64DF92-0CBA-523D-9435-6C67F7475527}"/>
                  </a:ext>
                </a:extLst>
              </p:cNvPr>
              <p:cNvSpPr/>
              <p:nvPr/>
            </p:nvSpPr>
            <p:spPr>
              <a:xfrm>
                <a:off x="4407776" y="2328797"/>
                <a:ext cx="138113" cy="95974"/>
              </a:xfrm>
              <a:prstGeom prst="cube">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4" name="立方体 303">
                <a:extLst>
                  <a:ext uri="{FF2B5EF4-FFF2-40B4-BE49-F238E27FC236}">
                    <a16:creationId xmlns:a16="http://schemas.microsoft.com/office/drawing/2014/main" id="{76E21490-98F6-4440-1533-C748016B9756}"/>
                  </a:ext>
                </a:extLst>
              </p:cNvPr>
              <p:cNvSpPr/>
              <p:nvPr/>
            </p:nvSpPr>
            <p:spPr>
              <a:xfrm>
                <a:off x="4534163" y="2531218"/>
                <a:ext cx="138113" cy="95974"/>
              </a:xfrm>
              <a:prstGeom prst="cube">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5" name="立方体 304">
                <a:extLst>
                  <a:ext uri="{FF2B5EF4-FFF2-40B4-BE49-F238E27FC236}">
                    <a16:creationId xmlns:a16="http://schemas.microsoft.com/office/drawing/2014/main" id="{2DE66155-D103-ADF5-998E-314DF6E0B438}"/>
                  </a:ext>
                </a:extLst>
              </p:cNvPr>
              <p:cNvSpPr/>
              <p:nvPr/>
            </p:nvSpPr>
            <p:spPr>
              <a:xfrm>
                <a:off x="4534201" y="2468271"/>
                <a:ext cx="138113" cy="95974"/>
              </a:xfrm>
              <a:prstGeom prst="cub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6" name="立方体 305">
                <a:extLst>
                  <a:ext uri="{FF2B5EF4-FFF2-40B4-BE49-F238E27FC236}">
                    <a16:creationId xmlns:a16="http://schemas.microsoft.com/office/drawing/2014/main" id="{C039B55E-80EA-66D4-0132-87A82F1947A9}"/>
                  </a:ext>
                </a:extLst>
              </p:cNvPr>
              <p:cNvSpPr/>
              <p:nvPr/>
            </p:nvSpPr>
            <p:spPr>
              <a:xfrm>
                <a:off x="4534163" y="2396827"/>
                <a:ext cx="138113" cy="95974"/>
              </a:xfrm>
              <a:prstGeom prst="cube">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7" name="立方体 306">
                <a:extLst>
                  <a:ext uri="{FF2B5EF4-FFF2-40B4-BE49-F238E27FC236}">
                    <a16:creationId xmlns:a16="http://schemas.microsoft.com/office/drawing/2014/main" id="{1D9BAD66-6940-3915-D8B3-C1A350201636}"/>
                  </a:ext>
                </a:extLst>
              </p:cNvPr>
              <p:cNvSpPr/>
              <p:nvPr/>
            </p:nvSpPr>
            <p:spPr>
              <a:xfrm>
                <a:off x="4534163" y="2329471"/>
                <a:ext cx="138113" cy="95974"/>
              </a:xfrm>
              <a:prstGeom prst="cub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10" name="文本框 309">
              <a:extLst>
                <a:ext uri="{FF2B5EF4-FFF2-40B4-BE49-F238E27FC236}">
                  <a16:creationId xmlns:a16="http://schemas.microsoft.com/office/drawing/2014/main" id="{E4D8E582-5A9C-35EB-C9F0-02DC373A6A83}"/>
                </a:ext>
              </a:extLst>
            </p:cNvPr>
            <p:cNvSpPr txBox="1"/>
            <p:nvPr/>
          </p:nvSpPr>
          <p:spPr>
            <a:xfrm>
              <a:off x="3039113" y="2714588"/>
              <a:ext cx="674975" cy="307777"/>
            </a:xfrm>
            <a:prstGeom prst="rect">
              <a:avLst/>
            </a:prstGeom>
            <a:noFill/>
          </p:spPr>
          <p:txBody>
            <a:bodyPr wrap="square">
              <a:spAutoFit/>
            </a:bodyPr>
            <a:lstStyle/>
            <a:p>
              <a:r>
                <a:rPr lang="en-US" altLang="zh-CN" sz="700" dirty="0">
                  <a:effectLst/>
                  <a:latin typeface="宋体" panose="02010600030101010101" pitchFamily="2" charset="-122"/>
                  <a:cs typeface="Times New Roman" panose="02020603050405020304" pitchFamily="18" charset="0"/>
                </a:rPr>
                <a:t>ChemBERTa-2</a:t>
              </a:r>
            </a:p>
            <a:p>
              <a:r>
                <a:rPr lang="zh-CN" altLang="en-US" sz="700" dirty="0">
                  <a:effectLst/>
                  <a:latin typeface="宋体" panose="02010600030101010101" pitchFamily="2" charset="-122"/>
                  <a:cs typeface="Times New Roman" panose="02020603050405020304" pitchFamily="18" charset="0"/>
                </a:rPr>
                <a:t>序列嵌入</a:t>
              </a:r>
              <a:endParaRPr lang="zh-CN" altLang="en-US" sz="900" dirty="0"/>
            </a:p>
          </p:txBody>
        </p:sp>
        <p:cxnSp>
          <p:nvCxnSpPr>
            <p:cNvPr id="315" name="直接箭头连接符 314">
              <a:extLst>
                <a:ext uri="{FF2B5EF4-FFF2-40B4-BE49-F238E27FC236}">
                  <a16:creationId xmlns:a16="http://schemas.microsoft.com/office/drawing/2014/main" id="{13CBC9B0-DC9B-24D9-846D-B2951407E5D8}"/>
                </a:ext>
              </a:extLst>
            </p:cNvPr>
            <p:cNvCxnSpPr>
              <a:cxnSpLocks/>
              <a:stCxn id="220" idx="3"/>
              <a:endCxn id="327" idx="1"/>
            </p:cNvCxnSpPr>
            <p:nvPr/>
          </p:nvCxnSpPr>
          <p:spPr>
            <a:xfrm>
              <a:off x="3731411" y="1145820"/>
              <a:ext cx="160242" cy="3815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8" name="直接箭头连接符 317">
              <a:extLst>
                <a:ext uri="{FF2B5EF4-FFF2-40B4-BE49-F238E27FC236}">
                  <a16:creationId xmlns:a16="http://schemas.microsoft.com/office/drawing/2014/main" id="{FED732C3-4B35-4339-79C1-30AA0E979864}"/>
                </a:ext>
              </a:extLst>
            </p:cNvPr>
            <p:cNvCxnSpPr>
              <a:cxnSpLocks/>
              <a:endCxn id="327" idx="1"/>
            </p:cNvCxnSpPr>
            <p:nvPr/>
          </p:nvCxnSpPr>
          <p:spPr>
            <a:xfrm flipV="1">
              <a:off x="3599060" y="1527374"/>
              <a:ext cx="292593" cy="4256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1" name="直接箭头连接符 320">
              <a:extLst>
                <a:ext uri="{FF2B5EF4-FFF2-40B4-BE49-F238E27FC236}">
                  <a16:creationId xmlns:a16="http://schemas.microsoft.com/office/drawing/2014/main" id="{AB4C8540-FEE6-496D-EC4A-878FBEE7B616}"/>
                </a:ext>
              </a:extLst>
            </p:cNvPr>
            <p:cNvCxnSpPr>
              <a:cxnSpLocks/>
              <a:stCxn id="304" idx="5"/>
              <a:endCxn id="328" idx="1"/>
            </p:cNvCxnSpPr>
            <p:nvPr/>
          </p:nvCxnSpPr>
          <p:spPr>
            <a:xfrm>
              <a:off x="3567783" y="3185696"/>
              <a:ext cx="433047" cy="6310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2" name="直接箭头连接符 321">
              <a:extLst>
                <a:ext uri="{FF2B5EF4-FFF2-40B4-BE49-F238E27FC236}">
                  <a16:creationId xmlns:a16="http://schemas.microsoft.com/office/drawing/2014/main" id="{35436252-E480-8DFB-FD8A-2D91253D100D}"/>
                </a:ext>
              </a:extLst>
            </p:cNvPr>
            <p:cNvCxnSpPr>
              <a:cxnSpLocks/>
              <a:endCxn id="328" idx="1"/>
            </p:cNvCxnSpPr>
            <p:nvPr/>
          </p:nvCxnSpPr>
          <p:spPr>
            <a:xfrm flipV="1">
              <a:off x="3823414" y="3816725"/>
              <a:ext cx="177416" cy="2016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7" name="矩形 326">
              <a:extLst>
                <a:ext uri="{FF2B5EF4-FFF2-40B4-BE49-F238E27FC236}">
                  <a16:creationId xmlns:a16="http://schemas.microsoft.com/office/drawing/2014/main" id="{FE312D77-86E3-84CD-65F6-7967FCBDDAB5}"/>
                </a:ext>
              </a:extLst>
            </p:cNvPr>
            <p:cNvSpPr/>
            <p:nvPr/>
          </p:nvSpPr>
          <p:spPr>
            <a:xfrm>
              <a:off x="3891653" y="1271317"/>
              <a:ext cx="646331" cy="51211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900" dirty="0">
                  <a:solidFill>
                    <a:schemeClr val="tx1"/>
                  </a:solidFill>
                </a:rPr>
                <a:t>交叉注意力模块</a:t>
              </a:r>
            </a:p>
          </p:txBody>
        </p:sp>
        <p:sp>
          <p:nvSpPr>
            <p:cNvPr id="328" name="矩形 327">
              <a:extLst>
                <a:ext uri="{FF2B5EF4-FFF2-40B4-BE49-F238E27FC236}">
                  <a16:creationId xmlns:a16="http://schemas.microsoft.com/office/drawing/2014/main" id="{12D63B95-AB4A-57E7-C972-E54C8E2E6673}"/>
                </a:ext>
              </a:extLst>
            </p:cNvPr>
            <p:cNvSpPr/>
            <p:nvPr/>
          </p:nvSpPr>
          <p:spPr>
            <a:xfrm>
              <a:off x="4000830" y="3560668"/>
              <a:ext cx="646331" cy="51211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900" dirty="0">
                  <a:solidFill>
                    <a:schemeClr val="tx1"/>
                  </a:solidFill>
                </a:rPr>
                <a:t>交叉注意力模块</a:t>
              </a:r>
            </a:p>
          </p:txBody>
        </p:sp>
        <p:grpSp>
          <p:nvGrpSpPr>
            <p:cNvPr id="341" name="组合 340">
              <a:extLst>
                <a:ext uri="{FF2B5EF4-FFF2-40B4-BE49-F238E27FC236}">
                  <a16:creationId xmlns:a16="http://schemas.microsoft.com/office/drawing/2014/main" id="{88A231C8-A9C4-E2ED-7D23-C41777AC689F}"/>
                </a:ext>
              </a:extLst>
            </p:cNvPr>
            <p:cNvGrpSpPr/>
            <p:nvPr/>
          </p:nvGrpSpPr>
          <p:grpSpPr>
            <a:xfrm>
              <a:off x="4462083" y="1389443"/>
              <a:ext cx="396965" cy="235900"/>
              <a:chOff x="3183868" y="2070945"/>
              <a:chExt cx="396965" cy="235900"/>
            </a:xfrm>
          </p:grpSpPr>
          <p:sp>
            <p:nvSpPr>
              <p:cNvPr id="339" name="半闭框 338">
                <a:extLst>
                  <a:ext uri="{FF2B5EF4-FFF2-40B4-BE49-F238E27FC236}">
                    <a16:creationId xmlns:a16="http://schemas.microsoft.com/office/drawing/2014/main" id="{643BA31A-7FCB-771A-58D0-C95365C390DD}"/>
                  </a:ext>
                </a:extLst>
              </p:cNvPr>
              <p:cNvSpPr/>
              <p:nvPr/>
            </p:nvSpPr>
            <p:spPr>
              <a:xfrm rot="8058507">
                <a:off x="3183868" y="2076667"/>
                <a:ext cx="230178" cy="230178"/>
              </a:xfrm>
              <a:prstGeom prst="halfFram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40" name="半闭框 339">
                <a:extLst>
                  <a:ext uri="{FF2B5EF4-FFF2-40B4-BE49-F238E27FC236}">
                    <a16:creationId xmlns:a16="http://schemas.microsoft.com/office/drawing/2014/main" id="{FADC81FE-AE8B-6B93-6BA4-63EFA84E17CC}"/>
                  </a:ext>
                </a:extLst>
              </p:cNvPr>
              <p:cNvSpPr/>
              <p:nvPr/>
            </p:nvSpPr>
            <p:spPr>
              <a:xfrm rot="8058507">
                <a:off x="3350655" y="2070945"/>
                <a:ext cx="230178" cy="230178"/>
              </a:xfrm>
              <a:prstGeom prst="halfFram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342" name="组合 341">
              <a:extLst>
                <a:ext uri="{FF2B5EF4-FFF2-40B4-BE49-F238E27FC236}">
                  <a16:creationId xmlns:a16="http://schemas.microsoft.com/office/drawing/2014/main" id="{39692EE6-E93C-7249-F974-7892B5F4EC59}"/>
                </a:ext>
              </a:extLst>
            </p:cNvPr>
            <p:cNvGrpSpPr/>
            <p:nvPr/>
          </p:nvGrpSpPr>
          <p:grpSpPr>
            <a:xfrm>
              <a:off x="4564117" y="3681646"/>
              <a:ext cx="396965" cy="235900"/>
              <a:chOff x="3183868" y="2070945"/>
              <a:chExt cx="396965" cy="235900"/>
            </a:xfrm>
          </p:grpSpPr>
          <p:sp>
            <p:nvSpPr>
              <p:cNvPr id="343" name="半闭框 342">
                <a:extLst>
                  <a:ext uri="{FF2B5EF4-FFF2-40B4-BE49-F238E27FC236}">
                    <a16:creationId xmlns:a16="http://schemas.microsoft.com/office/drawing/2014/main" id="{BD08D292-0716-ECED-A2F1-B0955FF0D402}"/>
                  </a:ext>
                </a:extLst>
              </p:cNvPr>
              <p:cNvSpPr/>
              <p:nvPr/>
            </p:nvSpPr>
            <p:spPr>
              <a:xfrm rot="8058507">
                <a:off x="3183868" y="2076667"/>
                <a:ext cx="230178" cy="230178"/>
              </a:xfrm>
              <a:prstGeom prst="halfFram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44" name="半闭框 343">
                <a:extLst>
                  <a:ext uri="{FF2B5EF4-FFF2-40B4-BE49-F238E27FC236}">
                    <a16:creationId xmlns:a16="http://schemas.microsoft.com/office/drawing/2014/main" id="{5B8C3B5F-2D28-65B7-5E80-9F45C7D8FD75}"/>
                  </a:ext>
                </a:extLst>
              </p:cNvPr>
              <p:cNvSpPr/>
              <p:nvPr/>
            </p:nvSpPr>
            <p:spPr>
              <a:xfrm rot="8058507">
                <a:off x="3350655" y="2070945"/>
                <a:ext cx="230178" cy="230178"/>
              </a:xfrm>
              <a:prstGeom prst="halfFram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04" name="组合 403">
              <a:extLst>
                <a:ext uri="{FF2B5EF4-FFF2-40B4-BE49-F238E27FC236}">
                  <a16:creationId xmlns:a16="http://schemas.microsoft.com/office/drawing/2014/main" id="{A07DFABE-CC8B-6B0B-2BBC-F2705E3C218E}"/>
                </a:ext>
              </a:extLst>
            </p:cNvPr>
            <p:cNvGrpSpPr/>
            <p:nvPr/>
          </p:nvGrpSpPr>
          <p:grpSpPr>
            <a:xfrm>
              <a:off x="4953980" y="1141743"/>
              <a:ext cx="318620" cy="687522"/>
              <a:chOff x="3445219" y="1560271"/>
              <a:chExt cx="460913" cy="994562"/>
            </a:xfrm>
          </p:grpSpPr>
          <p:sp>
            <p:nvSpPr>
              <p:cNvPr id="346" name="Freeform 16">
                <a:extLst>
                  <a:ext uri="{FF2B5EF4-FFF2-40B4-BE49-F238E27FC236}">
                    <a16:creationId xmlns:a16="http://schemas.microsoft.com/office/drawing/2014/main" id="{67CBB42B-2913-DEDC-2D98-3BEE66EABB37}"/>
                  </a:ext>
                </a:extLst>
              </p:cNvPr>
              <p:cNvSpPr>
                <a:spLocks/>
              </p:cNvSpPr>
              <p:nvPr/>
            </p:nvSpPr>
            <p:spPr bwMode="auto">
              <a:xfrm>
                <a:off x="3568451" y="1565026"/>
                <a:ext cx="93074" cy="147638"/>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47" name="Freeform 17">
                <a:extLst>
                  <a:ext uri="{FF2B5EF4-FFF2-40B4-BE49-F238E27FC236}">
                    <a16:creationId xmlns:a16="http://schemas.microsoft.com/office/drawing/2014/main" id="{80E77153-9A39-8C8F-6529-46EF27A7F28E}"/>
                  </a:ext>
                </a:extLst>
              </p:cNvPr>
              <p:cNvSpPr>
                <a:spLocks/>
              </p:cNvSpPr>
              <p:nvPr/>
            </p:nvSpPr>
            <p:spPr bwMode="auto">
              <a:xfrm>
                <a:off x="3568451" y="1724411"/>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48" name="Freeform 18">
                <a:extLst>
                  <a:ext uri="{FF2B5EF4-FFF2-40B4-BE49-F238E27FC236}">
                    <a16:creationId xmlns:a16="http://schemas.microsoft.com/office/drawing/2014/main" id="{C01BC4F6-561E-D28B-4FF1-95BC374D76C3}"/>
                  </a:ext>
                </a:extLst>
              </p:cNvPr>
              <p:cNvSpPr>
                <a:spLocks/>
              </p:cNvSpPr>
              <p:nvPr/>
            </p:nvSpPr>
            <p:spPr bwMode="auto">
              <a:xfrm>
                <a:off x="3568451" y="1874590"/>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49" name="Freeform 19">
                <a:extLst>
                  <a:ext uri="{FF2B5EF4-FFF2-40B4-BE49-F238E27FC236}">
                    <a16:creationId xmlns:a16="http://schemas.microsoft.com/office/drawing/2014/main" id="{805FBB1B-48DA-D195-0B31-206190142BF0}"/>
                  </a:ext>
                </a:extLst>
              </p:cNvPr>
              <p:cNvSpPr>
                <a:spLocks/>
              </p:cNvSpPr>
              <p:nvPr/>
            </p:nvSpPr>
            <p:spPr bwMode="auto">
              <a:xfrm>
                <a:off x="3568451" y="2246067"/>
                <a:ext cx="93074"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50" name="Freeform 20">
                <a:extLst>
                  <a:ext uri="{FF2B5EF4-FFF2-40B4-BE49-F238E27FC236}">
                    <a16:creationId xmlns:a16="http://schemas.microsoft.com/office/drawing/2014/main" id="{5628513A-A619-65D0-851E-393F3861CD0F}"/>
                  </a:ext>
                </a:extLst>
              </p:cNvPr>
              <p:cNvSpPr>
                <a:spLocks/>
              </p:cNvSpPr>
              <p:nvPr/>
            </p:nvSpPr>
            <p:spPr bwMode="auto">
              <a:xfrm>
                <a:off x="3568451" y="2408783"/>
                <a:ext cx="93074" cy="146050"/>
              </a:xfrm>
              <a:custGeom>
                <a:avLst/>
                <a:gdLst>
                  <a:gd name="T0" fmla="*/ 362 w 387"/>
                  <a:gd name="T1" fmla="*/ 151 h 151"/>
                  <a:gd name="T2" fmla="*/ 387 w 387"/>
                  <a:gd name="T3" fmla="*/ 126 h 151"/>
                  <a:gd name="T4" fmla="*/ 387 w 387"/>
                  <a:gd name="T5" fmla="*/ 126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6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6"/>
                    </a:cubicBezTo>
                    <a:lnTo>
                      <a:pt x="387" y="126"/>
                    </a:lnTo>
                    <a:lnTo>
                      <a:pt x="387" y="24"/>
                    </a:lnTo>
                    <a:cubicBezTo>
                      <a:pt x="387" y="10"/>
                      <a:pt x="376" y="0"/>
                      <a:pt x="362" y="0"/>
                    </a:cubicBezTo>
                    <a:lnTo>
                      <a:pt x="362" y="0"/>
                    </a:lnTo>
                    <a:lnTo>
                      <a:pt x="24" y="0"/>
                    </a:lnTo>
                    <a:cubicBezTo>
                      <a:pt x="10" y="0"/>
                      <a:pt x="0" y="10"/>
                      <a:pt x="0" y="24"/>
                    </a:cubicBezTo>
                    <a:lnTo>
                      <a:pt x="0" y="24"/>
                    </a:lnTo>
                    <a:lnTo>
                      <a:pt x="0" y="126"/>
                    </a:lnTo>
                    <a:cubicBezTo>
                      <a:pt x="0" y="140"/>
                      <a:pt x="10" y="151"/>
                      <a:pt x="24" y="151"/>
                    </a:cubicBezTo>
                    <a:lnTo>
                      <a:pt x="24" y="151"/>
                    </a:lnTo>
                    <a:lnTo>
                      <a:pt x="362" y="151"/>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67" name="Freeform 16">
                <a:extLst>
                  <a:ext uri="{FF2B5EF4-FFF2-40B4-BE49-F238E27FC236}">
                    <a16:creationId xmlns:a16="http://schemas.microsoft.com/office/drawing/2014/main" id="{E6AB5F8E-F3F3-9308-6C07-E34677371D06}"/>
                  </a:ext>
                </a:extLst>
              </p:cNvPr>
              <p:cNvSpPr>
                <a:spLocks/>
              </p:cNvSpPr>
              <p:nvPr/>
            </p:nvSpPr>
            <p:spPr bwMode="auto">
              <a:xfrm>
                <a:off x="3445219" y="1565034"/>
                <a:ext cx="93074" cy="147638"/>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68" name="Freeform 17">
                <a:extLst>
                  <a:ext uri="{FF2B5EF4-FFF2-40B4-BE49-F238E27FC236}">
                    <a16:creationId xmlns:a16="http://schemas.microsoft.com/office/drawing/2014/main" id="{BE5D94B1-2219-A5AD-AF4B-F68FFEFD7542}"/>
                  </a:ext>
                </a:extLst>
              </p:cNvPr>
              <p:cNvSpPr>
                <a:spLocks/>
              </p:cNvSpPr>
              <p:nvPr/>
            </p:nvSpPr>
            <p:spPr bwMode="auto">
              <a:xfrm>
                <a:off x="3445219" y="1724411"/>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69" name="Freeform 18">
                <a:extLst>
                  <a:ext uri="{FF2B5EF4-FFF2-40B4-BE49-F238E27FC236}">
                    <a16:creationId xmlns:a16="http://schemas.microsoft.com/office/drawing/2014/main" id="{AB3F31B3-DFFB-5BBE-F3E0-50369822589E}"/>
                  </a:ext>
                </a:extLst>
              </p:cNvPr>
              <p:cNvSpPr>
                <a:spLocks/>
              </p:cNvSpPr>
              <p:nvPr/>
            </p:nvSpPr>
            <p:spPr bwMode="auto">
              <a:xfrm>
                <a:off x="3445219" y="1874590"/>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70" name="Freeform 19">
                <a:extLst>
                  <a:ext uri="{FF2B5EF4-FFF2-40B4-BE49-F238E27FC236}">
                    <a16:creationId xmlns:a16="http://schemas.microsoft.com/office/drawing/2014/main" id="{EA7DA6C3-FBD0-C0C6-A818-63790E0E518E}"/>
                  </a:ext>
                </a:extLst>
              </p:cNvPr>
              <p:cNvSpPr>
                <a:spLocks/>
              </p:cNvSpPr>
              <p:nvPr/>
            </p:nvSpPr>
            <p:spPr bwMode="auto">
              <a:xfrm>
                <a:off x="3445219" y="2246067"/>
                <a:ext cx="93074"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71" name="Freeform 20">
                <a:extLst>
                  <a:ext uri="{FF2B5EF4-FFF2-40B4-BE49-F238E27FC236}">
                    <a16:creationId xmlns:a16="http://schemas.microsoft.com/office/drawing/2014/main" id="{E45023D1-8B2E-A78C-BAC1-A9888BF704A3}"/>
                  </a:ext>
                </a:extLst>
              </p:cNvPr>
              <p:cNvSpPr>
                <a:spLocks/>
              </p:cNvSpPr>
              <p:nvPr/>
            </p:nvSpPr>
            <p:spPr bwMode="auto">
              <a:xfrm>
                <a:off x="3445219" y="2408783"/>
                <a:ext cx="93074" cy="146050"/>
              </a:xfrm>
              <a:custGeom>
                <a:avLst/>
                <a:gdLst>
                  <a:gd name="T0" fmla="*/ 362 w 387"/>
                  <a:gd name="T1" fmla="*/ 151 h 151"/>
                  <a:gd name="T2" fmla="*/ 387 w 387"/>
                  <a:gd name="T3" fmla="*/ 126 h 151"/>
                  <a:gd name="T4" fmla="*/ 387 w 387"/>
                  <a:gd name="T5" fmla="*/ 126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6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6"/>
                    </a:cubicBezTo>
                    <a:lnTo>
                      <a:pt x="387" y="126"/>
                    </a:lnTo>
                    <a:lnTo>
                      <a:pt x="387" y="24"/>
                    </a:lnTo>
                    <a:cubicBezTo>
                      <a:pt x="387" y="10"/>
                      <a:pt x="376" y="0"/>
                      <a:pt x="362" y="0"/>
                    </a:cubicBezTo>
                    <a:lnTo>
                      <a:pt x="362" y="0"/>
                    </a:lnTo>
                    <a:lnTo>
                      <a:pt x="24" y="0"/>
                    </a:lnTo>
                    <a:cubicBezTo>
                      <a:pt x="10" y="0"/>
                      <a:pt x="0" y="10"/>
                      <a:pt x="0" y="24"/>
                    </a:cubicBezTo>
                    <a:lnTo>
                      <a:pt x="0" y="24"/>
                    </a:lnTo>
                    <a:lnTo>
                      <a:pt x="0" y="126"/>
                    </a:lnTo>
                    <a:cubicBezTo>
                      <a:pt x="0" y="140"/>
                      <a:pt x="10" y="151"/>
                      <a:pt x="24" y="151"/>
                    </a:cubicBezTo>
                    <a:lnTo>
                      <a:pt x="24" y="151"/>
                    </a:lnTo>
                    <a:lnTo>
                      <a:pt x="362" y="151"/>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72" name="Freeform 21">
                <a:extLst>
                  <a:ext uri="{FF2B5EF4-FFF2-40B4-BE49-F238E27FC236}">
                    <a16:creationId xmlns:a16="http://schemas.microsoft.com/office/drawing/2014/main" id="{B8EFFB56-6A3F-84E4-FD56-2DEAA80D9FBE}"/>
                  </a:ext>
                </a:extLst>
              </p:cNvPr>
              <p:cNvSpPr>
                <a:spLocks/>
              </p:cNvSpPr>
              <p:nvPr/>
            </p:nvSpPr>
            <p:spPr bwMode="auto">
              <a:xfrm>
                <a:off x="3468896" y="2044763"/>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76" name="Freeform 16">
                <a:extLst>
                  <a:ext uri="{FF2B5EF4-FFF2-40B4-BE49-F238E27FC236}">
                    <a16:creationId xmlns:a16="http://schemas.microsoft.com/office/drawing/2014/main" id="{9BA4EE53-C65E-BD42-A978-0DDEA23A5C71}"/>
                  </a:ext>
                </a:extLst>
              </p:cNvPr>
              <p:cNvSpPr>
                <a:spLocks/>
              </p:cNvSpPr>
              <p:nvPr/>
            </p:nvSpPr>
            <p:spPr bwMode="auto">
              <a:xfrm>
                <a:off x="3813058" y="1560271"/>
                <a:ext cx="93074" cy="147638"/>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77" name="Freeform 17">
                <a:extLst>
                  <a:ext uri="{FF2B5EF4-FFF2-40B4-BE49-F238E27FC236}">
                    <a16:creationId xmlns:a16="http://schemas.microsoft.com/office/drawing/2014/main" id="{EA74AD6B-04E7-20DA-AD53-12C3E462260A}"/>
                  </a:ext>
                </a:extLst>
              </p:cNvPr>
              <p:cNvSpPr>
                <a:spLocks/>
              </p:cNvSpPr>
              <p:nvPr/>
            </p:nvSpPr>
            <p:spPr bwMode="auto">
              <a:xfrm>
                <a:off x="3813058" y="1724411"/>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78" name="Freeform 18">
                <a:extLst>
                  <a:ext uri="{FF2B5EF4-FFF2-40B4-BE49-F238E27FC236}">
                    <a16:creationId xmlns:a16="http://schemas.microsoft.com/office/drawing/2014/main" id="{FD571D5B-2585-0BA2-3BF5-F78A913F20B2}"/>
                  </a:ext>
                </a:extLst>
              </p:cNvPr>
              <p:cNvSpPr>
                <a:spLocks/>
              </p:cNvSpPr>
              <p:nvPr/>
            </p:nvSpPr>
            <p:spPr bwMode="auto">
              <a:xfrm>
                <a:off x="3813058" y="1874590"/>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79" name="Freeform 19">
                <a:extLst>
                  <a:ext uri="{FF2B5EF4-FFF2-40B4-BE49-F238E27FC236}">
                    <a16:creationId xmlns:a16="http://schemas.microsoft.com/office/drawing/2014/main" id="{6D670A77-5C86-368C-9A9E-DEDF0F0BD43A}"/>
                  </a:ext>
                </a:extLst>
              </p:cNvPr>
              <p:cNvSpPr>
                <a:spLocks/>
              </p:cNvSpPr>
              <p:nvPr/>
            </p:nvSpPr>
            <p:spPr bwMode="auto">
              <a:xfrm>
                <a:off x="3813058" y="2246067"/>
                <a:ext cx="93074"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80" name="Freeform 20">
                <a:extLst>
                  <a:ext uri="{FF2B5EF4-FFF2-40B4-BE49-F238E27FC236}">
                    <a16:creationId xmlns:a16="http://schemas.microsoft.com/office/drawing/2014/main" id="{F5A0A025-2263-F16B-50F4-5F7F9AC76ECC}"/>
                  </a:ext>
                </a:extLst>
              </p:cNvPr>
              <p:cNvSpPr>
                <a:spLocks/>
              </p:cNvSpPr>
              <p:nvPr/>
            </p:nvSpPr>
            <p:spPr bwMode="auto">
              <a:xfrm>
                <a:off x="3813058" y="2408783"/>
                <a:ext cx="93074" cy="146050"/>
              </a:xfrm>
              <a:custGeom>
                <a:avLst/>
                <a:gdLst>
                  <a:gd name="T0" fmla="*/ 362 w 387"/>
                  <a:gd name="T1" fmla="*/ 151 h 151"/>
                  <a:gd name="T2" fmla="*/ 387 w 387"/>
                  <a:gd name="T3" fmla="*/ 126 h 151"/>
                  <a:gd name="T4" fmla="*/ 387 w 387"/>
                  <a:gd name="T5" fmla="*/ 126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6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6"/>
                    </a:cubicBezTo>
                    <a:lnTo>
                      <a:pt x="387" y="126"/>
                    </a:lnTo>
                    <a:lnTo>
                      <a:pt x="387" y="24"/>
                    </a:lnTo>
                    <a:cubicBezTo>
                      <a:pt x="387" y="10"/>
                      <a:pt x="376" y="0"/>
                      <a:pt x="362" y="0"/>
                    </a:cubicBezTo>
                    <a:lnTo>
                      <a:pt x="362" y="0"/>
                    </a:lnTo>
                    <a:lnTo>
                      <a:pt x="24" y="0"/>
                    </a:lnTo>
                    <a:cubicBezTo>
                      <a:pt x="10" y="0"/>
                      <a:pt x="0" y="10"/>
                      <a:pt x="0" y="24"/>
                    </a:cubicBezTo>
                    <a:lnTo>
                      <a:pt x="0" y="24"/>
                    </a:lnTo>
                    <a:lnTo>
                      <a:pt x="0" y="126"/>
                    </a:lnTo>
                    <a:cubicBezTo>
                      <a:pt x="0" y="140"/>
                      <a:pt x="10" y="151"/>
                      <a:pt x="24" y="151"/>
                    </a:cubicBezTo>
                    <a:lnTo>
                      <a:pt x="24" y="151"/>
                    </a:lnTo>
                    <a:lnTo>
                      <a:pt x="362" y="151"/>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85" name="Freeform 16">
                <a:extLst>
                  <a:ext uri="{FF2B5EF4-FFF2-40B4-BE49-F238E27FC236}">
                    <a16:creationId xmlns:a16="http://schemas.microsoft.com/office/drawing/2014/main" id="{52EBF51B-4B1C-1468-D6FB-73632771476D}"/>
                  </a:ext>
                </a:extLst>
              </p:cNvPr>
              <p:cNvSpPr>
                <a:spLocks/>
              </p:cNvSpPr>
              <p:nvPr/>
            </p:nvSpPr>
            <p:spPr bwMode="auto">
              <a:xfrm>
                <a:off x="3689826" y="1565029"/>
                <a:ext cx="93074" cy="147638"/>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86" name="Freeform 17">
                <a:extLst>
                  <a:ext uri="{FF2B5EF4-FFF2-40B4-BE49-F238E27FC236}">
                    <a16:creationId xmlns:a16="http://schemas.microsoft.com/office/drawing/2014/main" id="{5308D43C-7DCF-8AF7-E9AC-D27341F798B3}"/>
                  </a:ext>
                </a:extLst>
              </p:cNvPr>
              <p:cNvSpPr>
                <a:spLocks/>
              </p:cNvSpPr>
              <p:nvPr/>
            </p:nvSpPr>
            <p:spPr bwMode="auto">
              <a:xfrm>
                <a:off x="3689826" y="1724411"/>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87" name="Freeform 18">
                <a:extLst>
                  <a:ext uri="{FF2B5EF4-FFF2-40B4-BE49-F238E27FC236}">
                    <a16:creationId xmlns:a16="http://schemas.microsoft.com/office/drawing/2014/main" id="{33EADDDA-C160-11A5-66E2-F19AEBA1BC84}"/>
                  </a:ext>
                </a:extLst>
              </p:cNvPr>
              <p:cNvSpPr>
                <a:spLocks/>
              </p:cNvSpPr>
              <p:nvPr/>
            </p:nvSpPr>
            <p:spPr bwMode="auto">
              <a:xfrm>
                <a:off x="3689826" y="1874590"/>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88" name="Freeform 19">
                <a:extLst>
                  <a:ext uri="{FF2B5EF4-FFF2-40B4-BE49-F238E27FC236}">
                    <a16:creationId xmlns:a16="http://schemas.microsoft.com/office/drawing/2014/main" id="{FD68D490-A54A-97C2-72CE-5AC7307EFA00}"/>
                  </a:ext>
                </a:extLst>
              </p:cNvPr>
              <p:cNvSpPr>
                <a:spLocks/>
              </p:cNvSpPr>
              <p:nvPr/>
            </p:nvSpPr>
            <p:spPr bwMode="auto">
              <a:xfrm>
                <a:off x="3689826" y="2246067"/>
                <a:ext cx="93074"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89" name="Freeform 20">
                <a:extLst>
                  <a:ext uri="{FF2B5EF4-FFF2-40B4-BE49-F238E27FC236}">
                    <a16:creationId xmlns:a16="http://schemas.microsoft.com/office/drawing/2014/main" id="{BD712D24-6E31-4F1B-AAD5-FEB6CF28486D}"/>
                  </a:ext>
                </a:extLst>
              </p:cNvPr>
              <p:cNvSpPr>
                <a:spLocks/>
              </p:cNvSpPr>
              <p:nvPr/>
            </p:nvSpPr>
            <p:spPr bwMode="auto">
              <a:xfrm>
                <a:off x="3689826" y="2408783"/>
                <a:ext cx="93074" cy="146050"/>
              </a:xfrm>
              <a:custGeom>
                <a:avLst/>
                <a:gdLst>
                  <a:gd name="T0" fmla="*/ 362 w 387"/>
                  <a:gd name="T1" fmla="*/ 151 h 151"/>
                  <a:gd name="T2" fmla="*/ 387 w 387"/>
                  <a:gd name="T3" fmla="*/ 126 h 151"/>
                  <a:gd name="T4" fmla="*/ 387 w 387"/>
                  <a:gd name="T5" fmla="*/ 126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6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6"/>
                    </a:cubicBezTo>
                    <a:lnTo>
                      <a:pt x="387" y="126"/>
                    </a:lnTo>
                    <a:lnTo>
                      <a:pt x="387" y="24"/>
                    </a:lnTo>
                    <a:cubicBezTo>
                      <a:pt x="387" y="10"/>
                      <a:pt x="376" y="0"/>
                      <a:pt x="362" y="0"/>
                    </a:cubicBezTo>
                    <a:lnTo>
                      <a:pt x="362" y="0"/>
                    </a:lnTo>
                    <a:lnTo>
                      <a:pt x="24" y="0"/>
                    </a:lnTo>
                    <a:cubicBezTo>
                      <a:pt x="10" y="0"/>
                      <a:pt x="0" y="10"/>
                      <a:pt x="0" y="24"/>
                    </a:cubicBezTo>
                    <a:lnTo>
                      <a:pt x="0" y="24"/>
                    </a:lnTo>
                    <a:lnTo>
                      <a:pt x="0" y="126"/>
                    </a:lnTo>
                    <a:cubicBezTo>
                      <a:pt x="0" y="140"/>
                      <a:pt x="10" y="151"/>
                      <a:pt x="24" y="151"/>
                    </a:cubicBezTo>
                    <a:lnTo>
                      <a:pt x="24" y="151"/>
                    </a:lnTo>
                    <a:lnTo>
                      <a:pt x="362" y="151"/>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93" name="Freeform 21">
                <a:extLst>
                  <a:ext uri="{FF2B5EF4-FFF2-40B4-BE49-F238E27FC236}">
                    <a16:creationId xmlns:a16="http://schemas.microsoft.com/office/drawing/2014/main" id="{B2032966-F845-FC89-B425-F361C9DDF06C}"/>
                  </a:ext>
                </a:extLst>
              </p:cNvPr>
              <p:cNvSpPr>
                <a:spLocks/>
              </p:cNvSpPr>
              <p:nvPr/>
            </p:nvSpPr>
            <p:spPr bwMode="auto">
              <a:xfrm>
                <a:off x="3468896" y="2111013"/>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94" name="Freeform 21">
                <a:extLst>
                  <a:ext uri="{FF2B5EF4-FFF2-40B4-BE49-F238E27FC236}">
                    <a16:creationId xmlns:a16="http://schemas.microsoft.com/office/drawing/2014/main" id="{924705E1-3199-4586-D005-B40B22595858}"/>
                  </a:ext>
                </a:extLst>
              </p:cNvPr>
              <p:cNvSpPr>
                <a:spLocks/>
              </p:cNvSpPr>
              <p:nvPr/>
            </p:nvSpPr>
            <p:spPr bwMode="auto">
              <a:xfrm>
                <a:off x="3468896" y="2176447"/>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95" name="Freeform 21">
                <a:extLst>
                  <a:ext uri="{FF2B5EF4-FFF2-40B4-BE49-F238E27FC236}">
                    <a16:creationId xmlns:a16="http://schemas.microsoft.com/office/drawing/2014/main" id="{8DDFC188-4B22-228B-7CF6-71282905EA47}"/>
                  </a:ext>
                </a:extLst>
              </p:cNvPr>
              <p:cNvSpPr>
                <a:spLocks/>
              </p:cNvSpPr>
              <p:nvPr/>
            </p:nvSpPr>
            <p:spPr bwMode="auto">
              <a:xfrm>
                <a:off x="3595102" y="2045614"/>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96" name="Freeform 21">
                <a:extLst>
                  <a:ext uri="{FF2B5EF4-FFF2-40B4-BE49-F238E27FC236}">
                    <a16:creationId xmlns:a16="http://schemas.microsoft.com/office/drawing/2014/main" id="{9269A682-2B03-E77E-AE3E-F60D79A56569}"/>
                  </a:ext>
                </a:extLst>
              </p:cNvPr>
              <p:cNvSpPr>
                <a:spLocks/>
              </p:cNvSpPr>
              <p:nvPr/>
            </p:nvSpPr>
            <p:spPr bwMode="auto">
              <a:xfrm>
                <a:off x="3595102" y="2111864"/>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97" name="Freeform 21">
                <a:extLst>
                  <a:ext uri="{FF2B5EF4-FFF2-40B4-BE49-F238E27FC236}">
                    <a16:creationId xmlns:a16="http://schemas.microsoft.com/office/drawing/2014/main" id="{08B7930D-9AFD-56D4-F82F-1F40D0794710}"/>
                  </a:ext>
                </a:extLst>
              </p:cNvPr>
              <p:cNvSpPr>
                <a:spLocks/>
              </p:cNvSpPr>
              <p:nvPr/>
            </p:nvSpPr>
            <p:spPr bwMode="auto">
              <a:xfrm>
                <a:off x="3595102" y="2177298"/>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98" name="Freeform 21">
                <a:extLst>
                  <a:ext uri="{FF2B5EF4-FFF2-40B4-BE49-F238E27FC236}">
                    <a16:creationId xmlns:a16="http://schemas.microsoft.com/office/drawing/2014/main" id="{9FE17C82-B253-460A-6429-E6071099B914}"/>
                  </a:ext>
                </a:extLst>
              </p:cNvPr>
              <p:cNvSpPr>
                <a:spLocks/>
              </p:cNvSpPr>
              <p:nvPr/>
            </p:nvSpPr>
            <p:spPr bwMode="auto">
              <a:xfrm>
                <a:off x="3716546" y="2045614"/>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99" name="Freeform 21">
                <a:extLst>
                  <a:ext uri="{FF2B5EF4-FFF2-40B4-BE49-F238E27FC236}">
                    <a16:creationId xmlns:a16="http://schemas.microsoft.com/office/drawing/2014/main" id="{2A01286A-E40F-DDDC-B9DF-52003035B013}"/>
                  </a:ext>
                </a:extLst>
              </p:cNvPr>
              <p:cNvSpPr>
                <a:spLocks/>
              </p:cNvSpPr>
              <p:nvPr/>
            </p:nvSpPr>
            <p:spPr bwMode="auto">
              <a:xfrm>
                <a:off x="3716546" y="2111864"/>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00" name="Freeform 21">
                <a:extLst>
                  <a:ext uri="{FF2B5EF4-FFF2-40B4-BE49-F238E27FC236}">
                    <a16:creationId xmlns:a16="http://schemas.microsoft.com/office/drawing/2014/main" id="{6D368FB1-F0BD-BA9B-36CE-B6B82D455B42}"/>
                  </a:ext>
                </a:extLst>
              </p:cNvPr>
              <p:cNvSpPr>
                <a:spLocks/>
              </p:cNvSpPr>
              <p:nvPr/>
            </p:nvSpPr>
            <p:spPr bwMode="auto">
              <a:xfrm>
                <a:off x="3716546" y="2177298"/>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01" name="Freeform 21">
                <a:extLst>
                  <a:ext uri="{FF2B5EF4-FFF2-40B4-BE49-F238E27FC236}">
                    <a16:creationId xmlns:a16="http://schemas.microsoft.com/office/drawing/2014/main" id="{51D4A4A4-648B-80C0-95D0-4E6B8A4BEB9C}"/>
                  </a:ext>
                </a:extLst>
              </p:cNvPr>
              <p:cNvSpPr>
                <a:spLocks/>
              </p:cNvSpPr>
              <p:nvPr/>
            </p:nvSpPr>
            <p:spPr bwMode="auto">
              <a:xfrm>
                <a:off x="3840371" y="2042941"/>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02" name="Freeform 21">
                <a:extLst>
                  <a:ext uri="{FF2B5EF4-FFF2-40B4-BE49-F238E27FC236}">
                    <a16:creationId xmlns:a16="http://schemas.microsoft.com/office/drawing/2014/main" id="{5AC5DDA3-4C33-6B1D-BE0E-65A921FB3AB1}"/>
                  </a:ext>
                </a:extLst>
              </p:cNvPr>
              <p:cNvSpPr>
                <a:spLocks/>
              </p:cNvSpPr>
              <p:nvPr/>
            </p:nvSpPr>
            <p:spPr bwMode="auto">
              <a:xfrm>
                <a:off x="3840371" y="2109191"/>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03" name="Freeform 21">
                <a:extLst>
                  <a:ext uri="{FF2B5EF4-FFF2-40B4-BE49-F238E27FC236}">
                    <a16:creationId xmlns:a16="http://schemas.microsoft.com/office/drawing/2014/main" id="{E81F23D8-6060-521D-A859-E430F946F045}"/>
                  </a:ext>
                </a:extLst>
              </p:cNvPr>
              <p:cNvSpPr>
                <a:spLocks/>
              </p:cNvSpPr>
              <p:nvPr/>
            </p:nvSpPr>
            <p:spPr bwMode="auto">
              <a:xfrm>
                <a:off x="3840371" y="2174625"/>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grpSp>
          <p:nvGrpSpPr>
            <p:cNvPr id="405" name="组合 404">
              <a:extLst>
                <a:ext uri="{FF2B5EF4-FFF2-40B4-BE49-F238E27FC236}">
                  <a16:creationId xmlns:a16="http://schemas.microsoft.com/office/drawing/2014/main" id="{3428A702-26BD-3DA2-DF9E-A8C5AE07E6F1}"/>
                </a:ext>
              </a:extLst>
            </p:cNvPr>
            <p:cNvGrpSpPr/>
            <p:nvPr/>
          </p:nvGrpSpPr>
          <p:grpSpPr>
            <a:xfrm>
              <a:off x="5046070" y="3444488"/>
              <a:ext cx="318620" cy="687522"/>
              <a:chOff x="3445219" y="1560271"/>
              <a:chExt cx="460913" cy="994562"/>
            </a:xfrm>
          </p:grpSpPr>
          <p:sp>
            <p:nvSpPr>
              <p:cNvPr id="406" name="Freeform 16">
                <a:extLst>
                  <a:ext uri="{FF2B5EF4-FFF2-40B4-BE49-F238E27FC236}">
                    <a16:creationId xmlns:a16="http://schemas.microsoft.com/office/drawing/2014/main" id="{5E9448CC-D727-E929-D593-436795E3ABF7}"/>
                  </a:ext>
                </a:extLst>
              </p:cNvPr>
              <p:cNvSpPr>
                <a:spLocks/>
              </p:cNvSpPr>
              <p:nvPr/>
            </p:nvSpPr>
            <p:spPr bwMode="auto">
              <a:xfrm>
                <a:off x="3568451" y="1565026"/>
                <a:ext cx="93074" cy="147638"/>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07" name="Freeform 17">
                <a:extLst>
                  <a:ext uri="{FF2B5EF4-FFF2-40B4-BE49-F238E27FC236}">
                    <a16:creationId xmlns:a16="http://schemas.microsoft.com/office/drawing/2014/main" id="{25794A9A-6D88-994D-576C-C16675DDD325}"/>
                  </a:ext>
                </a:extLst>
              </p:cNvPr>
              <p:cNvSpPr>
                <a:spLocks/>
              </p:cNvSpPr>
              <p:nvPr/>
            </p:nvSpPr>
            <p:spPr bwMode="auto">
              <a:xfrm>
                <a:off x="3568451" y="1724411"/>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08" name="Freeform 18">
                <a:extLst>
                  <a:ext uri="{FF2B5EF4-FFF2-40B4-BE49-F238E27FC236}">
                    <a16:creationId xmlns:a16="http://schemas.microsoft.com/office/drawing/2014/main" id="{8EEAC7FF-2EF0-FFBA-2171-EE226B8487DF}"/>
                  </a:ext>
                </a:extLst>
              </p:cNvPr>
              <p:cNvSpPr>
                <a:spLocks/>
              </p:cNvSpPr>
              <p:nvPr/>
            </p:nvSpPr>
            <p:spPr bwMode="auto">
              <a:xfrm>
                <a:off x="3568451" y="1874590"/>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09" name="Freeform 19">
                <a:extLst>
                  <a:ext uri="{FF2B5EF4-FFF2-40B4-BE49-F238E27FC236}">
                    <a16:creationId xmlns:a16="http://schemas.microsoft.com/office/drawing/2014/main" id="{7F253D1E-4A25-C195-337B-0C9AF0AD95CA}"/>
                  </a:ext>
                </a:extLst>
              </p:cNvPr>
              <p:cNvSpPr>
                <a:spLocks/>
              </p:cNvSpPr>
              <p:nvPr/>
            </p:nvSpPr>
            <p:spPr bwMode="auto">
              <a:xfrm>
                <a:off x="3568451" y="2246067"/>
                <a:ext cx="93074"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10" name="Freeform 20">
                <a:extLst>
                  <a:ext uri="{FF2B5EF4-FFF2-40B4-BE49-F238E27FC236}">
                    <a16:creationId xmlns:a16="http://schemas.microsoft.com/office/drawing/2014/main" id="{9D0AB266-18AD-066B-B471-839BF233A106}"/>
                  </a:ext>
                </a:extLst>
              </p:cNvPr>
              <p:cNvSpPr>
                <a:spLocks/>
              </p:cNvSpPr>
              <p:nvPr/>
            </p:nvSpPr>
            <p:spPr bwMode="auto">
              <a:xfrm>
                <a:off x="3568451" y="2408783"/>
                <a:ext cx="93074" cy="146050"/>
              </a:xfrm>
              <a:custGeom>
                <a:avLst/>
                <a:gdLst>
                  <a:gd name="T0" fmla="*/ 362 w 387"/>
                  <a:gd name="T1" fmla="*/ 151 h 151"/>
                  <a:gd name="T2" fmla="*/ 387 w 387"/>
                  <a:gd name="T3" fmla="*/ 126 h 151"/>
                  <a:gd name="T4" fmla="*/ 387 w 387"/>
                  <a:gd name="T5" fmla="*/ 126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6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6"/>
                    </a:cubicBezTo>
                    <a:lnTo>
                      <a:pt x="387" y="126"/>
                    </a:lnTo>
                    <a:lnTo>
                      <a:pt x="387" y="24"/>
                    </a:lnTo>
                    <a:cubicBezTo>
                      <a:pt x="387" y="10"/>
                      <a:pt x="376" y="0"/>
                      <a:pt x="362" y="0"/>
                    </a:cubicBezTo>
                    <a:lnTo>
                      <a:pt x="362" y="0"/>
                    </a:lnTo>
                    <a:lnTo>
                      <a:pt x="24" y="0"/>
                    </a:lnTo>
                    <a:cubicBezTo>
                      <a:pt x="10" y="0"/>
                      <a:pt x="0" y="10"/>
                      <a:pt x="0" y="24"/>
                    </a:cubicBezTo>
                    <a:lnTo>
                      <a:pt x="0" y="24"/>
                    </a:lnTo>
                    <a:lnTo>
                      <a:pt x="0" y="126"/>
                    </a:lnTo>
                    <a:cubicBezTo>
                      <a:pt x="0" y="140"/>
                      <a:pt x="10" y="151"/>
                      <a:pt x="24" y="151"/>
                    </a:cubicBezTo>
                    <a:lnTo>
                      <a:pt x="24" y="151"/>
                    </a:lnTo>
                    <a:lnTo>
                      <a:pt x="362" y="151"/>
                    </a:lnTo>
                  </a:path>
                </a:pathLst>
              </a:custGeom>
              <a:solidFill>
                <a:schemeClr val="accent1">
                  <a:lumMod val="20000"/>
                  <a:lumOff val="8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11" name="Freeform 16">
                <a:extLst>
                  <a:ext uri="{FF2B5EF4-FFF2-40B4-BE49-F238E27FC236}">
                    <a16:creationId xmlns:a16="http://schemas.microsoft.com/office/drawing/2014/main" id="{660B2599-FC78-C78D-EA86-665D2A7A6D3D}"/>
                  </a:ext>
                </a:extLst>
              </p:cNvPr>
              <p:cNvSpPr>
                <a:spLocks/>
              </p:cNvSpPr>
              <p:nvPr/>
            </p:nvSpPr>
            <p:spPr bwMode="auto">
              <a:xfrm>
                <a:off x="3445219" y="1565034"/>
                <a:ext cx="93074" cy="147638"/>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12" name="Freeform 17">
                <a:extLst>
                  <a:ext uri="{FF2B5EF4-FFF2-40B4-BE49-F238E27FC236}">
                    <a16:creationId xmlns:a16="http://schemas.microsoft.com/office/drawing/2014/main" id="{5C933F4B-9DFD-E7C7-647A-70359A2472F2}"/>
                  </a:ext>
                </a:extLst>
              </p:cNvPr>
              <p:cNvSpPr>
                <a:spLocks/>
              </p:cNvSpPr>
              <p:nvPr/>
            </p:nvSpPr>
            <p:spPr bwMode="auto">
              <a:xfrm>
                <a:off x="3445219" y="1724411"/>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13" name="Freeform 18">
                <a:extLst>
                  <a:ext uri="{FF2B5EF4-FFF2-40B4-BE49-F238E27FC236}">
                    <a16:creationId xmlns:a16="http://schemas.microsoft.com/office/drawing/2014/main" id="{732E8486-A62A-4ABC-45E5-3615E6F9117B}"/>
                  </a:ext>
                </a:extLst>
              </p:cNvPr>
              <p:cNvSpPr>
                <a:spLocks/>
              </p:cNvSpPr>
              <p:nvPr/>
            </p:nvSpPr>
            <p:spPr bwMode="auto">
              <a:xfrm>
                <a:off x="3445219" y="1874590"/>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14" name="Freeform 19">
                <a:extLst>
                  <a:ext uri="{FF2B5EF4-FFF2-40B4-BE49-F238E27FC236}">
                    <a16:creationId xmlns:a16="http://schemas.microsoft.com/office/drawing/2014/main" id="{AABBC790-D928-86C4-B13C-587D0647860A}"/>
                  </a:ext>
                </a:extLst>
              </p:cNvPr>
              <p:cNvSpPr>
                <a:spLocks/>
              </p:cNvSpPr>
              <p:nvPr/>
            </p:nvSpPr>
            <p:spPr bwMode="auto">
              <a:xfrm>
                <a:off x="3445219" y="2246067"/>
                <a:ext cx="93074"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15" name="Freeform 20">
                <a:extLst>
                  <a:ext uri="{FF2B5EF4-FFF2-40B4-BE49-F238E27FC236}">
                    <a16:creationId xmlns:a16="http://schemas.microsoft.com/office/drawing/2014/main" id="{4C1740C1-0EB7-0E39-1B3F-2D19B7A57E4E}"/>
                  </a:ext>
                </a:extLst>
              </p:cNvPr>
              <p:cNvSpPr>
                <a:spLocks/>
              </p:cNvSpPr>
              <p:nvPr/>
            </p:nvSpPr>
            <p:spPr bwMode="auto">
              <a:xfrm>
                <a:off x="3445219" y="2408783"/>
                <a:ext cx="93074" cy="146050"/>
              </a:xfrm>
              <a:custGeom>
                <a:avLst/>
                <a:gdLst>
                  <a:gd name="T0" fmla="*/ 362 w 387"/>
                  <a:gd name="T1" fmla="*/ 151 h 151"/>
                  <a:gd name="T2" fmla="*/ 387 w 387"/>
                  <a:gd name="T3" fmla="*/ 126 h 151"/>
                  <a:gd name="T4" fmla="*/ 387 w 387"/>
                  <a:gd name="T5" fmla="*/ 126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6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6"/>
                    </a:cubicBezTo>
                    <a:lnTo>
                      <a:pt x="387" y="126"/>
                    </a:lnTo>
                    <a:lnTo>
                      <a:pt x="387" y="24"/>
                    </a:lnTo>
                    <a:cubicBezTo>
                      <a:pt x="387" y="10"/>
                      <a:pt x="376" y="0"/>
                      <a:pt x="362" y="0"/>
                    </a:cubicBezTo>
                    <a:lnTo>
                      <a:pt x="362" y="0"/>
                    </a:lnTo>
                    <a:lnTo>
                      <a:pt x="24" y="0"/>
                    </a:lnTo>
                    <a:cubicBezTo>
                      <a:pt x="10" y="0"/>
                      <a:pt x="0" y="10"/>
                      <a:pt x="0" y="24"/>
                    </a:cubicBezTo>
                    <a:lnTo>
                      <a:pt x="0" y="24"/>
                    </a:lnTo>
                    <a:lnTo>
                      <a:pt x="0" y="126"/>
                    </a:lnTo>
                    <a:cubicBezTo>
                      <a:pt x="0" y="140"/>
                      <a:pt x="10" y="151"/>
                      <a:pt x="24" y="151"/>
                    </a:cubicBezTo>
                    <a:lnTo>
                      <a:pt x="24" y="151"/>
                    </a:lnTo>
                    <a:lnTo>
                      <a:pt x="362" y="151"/>
                    </a:lnTo>
                  </a:path>
                </a:pathLst>
              </a:custGeom>
              <a:solidFill>
                <a:schemeClr val="accent1">
                  <a:lumMod val="20000"/>
                  <a:lumOff val="8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16" name="Freeform 21">
                <a:extLst>
                  <a:ext uri="{FF2B5EF4-FFF2-40B4-BE49-F238E27FC236}">
                    <a16:creationId xmlns:a16="http://schemas.microsoft.com/office/drawing/2014/main" id="{DE61CC93-E69B-EE85-D0FE-4AADBBBDF757}"/>
                  </a:ext>
                </a:extLst>
              </p:cNvPr>
              <p:cNvSpPr>
                <a:spLocks/>
              </p:cNvSpPr>
              <p:nvPr/>
            </p:nvSpPr>
            <p:spPr bwMode="auto">
              <a:xfrm>
                <a:off x="3468896" y="2044763"/>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17" name="Freeform 16">
                <a:extLst>
                  <a:ext uri="{FF2B5EF4-FFF2-40B4-BE49-F238E27FC236}">
                    <a16:creationId xmlns:a16="http://schemas.microsoft.com/office/drawing/2014/main" id="{D2FFD3CB-A0BC-339B-B0A5-FD7795B45987}"/>
                  </a:ext>
                </a:extLst>
              </p:cNvPr>
              <p:cNvSpPr>
                <a:spLocks/>
              </p:cNvSpPr>
              <p:nvPr/>
            </p:nvSpPr>
            <p:spPr bwMode="auto">
              <a:xfrm>
                <a:off x="3813058" y="1560271"/>
                <a:ext cx="93074" cy="147638"/>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18" name="Freeform 17">
                <a:extLst>
                  <a:ext uri="{FF2B5EF4-FFF2-40B4-BE49-F238E27FC236}">
                    <a16:creationId xmlns:a16="http://schemas.microsoft.com/office/drawing/2014/main" id="{81CBFEF3-44A1-A960-387D-399E86488575}"/>
                  </a:ext>
                </a:extLst>
              </p:cNvPr>
              <p:cNvSpPr>
                <a:spLocks/>
              </p:cNvSpPr>
              <p:nvPr/>
            </p:nvSpPr>
            <p:spPr bwMode="auto">
              <a:xfrm>
                <a:off x="3813058" y="1724411"/>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50000"/>
                  <a:lumOff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19" name="Freeform 18">
                <a:extLst>
                  <a:ext uri="{FF2B5EF4-FFF2-40B4-BE49-F238E27FC236}">
                    <a16:creationId xmlns:a16="http://schemas.microsoft.com/office/drawing/2014/main" id="{44FAB8F8-A6A9-BF4A-3104-206B9DC05012}"/>
                  </a:ext>
                </a:extLst>
              </p:cNvPr>
              <p:cNvSpPr>
                <a:spLocks/>
              </p:cNvSpPr>
              <p:nvPr/>
            </p:nvSpPr>
            <p:spPr bwMode="auto">
              <a:xfrm>
                <a:off x="3813058" y="1874590"/>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50000"/>
                  <a:lumOff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20" name="Freeform 19">
                <a:extLst>
                  <a:ext uri="{FF2B5EF4-FFF2-40B4-BE49-F238E27FC236}">
                    <a16:creationId xmlns:a16="http://schemas.microsoft.com/office/drawing/2014/main" id="{D7C9D506-8DAC-F67C-5108-1BD0F05320A5}"/>
                  </a:ext>
                </a:extLst>
              </p:cNvPr>
              <p:cNvSpPr>
                <a:spLocks/>
              </p:cNvSpPr>
              <p:nvPr/>
            </p:nvSpPr>
            <p:spPr bwMode="auto">
              <a:xfrm>
                <a:off x="3813058" y="2246067"/>
                <a:ext cx="93074"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21" name="Freeform 20">
                <a:extLst>
                  <a:ext uri="{FF2B5EF4-FFF2-40B4-BE49-F238E27FC236}">
                    <a16:creationId xmlns:a16="http://schemas.microsoft.com/office/drawing/2014/main" id="{4FD86F3C-B97A-828A-9FC0-C6EE320B4766}"/>
                  </a:ext>
                </a:extLst>
              </p:cNvPr>
              <p:cNvSpPr>
                <a:spLocks/>
              </p:cNvSpPr>
              <p:nvPr/>
            </p:nvSpPr>
            <p:spPr bwMode="auto">
              <a:xfrm>
                <a:off x="3813058" y="2408783"/>
                <a:ext cx="93074" cy="146050"/>
              </a:xfrm>
              <a:custGeom>
                <a:avLst/>
                <a:gdLst>
                  <a:gd name="T0" fmla="*/ 362 w 387"/>
                  <a:gd name="T1" fmla="*/ 151 h 151"/>
                  <a:gd name="T2" fmla="*/ 387 w 387"/>
                  <a:gd name="T3" fmla="*/ 126 h 151"/>
                  <a:gd name="T4" fmla="*/ 387 w 387"/>
                  <a:gd name="T5" fmla="*/ 126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6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6"/>
                    </a:cubicBezTo>
                    <a:lnTo>
                      <a:pt x="387" y="126"/>
                    </a:lnTo>
                    <a:lnTo>
                      <a:pt x="387" y="24"/>
                    </a:lnTo>
                    <a:cubicBezTo>
                      <a:pt x="387" y="10"/>
                      <a:pt x="376" y="0"/>
                      <a:pt x="362" y="0"/>
                    </a:cubicBezTo>
                    <a:lnTo>
                      <a:pt x="362" y="0"/>
                    </a:lnTo>
                    <a:lnTo>
                      <a:pt x="24" y="0"/>
                    </a:lnTo>
                    <a:cubicBezTo>
                      <a:pt x="10" y="0"/>
                      <a:pt x="0" y="10"/>
                      <a:pt x="0" y="24"/>
                    </a:cubicBezTo>
                    <a:lnTo>
                      <a:pt x="0" y="24"/>
                    </a:lnTo>
                    <a:lnTo>
                      <a:pt x="0" y="126"/>
                    </a:lnTo>
                    <a:cubicBezTo>
                      <a:pt x="0" y="140"/>
                      <a:pt x="10" y="151"/>
                      <a:pt x="24" y="151"/>
                    </a:cubicBezTo>
                    <a:lnTo>
                      <a:pt x="24" y="151"/>
                    </a:lnTo>
                    <a:lnTo>
                      <a:pt x="362" y="151"/>
                    </a:lnTo>
                  </a:path>
                </a:pathLst>
              </a:custGeom>
              <a:solidFill>
                <a:schemeClr val="tx2">
                  <a:lumMod val="50000"/>
                  <a:lumOff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22" name="Freeform 16">
                <a:extLst>
                  <a:ext uri="{FF2B5EF4-FFF2-40B4-BE49-F238E27FC236}">
                    <a16:creationId xmlns:a16="http://schemas.microsoft.com/office/drawing/2014/main" id="{47928148-D58E-2961-D756-E84DC279EF6A}"/>
                  </a:ext>
                </a:extLst>
              </p:cNvPr>
              <p:cNvSpPr>
                <a:spLocks/>
              </p:cNvSpPr>
              <p:nvPr/>
            </p:nvSpPr>
            <p:spPr bwMode="auto">
              <a:xfrm>
                <a:off x="3689826" y="1565029"/>
                <a:ext cx="93074" cy="147638"/>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50000"/>
                  <a:lumOff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23" name="Freeform 17">
                <a:extLst>
                  <a:ext uri="{FF2B5EF4-FFF2-40B4-BE49-F238E27FC236}">
                    <a16:creationId xmlns:a16="http://schemas.microsoft.com/office/drawing/2014/main" id="{0F02DFB3-5E5A-59AB-E533-F415F4873919}"/>
                  </a:ext>
                </a:extLst>
              </p:cNvPr>
              <p:cNvSpPr>
                <a:spLocks/>
              </p:cNvSpPr>
              <p:nvPr/>
            </p:nvSpPr>
            <p:spPr bwMode="auto">
              <a:xfrm>
                <a:off x="3689826" y="1724411"/>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24" name="Freeform 18">
                <a:extLst>
                  <a:ext uri="{FF2B5EF4-FFF2-40B4-BE49-F238E27FC236}">
                    <a16:creationId xmlns:a16="http://schemas.microsoft.com/office/drawing/2014/main" id="{617C6758-FDD7-9660-4861-B9A796683AE7}"/>
                  </a:ext>
                </a:extLst>
              </p:cNvPr>
              <p:cNvSpPr>
                <a:spLocks/>
              </p:cNvSpPr>
              <p:nvPr/>
            </p:nvSpPr>
            <p:spPr bwMode="auto">
              <a:xfrm>
                <a:off x="3689826" y="1874590"/>
                <a:ext cx="93074"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chemeClr val="tx2">
                  <a:lumMod val="50000"/>
                  <a:lumOff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25" name="Freeform 19">
                <a:extLst>
                  <a:ext uri="{FF2B5EF4-FFF2-40B4-BE49-F238E27FC236}">
                    <a16:creationId xmlns:a16="http://schemas.microsoft.com/office/drawing/2014/main" id="{E3E890D4-3E2D-65D2-4789-BF0AC6185070}"/>
                  </a:ext>
                </a:extLst>
              </p:cNvPr>
              <p:cNvSpPr>
                <a:spLocks/>
              </p:cNvSpPr>
              <p:nvPr/>
            </p:nvSpPr>
            <p:spPr bwMode="auto">
              <a:xfrm>
                <a:off x="3689826" y="2246067"/>
                <a:ext cx="93074"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26" name="Freeform 20">
                <a:extLst>
                  <a:ext uri="{FF2B5EF4-FFF2-40B4-BE49-F238E27FC236}">
                    <a16:creationId xmlns:a16="http://schemas.microsoft.com/office/drawing/2014/main" id="{E2FE52CB-80AD-8DAF-D1EA-481F635C6E0D}"/>
                  </a:ext>
                </a:extLst>
              </p:cNvPr>
              <p:cNvSpPr>
                <a:spLocks/>
              </p:cNvSpPr>
              <p:nvPr/>
            </p:nvSpPr>
            <p:spPr bwMode="auto">
              <a:xfrm>
                <a:off x="3689826" y="2408783"/>
                <a:ext cx="93074" cy="146050"/>
              </a:xfrm>
              <a:custGeom>
                <a:avLst/>
                <a:gdLst>
                  <a:gd name="T0" fmla="*/ 362 w 387"/>
                  <a:gd name="T1" fmla="*/ 151 h 151"/>
                  <a:gd name="T2" fmla="*/ 387 w 387"/>
                  <a:gd name="T3" fmla="*/ 126 h 151"/>
                  <a:gd name="T4" fmla="*/ 387 w 387"/>
                  <a:gd name="T5" fmla="*/ 126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6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6"/>
                    </a:cubicBezTo>
                    <a:lnTo>
                      <a:pt x="387" y="126"/>
                    </a:lnTo>
                    <a:lnTo>
                      <a:pt x="387" y="24"/>
                    </a:lnTo>
                    <a:cubicBezTo>
                      <a:pt x="387" y="10"/>
                      <a:pt x="376" y="0"/>
                      <a:pt x="362" y="0"/>
                    </a:cubicBezTo>
                    <a:lnTo>
                      <a:pt x="362" y="0"/>
                    </a:lnTo>
                    <a:lnTo>
                      <a:pt x="24" y="0"/>
                    </a:lnTo>
                    <a:cubicBezTo>
                      <a:pt x="10" y="0"/>
                      <a:pt x="0" y="10"/>
                      <a:pt x="0" y="24"/>
                    </a:cubicBezTo>
                    <a:lnTo>
                      <a:pt x="0" y="24"/>
                    </a:lnTo>
                    <a:lnTo>
                      <a:pt x="0" y="126"/>
                    </a:lnTo>
                    <a:cubicBezTo>
                      <a:pt x="0" y="140"/>
                      <a:pt x="10" y="151"/>
                      <a:pt x="24" y="151"/>
                    </a:cubicBezTo>
                    <a:lnTo>
                      <a:pt x="24" y="151"/>
                    </a:lnTo>
                    <a:lnTo>
                      <a:pt x="362" y="151"/>
                    </a:lnTo>
                  </a:path>
                </a:pathLst>
              </a:custGeom>
              <a:solidFill>
                <a:schemeClr val="accent1">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27" name="Freeform 21">
                <a:extLst>
                  <a:ext uri="{FF2B5EF4-FFF2-40B4-BE49-F238E27FC236}">
                    <a16:creationId xmlns:a16="http://schemas.microsoft.com/office/drawing/2014/main" id="{54B6CA0D-46C9-D894-B817-4347AE38BA1F}"/>
                  </a:ext>
                </a:extLst>
              </p:cNvPr>
              <p:cNvSpPr>
                <a:spLocks/>
              </p:cNvSpPr>
              <p:nvPr/>
            </p:nvSpPr>
            <p:spPr bwMode="auto">
              <a:xfrm>
                <a:off x="3468896" y="2111013"/>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28" name="Freeform 21">
                <a:extLst>
                  <a:ext uri="{FF2B5EF4-FFF2-40B4-BE49-F238E27FC236}">
                    <a16:creationId xmlns:a16="http://schemas.microsoft.com/office/drawing/2014/main" id="{6BB28005-4E34-90F5-60D9-FA72C9D17130}"/>
                  </a:ext>
                </a:extLst>
              </p:cNvPr>
              <p:cNvSpPr>
                <a:spLocks/>
              </p:cNvSpPr>
              <p:nvPr/>
            </p:nvSpPr>
            <p:spPr bwMode="auto">
              <a:xfrm>
                <a:off x="3468896" y="2176447"/>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29" name="Freeform 21">
                <a:extLst>
                  <a:ext uri="{FF2B5EF4-FFF2-40B4-BE49-F238E27FC236}">
                    <a16:creationId xmlns:a16="http://schemas.microsoft.com/office/drawing/2014/main" id="{F6DF6B51-D86C-4B3B-3856-066A8CEC6E46}"/>
                  </a:ext>
                </a:extLst>
              </p:cNvPr>
              <p:cNvSpPr>
                <a:spLocks/>
              </p:cNvSpPr>
              <p:nvPr/>
            </p:nvSpPr>
            <p:spPr bwMode="auto">
              <a:xfrm>
                <a:off x="3595102" y="2045614"/>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30" name="Freeform 21">
                <a:extLst>
                  <a:ext uri="{FF2B5EF4-FFF2-40B4-BE49-F238E27FC236}">
                    <a16:creationId xmlns:a16="http://schemas.microsoft.com/office/drawing/2014/main" id="{4E0D054C-2339-106A-41E0-4C5D7BAECF08}"/>
                  </a:ext>
                </a:extLst>
              </p:cNvPr>
              <p:cNvSpPr>
                <a:spLocks/>
              </p:cNvSpPr>
              <p:nvPr/>
            </p:nvSpPr>
            <p:spPr bwMode="auto">
              <a:xfrm>
                <a:off x="3595102" y="2111864"/>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31" name="Freeform 21">
                <a:extLst>
                  <a:ext uri="{FF2B5EF4-FFF2-40B4-BE49-F238E27FC236}">
                    <a16:creationId xmlns:a16="http://schemas.microsoft.com/office/drawing/2014/main" id="{9FB7BE67-F1ED-F4F9-6238-54EE911C9C98}"/>
                  </a:ext>
                </a:extLst>
              </p:cNvPr>
              <p:cNvSpPr>
                <a:spLocks/>
              </p:cNvSpPr>
              <p:nvPr/>
            </p:nvSpPr>
            <p:spPr bwMode="auto">
              <a:xfrm>
                <a:off x="3595102" y="2177298"/>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32" name="Freeform 21">
                <a:extLst>
                  <a:ext uri="{FF2B5EF4-FFF2-40B4-BE49-F238E27FC236}">
                    <a16:creationId xmlns:a16="http://schemas.microsoft.com/office/drawing/2014/main" id="{26BFB229-F242-8E7D-935C-D8BA6A127E7A}"/>
                  </a:ext>
                </a:extLst>
              </p:cNvPr>
              <p:cNvSpPr>
                <a:spLocks/>
              </p:cNvSpPr>
              <p:nvPr/>
            </p:nvSpPr>
            <p:spPr bwMode="auto">
              <a:xfrm>
                <a:off x="3716546" y="2045614"/>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33" name="Freeform 21">
                <a:extLst>
                  <a:ext uri="{FF2B5EF4-FFF2-40B4-BE49-F238E27FC236}">
                    <a16:creationId xmlns:a16="http://schemas.microsoft.com/office/drawing/2014/main" id="{B7B3E1A2-B7D8-5F1C-138C-D8455DB3E2A0}"/>
                  </a:ext>
                </a:extLst>
              </p:cNvPr>
              <p:cNvSpPr>
                <a:spLocks/>
              </p:cNvSpPr>
              <p:nvPr/>
            </p:nvSpPr>
            <p:spPr bwMode="auto">
              <a:xfrm>
                <a:off x="3716546" y="2111864"/>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34" name="Freeform 21">
                <a:extLst>
                  <a:ext uri="{FF2B5EF4-FFF2-40B4-BE49-F238E27FC236}">
                    <a16:creationId xmlns:a16="http://schemas.microsoft.com/office/drawing/2014/main" id="{E58DD76A-7609-661C-D7D4-2B93FBE8C1F5}"/>
                  </a:ext>
                </a:extLst>
              </p:cNvPr>
              <p:cNvSpPr>
                <a:spLocks/>
              </p:cNvSpPr>
              <p:nvPr/>
            </p:nvSpPr>
            <p:spPr bwMode="auto">
              <a:xfrm>
                <a:off x="3716546" y="2177298"/>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35" name="Freeform 21">
                <a:extLst>
                  <a:ext uri="{FF2B5EF4-FFF2-40B4-BE49-F238E27FC236}">
                    <a16:creationId xmlns:a16="http://schemas.microsoft.com/office/drawing/2014/main" id="{FB4797BB-6629-1754-A03E-3326ADB2512C}"/>
                  </a:ext>
                </a:extLst>
              </p:cNvPr>
              <p:cNvSpPr>
                <a:spLocks/>
              </p:cNvSpPr>
              <p:nvPr/>
            </p:nvSpPr>
            <p:spPr bwMode="auto">
              <a:xfrm>
                <a:off x="3840371" y="2042941"/>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36" name="Freeform 21">
                <a:extLst>
                  <a:ext uri="{FF2B5EF4-FFF2-40B4-BE49-F238E27FC236}">
                    <a16:creationId xmlns:a16="http://schemas.microsoft.com/office/drawing/2014/main" id="{F6B9EB47-9727-D5A0-909A-2E93C5055C70}"/>
                  </a:ext>
                </a:extLst>
              </p:cNvPr>
              <p:cNvSpPr>
                <a:spLocks/>
              </p:cNvSpPr>
              <p:nvPr/>
            </p:nvSpPr>
            <p:spPr bwMode="auto">
              <a:xfrm>
                <a:off x="3840371" y="2109191"/>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37" name="Freeform 21">
                <a:extLst>
                  <a:ext uri="{FF2B5EF4-FFF2-40B4-BE49-F238E27FC236}">
                    <a16:creationId xmlns:a16="http://schemas.microsoft.com/office/drawing/2014/main" id="{A3C7FF9B-3C06-39E5-E38E-F0BBF31245C4}"/>
                  </a:ext>
                </a:extLst>
              </p:cNvPr>
              <p:cNvSpPr>
                <a:spLocks/>
              </p:cNvSpPr>
              <p:nvPr/>
            </p:nvSpPr>
            <p:spPr bwMode="auto">
              <a:xfrm>
                <a:off x="3840371" y="2174625"/>
                <a:ext cx="45719" cy="47163"/>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sp>
          <p:nvSpPr>
            <p:cNvPr id="438" name="文本框 437">
              <a:extLst>
                <a:ext uri="{FF2B5EF4-FFF2-40B4-BE49-F238E27FC236}">
                  <a16:creationId xmlns:a16="http://schemas.microsoft.com/office/drawing/2014/main" id="{B293D5F7-28F1-7D2A-BCE9-F01210FC27C8}"/>
                </a:ext>
              </a:extLst>
            </p:cNvPr>
            <p:cNvSpPr txBox="1"/>
            <p:nvPr/>
          </p:nvSpPr>
          <p:spPr>
            <a:xfrm>
              <a:off x="4718363" y="843049"/>
              <a:ext cx="821531" cy="276999"/>
            </a:xfrm>
            <a:prstGeom prst="rect">
              <a:avLst/>
            </a:prstGeom>
            <a:noFill/>
          </p:spPr>
          <p:txBody>
            <a:bodyPr wrap="square">
              <a:spAutoFit/>
            </a:bodyPr>
            <a:lstStyle/>
            <a:p>
              <a:r>
                <a:rPr lang="zh-CN" altLang="en-US" sz="1200" dirty="0">
                  <a:ea typeface="宋体" panose="02010600030101010101" pitchFamily="2" charset="-122"/>
                  <a:cs typeface="Times New Roman" panose="02020603050405020304" pitchFamily="18" charset="0"/>
                </a:rPr>
                <a:t>残基特征</a:t>
              </a:r>
              <a:endParaRPr lang="zh-CN" altLang="en-US" sz="1200" dirty="0"/>
            </a:p>
          </p:txBody>
        </p:sp>
        <p:sp>
          <p:nvSpPr>
            <p:cNvPr id="439" name="文本框 438">
              <a:extLst>
                <a:ext uri="{FF2B5EF4-FFF2-40B4-BE49-F238E27FC236}">
                  <a16:creationId xmlns:a16="http://schemas.microsoft.com/office/drawing/2014/main" id="{D4E27551-5B16-47FF-5EF0-9509CD5B34D7}"/>
                </a:ext>
              </a:extLst>
            </p:cNvPr>
            <p:cNvSpPr txBox="1"/>
            <p:nvPr/>
          </p:nvSpPr>
          <p:spPr>
            <a:xfrm>
              <a:off x="4819732" y="3177352"/>
              <a:ext cx="821531" cy="276999"/>
            </a:xfrm>
            <a:prstGeom prst="rect">
              <a:avLst/>
            </a:prstGeom>
            <a:noFill/>
          </p:spPr>
          <p:txBody>
            <a:bodyPr wrap="square">
              <a:spAutoFit/>
            </a:bodyPr>
            <a:lstStyle/>
            <a:p>
              <a:r>
                <a:rPr lang="zh-CN" altLang="en-US" sz="1200" dirty="0">
                  <a:ea typeface="宋体" panose="02010600030101010101" pitchFamily="2" charset="-122"/>
                  <a:cs typeface="Times New Roman" panose="02020603050405020304" pitchFamily="18" charset="0"/>
                </a:rPr>
                <a:t>原子特征</a:t>
              </a:r>
              <a:endParaRPr lang="zh-CN" altLang="en-US" sz="1200" dirty="0"/>
            </a:p>
          </p:txBody>
        </p:sp>
        <p:sp>
          <p:nvSpPr>
            <p:cNvPr id="533" name="Rectangle 14">
              <a:extLst>
                <a:ext uri="{FF2B5EF4-FFF2-40B4-BE49-F238E27FC236}">
                  <a16:creationId xmlns:a16="http://schemas.microsoft.com/office/drawing/2014/main" id="{874D9C3B-0708-4FD0-C515-C0923C00F2E7}"/>
                </a:ext>
              </a:extLst>
            </p:cNvPr>
            <p:cNvSpPr>
              <a:spLocks noChangeArrowheads="1"/>
            </p:cNvSpPr>
            <p:nvPr/>
          </p:nvSpPr>
          <p:spPr bwMode="auto">
            <a:xfrm>
              <a:off x="6576300" y="1131610"/>
              <a:ext cx="2886075" cy="3436938"/>
            </a:xfrm>
            <a:prstGeom prst="rect">
              <a:avLst/>
            </a:prstGeom>
            <a:solidFill>
              <a:srgbClr val="E1F7DE"/>
            </a:solidFill>
            <a:ln w="12700" cap="rnd">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534" name="Freeform 245">
              <a:extLst>
                <a:ext uri="{FF2B5EF4-FFF2-40B4-BE49-F238E27FC236}">
                  <a16:creationId xmlns:a16="http://schemas.microsoft.com/office/drawing/2014/main" id="{8F281F4B-5333-C638-E180-E378F52162E3}"/>
                </a:ext>
              </a:extLst>
            </p:cNvPr>
            <p:cNvSpPr>
              <a:spLocks/>
            </p:cNvSpPr>
            <p:nvPr/>
          </p:nvSpPr>
          <p:spPr bwMode="auto">
            <a:xfrm>
              <a:off x="6685838" y="3514447"/>
              <a:ext cx="220663" cy="523875"/>
            </a:xfrm>
            <a:custGeom>
              <a:avLst/>
              <a:gdLst>
                <a:gd name="T0" fmla="*/ 199 w 229"/>
                <a:gd name="T1" fmla="*/ 544 h 544"/>
                <a:gd name="T2" fmla="*/ 229 w 229"/>
                <a:gd name="T3" fmla="*/ 514 h 544"/>
                <a:gd name="T4" fmla="*/ 229 w 229"/>
                <a:gd name="T5" fmla="*/ 30 h 544"/>
                <a:gd name="T6" fmla="*/ 199 w 229"/>
                <a:gd name="T7" fmla="*/ 0 h 544"/>
                <a:gd name="T8" fmla="*/ 199 w 229"/>
                <a:gd name="T9" fmla="*/ 0 h 544"/>
                <a:gd name="T10" fmla="*/ 30 w 229"/>
                <a:gd name="T11" fmla="*/ 0 h 544"/>
                <a:gd name="T12" fmla="*/ 0 w 229"/>
                <a:gd name="T13" fmla="*/ 30 h 544"/>
                <a:gd name="T14" fmla="*/ 0 w 229"/>
                <a:gd name="T15" fmla="*/ 514 h 544"/>
                <a:gd name="T16" fmla="*/ 30 w 229"/>
                <a:gd name="T17" fmla="*/ 544 h 544"/>
                <a:gd name="T18" fmla="*/ 30 w 229"/>
                <a:gd name="T19" fmla="*/ 544 h 544"/>
                <a:gd name="T20" fmla="*/ 199 w 229"/>
                <a:gd name="T21" fmla="*/ 544 h 5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29" h="544">
                  <a:moveTo>
                    <a:pt x="199" y="544"/>
                  </a:moveTo>
                  <a:cubicBezTo>
                    <a:pt x="216" y="544"/>
                    <a:pt x="229" y="531"/>
                    <a:pt x="229" y="514"/>
                  </a:cubicBezTo>
                  <a:lnTo>
                    <a:pt x="229" y="30"/>
                  </a:lnTo>
                  <a:cubicBezTo>
                    <a:pt x="229" y="14"/>
                    <a:pt x="216" y="0"/>
                    <a:pt x="199" y="0"/>
                  </a:cubicBezTo>
                  <a:lnTo>
                    <a:pt x="199" y="0"/>
                  </a:lnTo>
                  <a:lnTo>
                    <a:pt x="30" y="0"/>
                  </a:lnTo>
                  <a:cubicBezTo>
                    <a:pt x="13" y="0"/>
                    <a:pt x="0" y="14"/>
                    <a:pt x="0" y="30"/>
                  </a:cubicBezTo>
                  <a:lnTo>
                    <a:pt x="0" y="514"/>
                  </a:lnTo>
                  <a:cubicBezTo>
                    <a:pt x="0" y="531"/>
                    <a:pt x="13" y="544"/>
                    <a:pt x="30" y="544"/>
                  </a:cubicBezTo>
                  <a:lnTo>
                    <a:pt x="30" y="544"/>
                  </a:lnTo>
                  <a:lnTo>
                    <a:pt x="199" y="544"/>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35" name="Freeform 15">
              <a:extLst>
                <a:ext uri="{FF2B5EF4-FFF2-40B4-BE49-F238E27FC236}">
                  <a16:creationId xmlns:a16="http://schemas.microsoft.com/office/drawing/2014/main" id="{24A24F93-6E7B-64C2-9072-430A4F5B2DA5}"/>
                </a:ext>
              </a:extLst>
            </p:cNvPr>
            <p:cNvSpPr>
              <a:spLocks/>
            </p:cNvSpPr>
            <p:nvPr/>
          </p:nvSpPr>
          <p:spPr bwMode="auto">
            <a:xfrm>
              <a:off x="5930188" y="1137960"/>
              <a:ext cx="419100" cy="1482725"/>
            </a:xfrm>
            <a:custGeom>
              <a:avLst/>
              <a:gdLst>
                <a:gd name="T0" fmla="*/ 363 w 436"/>
                <a:gd name="T1" fmla="*/ 1542 h 1542"/>
                <a:gd name="T2" fmla="*/ 436 w 436"/>
                <a:gd name="T3" fmla="*/ 1469 h 1542"/>
                <a:gd name="T4" fmla="*/ 436 w 436"/>
                <a:gd name="T5" fmla="*/ 1469 h 1542"/>
                <a:gd name="T6" fmla="*/ 436 w 436"/>
                <a:gd name="T7" fmla="*/ 72 h 1542"/>
                <a:gd name="T8" fmla="*/ 363 w 436"/>
                <a:gd name="T9" fmla="*/ 0 h 1542"/>
                <a:gd name="T10" fmla="*/ 363 w 436"/>
                <a:gd name="T11" fmla="*/ 0 h 1542"/>
                <a:gd name="T12" fmla="*/ 73 w 436"/>
                <a:gd name="T13" fmla="*/ 0 h 1542"/>
                <a:gd name="T14" fmla="*/ 0 w 436"/>
                <a:gd name="T15" fmla="*/ 72 h 1542"/>
                <a:gd name="T16" fmla="*/ 0 w 436"/>
                <a:gd name="T17" fmla="*/ 1469 h 1542"/>
                <a:gd name="T18" fmla="*/ 73 w 436"/>
                <a:gd name="T19" fmla="*/ 1542 h 1542"/>
                <a:gd name="T20" fmla="*/ 363 w 436"/>
                <a:gd name="T21" fmla="*/ 1542 h 1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36" h="1542">
                  <a:moveTo>
                    <a:pt x="363" y="1542"/>
                  </a:moveTo>
                  <a:cubicBezTo>
                    <a:pt x="403" y="1542"/>
                    <a:pt x="436" y="1509"/>
                    <a:pt x="436" y="1469"/>
                  </a:cubicBezTo>
                  <a:lnTo>
                    <a:pt x="436" y="1469"/>
                  </a:lnTo>
                  <a:lnTo>
                    <a:pt x="436" y="72"/>
                  </a:lnTo>
                  <a:cubicBezTo>
                    <a:pt x="436" y="32"/>
                    <a:pt x="403" y="0"/>
                    <a:pt x="363" y="0"/>
                  </a:cubicBezTo>
                  <a:lnTo>
                    <a:pt x="363" y="0"/>
                  </a:lnTo>
                  <a:lnTo>
                    <a:pt x="73" y="0"/>
                  </a:lnTo>
                  <a:cubicBezTo>
                    <a:pt x="33" y="0"/>
                    <a:pt x="0" y="32"/>
                    <a:pt x="0" y="72"/>
                  </a:cubicBezTo>
                  <a:lnTo>
                    <a:pt x="0" y="1469"/>
                  </a:lnTo>
                  <a:cubicBezTo>
                    <a:pt x="0" y="1509"/>
                    <a:pt x="33" y="1542"/>
                    <a:pt x="73" y="1542"/>
                  </a:cubicBezTo>
                  <a:lnTo>
                    <a:pt x="363" y="1542"/>
                  </a:lnTo>
                </a:path>
              </a:pathLst>
            </a:cu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36" name="Freeform 16">
              <a:extLst>
                <a:ext uri="{FF2B5EF4-FFF2-40B4-BE49-F238E27FC236}">
                  <a16:creationId xmlns:a16="http://schemas.microsoft.com/office/drawing/2014/main" id="{942B650B-D281-F8B6-BC6E-6EF7FF2AA22D}"/>
                </a:ext>
              </a:extLst>
            </p:cNvPr>
            <p:cNvSpPr>
              <a:spLocks/>
            </p:cNvSpPr>
            <p:nvPr/>
          </p:nvSpPr>
          <p:spPr bwMode="auto">
            <a:xfrm>
              <a:off x="5954001" y="1188760"/>
              <a:ext cx="371475" cy="147638"/>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37" name="Freeform 17">
              <a:extLst>
                <a:ext uri="{FF2B5EF4-FFF2-40B4-BE49-F238E27FC236}">
                  <a16:creationId xmlns:a16="http://schemas.microsoft.com/office/drawing/2014/main" id="{84D10A87-1CBD-1624-2DE7-EBCB52D60F51}"/>
                </a:ext>
              </a:extLst>
            </p:cNvPr>
            <p:cNvSpPr>
              <a:spLocks/>
            </p:cNvSpPr>
            <p:nvPr/>
          </p:nvSpPr>
          <p:spPr bwMode="auto">
            <a:xfrm>
              <a:off x="5954001" y="1439585"/>
              <a:ext cx="371475"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38" name="Freeform 18">
              <a:extLst>
                <a:ext uri="{FF2B5EF4-FFF2-40B4-BE49-F238E27FC236}">
                  <a16:creationId xmlns:a16="http://schemas.microsoft.com/office/drawing/2014/main" id="{33EF0390-229E-3961-F377-0A97391ADD96}"/>
                </a:ext>
              </a:extLst>
            </p:cNvPr>
            <p:cNvSpPr>
              <a:spLocks/>
            </p:cNvSpPr>
            <p:nvPr/>
          </p:nvSpPr>
          <p:spPr bwMode="auto">
            <a:xfrm>
              <a:off x="5954001" y="1688822"/>
              <a:ext cx="371475" cy="146050"/>
            </a:xfrm>
            <a:custGeom>
              <a:avLst/>
              <a:gdLst>
                <a:gd name="T0" fmla="*/ 362 w 387"/>
                <a:gd name="T1" fmla="*/ 152 h 152"/>
                <a:gd name="T2" fmla="*/ 387 w 387"/>
                <a:gd name="T3" fmla="*/ 127 h 152"/>
                <a:gd name="T4" fmla="*/ 387 w 387"/>
                <a:gd name="T5" fmla="*/ 127 h 152"/>
                <a:gd name="T6" fmla="*/ 387 w 387"/>
                <a:gd name="T7" fmla="*/ 25 h 152"/>
                <a:gd name="T8" fmla="*/ 362 w 387"/>
                <a:gd name="T9" fmla="*/ 0 h 152"/>
                <a:gd name="T10" fmla="*/ 362 w 387"/>
                <a:gd name="T11" fmla="*/ 0 h 152"/>
                <a:gd name="T12" fmla="*/ 24 w 387"/>
                <a:gd name="T13" fmla="*/ 0 h 152"/>
                <a:gd name="T14" fmla="*/ 0 w 387"/>
                <a:gd name="T15" fmla="*/ 25 h 152"/>
                <a:gd name="T16" fmla="*/ 0 w 387"/>
                <a:gd name="T17" fmla="*/ 25 h 152"/>
                <a:gd name="T18" fmla="*/ 0 w 387"/>
                <a:gd name="T19" fmla="*/ 127 h 152"/>
                <a:gd name="T20" fmla="*/ 24 w 387"/>
                <a:gd name="T21" fmla="*/ 152 h 152"/>
                <a:gd name="T22" fmla="*/ 24 w 387"/>
                <a:gd name="T23" fmla="*/ 152 h 152"/>
                <a:gd name="T24" fmla="*/ 362 w 387"/>
                <a:gd name="T25" fmla="*/ 152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2">
                  <a:moveTo>
                    <a:pt x="362" y="152"/>
                  </a:moveTo>
                  <a:cubicBezTo>
                    <a:pt x="376" y="152"/>
                    <a:pt x="387" y="141"/>
                    <a:pt x="387" y="127"/>
                  </a:cubicBezTo>
                  <a:lnTo>
                    <a:pt x="387" y="127"/>
                  </a:lnTo>
                  <a:lnTo>
                    <a:pt x="387" y="25"/>
                  </a:lnTo>
                  <a:cubicBezTo>
                    <a:pt x="387" y="11"/>
                    <a:pt x="376" y="0"/>
                    <a:pt x="362" y="0"/>
                  </a:cubicBezTo>
                  <a:lnTo>
                    <a:pt x="362" y="0"/>
                  </a:lnTo>
                  <a:lnTo>
                    <a:pt x="24" y="0"/>
                  </a:lnTo>
                  <a:cubicBezTo>
                    <a:pt x="10" y="0"/>
                    <a:pt x="0" y="11"/>
                    <a:pt x="0" y="25"/>
                  </a:cubicBezTo>
                  <a:lnTo>
                    <a:pt x="0" y="25"/>
                  </a:lnTo>
                  <a:lnTo>
                    <a:pt x="0" y="127"/>
                  </a:lnTo>
                  <a:cubicBezTo>
                    <a:pt x="0" y="141"/>
                    <a:pt x="10" y="152"/>
                    <a:pt x="24" y="152"/>
                  </a:cubicBezTo>
                  <a:lnTo>
                    <a:pt x="24" y="152"/>
                  </a:lnTo>
                  <a:lnTo>
                    <a:pt x="362" y="152"/>
                  </a:ln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39" name="Freeform 19">
              <a:extLst>
                <a:ext uri="{FF2B5EF4-FFF2-40B4-BE49-F238E27FC236}">
                  <a16:creationId xmlns:a16="http://schemas.microsoft.com/office/drawing/2014/main" id="{C69D4DE3-42A4-4D51-2A4B-C338499FAFDC}"/>
                </a:ext>
              </a:extLst>
            </p:cNvPr>
            <p:cNvSpPr>
              <a:spLocks/>
            </p:cNvSpPr>
            <p:nvPr/>
          </p:nvSpPr>
          <p:spPr bwMode="auto">
            <a:xfrm>
              <a:off x="5954001" y="2222222"/>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40" name="Freeform 20">
              <a:extLst>
                <a:ext uri="{FF2B5EF4-FFF2-40B4-BE49-F238E27FC236}">
                  <a16:creationId xmlns:a16="http://schemas.microsoft.com/office/drawing/2014/main" id="{27DE0655-3B36-7862-E1AD-590BB28129DF}"/>
                </a:ext>
              </a:extLst>
            </p:cNvPr>
            <p:cNvSpPr>
              <a:spLocks/>
            </p:cNvSpPr>
            <p:nvPr/>
          </p:nvSpPr>
          <p:spPr bwMode="auto">
            <a:xfrm>
              <a:off x="5954001" y="2439710"/>
              <a:ext cx="371475" cy="146050"/>
            </a:xfrm>
            <a:custGeom>
              <a:avLst/>
              <a:gdLst>
                <a:gd name="T0" fmla="*/ 362 w 387"/>
                <a:gd name="T1" fmla="*/ 151 h 151"/>
                <a:gd name="T2" fmla="*/ 387 w 387"/>
                <a:gd name="T3" fmla="*/ 126 h 151"/>
                <a:gd name="T4" fmla="*/ 387 w 387"/>
                <a:gd name="T5" fmla="*/ 126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6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6"/>
                  </a:cubicBezTo>
                  <a:lnTo>
                    <a:pt x="387" y="126"/>
                  </a:lnTo>
                  <a:lnTo>
                    <a:pt x="387" y="24"/>
                  </a:lnTo>
                  <a:cubicBezTo>
                    <a:pt x="387" y="10"/>
                    <a:pt x="376" y="0"/>
                    <a:pt x="362" y="0"/>
                  </a:cubicBezTo>
                  <a:lnTo>
                    <a:pt x="362" y="0"/>
                  </a:lnTo>
                  <a:lnTo>
                    <a:pt x="24" y="0"/>
                  </a:lnTo>
                  <a:cubicBezTo>
                    <a:pt x="10" y="0"/>
                    <a:pt x="0" y="10"/>
                    <a:pt x="0" y="24"/>
                  </a:cubicBezTo>
                  <a:lnTo>
                    <a:pt x="0" y="24"/>
                  </a:lnTo>
                  <a:lnTo>
                    <a:pt x="0" y="126"/>
                  </a:lnTo>
                  <a:cubicBezTo>
                    <a:pt x="0" y="140"/>
                    <a:pt x="10" y="151"/>
                    <a:pt x="24" y="151"/>
                  </a:cubicBezTo>
                  <a:lnTo>
                    <a:pt x="24" y="151"/>
                  </a:lnTo>
                  <a:lnTo>
                    <a:pt x="362" y="151"/>
                  </a:ln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41" name="Freeform 21">
              <a:extLst>
                <a:ext uri="{FF2B5EF4-FFF2-40B4-BE49-F238E27FC236}">
                  <a16:creationId xmlns:a16="http://schemas.microsoft.com/office/drawing/2014/main" id="{AE85F21D-11BE-FABD-82B4-7B0E1C7C3C36}"/>
                </a:ext>
              </a:extLst>
            </p:cNvPr>
            <p:cNvSpPr>
              <a:spLocks/>
            </p:cNvSpPr>
            <p:nvPr/>
          </p:nvSpPr>
          <p:spPr bwMode="auto">
            <a:xfrm>
              <a:off x="6104813" y="1882497"/>
              <a:ext cx="69850" cy="69850"/>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3"/>
                    <a:pt x="34" y="44"/>
                    <a:pt x="22" y="44"/>
                  </a:cubicBezTo>
                  <a:cubicBezTo>
                    <a:pt x="10" y="44"/>
                    <a:pt x="0" y="33"/>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42" name="Freeform 22">
              <a:extLst>
                <a:ext uri="{FF2B5EF4-FFF2-40B4-BE49-F238E27FC236}">
                  <a16:creationId xmlns:a16="http://schemas.microsoft.com/office/drawing/2014/main" id="{CFC6717D-A15F-AF8F-5FCC-D9E96EF4F150}"/>
                </a:ext>
              </a:extLst>
            </p:cNvPr>
            <p:cNvSpPr>
              <a:spLocks/>
            </p:cNvSpPr>
            <p:nvPr/>
          </p:nvSpPr>
          <p:spPr bwMode="auto">
            <a:xfrm>
              <a:off x="6104813" y="1998385"/>
              <a:ext cx="69850" cy="68263"/>
            </a:xfrm>
            <a:custGeom>
              <a:avLst/>
              <a:gdLst>
                <a:gd name="T0" fmla="*/ 0 w 44"/>
                <a:gd name="T1" fmla="*/ 22 h 43"/>
                <a:gd name="T2" fmla="*/ 22 w 44"/>
                <a:gd name="T3" fmla="*/ 0 h 43"/>
                <a:gd name="T4" fmla="*/ 44 w 44"/>
                <a:gd name="T5" fmla="*/ 22 h 43"/>
                <a:gd name="T6" fmla="*/ 44 w 44"/>
                <a:gd name="T7" fmla="*/ 22 h 43"/>
                <a:gd name="T8" fmla="*/ 22 w 44"/>
                <a:gd name="T9" fmla="*/ 43 h 43"/>
                <a:gd name="T10" fmla="*/ 0 w 44"/>
                <a:gd name="T11" fmla="*/ 22 h 43"/>
              </a:gdLst>
              <a:ahLst/>
              <a:cxnLst>
                <a:cxn ang="0">
                  <a:pos x="T0" y="T1"/>
                </a:cxn>
                <a:cxn ang="0">
                  <a:pos x="T2" y="T3"/>
                </a:cxn>
                <a:cxn ang="0">
                  <a:pos x="T4" y="T5"/>
                </a:cxn>
                <a:cxn ang="0">
                  <a:pos x="T6" y="T7"/>
                </a:cxn>
                <a:cxn ang="0">
                  <a:pos x="T8" y="T9"/>
                </a:cxn>
                <a:cxn ang="0">
                  <a:pos x="T10" y="T11"/>
                </a:cxn>
              </a:cxnLst>
              <a:rect l="0" t="0" r="r" b="b"/>
              <a:pathLst>
                <a:path w="44" h="43">
                  <a:moveTo>
                    <a:pt x="0" y="22"/>
                  </a:moveTo>
                  <a:cubicBezTo>
                    <a:pt x="0" y="9"/>
                    <a:pt x="10" y="0"/>
                    <a:pt x="22" y="0"/>
                  </a:cubicBezTo>
                  <a:cubicBezTo>
                    <a:pt x="34" y="0"/>
                    <a:pt x="44" y="9"/>
                    <a:pt x="44" y="22"/>
                  </a:cubicBezTo>
                  <a:cubicBezTo>
                    <a:pt x="44" y="22"/>
                    <a:pt x="44" y="22"/>
                    <a:pt x="44" y="22"/>
                  </a:cubicBezTo>
                  <a:cubicBezTo>
                    <a:pt x="44" y="34"/>
                    <a:pt x="34" y="43"/>
                    <a:pt x="22" y="43"/>
                  </a:cubicBezTo>
                  <a:cubicBezTo>
                    <a:pt x="10" y="43"/>
                    <a:pt x="0" y="34"/>
                    <a:pt x="0" y="22"/>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43" name="Freeform 23">
              <a:extLst>
                <a:ext uri="{FF2B5EF4-FFF2-40B4-BE49-F238E27FC236}">
                  <a16:creationId xmlns:a16="http://schemas.microsoft.com/office/drawing/2014/main" id="{149437E9-2FA4-99E1-9DBB-0FDC640998F1}"/>
                </a:ext>
              </a:extLst>
            </p:cNvPr>
            <p:cNvSpPr>
              <a:spLocks/>
            </p:cNvSpPr>
            <p:nvPr/>
          </p:nvSpPr>
          <p:spPr bwMode="auto">
            <a:xfrm>
              <a:off x="6104813" y="2114272"/>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44" name="Freeform 24">
              <a:extLst>
                <a:ext uri="{FF2B5EF4-FFF2-40B4-BE49-F238E27FC236}">
                  <a16:creationId xmlns:a16="http://schemas.microsoft.com/office/drawing/2014/main" id="{027D88B5-94FF-7CBE-0721-FF8B108A37EB}"/>
                </a:ext>
              </a:extLst>
            </p:cNvPr>
            <p:cNvSpPr>
              <a:spLocks/>
            </p:cNvSpPr>
            <p:nvPr/>
          </p:nvSpPr>
          <p:spPr bwMode="auto">
            <a:xfrm>
              <a:off x="5641263" y="1230035"/>
              <a:ext cx="271463" cy="6985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45" name="Freeform 25">
              <a:extLst>
                <a:ext uri="{FF2B5EF4-FFF2-40B4-BE49-F238E27FC236}">
                  <a16:creationId xmlns:a16="http://schemas.microsoft.com/office/drawing/2014/main" id="{71B46F63-36DB-4CBF-6B6A-AAE3A6365276}"/>
                </a:ext>
              </a:extLst>
            </p:cNvPr>
            <p:cNvSpPr>
              <a:spLocks/>
            </p:cNvSpPr>
            <p:nvPr/>
          </p:nvSpPr>
          <p:spPr bwMode="auto">
            <a:xfrm>
              <a:off x="5641263" y="1480860"/>
              <a:ext cx="271463" cy="6985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46" name="Freeform 26">
              <a:extLst>
                <a:ext uri="{FF2B5EF4-FFF2-40B4-BE49-F238E27FC236}">
                  <a16:creationId xmlns:a16="http://schemas.microsoft.com/office/drawing/2014/main" id="{A36B00AA-F310-342F-7FDC-A18A6BEC0F8F}"/>
                </a:ext>
              </a:extLst>
            </p:cNvPr>
            <p:cNvSpPr>
              <a:spLocks/>
            </p:cNvSpPr>
            <p:nvPr/>
          </p:nvSpPr>
          <p:spPr bwMode="auto">
            <a:xfrm>
              <a:off x="5641263" y="1730097"/>
              <a:ext cx="271463" cy="6985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47" name="Freeform 27">
              <a:extLst>
                <a:ext uri="{FF2B5EF4-FFF2-40B4-BE49-F238E27FC236}">
                  <a16:creationId xmlns:a16="http://schemas.microsoft.com/office/drawing/2014/main" id="{21208202-0C02-7B8D-0C71-2444527B2F50}"/>
                </a:ext>
              </a:extLst>
            </p:cNvPr>
            <p:cNvSpPr>
              <a:spLocks/>
            </p:cNvSpPr>
            <p:nvPr/>
          </p:nvSpPr>
          <p:spPr bwMode="auto">
            <a:xfrm>
              <a:off x="5641263" y="2265085"/>
              <a:ext cx="271463" cy="6985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48" name="Freeform 28">
              <a:extLst>
                <a:ext uri="{FF2B5EF4-FFF2-40B4-BE49-F238E27FC236}">
                  <a16:creationId xmlns:a16="http://schemas.microsoft.com/office/drawing/2014/main" id="{FC4812C1-C019-CFD2-D177-056567268222}"/>
                </a:ext>
              </a:extLst>
            </p:cNvPr>
            <p:cNvSpPr>
              <a:spLocks/>
            </p:cNvSpPr>
            <p:nvPr/>
          </p:nvSpPr>
          <p:spPr bwMode="auto">
            <a:xfrm>
              <a:off x="5641263" y="2474635"/>
              <a:ext cx="271463" cy="6985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49" name="Freeform 29">
              <a:extLst>
                <a:ext uri="{FF2B5EF4-FFF2-40B4-BE49-F238E27FC236}">
                  <a16:creationId xmlns:a16="http://schemas.microsoft.com/office/drawing/2014/main" id="{E582FCB0-1C42-17B7-C23B-2479DEB1FF0C}"/>
                </a:ext>
              </a:extLst>
            </p:cNvPr>
            <p:cNvSpPr>
              <a:spLocks/>
            </p:cNvSpPr>
            <p:nvPr/>
          </p:nvSpPr>
          <p:spPr bwMode="auto">
            <a:xfrm>
              <a:off x="5930188" y="3035022"/>
              <a:ext cx="419100" cy="1482725"/>
            </a:xfrm>
            <a:custGeom>
              <a:avLst/>
              <a:gdLst>
                <a:gd name="T0" fmla="*/ 363 w 436"/>
                <a:gd name="T1" fmla="*/ 1542 h 1542"/>
                <a:gd name="T2" fmla="*/ 436 w 436"/>
                <a:gd name="T3" fmla="*/ 1470 h 1542"/>
                <a:gd name="T4" fmla="*/ 436 w 436"/>
                <a:gd name="T5" fmla="*/ 1470 h 1542"/>
                <a:gd name="T6" fmla="*/ 436 w 436"/>
                <a:gd name="T7" fmla="*/ 73 h 1542"/>
                <a:gd name="T8" fmla="*/ 363 w 436"/>
                <a:gd name="T9" fmla="*/ 0 h 1542"/>
                <a:gd name="T10" fmla="*/ 363 w 436"/>
                <a:gd name="T11" fmla="*/ 0 h 1542"/>
                <a:gd name="T12" fmla="*/ 73 w 436"/>
                <a:gd name="T13" fmla="*/ 0 h 1542"/>
                <a:gd name="T14" fmla="*/ 0 w 436"/>
                <a:gd name="T15" fmla="*/ 73 h 1542"/>
                <a:gd name="T16" fmla="*/ 0 w 436"/>
                <a:gd name="T17" fmla="*/ 1470 h 1542"/>
                <a:gd name="T18" fmla="*/ 73 w 436"/>
                <a:gd name="T19" fmla="*/ 1542 h 1542"/>
                <a:gd name="T20" fmla="*/ 363 w 436"/>
                <a:gd name="T21" fmla="*/ 1542 h 1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36" h="1542">
                  <a:moveTo>
                    <a:pt x="363" y="1542"/>
                  </a:moveTo>
                  <a:cubicBezTo>
                    <a:pt x="403" y="1542"/>
                    <a:pt x="436" y="1510"/>
                    <a:pt x="436" y="1470"/>
                  </a:cubicBezTo>
                  <a:lnTo>
                    <a:pt x="436" y="1470"/>
                  </a:lnTo>
                  <a:lnTo>
                    <a:pt x="436" y="73"/>
                  </a:lnTo>
                  <a:cubicBezTo>
                    <a:pt x="436" y="33"/>
                    <a:pt x="403" y="0"/>
                    <a:pt x="363" y="0"/>
                  </a:cubicBezTo>
                  <a:lnTo>
                    <a:pt x="363" y="0"/>
                  </a:lnTo>
                  <a:lnTo>
                    <a:pt x="73" y="0"/>
                  </a:lnTo>
                  <a:cubicBezTo>
                    <a:pt x="33" y="0"/>
                    <a:pt x="0" y="33"/>
                    <a:pt x="0" y="73"/>
                  </a:cubicBezTo>
                  <a:lnTo>
                    <a:pt x="0" y="1470"/>
                  </a:lnTo>
                  <a:cubicBezTo>
                    <a:pt x="0" y="1510"/>
                    <a:pt x="33" y="1542"/>
                    <a:pt x="73" y="1542"/>
                  </a:cubicBezTo>
                  <a:lnTo>
                    <a:pt x="363" y="1542"/>
                  </a:lnTo>
                </a:path>
              </a:pathLst>
            </a:cu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50" name="Freeform 30">
              <a:extLst>
                <a:ext uri="{FF2B5EF4-FFF2-40B4-BE49-F238E27FC236}">
                  <a16:creationId xmlns:a16="http://schemas.microsoft.com/office/drawing/2014/main" id="{01DCCC5B-6D18-75E0-C6C8-CEAB5A4CC9AC}"/>
                </a:ext>
              </a:extLst>
            </p:cNvPr>
            <p:cNvSpPr>
              <a:spLocks/>
            </p:cNvSpPr>
            <p:nvPr/>
          </p:nvSpPr>
          <p:spPr bwMode="auto">
            <a:xfrm>
              <a:off x="5954001" y="3088997"/>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51" name="Freeform 31">
              <a:extLst>
                <a:ext uri="{FF2B5EF4-FFF2-40B4-BE49-F238E27FC236}">
                  <a16:creationId xmlns:a16="http://schemas.microsoft.com/office/drawing/2014/main" id="{72E2B405-6D7B-8B07-653C-0F50C25523F9}"/>
                </a:ext>
              </a:extLst>
            </p:cNvPr>
            <p:cNvSpPr>
              <a:spLocks/>
            </p:cNvSpPr>
            <p:nvPr/>
          </p:nvSpPr>
          <p:spPr bwMode="auto">
            <a:xfrm>
              <a:off x="5954001" y="3327122"/>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52" name="Freeform 32">
              <a:extLst>
                <a:ext uri="{FF2B5EF4-FFF2-40B4-BE49-F238E27FC236}">
                  <a16:creationId xmlns:a16="http://schemas.microsoft.com/office/drawing/2014/main" id="{223D5B35-89E0-2EAC-3029-E8E8A6683A61}"/>
                </a:ext>
              </a:extLst>
            </p:cNvPr>
            <p:cNvSpPr>
              <a:spLocks/>
            </p:cNvSpPr>
            <p:nvPr/>
          </p:nvSpPr>
          <p:spPr bwMode="auto">
            <a:xfrm>
              <a:off x="5954001" y="3573185"/>
              <a:ext cx="371475" cy="146050"/>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53" name="Freeform 33">
              <a:extLst>
                <a:ext uri="{FF2B5EF4-FFF2-40B4-BE49-F238E27FC236}">
                  <a16:creationId xmlns:a16="http://schemas.microsoft.com/office/drawing/2014/main" id="{5D6F416C-DEDD-E326-37B3-40589C3A1B3F}"/>
                </a:ext>
              </a:extLst>
            </p:cNvPr>
            <p:cNvSpPr>
              <a:spLocks/>
            </p:cNvSpPr>
            <p:nvPr/>
          </p:nvSpPr>
          <p:spPr bwMode="auto">
            <a:xfrm>
              <a:off x="5954001" y="4071660"/>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54" name="Freeform 34">
              <a:extLst>
                <a:ext uri="{FF2B5EF4-FFF2-40B4-BE49-F238E27FC236}">
                  <a16:creationId xmlns:a16="http://schemas.microsoft.com/office/drawing/2014/main" id="{188D9F34-C677-A397-8A4B-4D72224FDEBA}"/>
                </a:ext>
              </a:extLst>
            </p:cNvPr>
            <p:cNvSpPr>
              <a:spLocks/>
            </p:cNvSpPr>
            <p:nvPr/>
          </p:nvSpPr>
          <p:spPr bwMode="auto">
            <a:xfrm>
              <a:off x="5954001" y="4320897"/>
              <a:ext cx="371475" cy="144463"/>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55" name="Freeform 35">
              <a:extLst>
                <a:ext uri="{FF2B5EF4-FFF2-40B4-BE49-F238E27FC236}">
                  <a16:creationId xmlns:a16="http://schemas.microsoft.com/office/drawing/2014/main" id="{B0D7F662-CAAD-124B-1411-08A4395D72DD}"/>
                </a:ext>
              </a:extLst>
            </p:cNvPr>
            <p:cNvSpPr>
              <a:spLocks/>
            </p:cNvSpPr>
            <p:nvPr/>
          </p:nvSpPr>
          <p:spPr bwMode="auto">
            <a:xfrm>
              <a:off x="6104813" y="3747810"/>
              <a:ext cx="69850" cy="69850"/>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56" name="Freeform 36">
              <a:extLst>
                <a:ext uri="{FF2B5EF4-FFF2-40B4-BE49-F238E27FC236}">
                  <a16:creationId xmlns:a16="http://schemas.microsoft.com/office/drawing/2014/main" id="{4F944F80-7734-E807-2212-099220BB39F1}"/>
                </a:ext>
              </a:extLst>
            </p:cNvPr>
            <p:cNvSpPr>
              <a:spLocks/>
            </p:cNvSpPr>
            <p:nvPr/>
          </p:nvSpPr>
          <p:spPr bwMode="auto">
            <a:xfrm>
              <a:off x="6104813" y="3863697"/>
              <a:ext cx="69850" cy="71438"/>
            </a:xfrm>
            <a:custGeom>
              <a:avLst/>
              <a:gdLst>
                <a:gd name="T0" fmla="*/ 0 w 44"/>
                <a:gd name="T1" fmla="*/ 22 h 45"/>
                <a:gd name="T2" fmla="*/ 22 w 44"/>
                <a:gd name="T3" fmla="*/ 0 h 45"/>
                <a:gd name="T4" fmla="*/ 44 w 44"/>
                <a:gd name="T5" fmla="*/ 22 h 45"/>
                <a:gd name="T6" fmla="*/ 44 w 44"/>
                <a:gd name="T7" fmla="*/ 22 h 45"/>
                <a:gd name="T8" fmla="*/ 22 w 44"/>
                <a:gd name="T9" fmla="*/ 45 h 45"/>
                <a:gd name="T10" fmla="*/ 0 w 44"/>
                <a:gd name="T11" fmla="*/ 22 h 45"/>
              </a:gdLst>
              <a:ahLst/>
              <a:cxnLst>
                <a:cxn ang="0">
                  <a:pos x="T0" y="T1"/>
                </a:cxn>
                <a:cxn ang="0">
                  <a:pos x="T2" y="T3"/>
                </a:cxn>
                <a:cxn ang="0">
                  <a:pos x="T4" y="T5"/>
                </a:cxn>
                <a:cxn ang="0">
                  <a:pos x="T6" y="T7"/>
                </a:cxn>
                <a:cxn ang="0">
                  <a:pos x="T8" y="T9"/>
                </a:cxn>
                <a:cxn ang="0">
                  <a:pos x="T10" y="T11"/>
                </a:cxn>
              </a:cxnLst>
              <a:rect l="0" t="0" r="r" b="b"/>
              <a:pathLst>
                <a:path w="44" h="45">
                  <a:moveTo>
                    <a:pt x="0" y="22"/>
                  </a:moveTo>
                  <a:cubicBezTo>
                    <a:pt x="0" y="10"/>
                    <a:pt x="10" y="0"/>
                    <a:pt x="22" y="0"/>
                  </a:cubicBezTo>
                  <a:cubicBezTo>
                    <a:pt x="34" y="0"/>
                    <a:pt x="44" y="10"/>
                    <a:pt x="44" y="22"/>
                  </a:cubicBezTo>
                  <a:cubicBezTo>
                    <a:pt x="44" y="22"/>
                    <a:pt x="44" y="22"/>
                    <a:pt x="44" y="22"/>
                  </a:cubicBezTo>
                  <a:cubicBezTo>
                    <a:pt x="44" y="34"/>
                    <a:pt x="34" y="45"/>
                    <a:pt x="22" y="45"/>
                  </a:cubicBezTo>
                  <a:cubicBezTo>
                    <a:pt x="10" y="45"/>
                    <a:pt x="0" y="34"/>
                    <a:pt x="0" y="22"/>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57" name="Freeform 37">
              <a:extLst>
                <a:ext uri="{FF2B5EF4-FFF2-40B4-BE49-F238E27FC236}">
                  <a16:creationId xmlns:a16="http://schemas.microsoft.com/office/drawing/2014/main" id="{66EFBE99-8DD1-0E30-717D-3E0E036EBA06}"/>
                </a:ext>
              </a:extLst>
            </p:cNvPr>
            <p:cNvSpPr>
              <a:spLocks/>
            </p:cNvSpPr>
            <p:nvPr/>
          </p:nvSpPr>
          <p:spPr bwMode="auto">
            <a:xfrm>
              <a:off x="6104813" y="3981172"/>
              <a:ext cx="69850" cy="69850"/>
            </a:xfrm>
            <a:custGeom>
              <a:avLst/>
              <a:gdLst>
                <a:gd name="T0" fmla="*/ 0 w 44"/>
                <a:gd name="T1" fmla="*/ 21 h 44"/>
                <a:gd name="T2" fmla="*/ 22 w 44"/>
                <a:gd name="T3" fmla="*/ 0 h 44"/>
                <a:gd name="T4" fmla="*/ 44 w 44"/>
                <a:gd name="T5" fmla="*/ 21 h 44"/>
                <a:gd name="T6" fmla="*/ 44 w 44"/>
                <a:gd name="T7" fmla="*/ 21 h 44"/>
                <a:gd name="T8" fmla="*/ 22 w 44"/>
                <a:gd name="T9" fmla="*/ 44 h 44"/>
                <a:gd name="T10" fmla="*/ 0 w 44"/>
                <a:gd name="T11" fmla="*/ 21 h 44"/>
              </a:gdLst>
              <a:ahLst/>
              <a:cxnLst>
                <a:cxn ang="0">
                  <a:pos x="T0" y="T1"/>
                </a:cxn>
                <a:cxn ang="0">
                  <a:pos x="T2" y="T3"/>
                </a:cxn>
                <a:cxn ang="0">
                  <a:pos x="T4" y="T5"/>
                </a:cxn>
                <a:cxn ang="0">
                  <a:pos x="T6" y="T7"/>
                </a:cxn>
                <a:cxn ang="0">
                  <a:pos x="T8" y="T9"/>
                </a:cxn>
                <a:cxn ang="0">
                  <a:pos x="T10" y="T11"/>
                </a:cxn>
              </a:cxnLst>
              <a:rect l="0" t="0" r="r" b="b"/>
              <a:pathLst>
                <a:path w="44" h="44">
                  <a:moveTo>
                    <a:pt x="0" y="21"/>
                  </a:moveTo>
                  <a:cubicBezTo>
                    <a:pt x="0" y="9"/>
                    <a:pt x="10" y="0"/>
                    <a:pt x="22" y="0"/>
                  </a:cubicBezTo>
                  <a:cubicBezTo>
                    <a:pt x="34" y="0"/>
                    <a:pt x="44" y="9"/>
                    <a:pt x="44" y="21"/>
                  </a:cubicBezTo>
                  <a:cubicBezTo>
                    <a:pt x="44" y="21"/>
                    <a:pt x="44" y="21"/>
                    <a:pt x="44" y="21"/>
                  </a:cubicBezTo>
                  <a:cubicBezTo>
                    <a:pt x="44" y="34"/>
                    <a:pt x="34" y="44"/>
                    <a:pt x="22" y="44"/>
                  </a:cubicBezTo>
                  <a:cubicBezTo>
                    <a:pt x="10" y="44"/>
                    <a:pt x="0" y="34"/>
                    <a:pt x="0" y="21"/>
                  </a:cubicBezTo>
                </a:path>
              </a:pathLst>
            </a:cu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58" name="Freeform 38">
              <a:extLst>
                <a:ext uri="{FF2B5EF4-FFF2-40B4-BE49-F238E27FC236}">
                  <a16:creationId xmlns:a16="http://schemas.microsoft.com/office/drawing/2014/main" id="{2EE2A619-7AD1-2F9E-E3D4-5BAE48E122C2}"/>
                </a:ext>
              </a:extLst>
            </p:cNvPr>
            <p:cNvSpPr>
              <a:spLocks/>
            </p:cNvSpPr>
            <p:nvPr/>
          </p:nvSpPr>
          <p:spPr bwMode="auto">
            <a:xfrm>
              <a:off x="5641263" y="3128685"/>
              <a:ext cx="271463" cy="69850"/>
            </a:xfrm>
            <a:prstGeom prst="rightArrow">
              <a:avLst/>
            </a:pr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59" name="Freeform 39">
              <a:extLst>
                <a:ext uri="{FF2B5EF4-FFF2-40B4-BE49-F238E27FC236}">
                  <a16:creationId xmlns:a16="http://schemas.microsoft.com/office/drawing/2014/main" id="{C506BCF3-330F-5B23-3166-46EA8DE74234}"/>
                </a:ext>
              </a:extLst>
            </p:cNvPr>
            <p:cNvSpPr>
              <a:spLocks/>
            </p:cNvSpPr>
            <p:nvPr/>
          </p:nvSpPr>
          <p:spPr bwMode="auto">
            <a:xfrm>
              <a:off x="5641263" y="3366810"/>
              <a:ext cx="271463" cy="69850"/>
            </a:xfrm>
            <a:prstGeom prst="rightArrow">
              <a:avLst/>
            </a:pr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60" name="Freeform 40">
              <a:extLst>
                <a:ext uri="{FF2B5EF4-FFF2-40B4-BE49-F238E27FC236}">
                  <a16:creationId xmlns:a16="http://schemas.microsoft.com/office/drawing/2014/main" id="{864FC8ED-BF9E-86E6-9800-72F369966250}"/>
                </a:ext>
              </a:extLst>
            </p:cNvPr>
            <p:cNvSpPr>
              <a:spLocks/>
            </p:cNvSpPr>
            <p:nvPr/>
          </p:nvSpPr>
          <p:spPr bwMode="auto">
            <a:xfrm>
              <a:off x="5641263" y="3614460"/>
              <a:ext cx="271463" cy="69850"/>
            </a:xfrm>
            <a:prstGeom prst="rightArrow">
              <a:avLst/>
            </a:pr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61" name="Freeform 41">
              <a:extLst>
                <a:ext uri="{FF2B5EF4-FFF2-40B4-BE49-F238E27FC236}">
                  <a16:creationId xmlns:a16="http://schemas.microsoft.com/office/drawing/2014/main" id="{FBD5991E-B05F-DC32-AB65-9DC9A8D15CBD}"/>
                </a:ext>
              </a:extLst>
            </p:cNvPr>
            <p:cNvSpPr>
              <a:spLocks/>
            </p:cNvSpPr>
            <p:nvPr/>
          </p:nvSpPr>
          <p:spPr bwMode="auto">
            <a:xfrm>
              <a:off x="5641263" y="4114522"/>
              <a:ext cx="271463" cy="69850"/>
            </a:xfrm>
            <a:prstGeom prst="rightArrow">
              <a:avLst/>
            </a:pr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62" name="Freeform 42">
              <a:extLst>
                <a:ext uri="{FF2B5EF4-FFF2-40B4-BE49-F238E27FC236}">
                  <a16:creationId xmlns:a16="http://schemas.microsoft.com/office/drawing/2014/main" id="{D17F4D2C-FD9F-A4DF-6C9B-028453E61018}"/>
                </a:ext>
              </a:extLst>
            </p:cNvPr>
            <p:cNvSpPr>
              <a:spLocks/>
            </p:cNvSpPr>
            <p:nvPr/>
          </p:nvSpPr>
          <p:spPr bwMode="auto">
            <a:xfrm>
              <a:off x="5641263" y="4355822"/>
              <a:ext cx="271463" cy="69850"/>
            </a:xfrm>
            <a:prstGeom prst="rightArrow">
              <a:avLst/>
            </a:pr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63" name="Freeform 43">
              <a:extLst>
                <a:ext uri="{FF2B5EF4-FFF2-40B4-BE49-F238E27FC236}">
                  <a16:creationId xmlns:a16="http://schemas.microsoft.com/office/drawing/2014/main" id="{98D5138A-2CEF-60AA-E6E6-3627702D6731}"/>
                </a:ext>
              </a:extLst>
            </p:cNvPr>
            <p:cNvSpPr>
              <a:spLocks/>
            </p:cNvSpPr>
            <p:nvPr/>
          </p:nvSpPr>
          <p:spPr bwMode="auto">
            <a:xfrm>
              <a:off x="6296901" y="2666722"/>
              <a:ext cx="255588" cy="104775"/>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64" name="Freeform 44">
              <a:extLst>
                <a:ext uri="{FF2B5EF4-FFF2-40B4-BE49-F238E27FC236}">
                  <a16:creationId xmlns:a16="http://schemas.microsoft.com/office/drawing/2014/main" id="{2045CFAD-2A27-CF86-6592-F554EEBFA875}"/>
                </a:ext>
              </a:extLst>
            </p:cNvPr>
            <p:cNvSpPr>
              <a:spLocks/>
            </p:cNvSpPr>
            <p:nvPr/>
          </p:nvSpPr>
          <p:spPr bwMode="auto">
            <a:xfrm>
              <a:off x="6296901" y="2887385"/>
              <a:ext cx="255588" cy="104775"/>
            </a:xfrm>
            <a:prstGeom prst="rightArrow">
              <a:avLst/>
            </a:pr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65" name="Freeform 45">
              <a:extLst>
                <a:ext uri="{FF2B5EF4-FFF2-40B4-BE49-F238E27FC236}">
                  <a16:creationId xmlns:a16="http://schemas.microsoft.com/office/drawing/2014/main" id="{81FA7AE0-1802-5CF7-DE1F-A02054F38806}"/>
                </a:ext>
              </a:extLst>
            </p:cNvPr>
            <p:cNvSpPr>
              <a:spLocks/>
            </p:cNvSpPr>
            <p:nvPr/>
          </p:nvSpPr>
          <p:spPr bwMode="auto">
            <a:xfrm>
              <a:off x="6349288" y="1939647"/>
              <a:ext cx="203200" cy="104775"/>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66" name="Freeform 46">
              <a:extLst>
                <a:ext uri="{FF2B5EF4-FFF2-40B4-BE49-F238E27FC236}">
                  <a16:creationId xmlns:a16="http://schemas.microsoft.com/office/drawing/2014/main" id="{B842EC08-0941-3635-2309-5A3FEF943E67}"/>
                </a:ext>
              </a:extLst>
            </p:cNvPr>
            <p:cNvSpPr>
              <a:spLocks/>
            </p:cNvSpPr>
            <p:nvPr/>
          </p:nvSpPr>
          <p:spPr bwMode="auto">
            <a:xfrm>
              <a:off x="6349288" y="3677960"/>
              <a:ext cx="203200" cy="104775"/>
            </a:xfrm>
            <a:prstGeom prst="rightArrow">
              <a:avLst/>
            </a:pr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67" name="Freeform 205">
              <a:extLst>
                <a:ext uri="{FF2B5EF4-FFF2-40B4-BE49-F238E27FC236}">
                  <a16:creationId xmlns:a16="http://schemas.microsoft.com/office/drawing/2014/main" id="{902F0193-31EB-AC4F-1823-8AA8CC61B1DC}"/>
                </a:ext>
              </a:extLst>
            </p:cNvPr>
            <p:cNvSpPr>
              <a:spLocks/>
            </p:cNvSpPr>
            <p:nvPr/>
          </p:nvSpPr>
          <p:spPr bwMode="auto">
            <a:xfrm>
              <a:off x="7568488" y="2452410"/>
              <a:ext cx="522288" cy="219075"/>
            </a:xfrm>
            <a:custGeom>
              <a:avLst/>
              <a:gdLst>
                <a:gd name="T0" fmla="*/ 0 w 544"/>
                <a:gd name="T1" fmla="*/ 193 h 229"/>
                <a:gd name="T2" fmla="*/ 36 w 544"/>
                <a:gd name="T3" fmla="*/ 229 h 229"/>
                <a:gd name="T4" fmla="*/ 508 w 544"/>
                <a:gd name="T5" fmla="*/ 229 h 229"/>
                <a:gd name="T6" fmla="*/ 544 w 544"/>
                <a:gd name="T7" fmla="*/ 193 h 229"/>
                <a:gd name="T8" fmla="*/ 544 w 544"/>
                <a:gd name="T9" fmla="*/ 36 h 229"/>
                <a:gd name="T10" fmla="*/ 508 w 544"/>
                <a:gd name="T11" fmla="*/ 0 h 229"/>
                <a:gd name="T12" fmla="*/ 36 w 544"/>
                <a:gd name="T13" fmla="*/ 0 h 229"/>
                <a:gd name="T14" fmla="*/ 0 w 544"/>
                <a:gd name="T15" fmla="*/ 36 h 229"/>
                <a:gd name="T16" fmla="*/ 0 w 544"/>
                <a:gd name="T17" fmla="*/ 36 h 229"/>
                <a:gd name="T18" fmla="*/ 0 w 544"/>
                <a:gd name="T19" fmla="*/ 193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44" h="229">
                  <a:moveTo>
                    <a:pt x="0" y="193"/>
                  </a:moveTo>
                  <a:cubicBezTo>
                    <a:pt x="0" y="213"/>
                    <a:pt x="16" y="229"/>
                    <a:pt x="36" y="229"/>
                  </a:cubicBezTo>
                  <a:lnTo>
                    <a:pt x="508" y="229"/>
                  </a:lnTo>
                  <a:cubicBezTo>
                    <a:pt x="528" y="229"/>
                    <a:pt x="544" y="213"/>
                    <a:pt x="544" y="193"/>
                  </a:cubicBezTo>
                  <a:lnTo>
                    <a:pt x="544" y="36"/>
                  </a:lnTo>
                  <a:cubicBezTo>
                    <a:pt x="544" y="16"/>
                    <a:pt x="528" y="0"/>
                    <a:pt x="508" y="0"/>
                  </a:cubicBezTo>
                  <a:lnTo>
                    <a:pt x="36" y="0"/>
                  </a:lnTo>
                  <a:cubicBezTo>
                    <a:pt x="16" y="0"/>
                    <a:pt x="0" y="16"/>
                    <a:pt x="0" y="36"/>
                  </a:cubicBezTo>
                  <a:lnTo>
                    <a:pt x="0" y="36"/>
                  </a:lnTo>
                  <a:lnTo>
                    <a:pt x="0" y="193"/>
                  </a:lnTo>
                </a:path>
              </a:pathLst>
            </a:cu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68" name="Freeform 207">
              <a:extLst>
                <a:ext uri="{FF2B5EF4-FFF2-40B4-BE49-F238E27FC236}">
                  <a16:creationId xmlns:a16="http://schemas.microsoft.com/office/drawing/2014/main" id="{81B4981D-FBFA-9610-9B14-7C874752A2ED}"/>
                </a:ext>
              </a:extLst>
            </p:cNvPr>
            <p:cNvSpPr>
              <a:spLocks/>
            </p:cNvSpPr>
            <p:nvPr/>
          </p:nvSpPr>
          <p:spPr bwMode="auto">
            <a:xfrm>
              <a:off x="7585950" y="2471459"/>
              <a:ext cx="104775" cy="180975"/>
            </a:xfrm>
            <a:custGeom>
              <a:avLst/>
              <a:gdLst>
                <a:gd name="T0" fmla="*/ 0 w 109"/>
                <a:gd name="T1" fmla="*/ 169 h 187"/>
                <a:gd name="T2" fmla="*/ 18 w 109"/>
                <a:gd name="T3" fmla="*/ 187 h 187"/>
                <a:gd name="T4" fmla="*/ 91 w 109"/>
                <a:gd name="T5" fmla="*/ 187 h 187"/>
                <a:gd name="T6" fmla="*/ 109 w 109"/>
                <a:gd name="T7" fmla="*/ 169 h 187"/>
                <a:gd name="T8" fmla="*/ 109 w 109"/>
                <a:gd name="T9" fmla="*/ 169 h 187"/>
                <a:gd name="T10" fmla="*/ 109 w 109"/>
                <a:gd name="T11" fmla="*/ 18 h 187"/>
                <a:gd name="T12" fmla="*/ 91 w 109"/>
                <a:gd name="T13" fmla="*/ 0 h 187"/>
                <a:gd name="T14" fmla="*/ 18 w 109"/>
                <a:gd name="T15" fmla="*/ 0 h 187"/>
                <a:gd name="T16" fmla="*/ 0 w 109"/>
                <a:gd name="T17" fmla="*/ 18 h 187"/>
                <a:gd name="T18" fmla="*/ 0 w 109"/>
                <a:gd name="T19" fmla="*/ 18 h 187"/>
                <a:gd name="T20" fmla="*/ 0 w 109"/>
                <a:gd name="T21" fmla="*/ 169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187">
                  <a:moveTo>
                    <a:pt x="0" y="169"/>
                  </a:moveTo>
                  <a:cubicBezTo>
                    <a:pt x="0" y="179"/>
                    <a:pt x="8" y="187"/>
                    <a:pt x="18" y="187"/>
                  </a:cubicBezTo>
                  <a:lnTo>
                    <a:pt x="91" y="187"/>
                  </a:lnTo>
                  <a:cubicBezTo>
                    <a:pt x="101" y="187"/>
                    <a:pt x="109" y="179"/>
                    <a:pt x="109" y="169"/>
                  </a:cubicBezTo>
                  <a:lnTo>
                    <a:pt x="109" y="169"/>
                  </a:lnTo>
                  <a:lnTo>
                    <a:pt x="109" y="18"/>
                  </a:lnTo>
                  <a:cubicBezTo>
                    <a:pt x="109" y="8"/>
                    <a:pt x="101" y="0"/>
                    <a:pt x="91" y="0"/>
                  </a:cubicBezTo>
                  <a:lnTo>
                    <a:pt x="18" y="0"/>
                  </a:lnTo>
                  <a:cubicBezTo>
                    <a:pt x="8" y="0"/>
                    <a:pt x="0" y="8"/>
                    <a:pt x="0" y="18"/>
                  </a:cubicBezTo>
                  <a:lnTo>
                    <a:pt x="0" y="18"/>
                  </a:lnTo>
                  <a:lnTo>
                    <a:pt x="0" y="169"/>
                  </a:lnTo>
                </a:path>
              </a:pathLst>
            </a:custGeom>
            <a:solidFill>
              <a:srgbClr val="7796B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69" name="Freeform 208">
              <a:extLst>
                <a:ext uri="{FF2B5EF4-FFF2-40B4-BE49-F238E27FC236}">
                  <a16:creationId xmlns:a16="http://schemas.microsoft.com/office/drawing/2014/main" id="{B51B9E43-023B-261A-B337-D3327989DC46}"/>
                </a:ext>
              </a:extLst>
            </p:cNvPr>
            <p:cNvSpPr>
              <a:spLocks/>
            </p:cNvSpPr>
            <p:nvPr/>
          </p:nvSpPr>
          <p:spPr bwMode="auto">
            <a:xfrm>
              <a:off x="7714538" y="2471459"/>
              <a:ext cx="104775" cy="180975"/>
            </a:xfrm>
            <a:custGeom>
              <a:avLst/>
              <a:gdLst>
                <a:gd name="T0" fmla="*/ 0 w 109"/>
                <a:gd name="T1" fmla="*/ 169 h 187"/>
                <a:gd name="T2" fmla="*/ 18 w 109"/>
                <a:gd name="T3" fmla="*/ 187 h 187"/>
                <a:gd name="T4" fmla="*/ 91 w 109"/>
                <a:gd name="T5" fmla="*/ 187 h 187"/>
                <a:gd name="T6" fmla="*/ 109 w 109"/>
                <a:gd name="T7" fmla="*/ 169 h 187"/>
                <a:gd name="T8" fmla="*/ 109 w 109"/>
                <a:gd name="T9" fmla="*/ 169 h 187"/>
                <a:gd name="T10" fmla="*/ 109 w 109"/>
                <a:gd name="T11" fmla="*/ 18 h 187"/>
                <a:gd name="T12" fmla="*/ 91 w 109"/>
                <a:gd name="T13" fmla="*/ 0 h 187"/>
                <a:gd name="T14" fmla="*/ 91 w 109"/>
                <a:gd name="T15" fmla="*/ 0 h 187"/>
                <a:gd name="T16" fmla="*/ 18 w 109"/>
                <a:gd name="T17" fmla="*/ 0 h 187"/>
                <a:gd name="T18" fmla="*/ 0 w 109"/>
                <a:gd name="T19" fmla="*/ 18 h 187"/>
                <a:gd name="T20" fmla="*/ 0 w 109"/>
                <a:gd name="T21" fmla="*/ 169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187">
                  <a:moveTo>
                    <a:pt x="0" y="169"/>
                  </a:moveTo>
                  <a:cubicBezTo>
                    <a:pt x="0" y="179"/>
                    <a:pt x="8" y="187"/>
                    <a:pt x="18" y="187"/>
                  </a:cubicBezTo>
                  <a:lnTo>
                    <a:pt x="91" y="187"/>
                  </a:lnTo>
                  <a:cubicBezTo>
                    <a:pt x="101" y="187"/>
                    <a:pt x="109" y="179"/>
                    <a:pt x="109" y="169"/>
                  </a:cubicBezTo>
                  <a:lnTo>
                    <a:pt x="109" y="169"/>
                  </a:lnTo>
                  <a:lnTo>
                    <a:pt x="109" y="18"/>
                  </a:lnTo>
                  <a:cubicBezTo>
                    <a:pt x="109" y="8"/>
                    <a:pt x="101" y="0"/>
                    <a:pt x="91" y="0"/>
                  </a:cubicBezTo>
                  <a:lnTo>
                    <a:pt x="91" y="0"/>
                  </a:lnTo>
                  <a:lnTo>
                    <a:pt x="18" y="0"/>
                  </a:lnTo>
                  <a:cubicBezTo>
                    <a:pt x="8" y="0"/>
                    <a:pt x="0" y="8"/>
                    <a:pt x="0" y="18"/>
                  </a:cubicBezTo>
                  <a:lnTo>
                    <a:pt x="0" y="169"/>
                  </a:lnTo>
                </a:path>
              </a:pathLst>
            </a:custGeom>
            <a:solidFill>
              <a:srgbClr val="7796B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71" name="Freeform 210">
              <a:extLst>
                <a:ext uri="{FF2B5EF4-FFF2-40B4-BE49-F238E27FC236}">
                  <a16:creationId xmlns:a16="http://schemas.microsoft.com/office/drawing/2014/main" id="{94EC7966-A5A7-907B-C514-BCA3AEC241D8}"/>
                </a:ext>
              </a:extLst>
            </p:cNvPr>
            <p:cNvSpPr>
              <a:spLocks/>
            </p:cNvSpPr>
            <p:nvPr/>
          </p:nvSpPr>
          <p:spPr bwMode="auto">
            <a:xfrm>
              <a:off x="7970125" y="2471459"/>
              <a:ext cx="104775" cy="180975"/>
            </a:xfrm>
            <a:custGeom>
              <a:avLst/>
              <a:gdLst>
                <a:gd name="T0" fmla="*/ 0 w 109"/>
                <a:gd name="T1" fmla="*/ 169 h 187"/>
                <a:gd name="T2" fmla="*/ 18 w 109"/>
                <a:gd name="T3" fmla="*/ 187 h 187"/>
                <a:gd name="T4" fmla="*/ 91 w 109"/>
                <a:gd name="T5" fmla="*/ 187 h 187"/>
                <a:gd name="T6" fmla="*/ 109 w 109"/>
                <a:gd name="T7" fmla="*/ 169 h 187"/>
                <a:gd name="T8" fmla="*/ 109 w 109"/>
                <a:gd name="T9" fmla="*/ 169 h 187"/>
                <a:gd name="T10" fmla="*/ 109 w 109"/>
                <a:gd name="T11" fmla="*/ 18 h 187"/>
                <a:gd name="T12" fmla="*/ 91 w 109"/>
                <a:gd name="T13" fmla="*/ 0 h 187"/>
                <a:gd name="T14" fmla="*/ 18 w 109"/>
                <a:gd name="T15" fmla="*/ 0 h 187"/>
                <a:gd name="T16" fmla="*/ 0 w 109"/>
                <a:gd name="T17" fmla="*/ 18 h 187"/>
                <a:gd name="T18" fmla="*/ 0 w 109"/>
                <a:gd name="T19" fmla="*/ 18 h 187"/>
                <a:gd name="T20" fmla="*/ 0 w 109"/>
                <a:gd name="T21" fmla="*/ 169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187">
                  <a:moveTo>
                    <a:pt x="0" y="169"/>
                  </a:moveTo>
                  <a:cubicBezTo>
                    <a:pt x="0" y="179"/>
                    <a:pt x="8" y="187"/>
                    <a:pt x="18" y="187"/>
                  </a:cubicBezTo>
                  <a:lnTo>
                    <a:pt x="91" y="187"/>
                  </a:lnTo>
                  <a:cubicBezTo>
                    <a:pt x="101" y="187"/>
                    <a:pt x="109" y="179"/>
                    <a:pt x="109" y="169"/>
                  </a:cubicBezTo>
                  <a:lnTo>
                    <a:pt x="109" y="169"/>
                  </a:lnTo>
                  <a:lnTo>
                    <a:pt x="109" y="18"/>
                  </a:lnTo>
                  <a:cubicBezTo>
                    <a:pt x="109" y="8"/>
                    <a:pt x="101" y="0"/>
                    <a:pt x="91" y="0"/>
                  </a:cubicBezTo>
                  <a:lnTo>
                    <a:pt x="18" y="0"/>
                  </a:lnTo>
                  <a:cubicBezTo>
                    <a:pt x="8" y="0"/>
                    <a:pt x="0" y="8"/>
                    <a:pt x="0" y="18"/>
                  </a:cubicBezTo>
                  <a:lnTo>
                    <a:pt x="0" y="18"/>
                  </a:lnTo>
                  <a:lnTo>
                    <a:pt x="0" y="169"/>
                  </a:lnTo>
                </a:path>
              </a:pathLst>
            </a:custGeom>
            <a:solidFill>
              <a:srgbClr val="7796B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72" name="Freeform 211">
              <a:extLst>
                <a:ext uri="{FF2B5EF4-FFF2-40B4-BE49-F238E27FC236}">
                  <a16:creationId xmlns:a16="http://schemas.microsoft.com/office/drawing/2014/main" id="{7A0122E7-DF13-73CD-C8D6-F3C737261B19}"/>
                </a:ext>
              </a:extLst>
            </p:cNvPr>
            <p:cNvSpPr>
              <a:spLocks/>
            </p:cNvSpPr>
            <p:nvPr/>
          </p:nvSpPr>
          <p:spPr bwMode="auto">
            <a:xfrm>
              <a:off x="7568488" y="2747684"/>
              <a:ext cx="522288" cy="220663"/>
            </a:xfrm>
            <a:custGeom>
              <a:avLst/>
              <a:gdLst>
                <a:gd name="T0" fmla="*/ 0 w 544"/>
                <a:gd name="T1" fmla="*/ 194 h 230"/>
                <a:gd name="T2" fmla="*/ 36 w 544"/>
                <a:gd name="T3" fmla="*/ 230 h 230"/>
                <a:gd name="T4" fmla="*/ 508 w 544"/>
                <a:gd name="T5" fmla="*/ 230 h 230"/>
                <a:gd name="T6" fmla="*/ 544 w 544"/>
                <a:gd name="T7" fmla="*/ 194 h 230"/>
                <a:gd name="T8" fmla="*/ 544 w 544"/>
                <a:gd name="T9" fmla="*/ 36 h 230"/>
                <a:gd name="T10" fmla="*/ 508 w 544"/>
                <a:gd name="T11" fmla="*/ 0 h 230"/>
                <a:gd name="T12" fmla="*/ 36 w 544"/>
                <a:gd name="T13" fmla="*/ 0 h 230"/>
                <a:gd name="T14" fmla="*/ 0 w 544"/>
                <a:gd name="T15" fmla="*/ 36 h 230"/>
                <a:gd name="T16" fmla="*/ 0 w 544"/>
                <a:gd name="T17" fmla="*/ 36 h 230"/>
                <a:gd name="T18" fmla="*/ 0 w 544"/>
                <a:gd name="T19" fmla="*/ 194 h 2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44" h="230">
                  <a:moveTo>
                    <a:pt x="0" y="194"/>
                  </a:moveTo>
                  <a:cubicBezTo>
                    <a:pt x="0" y="214"/>
                    <a:pt x="16" y="230"/>
                    <a:pt x="36" y="230"/>
                  </a:cubicBezTo>
                  <a:lnTo>
                    <a:pt x="508" y="230"/>
                  </a:lnTo>
                  <a:cubicBezTo>
                    <a:pt x="528" y="230"/>
                    <a:pt x="544" y="214"/>
                    <a:pt x="544" y="194"/>
                  </a:cubicBezTo>
                  <a:lnTo>
                    <a:pt x="544" y="36"/>
                  </a:lnTo>
                  <a:cubicBezTo>
                    <a:pt x="544" y="16"/>
                    <a:pt x="528" y="0"/>
                    <a:pt x="508" y="0"/>
                  </a:cubicBezTo>
                  <a:lnTo>
                    <a:pt x="36" y="0"/>
                  </a:lnTo>
                  <a:cubicBezTo>
                    <a:pt x="16" y="0"/>
                    <a:pt x="0" y="16"/>
                    <a:pt x="0" y="36"/>
                  </a:cubicBezTo>
                  <a:lnTo>
                    <a:pt x="0" y="36"/>
                  </a:lnTo>
                  <a:lnTo>
                    <a:pt x="0" y="194"/>
                  </a:lnTo>
                </a:path>
              </a:pathLst>
            </a:cu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73" name="Freeform 212">
              <a:extLst>
                <a:ext uri="{FF2B5EF4-FFF2-40B4-BE49-F238E27FC236}">
                  <a16:creationId xmlns:a16="http://schemas.microsoft.com/office/drawing/2014/main" id="{6BD5567C-BAC6-D6BF-2344-50F9D33AB515}"/>
                </a:ext>
              </a:extLst>
            </p:cNvPr>
            <p:cNvSpPr>
              <a:spLocks/>
            </p:cNvSpPr>
            <p:nvPr/>
          </p:nvSpPr>
          <p:spPr bwMode="auto">
            <a:xfrm>
              <a:off x="7585950" y="2768322"/>
              <a:ext cx="104775" cy="180975"/>
            </a:xfrm>
            <a:custGeom>
              <a:avLst/>
              <a:gdLst>
                <a:gd name="T0" fmla="*/ 0 w 109"/>
                <a:gd name="T1" fmla="*/ 169 h 188"/>
                <a:gd name="T2" fmla="*/ 18 w 109"/>
                <a:gd name="T3" fmla="*/ 188 h 188"/>
                <a:gd name="T4" fmla="*/ 91 w 109"/>
                <a:gd name="T5" fmla="*/ 188 h 188"/>
                <a:gd name="T6" fmla="*/ 109 w 109"/>
                <a:gd name="T7" fmla="*/ 169 h 188"/>
                <a:gd name="T8" fmla="*/ 109 w 109"/>
                <a:gd name="T9" fmla="*/ 169 h 188"/>
                <a:gd name="T10" fmla="*/ 109 w 109"/>
                <a:gd name="T11" fmla="*/ 18 h 188"/>
                <a:gd name="T12" fmla="*/ 91 w 109"/>
                <a:gd name="T13" fmla="*/ 0 h 188"/>
                <a:gd name="T14" fmla="*/ 18 w 109"/>
                <a:gd name="T15" fmla="*/ 0 h 188"/>
                <a:gd name="T16" fmla="*/ 0 w 109"/>
                <a:gd name="T17" fmla="*/ 18 h 188"/>
                <a:gd name="T18" fmla="*/ 0 w 109"/>
                <a:gd name="T19" fmla="*/ 18 h 188"/>
                <a:gd name="T20" fmla="*/ 0 w 109"/>
                <a:gd name="T21" fmla="*/ 169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188">
                  <a:moveTo>
                    <a:pt x="0" y="169"/>
                  </a:moveTo>
                  <a:cubicBezTo>
                    <a:pt x="0" y="180"/>
                    <a:pt x="8" y="188"/>
                    <a:pt x="18" y="188"/>
                  </a:cubicBezTo>
                  <a:lnTo>
                    <a:pt x="91" y="188"/>
                  </a:lnTo>
                  <a:cubicBezTo>
                    <a:pt x="101" y="188"/>
                    <a:pt x="109" y="180"/>
                    <a:pt x="109" y="169"/>
                  </a:cubicBezTo>
                  <a:lnTo>
                    <a:pt x="109" y="169"/>
                  </a:lnTo>
                  <a:lnTo>
                    <a:pt x="109" y="18"/>
                  </a:lnTo>
                  <a:cubicBezTo>
                    <a:pt x="109" y="8"/>
                    <a:pt x="101" y="0"/>
                    <a:pt x="91" y="0"/>
                  </a:cubicBezTo>
                  <a:lnTo>
                    <a:pt x="18" y="0"/>
                  </a:lnTo>
                  <a:cubicBezTo>
                    <a:pt x="8" y="0"/>
                    <a:pt x="0" y="8"/>
                    <a:pt x="0" y="18"/>
                  </a:cubicBezTo>
                  <a:lnTo>
                    <a:pt x="0" y="18"/>
                  </a:lnTo>
                  <a:lnTo>
                    <a:pt x="0" y="169"/>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74" name="Freeform 213">
              <a:extLst>
                <a:ext uri="{FF2B5EF4-FFF2-40B4-BE49-F238E27FC236}">
                  <a16:creationId xmlns:a16="http://schemas.microsoft.com/office/drawing/2014/main" id="{33329055-7F9B-0D42-82DA-86EAEB0DA7CF}"/>
                </a:ext>
              </a:extLst>
            </p:cNvPr>
            <p:cNvSpPr>
              <a:spLocks/>
            </p:cNvSpPr>
            <p:nvPr/>
          </p:nvSpPr>
          <p:spPr bwMode="auto">
            <a:xfrm>
              <a:off x="7714538" y="2768322"/>
              <a:ext cx="104775" cy="180975"/>
            </a:xfrm>
            <a:custGeom>
              <a:avLst/>
              <a:gdLst>
                <a:gd name="T0" fmla="*/ 0 w 109"/>
                <a:gd name="T1" fmla="*/ 169 h 188"/>
                <a:gd name="T2" fmla="*/ 18 w 109"/>
                <a:gd name="T3" fmla="*/ 188 h 188"/>
                <a:gd name="T4" fmla="*/ 91 w 109"/>
                <a:gd name="T5" fmla="*/ 188 h 188"/>
                <a:gd name="T6" fmla="*/ 109 w 109"/>
                <a:gd name="T7" fmla="*/ 169 h 188"/>
                <a:gd name="T8" fmla="*/ 109 w 109"/>
                <a:gd name="T9" fmla="*/ 169 h 188"/>
                <a:gd name="T10" fmla="*/ 109 w 109"/>
                <a:gd name="T11" fmla="*/ 18 h 188"/>
                <a:gd name="T12" fmla="*/ 91 w 109"/>
                <a:gd name="T13" fmla="*/ 0 h 188"/>
                <a:gd name="T14" fmla="*/ 91 w 109"/>
                <a:gd name="T15" fmla="*/ 0 h 188"/>
                <a:gd name="T16" fmla="*/ 18 w 109"/>
                <a:gd name="T17" fmla="*/ 0 h 188"/>
                <a:gd name="T18" fmla="*/ 0 w 109"/>
                <a:gd name="T19" fmla="*/ 18 h 188"/>
                <a:gd name="T20" fmla="*/ 0 w 109"/>
                <a:gd name="T21" fmla="*/ 169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188">
                  <a:moveTo>
                    <a:pt x="0" y="169"/>
                  </a:moveTo>
                  <a:cubicBezTo>
                    <a:pt x="0" y="180"/>
                    <a:pt x="8" y="188"/>
                    <a:pt x="18" y="188"/>
                  </a:cubicBezTo>
                  <a:lnTo>
                    <a:pt x="91" y="188"/>
                  </a:lnTo>
                  <a:cubicBezTo>
                    <a:pt x="101" y="188"/>
                    <a:pt x="109" y="180"/>
                    <a:pt x="109" y="169"/>
                  </a:cubicBezTo>
                  <a:lnTo>
                    <a:pt x="109" y="169"/>
                  </a:lnTo>
                  <a:lnTo>
                    <a:pt x="109" y="18"/>
                  </a:lnTo>
                  <a:cubicBezTo>
                    <a:pt x="109" y="8"/>
                    <a:pt x="101" y="0"/>
                    <a:pt x="91" y="0"/>
                  </a:cubicBezTo>
                  <a:lnTo>
                    <a:pt x="91" y="0"/>
                  </a:lnTo>
                  <a:lnTo>
                    <a:pt x="18" y="0"/>
                  </a:lnTo>
                  <a:cubicBezTo>
                    <a:pt x="8" y="0"/>
                    <a:pt x="0" y="8"/>
                    <a:pt x="0" y="18"/>
                  </a:cubicBezTo>
                  <a:lnTo>
                    <a:pt x="0" y="169"/>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76" name="Freeform 215">
              <a:extLst>
                <a:ext uri="{FF2B5EF4-FFF2-40B4-BE49-F238E27FC236}">
                  <a16:creationId xmlns:a16="http://schemas.microsoft.com/office/drawing/2014/main" id="{2687C420-0907-976D-9651-7E01D5F12A5F}"/>
                </a:ext>
              </a:extLst>
            </p:cNvPr>
            <p:cNvSpPr>
              <a:spLocks/>
            </p:cNvSpPr>
            <p:nvPr/>
          </p:nvSpPr>
          <p:spPr bwMode="auto">
            <a:xfrm>
              <a:off x="7970125" y="2768322"/>
              <a:ext cx="104775" cy="180975"/>
            </a:xfrm>
            <a:custGeom>
              <a:avLst/>
              <a:gdLst>
                <a:gd name="T0" fmla="*/ 0 w 109"/>
                <a:gd name="T1" fmla="*/ 169 h 188"/>
                <a:gd name="T2" fmla="*/ 18 w 109"/>
                <a:gd name="T3" fmla="*/ 188 h 188"/>
                <a:gd name="T4" fmla="*/ 91 w 109"/>
                <a:gd name="T5" fmla="*/ 188 h 188"/>
                <a:gd name="T6" fmla="*/ 109 w 109"/>
                <a:gd name="T7" fmla="*/ 169 h 188"/>
                <a:gd name="T8" fmla="*/ 109 w 109"/>
                <a:gd name="T9" fmla="*/ 169 h 188"/>
                <a:gd name="T10" fmla="*/ 109 w 109"/>
                <a:gd name="T11" fmla="*/ 18 h 188"/>
                <a:gd name="T12" fmla="*/ 91 w 109"/>
                <a:gd name="T13" fmla="*/ 0 h 188"/>
                <a:gd name="T14" fmla="*/ 18 w 109"/>
                <a:gd name="T15" fmla="*/ 0 h 188"/>
                <a:gd name="T16" fmla="*/ 0 w 109"/>
                <a:gd name="T17" fmla="*/ 18 h 188"/>
                <a:gd name="T18" fmla="*/ 0 w 109"/>
                <a:gd name="T19" fmla="*/ 18 h 188"/>
                <a:gd name="T20" fmla="*/ 0 w 109"/>
                <a:gd name="T21" fmla="*/ 169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188">
                  <a:moveTo>
                    <a:pt x="0" y="169"/>
                  </a:moveTo>
                  <a:cubicBezTo>
                    <a:pt x="0" y="180"/>
                    <a:pt x="8" y="188"/>
                    <a:pt x="18" y="188"/>
                  </a:cubicBezTo>
                  <a:lnTo>
                    <a:pt x="91" y="188"/>
                  </a:lnTo>
                  <a:cubicBezTo>
                    <a:pt x="101" y="188"/>
                    <a:pt x="109" y="180"/>
                    <a:pt x="109" y="169"/>
                  </a:cubicBezTo>
                  <a:lnTo>
                    <a:pt x="109" y="169"/>
                  </a:lnTo>
                  <a:lnTo>
                    <a:pt x="109" y="18"/>
                  </a:lnTo>
                  <a:cubicBezTo>
                    <a:pt x="109" y="8"/>
                    <a:pt x="101" y="0"/>
                    <a:pt x="91" y="0"/>
                  </a:cubicBezTo>
                  <a:lnTo>
                    <a:pt x="18" y="0"/>
                  </a:lnTo>
                  <a:cubicBezTo>
                    <a:pt x="8" y="0"/>
                    <a:pt x="0" y="8"/>
                    <a:pt x="0" y="18"/>
                  </a:cubicBezTo>
                  <a:lnTo>
                    <a:pt x="0" y="18"/>
                  </a:lnTo>
                  <a:lnTo>
                    <a:pt x="0" y="169"/>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77" name="Freeform 216">
              <a:extLst>
                <a:ext uri="{FF2B5EF4-FFF2-40B4-BE49-F238E27FC236}">
                  <a16:creationId xmlns:a16="http://schemas.microsoft.com/office/drawing/2014/main" id="{EF6F57CF-DDB9-085D-D540-6AFF503FE200}"/>
                </a:ext>
              </a:extLst>
            </p:cNvPr>
            <p:cNvSpPr>
              <a:spLocks/>
            </p:cNvSpPr>
            <p:nvPr/>
          </p:nvSpPr>
          <p:spPr bwMode="auto">
            <a:xfrm>
              <a:off x="7568488" y="3044547"/>
              <a:ext cx="522288" cy="220663"/>
            </a:xfrm>
            <a:custGeom>
              <a:avLst/>
              <a:gdLst>
                <a:gd name="T0" fmla="*/ 0 w 544"/>
                <a:gd name="T1" fmla="*/ 194 h 230"/>
                <a:gd name="T2" fmla="*/ 36 w 544"/>
                <a:gd name="T3" fmla="*/ 230 h 230"/>
                <a:gd name="T4" fmla="*/ 508 w 544"/>
                <a:gd name="T5" fmla="*/ 230 h 230"/>
                <a:gd name="T6" fmla="*/ 544 w 544"/>
                <a:gd name="T7" fmla="*/ 194 h 230"/>
                <a:gd name="T8" fmla="*/ 544 w 544"/>
                <a:gd name="T9" fmla="*/ 37 h 230"/>
                <a:gd name="T10" fmla="*/ 508 w 544"/>
                <a:gd name="T11" fmla="*/ 0 h 230"/>
                <a:gd name="T12" fmla="*/ 36 w 544"/>
                <a:gd name="T13" fmla="*/ 0 h 230"/>
                <a:gd name="T14" fmla="*/ 0 w 544"/>
                <a:gd name="T15" fmla="*/ 37 h 230"/>
                <a:gd name="T16" fmla="*/ 0 w 544"/>
                <a:gd name="T17" fmla="*/ 37 h 230"/>
                <a:gd name="T18" fmla="*/ 0 w 544"/>
                <a:gd name="T19" fmla="*/ 194 h 2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44" h="230">
                  <a:moveTo>
                    <a:pt x="0" y="194"/>
                  </a:moveTo>
                  <a:cubicBezTo>
                    <a:pt x="0" y="214"/>
                    <a:pt x="16" y="230"/>
                    <a:pt x="36" y="230"/>
                  </a:cubicBezTo>
                  <a:lnTo>
                    <a:pt x="508" y="230"/>
                  </a:lnTo>
                  <a:cubicBezTo>
                    <a:pt x="528" y="230"/>
                    <a:pt x="544" y="214"/>
                    <a:pt x="544" y="194"/>
                  </a:cubicBezTo>
                  <a:lnTo>
                    <a:pt x="544" y="37"/>
                  </a:lnTo>
                  <a:cubicBezTo>
                    <a:pt x="544" y="17"/>
                    <a:pt x="528" y="0"/>
                    <a:pt x="508" y="0"/>
                  </a:cubicBezTo>
                  <a:lnTo>
                    <a:pt x="36" y="0"/>
                  </a:lnTo>
                  <a:cubicBezTo>
                    <a:pt x="16" y="0"/>
                    <a:pt x="0" y="17"/>
                    <a:pt x="0" y="37"/>
                  </a:cubicBezTo>
                  <a:lnTo>
                    <a:pt x="0" y="37"/>
                  </a:lnTo>
                  <a:lnTo>
                    <a:pt x="0" y="194"/>
                  </a:lnTo>
                </a:path>
              </a:pathLst>
            </a:cu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78" name="Freeform 217">
              <a:extLst>
                <a:ext uri="{FF2B5EF4-FFF2-40B4-BE49-F238E27FC236}">
                  <a16:creationId xmlns:a16="http://schemas.microsoft.com/office/drawing/2014/main" id="{76658295-DA9B-2A0E-F0F8-4C94055B5283}"/>
                </a:ext>
              </a:extLst>
            </p:cNvPr>
            <p:cNvSpPr>
              <a:spLocks/>
            </p:cNvSpPr>
            <p:nvPr/>
          </p:nvSpPr>
          <p:spPr bwMode="auto">
            <a:xfrm>
              <a:off x="7585950" y="3065184"/>
              <a:ext cx="104775" cy="179388"/>
            </a:xfrm>
            <a:custGeom>
              <a:avLst/>
              <a:gdLst>
                <a:gd name="T0" fmla="*/ 0 w 109"/>
                <a:gd name="T1" fmla="*/ 169 h 187"/>
                <a:gd name="T2" fmla="*/ 18 w 109"/>
                <a:gd name="T3" fmla="*/ 187 h 187"/>
                <a:gd name="T4" fmla="*/ 91 w 109"/>
                <a:gd name="T5" fmla="*/ 187 h 187"/>
                <a:gd name="T6" fmla="*/ 109 w 109"/>
                <a:gd name="T7" fmla="*/ 169 h 187"/>
                <a:gd name="T8" fmla="*/ 109 w 109"/>
                <a:gd name="T9" fmla="*/ 169 h 187"/>
                <a:gd name="T10" fmla="*/ 109 w 109"/>
                <a:gd name="T11" fmla="*/ 18 h 187"/>
                <a:gd name="T12" fmla="*/ 91 w 109"/>
                <a:gd name="T13" fmla="*/ 0 h 187"/>
                <a:gd name="T14" fmla="*/ 18 w 109"/>
                <a:gd name="T15" fmla="*/ 0 h 187"/>
                <a:gd name="T16" fmla="*/ 0 w 109"/>
                <a:gd name="T17" fmla="*/ 18 h 187"/>
                <a:gd name="T18" fmla="*/ 0 w 109"/>
                <a:gd name="T19" fmla="*/ 18 h 187"/>
                <a:gd name="T20" fmla="*/ 0 w 109"/>
                <a:gd name="T21" fmla="*/ 169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187">
                  <a:moveTo>
                    <a:pt x="0" y="169"/>
                  </a:moveTo>
                  <a:cubicBezTo>
                    <a:pt x="0" y="179"/>
                    <a:pt x="8" y="187"/>
                    <a:pt x="18" y="187"/>
                  </a:cubicBezTo>
                  <a:lnTo>
                    <a:pt x="91" y="187"/>
                  </a:lnTo>
                  <a:cubicBezTo>
                    <a:pt x="101" y="187"/>
                    <a:pt x="109" y="179"/>
                    <a:pt x="109" y="169"/>
                  </a:cubicBezTo>
                  <a:lnTo>
                    <a:pt x="109" y="169"/>
                  </a:lnTo>
                  <a:lnTo>
                    <a:pt x="109" y="18"/>
                  </a:lnTo>
                  <a:cubicBezTo>
                    <a:pt x="109" y="8"/>
                    <a:pt x="101" y="0"/>
                    <a:pt x="91" y="0"/>
                  </a:cubicBezTo>
                  <a:lnTo>
                    <a:pt x="18" y="0"/>
                  </a:lnTo>
                  <a:cubicBezTo>
                    <a:pt x="8" y="0"/>
                    <a:pt x="0" y="8"/>
                    <a:pt x="0" y="18"/>
                  </a:cubicBezTo>
                  <a:lnTo>
                    <a:pt x="0" y="18"/>
                  </a:lnTo>
                  <a:lnTo>
                    <a:pt x="0" y="169"/>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79" name="Freeform 218">
              <a:extLst>
                <a:ext uri="{FF2B5EF4-FFF2-40B4-BE49-F238E27FC236}">
                  <a16:creationId xmlns:a16="http://schemas.microsoft.com/office/drawing/2014/main" id="{0DA7B52A-CB2A-2860-C6FE-E9CD825D3B2B}"/>
                </a:ext>
              </a:extLst>
            </p:cNvPr>
            <p:cNvSpPr>
              <a:spLocks/>
            </p:cNvSpPr>
            <p:nvPr/>
          </p:nvSpPr>
          <p:spPr bwMode="auto">
            <a:xfrm>
              <a:off x="7714538" y="3065184"/>
              <a:ext cx="104775" cy="179388"/>
            </a:xfrm>
            <a:custGeom>
              <a:avLst/>
              <a:gdLst>
                <a:gd name="T0" fmla="*/ 0 w 109"/>
                <a:gd name="T1" fmla="*/ 169 h 187"/>
                <a:gd name="T2" fmla="*/ 18 w 109"/>
                <a:gd name="T3" fmla="*/ 187 h 187"/>
                <a:gd name="T4" fmla="*/ 91 w 109"/>
                <a:gd name="T5" fmla="*/ 187 h 187"/>
                <a:gd name="T6" fmla="*/ 109 w 109"/>
                <a:gd name="T7" fmla="*/ 169 h 187"/>
                <a:gd name="T8" fmla="*/ 109 w 109"/>
                <a:gd name="T9" fmla="*/ 169 h 187"/>
                <a:gd name="T10" fmla="*/ 109 w 109"/>
                <a:gd name="T11" fmla="*/ 18 h 187"/>
                <a:gd name="T12" fmla="*/ 91 w 109"/>
                <a:gd name="T13" fmla="*/ 0 h 187"/>
                <a:gd name="T14" fmla="*/ 91 w 109"/>
                <a:gd name="T15" fmla="*/ 0 h 187"/>
                <a:gd name="T16" fmla="*/ 18 w 109"/>
                <a:gd name="T17" fmla="*/ 0 h 187"/>
                <a:gd name="T18" fmla="*/ 0 w 109"/>
                <a:gd name="T19" fmla="*/ 18 h 187"/>
                <a:gd name="T20" fmla="*/ 0 w 109"/>
                <a:gd name="T21" fmla="*/ 18 h 187"/>
                <a:gd name="T22" fmla="*/ 0 w 109"/>
                <a:gd name="T23" fmla="*/ 169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09" h="187">
                  <a:moveTo>
                    <a:pt x="0" y="169"/>
                  </a:moveTo>
                  <a:cubicBezTo>
                    <a:pt x="0" y="179"/>
                    <a:pt x="8" y="187"/>
                    <a:pt x="18" y="187"/>
                  </a:cubicBezTo>
                  <a:lnTo>
                    <a:pt x="91" y="187"/>
                  </a:lnTo>
                  <a:cubicBezTo>
                    <a:pt x="101" y="187"/>
                    <a:pt x="109" y="179"/>
                    <a:pt x="109" y="169"/>
                  </a:cubicBezTo>
                  <a:lnTo>
                    <a:pt x="109" y="169"/>
                  </a:lnTo>
                  <a:lnTo>
                    <a:pt x="109" y="18"/>
                  </a:lnTo>
                  <a:cubicBezTo>
                    <a:pt x="109" y="8"/>
                    <a:pt x="101" y="0"/>
                    <a:pt x="91" y="0"/>
                  </a:cubicBezTo>
                  <a:lnTo>
                    <a:pt x="91" y="0"/>
                  </a:lnTo>
                  <a:lnTo>
                    <a:pt x="18" y="0"/>
                  </a:lnTo>
                  <a:cubicBezTo>
                    <a:pt x="8" y="0"/>
                    <a:pt x="0" y="8"/>
                    <a:pt x="0" y="18"/>
                  </a:cubicBezTo>
                  <a:lnTo>
                    <a:pt x="0" y="18"/>
                  </a:lnTo>
                  <a:lnTo>
                    <a:pt x="0" y="169"/>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81" name="Freeform 220">
              <a:extLst>
                <a:ext uri="{FF2B5EF4-FFF2-40B4-BE49-F238E27FC236}">
                  <a16:creationId xmlns:a16="http://schemas.microsoft.com/office/drawing/2014/main" id="{BDAC2BD2-122A-AAAC-0874-CE0F7DD90D83}"/>
                </a:ext>
              </a:extLst>
            </p:cNvPr>
            <p:cNvSpPr>
              <a:spLocks/>
            </p:cNvSpPr>
            <p:nvPr/>
          </p:nvSpPr>
          <p:spPr bwMode="auto">
            <a:xfrm>
              <a:off x="7970125" y="3065184"/>
              <a:ext cx="104775" cy="179388"/>
            </a:xfrm>
            <a:custGeom>
              <a:avLst/>
              <a:gdLst>
                <a:gd name="T0" fmla="*/ 0 w 109"/>
                <a:gd name="T1" fmla="*/ 169 h 187"/>
                <a:gd name="T2" fmla="*/ 18 w 109"/>
                <a:gd name="T3" fmla="*/ 187 h 187"/>
                <a:gd name="T4" fmla="*/ 91 w 109"/>
                <a:gd name="T5" fmla="*/ 187 h 187"/>
                <a:gd name="T6" fmla="*/ 109 w 109"/>
                <a:gd name="T7" fmla="*/ 169 h 187"/>
                <a:gd name="T8" fmla="*/ 109 w 109"/>
                <a:gd name="T9" fmla="*/ 169 h 187"/>
                <a:gd name="T10" fmla="*/ 109 w 109"/>
                <a:gd name="T11" fmla="*/ 18 h 187"/>
                <a:gd name="T12" fmla="*/ 91 w 109"/>
                <a:gd name="T13" fmla="*/ 0 h 187"/>
                <a:gd name="T14" fmla="*/ 18 w 109"/>
                <a:gd name="T15" fmla="*/ 0 h 187"/>
                <a:gd name="T16" fmla="*/ 0 w 109"/>
                <a:gd name="T17" fmla="*/ 18 h 187"/>
                <a:gd name="T18" fmla="*/ 0 w 109"/>
                <a:gd name="T19" fmla="*/ 18 h 187"/>
                <a:gd name="T20" fmla="*/ 0 w 109"/>
                <a:gd name="T21" fmla="*/ 169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187">
                  <a:moveTo>
                    <a:pt x="0" y="169"/>
                  </a:moveTo>
                  <a:cubicBezTo>
                    <a:pt x="0" y="179"/>
                    <a:pt x="8" y="187"/>
                    <a:pt x="18" y="187"/>
                  </a:cubicBezTo>
                  <a:lnTo>
                    <a:pt x="91" y="187"/>
                  </a:lnTo>
                  <a:cubicBezTo>
                    <a:pt x="101" y="187"/>
                    <a:pt x="109" y="179"/>
                    <a:pt x="109" y="169"/>
                  </a:cubicBezTo>
                  <a:lnTo>
                    <a:pt x="109" y="169"/>
                  </a:lnTo>
                  <a:lnTo>
                    <a:pt x="109" y="18"/>
                  </a:lnTo>
                  <a:cubicBezTo>
                    <a:pt x="109" y="8"/>
                    <a:pt x="101" y="0"/>
                    <a:pt x="91" y="0"/>
                  </a:cubicBezTo>
                  <a:lnTo>
                    <a:pt x="18" y="0"/>
                  </a:lnTo>
                  <a:cubicBezTo>
                    <a:pt x="8" y="0"/>
                    <a:pt x="0" y="8"/>
                    <a:pt x="0" y="18"/>
                  </a:cubicBezTo>
                  <a:lnTo>
                    <a:pt x="0" y="18"/>
                  </a:lnTo>
                  <a:lnTo>
                    <a:pt x="0" y="169"/>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82" name="Rectangle 221">
              <a:extLst>
                <a:ext uri="{FF2B5EF4-FFF2-40B4-BE49-F238E27FC236}">
                  <a16:creationId xmlns:a16="http://schemas.microsoft.com/office/drawing/2014/main" id="{5AEA3356-0F46-29F9-CEF2-34DFE0B1BF25}"/>
                </a:ext>
              </a:extLst>
            </p:cNvPr>
            <p:cNvSpPr>
              <a:spLocks noChangeArrowheads="1"/>
            </p:cNvSpPr>
            <p:nvPr/>
          </p:nvSpPr>
          <p:spPr bwMode="auto">
            <a:xfrm>
              <a:off x="8184438" y="2415897"/>
              <a:ext cx="179388" cy="873125"/>
            </a:xfrm>
            <a:prstGeom prst="rect">
              <a:avLst/>
            </a:prstGeom>
            <a:solidFill>
              <a:srgbClr val="44B43C"/>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sz="1400" dirty="0"/>
            </a:p>
          </p:txBody>
        </p:sp>
        <p:sp>
          <p:nvSpPr>
            <p:cNvPr id="583" name="Line 222">
              <a:extLst>
                <a:ext uri="{FF2B5EF4-FFF2-40B4-BE49-F238E27FC236}">
                  <a16:creationId xmlns:a16="http://schemas.microsoft.com/office/drawing/2014/main" id="{7CD39FFB-BD2A-89E9-6A23-FB4D47CA516A}"/>
                </a:ext>
              </a:extLst>
            </p:cNvPr>
            <p:cNvSpPr>
              <a:spLocks noChangeShapeType="1"/>
            </p:cNvSpPr>
            <p:nvPr/>
          </p:nvSpPr>
          <p:spPr bwMode="auto">
            <a:xfrm>
              <a:off x="8273338" y="1980922"/>
              <a:ext cx="0" cy="434975"/>
            </a:xfrm>
            <a:prstGeom prst="line">
              <a:avLst/>
            </a:prstGeom>
            <a:noFill/>
            <a:ln w="12700" cap="rnd">
              <a:solidFill>
                <a:schemeClr val="tx1"/>
              </a:solidFill>
              <a:prstDash val="solid"/>
              <a:round/>
              <a:headEnd/>
              <a:tailEnd type="triangle"/>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584" name="Freeform 223">
              <a:extLst>
                <a:ext uri="{FF2B5EF4-FFF2-40B4-BE49-F238E27FC236}">
                  <a16:creationId xmlns:a16="http://schemas.microsoft.com/office/drawing/2014/main" id="{0F4CB0D8-CB14-DCD8-E3D2-F80C519FF4DD}"/>
                </a:ext>
              </a:extLst>
            </p:cNvPr>
            <p:cNvSpPr>
              <a:spLocks/>
            </p:cNvSpPr>
            <p:nvPr/>
          </p:nvSpPr>
          <p:spPr bwMode="auto">
            <a:xfrm>
              <a:off x="6773150" y="1939647"/>
              <a:ext cx="46038" cy="47625"/>
            </a:xfrm>
            <a:custGeom>
              <a:avLst/>
              <a:gdLst>
                <a:gd name="T0" fmla="*/ 0 w 29"/>
                <a:gd name="T1" fmla="*/ 15 h 30"/>
                <a:gd name="T2" fmla="*/ 14 w 29"/>
                <a:gd name="T3" fmla="*/ 0 h 30"/>
                <a:gd name="T4" fmla="*/ 29 w 29"/>
                <a:gd name="T5" fmla="*/ 15 h 30"/>
                <a:gd name="T6" fmla="*/ 29 w 29"/>
                <a:gd name="T7" fmla="*/ 15 h 30"/>
                <a:gd name="T8" fmla="*/ 14 w 29"/>
                <a:gd name="T9" fmla="*/ 30 h 30"/>
                <a:gd name="T10" fmla="*/ 0 w 29"/>
                <a:gd name="T11" fmla="*/ 15 h 30"/>
              </a:gdLst>
              <a:ahLst/>
              <a:cxnLst>
                <a:cxn ang="0">
                  <a:pos x="T0" y="T1"/>
                </a:cxn>
                <a:cxn ang="0">
                  <a:pos x="T2" y="T3"/>
                </a:cxn>
                <a:cxn ang="0">
                  <a:pos x="T4" y="T5"/>
                </a:cxn>
                <a:cxn ang="0">
                  <a:pos x="T6" y="T7"/>
                </a:cxn>
                <a:cxn ang="0">
                  <a:pos x="T8" y="T9"/>
                </a:cxn>
                <a:cxn ang="0">
                  <a:pos x="T10" y="T11"/>
                </a:cxn>
              </a:cxnLst>
              <a:rect l="0" t="0" r="r" b="b"/>
              <a:pathLst>
                <a:path w="29" h="30">
                  <a:moveTo>
                    <a:pt x="0" y="15"/>
                  </a:moveTo>
                  <a:cubicBezTo>
                    <a:pt x="0" y="7"/>
                    <a:pt x="6" y="0"/>
                    <a:pt x="14" y="0"/>
                  </a:cubicBezTo>
                  <a:cubicBezTo>
                    <a:pt x="23" y="0"/>
                    <a:pt x="29" y="7"/>
                    <a:pt x="29" y="15"/>
                  </a:cubicBezTo>
                  <a:cubicBezTo>
                    <a:pt x="29" y="15"/>
                    <a:pt x="29" y="15"/>
                    <a:pt x="29" y="15"/>
                  </a:cubicBezTo>
                  <a:cubicBezTo>
                    <a:pt x="29" y="23"/>
                    <a:pt x="23" y="30"/>
                    <a:pt x="14" y="30"/>
                  </a:cubicBezTo>
                  <a:cubicBezTo>
                    <a:pt x="6" y="30"/>
                    <a:pt x="0" y="23"/>
                    <a:pt x="0" y="15"/>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85" name="Freeform 224">
              <a:extLst>
                <a:ext uri="{FF2B5EF4-FFF2-40B4-BE49-F238E27FC236}">
                  <a16:creationId xmlns:a16="http://schemas.microsoft.com/office/drawing/2014/main" id="{AE8BC1FE-0BF2-4261-1715-7BCCEE62D2B6}"/>
                </a:ext>
              </a:extLst>
            </p:cNvPr>
            <p:cNvSpPr>
              <a:spLocks/>
            </p:cNvSpPr>
            <p:nvPr/>
          </p:nvSpPr>
          <p:spPr bwMode="auto">
            <a:xfrm>
              <a:off x="6685838" y="1718984"/>
              <a:ext cx="220663" cy="523875"/>
            </a:xfrm>
            <a:custGeom>
              <a:avLst/>
              <a:gdLst>
                <a:gd name="T0" fmla="*/ 199 w 229"/>
                <a:gd name="T1" fmla="*/ 544 h 544"/>
                <a:gd name="T2" fmla="*/ 229 w 229"/>
                <a:gd name="T3" fmla="*/ 514 h 544"/>
                <a:gd name="T4" fmla="*/ 229 w 229"/>
                <a:gd name="T5" fmla="*/ 30 h 544"/>
                <a:gd name="T6" fmla="*/ 199 w 229"/>
                <a:gd name="T7" fmla="*/ 0 h 544"/>
                <a:gd name="T8" fmla="*/ 199 w 229"/>
                <a:gd name="T9" fmla="*/ 0 h 544"/>
                <a:gd name="T10" fmla="*/ 30 w 229"/>
                <a:gd name="T11" fmla="*/ 0 h 544"/>
                <a:gd name="T12" fmla="*/ 0 w 229"/>
                <a:gd name="T13" fmla="*/ 30 h 544"/>
                <a:gd name="T14" fmla="*/ 0 w 229"/>
                <a:gd name="T15" fmla="*/ 514 h 544"/>
                <a:gd name="T16" fmla="*/ 30 w 229"/>
                <a:gd name="T17" fmla="*/ 544 h 544"/>
                <a:gd name="T18" fmla="*/ 30 w 229"/>
                <a:gd name="T19" fmla="*/ 544 h 544"/>
                <a:gd name="T20" fmla="*/ 199 w 229"/>
                <a:gd name="T21" fmla="*/ 544 h 5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29" h="544">
                  <a:moveTo>
                    <a:pt x="199" y="544"/>
                  </a:moveTo>
                  <a:cubicBezTo>
                    <a:pt x="216" y="544"/>
                    <a:pt x="229" y="530"/>
                    <a:pt x="229" y="514"/>
                  </a:cubicBezTo>
                  <a:lnTo>
                    <a:pt x="229" y="30"/>
                  </a:lnTo>
                  <a:cubicBezTo>
                    <a:pt x="229" y="13"/>
                    <a:pt x="216" y="0"/>
                    <a:pt x="199" y="0"/>
                  </a:cubicBezTo>
                  <a:lnTo>
                    <a:pt x="199" y="0"/>
                  </a:lnTo>
                  <a:lnTo>
                    <a:pt x="30" y="0"/>
                  </a:lnTo>
                  <a:cubicBezTo>
                    <a:pt x="13" y="0"/>
                    <a:pt x="0" y="13"/>
                    <a:pt x="0" y="30"/>
                  </a:cubicBezTo>
                  <a:lnTo>
                    <a:pt x="0" y="514"/>
                  </a:lnTo>
                  <a:cubicBezTo>
                    <a:pt x="0" y="530"/>
                    <a:pt x="13" y="544"/>
                    <a:pt x="30" y="544"/>
                  </a:cubicBezTo>
                  <a:lnTo>
                    <a:pt x="30" y="544"/>
                  </a:lnTo>
                  <a:lnTo>
                    <a:pt x="199" y="544"/>
                  </a:lnTo>
                </a:path>
              </a:pathLst>
            </a:cu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86" name="Freeform 225">
              <a:extLst>
                <a:ext uri="{FF2B5EF4-FFF2-40B4-BE49-F238E27FC236}">
                  <a16:creationId xmlns:a16="http://schemas.microsoft.com/office/drawing/2014/main" id="{AE61BA58-0B1A-5CD9-D607-108E444C7E17}"/>
                </a:ext>
              </a:extLst>
            </p:cNvPr>
            <p:cNvSpPr>
              <a:spLocks/>
            </p:cNvSpPr>
            <p:nvPr/>
          </p:nvSpPr>
          <p:spPr bwMode="auto">
            <a:xfrm>
              <a:off x="6709650" y="1736447"/>
              <a:ext cx="173038" cy="39688"/>
            </a:xfrm>
            <a:custGeom>
              <a:avLst/>
              <a:gdLst>
                <a:gd name="T0" fmla="*/ 169 w 181"/>
                <a:gd name="T1" fmla="*/ 42 h 42"/>
                <a:gd name="T2" fmla="*/ 181 w 181"/>
                <a:gd name="T3" fmla="*/ 30 h 42"/>
                <a:gd name="T4" fmla="*/ 181 w 181"/>
                <a:gd name="T5" fmla="*/ 30 h 42"/>
                <a:gd name="T6" fmla="*/ 181 w 181"/>
                <a:gd name="T7" fmla="*/ 12 h 42"/>
                <a:gd name="T8" fmla="*/ 169 w 181"/>
                <a:gd name="T9" fmla="*/ 0 h 42"/>
                <a:gd name="T10" fmla="*/ 169 w 181"/>
                <a:gd name="T11" fmla="*/ 0 h 42"/>
                <a:gd name="T12" fmla="*/ 12 w 181"/>
                <a:gd name="T13" fmla="*/ 0 h 42"/>
                <a:gd name="T14" fmla="*/ 0 w 181"/>
                <a:gd name="T15" fmla="*/ 12 h 42"/>
                <a:gd name="T16" fmla="*/ 0 w 181"/>
                <a:gd name="T17" fmla="*/ 12 h 42"/>
                <a:gd name="T18" fmla="*/ 0 w 181"/>
                <a:gd name="T19" fmla="*/ 30 h 42"/>
                <a:gd name="T20" fmla="*/ 12 w 181"/>
                <a:gd name="T21" fmla="*/ 42 h 42"/>
                <a:gd name="T22" fmla="*/ 12 w 181"/>
                <a:gd name="T23" fmla="*/ 42 h 42"/>
                <a:gd name="T24" fmla="*/ 169 w 181"/>
                <a:gd name="T25" fmla="*/ 42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1" h="42">
                  <a:moveTo>
                    <a:pt x="169" y="42"/>
                  </a:moveTo>
                  <a:cubicBezTo>
                    <a:pt x="176" y="42"/>
                    <a:pt x="181" y="37"/>
                    <a:pt x="181" y="30"/>
                  </a:cubicBezTo>
                  <a:lnTo>
                    <a:pt x="181" y="30"/>
                  </a:lnTo>
                  <a:lnTo>
                    <a:pt x="181" y="12"/>
                  </a:lnTo>
                  <a:cubicBezTo>
                    <a:pt x="181" y="5"/>
                    <a:pt x="176" y="0"/>
                    <a:pt x="169" y="0"/>
                  </a:cubicBezTo>
                  <a:lnTo>
                    <a:pt x="169" y="0"/>
                  </a:lnTo>
                  <a:lnTo>
                    <a:pt x="12" y="0"/>
                  </a:lnTo>
                  <a:cubicBezTo>
                    <a:pt x="5" y="0"/>
                    <a:pt x="0" y="5"/>
                    <a:pt x="0" y="12"/>
                  </a:cubicBezTo>
                  <a:lnTo>
                    <a:pt x="0" y="12"/>
                  </a:lnTo>
                  <a:lnTo>
                    <a:pt x="0" y="30"/>
                  </a:lnTo>
                  <a:cubicBezTo>
                    <a:pt x="0" y="37"/>
                    <a:pt x="5" y="42"/>
                    <a:pt x="12" y="42"/>
                  </a:cubicBezTo>
                  <a:lnTo>
                    <a:pt x="12" y="42"/>
                  </a:lnTo>
                  <a:lnTo>
                    <a:pt x="169" y="42"/>
                  </a:ln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87" name="Freeform 226">
              <a:extLst>
                <a:ext uri="{FF2B5EF4-FFF2-40B4-BE49-F238E27FC236}">
                  <a16:creationId xmlns:a16="http://schemas.microsoft.com/office/drawing/2014/main" id="{F70149CA-21CE-3E93-802B-25D3C28FB673}"/>
                </a:ext>
              </a:extLst>
            </p:cNvPr>
            <p:cNvSpPr>
              <a:spLocks/>
            </p:cNvSpPr>
            <p:nvPr/>
          </p:nvSpPr>
          <p:spPr bwMode="auto">
            <a:xfrm>
              <a:off x="6709650" y="1807884"/>
              <a:ext cx="173038" cy="42863"/>
            </a:xfrm>
            <a:custGeom>
              <a:avLst/>
              <a:gdLst>
                <a:gd name="T0" fmla="*/ 169 w 181"/>
                <a:gd name="T1" fmla="*/ 43 h 43"/>
                <a:gd name="T2" fmla="*/ 181 w 181"/>
                <a:gd name="T3" fmla="*/ 31 h 43"/>
                <a:gd name="T4" fmla="*/ 181 w 181"/>
                <a:gd name="T5" fmla="*/ 12 h 43"/>
                <a:gd name="T6" fmla="*/ 169 w 181"/>
                <a:gd name="T7" fmla="*/ 0 h 43"/>
                <a:gd name="T8" fmla="*/ 169 w 181"/>
                <a:gd name="T9" fmla="*/ 0 h 43"/>
                <a:gd name="T10" fmla="*/ 12 w 181"/>
                <a:gd name="T11" fmla="*/ 0 h 43"/>
                <a:gd name="T12" fmla="*/ 0 w 181"/>
                <a:gd name="T13" fmla="*/ 12 h 43"/>
                <a:gd name="T14" fmla="*/ 0 w 181"/>
                <a:gd name="T15" fmla="*/ 12 h 43"/>
                <a:gd name="T16" fmla="*/ 0 w 181"/>
                <a:gd name="T17" fmla="*/ 31 h 43"/>
                <a:gd name="T18" fmla="*/ 12 w 181"/>
                <a:gd name="T19" fmla="*/ 43 h 43"/>
                <a:gd name="T20" fmla="*/ 169 w 181"/>
                <a:gd name="T21" fmla="*/ 4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1" h="43">
                  <a:moveTo>
                    <a:pt x="169" y="43"/>
                  </a:moveTo>
                  <a:cubicBezTo>
                    <a:pt x="176" y="43"/>
                    <a:pt x="181" y="37"/>
                    <a:pt x="181" y="31"/>
                  </a:cubicBezTo>
                  <a:lnTo>
                    <a:pt x="181" y="12"/>
                  </a:lnTo>
                  <a:cubicBezTo>
                    <a:pt x="181" y="6"/>
                    <a:pt x="176" y="0"/>
                    <a:pt x="169" y="0"/>
                  </a:cubicBezTo>
                  <a:lnTo>
                    <a:pt x="169" y="0"/>
                  </a:lnTo>
                  <a:lnTo>
                    <a:pt x="12" y="0"/>
                  </a:lnTo>
                  <a:cubicBezTo>
                    <a:pt x="5" y="0"/>
                    <a:pt x="0" y="6"/>
                    <a:pt x="0" y="12"/>
                  </a:cubicBezTo>
                  <a:lnTo>
                    <a:pt x="0" y="12"/>
                  </a:lnTo>
                  <a:lnTo>
                    <a:pt x="0" y="31"/>
                  </a:lnTo>
                  <a:cubicBezTo>
                    <a:pt x="0" y="37"/>
                    <a:pt x="5" y="43"/>
                    <a:pt x="12" y="43"/>
                  </a:cubicBezTo>
                  <a:lnTo>
                    <a:pt x="169" y="43"/>
                  </a:ln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88" name="Freeform 227">
              <a:extLst>
                <a:ext uri="{FF2B5EF4-FFF2-40B4-BE49-F238E27FC236}">
                  <a16:creationId xmlns:a16="http://schemas.microsoft.com/office/drawing/2014/main" id="{160F9055-7ED2-E605-14DF-7B8990BB3857}"/>
                </a:ext>
              </a:extLst>
            </p:cNvPr>
            <p:cNvSpPr>
              <a:spLocks/>
            </p:cNvSpPr>
            <p:nvPr/>
          </p:nvSpPr>
          <p:spPr bwMode="auto">
            <a:xfrm>
              <a:off x="6709650" y="1882497"/>
              <a:ext cx="173038" cy="39688"/>
            </a:xfrm>
            <a:custGeom>
              <a:avLst/>
              <a:gdLst>
                <a:gd name="T0" fmla="*/ 169 w 181"/>
                <a:gd name="T1" fmla="*/ 42 h 42"/>
                <a:gd name="T2" fmla="*/ 181 w 181"/>
                <a:gd name="T3" fmla="*/ 30 h 42"/>
                <a:gd name="T4" fmla="*/ 181 w 181"/>
                <a:gd name="T5" fmla="*/ 12 h 42"/>
                <a:gd name="T6" fmla="*/ 169 w 181"/>
                <a:gd name="T7" fmla="*/ 0 h 42"/>
                <a:gd name="T8" fmla="*/ 169 w 181"/>
                <a:gd name="T9" fmla="*/ 0 h 42"/>
                <a:gd name="T10" fmla="*/ 12 w 181"/>
                <a:gd name="T11" fmla="*/ 0 h 42"/>
                <a:gd name="T12" fmla="*/ 0 w 181"/>
                <a:gd name="T13" fmla="*/ 12 h 42"/>
                <a:gd name="T14" fmla="*/ 0 w 181"/>
                <a:gd name="T15" fmla="*/ 12 h 42"/>
                <a:gd name="T16" fmla="*/ 0 w 181"/>
                <a:gd name="T17" fmla="*/ 30 h 42"/>
                <a:gd name="T18" fmla="*/ 12 w 181"/>
                <a:gd name="T19" fmla="*/ 42 h 42"/>
                <a:gd name="T20" fmla="*/ 169 w 181"/>
                <a:gd name="T21" fmla="*/ 42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1" h="42">
                  <a:moveTo>
                    <a:pt x="169" y="42"/>
                  </a:moveTo>
                  <a:cubicBezTo>
                    <a:pt x="176" y="42"/>
                    <a:pt x="181" y="37"/>
                    <a:pt x="181" y="30"/>
                  </a:cubicBezTo>
                  <a:lnTo>
                    <a:pt x="181" y="12"/>
                  </a:lnTo>
                  <a:cubicBezTo>
                    <a:pt x="181" y="5"/>
                    <a:pt x="176" y="0"/>
                    <a:pt x="169" y="0"/>
                  </a:cubicBezTo>
                  <a:lnTo>
                    <a:pt x="169" y="0"/>
                  </a:lnTo>
                  <a:lnTo>
                    <a:pt x="12" y="0"/>
                  </a:lnTo>
                  <a:cubicBezTo>
                    <a:pt x="5" y="0"/>
                    <a:pt x="0" y="5"/>
                    <a:pt x="0" y="12"/>
                  </a:cubicBezTo>
                  <a:lnTo>
                    <a:pt x="0" y="12"/>
                  </a:lnTo>
                  <a:lnTo>
                    <a:pt x="0" y="30"/>
                  </a:lnTo>
                  <a:cubicBezTo>
                    <a:pt x="0" y="37"/>
                    <a:pt x="5" y="42"/>
                    <a:pt x="12" y="42"/>
                  </a:cubicBezTo>
                  <a:lnTo>
                    <a:pt x="169" y="42"/>
                  </a:ln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89" name="Freeform 228">
              <a:extLst>
                <a:ext uri="{FF2B5EF4-FFF2-40B4-BE49-F238E27FC236}">
                  <a16:creationId xmlns:a16="http://schemas.microsoft.com/office/drawing/2014/main" id="{2A46EFA3-A7EC-4BF2-2128-90E7915827C0}"/>
                </a:ext>
              </a:extLst>
            </p:cNvPr>
            <p:cNvSpPr>
              <a:spLocks/>
            </p:cNvSpPr>
            <p:nvPr/>
          </p:nvSpPr>
          <p:spPr bwMode="auto">
            <a:xfrm>
              <a:off x="6709650" y="2117447"/>
              <a:ext cx="173038" cy="39688"/>
            </a:xfrm>
            <a:custGeom>
              <a:avLst/>
              <a:gdLst>
                <a:gd name="T0" fmla="*/ 169 w 181"/>
                <a:gd name="T1" fmla="*/ 42 h 42"/>
                <a:gd name="T2" fmla="*/ 181 w 181"/>
                <a:gd name="T3" fmla="*/ 30 h 42"/>
                <a:gd name="T4" fmla="*/ 181 w 181"/>
                <a:gd name="T5" fmla="*/ 12 h 42"/>
                <a:gd name="T6" fmla="*/ 169 w 181"/>
                <a:gd name="T7" fmla="*/ 0 h 42"/>
                <a:gd name="T8" fmla="*/ 169 w 181"/>
                <a:gd name="T9" fmla="*/ 0 h 42"/>
                <a:gd name="T10" fmla="*/ 12 w 181"/>
                <a:gd name="T11" fmla="*/ 0 h 42"/>
                <a:gd name="T12" fmla="*/ 0 w 181"/>
                <a:gd name="T13" fmla="*/ 12 h 42"/>
                <a:gd name="T14" fmla="*/ 0 w 181"/>
                <a:gd name="T15" fmla="*/ 12 h 42"/>
                <a:gd name="T16" fmla="*/ 0 w 181"/>
                <a:gd name="T17" fmla="*/ 30 h 42"/>
                <a:gd name="T18" fmla="*/ 12 w 181"/>
                <a:gd name="T19" fmla="*/ 42 h 42"/>
                <a:gd name="T20" fmla="*/ 169 w 181"/>
                <a:gd name="T21" fmla="*/ 42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1" h="42">
                  <a:moveTo>
                    <a:pt x="169" y="42"/>
                  </a:moveTo>
                  <a:cubicBezTo>
                    <a:pt x="176" y="42"/>
                    <a:pt x="181" y="37"/>
                    <a:pt x="181" y="30"/>
                  </a:cubicBezTo>
                  <a:lnTo>
                    <a:pt x="181" y="12"/>
                  </a:lnTo>
                  <a:cubicBezTo>
                    <a:pt x="181" y="5"/>
                    <a:pt x="176" y="0"/>
                    <a:pt x="169" y="0"/>
                  </a:cubicBezTo>
                  <a:lnTo>
                    <a:pt x="169" y="0"/>
                  </a:lnTo>
                  <a:lnTo>
                    <a:pt x="12" y="0"/>
                  </a:lnTo>
                  <a:cubicBezTo>
                    <a:pt x="5" y="0"/>
                    <a:pt x="0" y="5"/>
                    <a:pt x="0" y="12"/>
                  </a:cubicBezTo>
                  <a:lnTo>
                    <a:pt x="0" y="12"/>
                  </a:lnTo>
                  <a:lnTo>
                    <a:pt x="0" y="30"/>
                  </a:lnTo>
                  <a:cubicBezTo>
                    <a:pt x="0" y="37"/>
                    <a:pt x="5" y="42"/>
                    <a:pt x="12" y="42"/>
                  </a:cubicBezTo>
                  <a:lnTo>
                    <a:pt x="169" y="42"/>
                  </a:ln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90" name="Freeform 229">
              <a:extLst>
                <a:ext uri="{FF2B5EF4-FFF2-40B4-BE49-F238E27FC236}">
                  <a16:creationId xmlns:a16="http://schemas.microsoft.com/office/drawing/2014/main" id="{CB95765D-4FB9-F1F4-9E98-A31DEDFCD67E}"/>
                </a:ext>
              </a:extLst>
            </p:cNvPr>
            <p:cNvSpPr>
              <a:spLocks/>
            </p:cNvSpPr>
            <p:nvPr/>
          </p:nvSpPr>
          <p:spPr bwMode="auto">
            <a:xfrm>
              <a:off x="6709650" y="2188884"/>
              <a:ext cx="173038" cy="41275"/>
            </a:xfrm>
            <a:custGeom>
              <a:avLst/>
              <a:gdLst>
                <a:gd name="T0" fmla="*/ 169 w 181"/>
                <a:gd name="T1" fmla="*/ 43 h 43"/>
                <a:gd name="T2" fmla="*/ 181 w 181"/>
                <a:gd name="T3" fmla="*/ 31 h 43"/>
                <a:gd name="T4" fmla="*/ 181 w 181"/>
                <a:gd name="T5" fmla="*/ 13 h 43"/>
                <a:gd name="T6" fmla="*/ 169 w 181"/>
                <a:gd name="T7" fmla="*/ 0 h 43"/>
                <a:gd name="T8" fmla="*/ 169 w 181"/>
                <a:gd name="T9" fmla="*/ 0 h 43"/>
                <a:gd name="T10" fmla="*/ 12 w 181"/>
                <a:gd name="T11" fmla="*/ 0 h 43"/>
                <a:gd name="T12" fmla="*/ 0 w 181"/>
                <a:gd name="T13" fmla="*/ 13 h 43"/>
                <a:gd name="T14" fmla="*/ 0 w 181"/>
                <a:gd name="T15" fmla="*/ 13 h 43"/>
                <a:gd name="T16" fmla="*/ 0 w 181"/>
                <a:gd name="T17" fmla="*/ 31 h 43"/>
                <a:gd name="T18" fmla="*/ 12 w 181"/>
                <a:gd name="T19" fmla="*/ 43 h 43"/>
                <a:gd name="T20" fmla="*/ 169 w 181"/>
                <a:gd name="T21" fmla="*/ 4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1" h="43">
                  <a:moveTo>
                    <a:pt x="169" y="43"/>
                  </a:moveTo>
                  <a:cubicBezTo>
                    <a:pt x="176" y="43"/>
                    <a:pt x="181" y="37"/>
                    <a:pt x="181" y="31"/>
                  </a:cubicBezTo>
                  <a:lnTo>
                    <a:pt x="181" y="13"/>
                  </a:lnTo>
                  <a:cubicBezTo>
                    <a:pt x="181" y="6"/>
                    <a:pt x="176" y="0"/>
                    <a:pt x="169" y="0"/>
                  </a:cubicBezTo>
                  <a:lnTo>
                    <a:pt x="169" y="0"/>
                  </a:lnTo>
                  <a:lnTo>
                    <a:pt x="12" y="0"/>
                  </a:lnTo>
                  <a:cubicBezTo>
                    <a:pt x="5" y="0"/>
                    <a:pt x="0" y="6"/>
                    <a:pt x="0" y="13"/>
                  </a:cubicBezTo>
                  <a:lnTo>
                    <a:pt x="0" y="13"/>
                  </a:lnTo>
                  <a:lnTo>
                    <a:pt x="0" y="31"/>
                  </a:lnTo>
                  <a:cubicBezTo>
                    <a:pt x="0" y="37"/>
                    <a:pt x="5" y="43"/>
                    <a:pt x="12" y="43"/>
                  </a:cubicBezTo>
                  <a:lnTo>
                    <a:pt x="169" y="43"/>
                  </a:ln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91" name="Freeform 230">
              <a:extLst>
                <a:ext uri="{FF2B5EF4-FFF2-40B4-BE49-F238E27FC236}">
                  <a16:creationId xmlns:a16="http://schemas.microsoft.com/office/drawing/2014/main" id="{14F5DCF9-B9B0-1102-237E-F6FB9D071211}"/>
                </a:ext>
              </a:extLst>
            </p:cNvPr>
            <p:cNvSpPr>
              <a:spLocks/>
            </p:cNvSpPr>
            <p:nvPr/>
          </p:nvSpPr>
          <p:spPr bwMode="auto">
            <a:xfrm>
              <a:off x="6773150" y="1998384"/>
              <a:ext cx="46038" cy="46038"/>
            </a:xfrm>
            <a:custGeom>
              <a:avLst/>
              <a:gdLst>
                <a:gd name="T0" fmla="*/ 0 w 29"/>
                <a:gd name="T1" fmla="*/ 14 h 29"/>
                <a:gd name="T2" fmla="*/ 14 w 29"/>
                <a:gd name="T3" fmla="*/ 0 h 29"/>
                <a:gd name="T4" fmla="*/ 29 w 29"/>
                <a:gd name="T5" fmla="*/ 14 h 29"/>
                <a:gd name="T6" fmla="*/ 29 w 29"/>
                <a:gd name="T7" fmla="*/ 14 h 29"/>
                <a:gd name="T8" fmla="*/ 14 w 29"/>
                <a:gd name="T9" fmla="*/ 29 h 29"/>
                <a:gd name="T10" fmla="*/ 0 w 29"/>
                <a:gd name="T11" fmla="*/ 14 h 29"/>
              </a:gdLst>
              <a:ahLst/>
              <a:cxnLst>
                <a:cxn ang="0">
                  <a:pos x="T0" y="T1"/>
                </a:cxn>
                <a:cxn ang="0">
                  <a:pos x="T2" y="T3"/>
                </a:cxn>
                <a:cxn ang="0">
                  <a:pos x="T4" y="T5"/>
                </a:cxn>
                <a:cxn ang="0">
                  <a:pos x="T6" y="T7"/>
                </a:cxn>
                <a:cxn ang="0">
                  <a:pos x="T8" y="T9"/>
                </a:cxn>
                <a:cxn ang="0">
                  <a:pos x="T10" y="T11"/>
                </a:cxn>
              </a:cxnLst>
              <a:rect l="0" t="0" r="r" b="b"/>
              <a:pathLst>
                <a:path w="29" h="29">
                  <a:moveTo>
                    <a:pt x="0" y="14"/>
                  </a:moveTo>
                  <a:cubicBezTo>
                    <a:pt x="0" y="6"/>
                    <a:pt x="6" y="0"/>
                    <a:pt x="14" y="0"/>
                  </a:cubicBezTo>
                  <a:cubicBezTo>
                    <a:pt x="23" y="0"/>
                    <a:pt x="29" y="6"/>
                    <a:pt x="29" y="14"/>
                  </a:cubicBezTo>
                  <a:cubicBezTo>
                    <a:pt x="29" y="14"/>
                    <a:pt x="29" y="14"/>
                    <a:pt x="29" y="14"/>
                  </a:cubicBezTo>
                  <a:cubicBezTo>
                    <a:pt x="29" y="22"/>
                    <a:pt x="23" y="29"/>
                    <a:pt x="14" y="29"/>
                  </a:cubicBezTo>
                  <a:cubicBezTo>
                    <a:pt x="6" y="29"/>
                    <a:pt x="0" y="22"/>
                    <a:pt x="0" y="14"/>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92" name="Freeform 231">
              <a:extLst>
                <a:ext uri="{FF2B5EF4-FFF2-40B4-BE49-F238E27FC236}">
                  <a16:creationId xmlns:a16="http://schemas.microsoft.com/office/drawing/2014/main" id="{59BB6B04-E9DF-5B63-A1DF-DAFF25691F75}"/>
                </a:ext>
              </a:extLst>
            </p:cNvPr>
            <p:cNvSpPr>
              <a:spLocks/>
            </p:cNvSpPr>
            <p:nvPr/>
          </p:nvSpPr>
          <p:spPr bwMode="auto">
            <a:xfrm>
              <a:off x="6773150" y="2055534"/>
              <a:ext cx="46038" cy="47625"/>
            </a:xfrm>
            <a:custGeom>
              <a:avLst/>
              <a:gdLst>
                <a:gd name="T0" fmla="*/ 0 w 29"/>
                <a:gd name="T1" fmla="*/ 15 h 30"/>
                <a:gd name="T2" fmla="*/ 14 w 29"/>
                <a:gd name="T3" fmla="*/ 0 h 30"/>
                <a:gd name="T4" fmla="*/ 29 w 29"/>
                <a:gd name="T5" fmla="*/ 15 h 30"/>
                <a:gd name="T6" fmla="*/ 29 w 29"/>
                <a:gd name="T7" fmla="*/ 15 h 30"/>
                <a:gd name="T8" fmla="*/ 14 w 29"/>
                <a:gd name="T9" fmla="*/ 30 h 30"/>
                <a:gd name="T10" fmla="*/ 0 w 29"/>
                <a:gd name="T11" fmla="*/ 15 h 30"/>
              </a:gdLst>
              <a:ahLst/>
              <a:cxnLst>
                <a:cxn ang="0">
                  <a:pos x="T0" y="T1"/>
                </a:cxn>
                <a:cxn ang="0">
                  <a:pos x="T2" y="T3"/>
                </a:cxn>
                <a:cxn ang="0">
                  <a:pos x="T4" y="T5"/>
                </a:cxn>
                <a:cxn ang="0">
                  <a:pos x="T6" y="T7"/>
                </a:cxn>
                <a:cxn ang="0">
                  <a:pos x="T8" y="T9"/>
                </a:cxn>
                <a:cxn ang="0">
                  <a:pos x="T10" y="T11"/>
                </a:cxn>
              </a:cxnLst>
              <a:rect l="0" t="0" r="r" b="b"/>
              <a:pathLst>
                <a:path w="29" h="30">
                  <a:moveTo>
                    <a:pt x="0" y="15"/>
                  </a:moveTo>
                  <a:cubicBezTo>
                    <a:pt x="0" y="7"/>
                    <a:pt x="6" y="0"/>
                    <a:pt x="14" y="0"/>
                  </a:cubicBezTo>
                  <a:cubicBezTo>
                    <a:pt x="23" y="0"/>
                    <a:pt x="29" y="7"/>
                    <a:pt x="29" y="15"/>
                  </a:cubicBezTo>
                  <a:cubicBezTo>
                    <a:pt x="29" y="15"/>
                    <a:pt x="29" y="15"/>
                    <a:pt x="29" y="15"/>
                  </a:cubicBezTo>
                  <a:cubicBezTo>
                    <a:pt x="29" y="23"/>
                    <a:pt x="23" y="30"/>
                    <a:pt x="14" y="30"/>
                  </a:cubicBezTo>
                  <a:cubicBezTo>
                    <a:pt x="6" y="30"/>
                    <a:pt x="0" y="23"/>
                    <a:pt x="0" y="15"/>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93" name="Freeform 232">
              <a:extLst>
                <a:ext uri="{FF2B5EF4-FFF2-40B4-BE49-F238E27FC236}">
                  <a16:creationId xmlns:a16="http://schemas.microsoft.com/office/drawing/2014/main" id="{24115A87-6DD5-1AF0-376C-A6E12977B470}"/>
                </a:ext>
              </a:extLst>
            </p:cNvPr>
            <p:cNvSpPr>
              <a:spLocks/>
            </p:cNvSpPr>
            <p:nvPr/>
          </p:nvSpPr>
          <p:spPr bwMode="auto">
            <a:xfrm>
              <a:off x="7620875" y="1957109"/>
              <a:ext cx="47625" cy="46038"/>
            </a:xfrm>
            <a:custGeom>
              <a:avLst/>
              <a:gdLst>
                <a:gd name="T0" fmla="*/ 14 w 30"/>
                <a:gd name="T1" fmla="*/ 29 h 29"/>
                <a:gd name="T2" fmla="*/ 0 w 30"/>
                <a:gd name="T3" fmla="*/ 15 h 29"/>
                <a:gd name="T4" fmla="*/ 14 w 30"/>
                <a:gd name="T5" fmla="*/ 0 h 29"/>
                <a:gd name="T6" fmla="*/ 14 w 30"/>
                <a:gd name="T7" fmla="*/ 0 h 29"/>
                <a:gd name="T8" fmla="*/ 30 w 30"/>
                <a:gd name="T9" fmla="*/ 15 h 29"/>
                <a:gd name="T10" fmla="*/ 14 w 30"/>
                <a:gd name="T11" fmla="*/ 29 h 29"/>
              </a:gdLst>
              <a:ahLst/>
              <a:cxnLst>
                <a:cxn ang="0">
                  <a:pos x="T0" y="T1"/>
                </a:cxn>
                <a:cxn ang="0">
                  <a:pos x="T2" y="T3"/>
                </a:cxn>
                <a:cxn ang="0">
                  <a:pos x="T4" y="T5"/>
                </a:cxn>
                <a:cxn ang="0">
                  <a:pos x="T6" y="T7"/>
                </a:cxn>
                <a:cxn ang="0">
                  <a:pos x="T8" y="T9"/>
                </a:cxn>
                <a:cxn ang="0">
                  <a:pos x="T10" y="T11"/>
                </a:cxn>
              </a:cxnLst>
              <a:rect l="0" t="0" r="r" b="b"/>
              <a:pathLst>
                <a:path w="30" h="29">
                  <a:moveTo>
                    <a:pt x="14" y="29"/>
                  </a:moveTo>
                  <a:cubicBezTo>
                    <a:pt x="7" y="29"/>
                    <a:pt x="0" y="23"/>
                    <a:pt x="0" y="15"/>
                  </a:cubicBezTo>
                  <a:cubicBezTo>
                    <a:pt x="0" y="6"/>
                    <a:pt x="7" y="0"/>
                    <a:pt x="14" y="0"/>
                  </a:cubicBezTo>
                  <a:cubicBezTo>
                    <a:pt x="14" y="0"/>
                    <a:pt x="14" y="0"/>
                    <a:pt x="14" y="0"/>
                  </a:cubicBezTo>
                  <a:cubicBezTo>
                    <a:pt x="23" y="0"/>
                    <a:pt x="30" y="6"/>
                    <a:pt x="30" y="15"/>
                  </a:cubicBezTo>
                  <a:cubicBezTo>
                    <a:pt x="30" y="23"/>
                    <a:pt x="23" y="29"/>
                    <a:pt x="14" y="29"/>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94" name="Freeform 233">
              <a:extLst>
                <a:ext uri="{FF2B5EF4-FFF2-40B4-BE49-F238E27FC236}">
                  <a16:creationId xmlns:a16="http://schemas.microsoft.com/office/drawing/2014/main" id="{9B71CC35-FBA2-9BE8-C9DB-8126ECD30D6B}"/>
                </a:ext>
              </a:extLst>
            </p:cNvPr>
            <p:cNvSpPr>
              <a:spLocks/>
            </p:cNvSpPr>
            <p:nvPr/>
          </p:nvSpPr>
          <p:spPr bwMode="auto">
            <a:xfrm>
              <a:off x="7400213" y="1869797"/>
              <a:ext cx="523875" cy="222250"/>
            </a:xfrm>
            <a:custGeom>
              <a:avLst/>
              <a:gdLst>
                <a:gd name="T0" fmla="*/ 545 w 545"/>
                <a:gd name="T1" fmla="*/ 30 h 230"/>
                <a:gd name="T2" fmla="*/ 514 w 545"/>
                <a:gd name="T3" fmla="*/ 0 h 230"/>
                <a:gd name="T4" fmla="*/ 31 w 545"/>
                <a:gd name="T5" fmla="*/ 0 h 230"/>
                <a:gd name="T6" fmla="*/ 0 w 545"/>
                <a:gd name="T7" fmla="*/ 30 h 230"/>
                <a:gd name="T8" fmla="*/ 0 w 545"/>
                <a:gd name="T9" fmla="*/ 30 h 230"/>
                <a:gd name="T10" fmla="*/ 0 w 545"/>
                <a:gd name="T11" fmla="*/ 199 h 230"/>
                <a:gd name="T12" fmla="*/ 31 w 545"/>
                <a:gd name="T13" fmla="*/ 230 h 230"/>
                <a:gd name="T14" fmla="*/ 514 w 545"/>
                <a:gd name="T15" fmla="*/ 230 h 230"/>
                <a:gd name="T16" fmla="*/ 545 w 545"/>
                <a:gd name="T17" fmla="*/ 199 h 230"/>
                <a:gd name="T18" fmla="*/ 545 w 545"/>
                <a:gd name="T19" fmla="*/ 199 h 230"/>
                <a:gd name="T20" fmla="*/ 545 w 545"/>
                <a:gd name="T21" fmla="*/ 30 h 2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45" h="230">
                  <a:moveTo>
                    <a:pt x="545" y="30"/>
                  </a:moveTo>
                  <a:cubicBezTo>
                    <a:pt x="545" y="13"/>
                    <a:pt x="531" y="0"/>
                    <a:pt x="514" y="0"/>
                  </a:cubicBezTo>
                  <a:lnTo>
                    <a:pt x="31" y="0"/>
                  </a:lnTo>
                  <a:cubicBezTo>
                    <a:pt x="14" y="0"/>
                    <a:pt x="0" y="13"/>
                    <a:pt x="0" y="30"/>
                  </a:cubicBezTo>
                  <a:lnTo>
                    <a:pt x="0" y="30"/>
                  </a:lnTo>
                  <a:lnTo>
                    <a:pt x="0" y="199"/>
                  </a:lnTo>
                  <a:cubicBezTo>
                    <a:pt x="0" y="216"/>
                    <a:pt x="14" y="230"/>
                    <a:pt x="31" y="230"/>
                  </a:cubicBezTo>
                  <a:lnTo>
                    <a:pt x="514" y="230"/>
                  </a:lnTo>
                  <a:cubicBezTo>
                    <a:pt x="531" y="230"/>
                    <a:pt x="545" y="216"/>
                    <a:pt x="545" y="199"/>
                  </a:cubicBezTo>
                  <a:lnTo>
                    <a:pt x="545" y="199"/>
                  </a:lnTo>
                  <a:lnTo>
                    <a:pt x="545" y="30"/>
                  </a:lnTo>
                </a:path>
              </a:pathLst>
            </a:cu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95" name="Freeform 234">
              <a:extLst>
                <a:ext uri="{FF2B5EF4-FFF2-40B4-BE49-F238E27FC236}">
                  <a16:creationId xmlns:a16="http://schemas.microsoft.com/office/drawing/2014/main" id="{AB7BF023-EAA5-CF3C-F0DE-51854A2A853A}"/>
                </a:ext>
              </a:extLst>
            </p:cNvPr>
            <p:cNvSpPr>
              <a:spLocks/>
            </p:cNvSpPr>
            <p:nvPr/>
          </p:nvSpPr>
          <p:spPr bwMode="auto">
            <a:xfrm>
              <a:off x="7417675" y="1893609"/>
              <a:ext cx="41275" cy="173038"/>
            </a:xfrm>
            <a:custGeom>
              <a:avLst/>
              <a:gdLst>
                <a:gd name="T0" fmla="*/ 42 w 42"/>
                <a:gd name="T1" fmla="*/ 12 h 181"/>
                <a:gd name="T2" fmla="*/ 30 w 42"/>
                <a:gd name="T3" fmla="*/ 0 h 181"/>
                <a:gd name="T4" fmla="*/ 30 w 42"/>
                <a:gd name="T5" fmla="*/ 0 h 181"/>
                <a:gd name="T6" fmla="*/ 12 w 42"/>
                <a:gd name="T7" fmla="*/ 0 h 181"/>
                <a:gd name="T8" fmla="*/ 0 w 42"/>
                <a:gd name="T9" fmla="*/ 12 h 181"/>
                <a:gd name="T10" fmla="*/ 0 w 42"/>
                <a:gd name="T11" fmla="*/ 12 h 181"/>
                <a:gd name="T12" fmla="*/ 0 w 42"/>
                <a:gd name="T13" fmla="*/ 169 h 181"/>
                <a:gd name="T14" fmla="*/ 12 w 42"/>
                <a:gd name="T15" fmla="*/ 181 h 181"/>
                <a:gd name="T16" fmla="*/ 12 w 42"/>
                <a:gd name="T17" fmla="*/ 181 h 181"/>
                <a:gd name="T18" fmla="*/ 30 w 42"/>
                <a:gd name="T19" fmla="*/ 181 h 181"/>
                <a:gd name="T20" fmla="*/ 42 w 42"/>
                <a:gd name="T21" fmla="*/ 169 h 181"/>
                <a:gd name="T22" fmla="*/ 42 w 42"/>
                <a:gd name="T23" fmla="*/ 169 h 181"/>
                <a:gd name="T24" fmla="*/ 42 w 42"/>
                <a:gd name="T25" fmla="*/ 12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2" h="181">
                  <a:moveTo>
                    <a:pt x="42" y="12"/>
                  </a:moveTo>
                  <a:cubicBezTo>
                    <a:pt x="42" y="5"/>
                    <a:pt x="36" y="0"/>
                    <a:pt x="30" y="0"/>
                  </a:cubicBezTo>
                  <a:lnTo>
                    <a:pt x="30" y="0"/>
                  </a:lnTo>
                  <a:lnTo>
                    <a:pt x="12" y="0"/>
                  </a:lnTo>
                  <a:cubicBezTo>
                    <a:pt x="5" y="0"/>
                    <a:pt x="0" y="5"/>
                    <a:pt x="0" y="12"/>
                  </a:cubicBezTo>
                  <a:lnTo>
                    <a:pt x="0" y="12"/>
                  </a:lnTo>
                  <a:lnTo>
                    <a:pt x="0" y="169"/>
                  </a:lnTo>
                  <a:cubicBezTo>
                    <a:pt x="0" y="176"/>
                    <a:pt x="5" y="181"/>
                    <a:pt x="12" y="181"/>
                  </a:cubicBezTo>
                  <a:lnTo>
                    <a:pt x="12" y="181"/>
                  </a:lnTo>
                  <a:lnTo>
                    <a:pt x="30" y="181"/>
                  </a:lnTo>
                  <a:cubicBezTo>
                    <a:pt x="36" y="181"/>
                    <a:pt x="42" y="176"/>
                    <a:pt x="42" y="169"/>
                  </a:cubicBezTo>
                  <a:lnTo>
                    <a:pt x="42" y="169"/>
                  </a:lnTo>
                  <a:lnTo>
                    <a:pt x="42" y="12"/>
                  </a:lnTo>
                </a:path>
              </a:pathLst>
            </a:custGeom>
            <a:solidFill>
              <a:srgbClr val="7796B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96" name="Freeform 235">
              <a:extLst>
                <a:ext uri="{FF2B5EF4-FFF2-40B4-BE49-F238E27FC236}">
                  <a16:creationId xmlns:a16="http://schemas.microsoft.com/office/drawing/2014/main" id="{2FE614D5-75B5-C427-7902-1DDCCC58D2BF}"/>
                </a:ext>
              </a:extLst>
            </p:cNvPr>
            <p:cNvSpPr>
              <a:spLocks/>
            </p:cNvSpPr>
            <p:nvPr/>
          </p:nvSpPr>
          <p:spPr bwMode="auto">
            <a:xfrm>
              <a:off x="7490700" y="1893609"/>
              <a:ext cx="39688" cy="173038"/>
            </a:xfrm>
            <a:custGeom>
              <a:avLst/>
              <a:gdLst>
                <a:gd name="T0" fmla="*/ 42 w 42"/>
                <a:gd name="T1" fmla="*/ 12 h 181"/>
                <a:gd name="T2" fmla="*/ 30 w 42"/>
                <a:gd name="T3" fmla="*/ 0 h 181"/>
                <a:gd name="T4" fmla="*/ 12 w 42"/>
                <a:gd name="T5" fmla="*/ 0 h 181"/>
                <a:gd name="T6" fmla="*/ 0 w 42"/>
                <a:gd name="T7" fmla="*/ 12 h 181"/>
                <a:gd name="T8" fmla="*/ 0 w 42"/>
                <a:gd name="T9" fmla="*/ 169 h 181"/>
                <a:gd name="T10" fmla="*/ 12 w 42"/>
                <a:gd name="T11" fmla="*/ 181 h 181"/>
                <a:gd name="T12" fmla="*/ 12 w 42"/>
                <a:gd name="T13" fmla="*/ 181 h 181"/>
                <a:gd name="T14" fmla="*/ 30 w 42"/>
                <a:gd name="T15" fmla="*/ 181 h 181"/>
                <a:gd name="T16" fmla="*/ 42 w 42"/>
                <a:gd name="T17" fmla="*/ 169 h 181"/>
                <a:gd name="T18" fmla="*/ 42 w 42"/>
                <a:gd name="T19" fmla="*/ 169 h 181"/>
                <a:gd name="T20" fmla="*/ 42 w 42"/>
                <a:gd name="T21" fmla="*/ 12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181">
                  <a:moveTo>
                    <a:pt x="42" y="12"/>
                  </a:moveTo>
                  <a:cubicBezTo>
                    <a:pt x="42" y="5"/>
                    <a:pt x="37" y="0"/>
                    <a:pt x="30" y="0"/>
                  </a:cubicBezTo>
                  <a:lnTo>
                    <a:pt x="12" y="0"/>
                  </a:lnTo>
                  <a:cubicBezTo>
                    <a:pt x="6" y="0"/>
                    <a:pt x="0" y="5"/>
                    <a:pt x="0" y="12"/>
                  </a:cubicBezTo>
                  <a:lnTo>
                    <a:pt x="0" y="169"/>
                  </a:lnTo>
                  <a:cubicBezTo>
                    <a:pt x="0" y="176"/>
                    <a:pt x="6" y="181"/>
                    <a:pt x="12" y="181"/>
                  </a:cubicBezTo>
                  <a:lnTo>
                    <a:pt x="12" y="181"/>
                  </a:lnTo>
                  <a:lnTo>
                    <a:pt x="30" y="181"/>
                  </a:lnTo>
                  <a:cubicBezTo>
                    <a:pt x="37" y="181"/>
                    <a:pt x="42" y="176"/>
                    <a:pt x="42" y="169"/>
                  </a:cubicBezTo>
                  <a:lnTo>
                    <a:pt x="42" y="169"/>
                  </a:lnTo>
                  <a:lnTo>
                    <a:pt x="42" y="12"/>
                  </a:lnTo>
                </a:path>
              </a:pathLst>
            </a:custGeom>
            <a:solidFill>
              <a:srgbClr val="7796B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97" name="Freeform 236">
              <a:extLst>
                <a:ext uri="{FF2B5EF4-FFF2-40B4-BE49-F238E27FC236}">
                  <a16:creationId xmlns:a16="http://schemas.microsoft.com/office/drawing/2014/main" id="{5C10D246-67E0-35D8-82E3-7A3CCF6B5CF6}"/>
                </a:ext>
              </a:extLst>
            </p:cNvPr>
            <p:cNvSpPr>
              <a:spLocks/>
            </p:cNvSpPr>
            <p:nvPr/>
          </p:nvSpPr>
          <p:spPr bwMode="auto">
            <a:xfrm>
              <a:off x="7563725" y="1893609"/>
              <a:ext cx="39688" cy="173038"/>
            </a:xfrm>
            <a:custGeom>
              <a:avLst/>
              <a:gdLst>
                <a:gd name="T0" fmla="*/ 42 w 42"/>
                <a:gd name="T1" fmla="*/ 12 h 181"/>
                <a:gd name="T2" fmla="*/ 30 w 42"/>
                <a:gd name="T3" fmla="*/ 0 h 181"/>
                <a:gd name="T4" fmla="*/ 12 w 42"/>
                <a:gd name="T5" fmla="*/ 0 h 181"/>
                <a:gd name="T6" fmla="*/ 0 w 42"/>
                <a:gd name="T7" fmla="*/ 12 h 181"/>
                <a:gd name="T8" fmla="*/ 0 w 42"/>
                <a:gd name="T9" fmla="*/ 12 h 181"/>
                <a:gd name="T10" fmla="*/ 0 w 42"/>
                <a:gd name="T11" fmla="*/ 169 h 181"/>
                <a:gd name="T12" fmla="*/ 12 w 42"/>
                <a:gd name="T13" fmla="*/ 181 h 181"/>
                <a:gd name="T14" fmla="*/ 12 w 42"/>
                <a:gd name="T15" fmla="*/ 181 h 181"/>
                <a:gd name="T16" fmla="*/ 30 w 42"/>
                <a:gd name="T17" fmla="*/ 181 h 181"/>
                <a:gd name="T18" fmla="*/ 42 w 42"/>
                <a:gd name="T19" fmla="*/ 169 h 181"/>
                <a:gd name="T20" fmla="*/ 42 w 42"/>
                <a:gd name="T21" fmla="*/ 169 h 181"/>
                <a:gd name="T22" fmla="*/ 42 w 42"/>
                <a:gd name="T23" fmla="*/ 12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2" h="181">
                  <a:moveTo>
                    <a:pt x="42" y="12"/>
                  </a:moveTo>
                  <a:cubicBezTo>
                    <a:pt x="42" y="5"/>
                    <a:pt x="37" y="0"/>
                    <a:pt x="30" y="0"/>
                  </a:cubicBezTo>
                  <a:lnTo>
                    <a:pt x="12" y="0"/>
                  </a:lnTo>
                  <a:cubicBezTo>
                    <a:pt x="5" y="0"/>
                    <a:pt x="0" y="5"/>
                    <a:pt x="0" y="12"/>
                  </a:cubicBezTo>
                  <a:lnTo>
                    <a:pt x="0" y="12"/>
                  </a:lnTo>
                  <a:lnTo>
                    <a:pt x="0" y="169"/>
                  </a:lnTo>
                  <a:cubicBezTo>
                    <a:pt x="0" y="176"/>
                    <a:pt x="5" y="181"/>
                    <a:pt x="12" y="181"/>
                  </a:cubicBezTo>
                  <a:lnTo>
                    <a:pt x="12" y="181"/>
                  </a:lnTo>
                  <a:lnTo>
                    <a:pt x="30" y="181"/>
                  </a:lnTo>
                  <a:cubicBezTo>
                    <a:pt x="37" y="181"/>
                    <a:pt x="42" y="176"/>
                    <a:pt x="42" y="169"/>
                  </a:cubicBezTo>
                  <a:lnTo>
                    <a:pt x="42" y="169"/>
                  </a:lnTo>
                  <a:lnTo>
                    <a:pt x="42" y="12"/>
                  </a:lnTo>
                </a:path>
              </a:pathLst>
            </a:custGeom>
            <a:solidFill>
              <a:srgbClr val="7796B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98" name="Freeform 237">
              <a:extLst>
                <a:ext uri="{FF2B5EF4-FFF2-40B4-BE49-F238E27FC236}">
                  <a16:creationId xmlns:a16="http://schemas.microsoft.com/office/drawing/2014/main" id="{C847FBC1-8E2F-E5DB-C529-D893ACC63A83}"/>
                </a:ext>
              </a:extLst>
            </p:cNvPr>
            <p:cNvSpPr>
              <a:spLocks/>
            </p:cNvSpPr>
            <p:nvPr/>
          </p:nvSpPr>
          <p:spPr bwMode="auto">
            <a:xfrm>
              <a:off x="7798675" y="1893609"/>
              <a:ext cx="39688" cy="173038"/>
            </a:xfrm>
            <a:custGeom>
              <a:avLst/>
              <a:gdLst>
                <a:gd name="T0" fmla="*/ 42 w 42"/>
                <a:gd name="T1" fmla="*/ 12 h 181"/>
                <a:gd name="T2" fmla="*/ 30 w 42"/>
                <a:gd name="T3" fmla="*/ 0 h 181"/>
                <a:gd name="T4" fmla="*/ 12 w 42"/>
                <a:gd name="T5" fmla="*/ 0 h 181"/>
                <a:gd name="T6" fmla="*/ 0 w 42"/>
                <a:gd name="T7" fmla="*/ 12 h 181"/>
                <a:gd name="T8" fmla="*/ 0 w 42"/>
                <a:gd name="T9" fmla="*/ 169 h 181"/>
                <a:gd name="T10" fmla="*/ 12 w 42"/>
                <a:gd name="T11" fmla="*/ 181 h 181"/>
                <a:gd name="T12" fmla="*/ 12 w 42"/>
                <a:gd name="T13" fmla="*/ 181 h 181"/>
                <a:gd name="T14" fmla="*/ 30 w 42"/>
                <a:gd name="T15" fmla="*/ 181 h 181"/>
                <a:gd name="T16" fmla="*/ 42 w 42"/>
                <a:gd name="T17" fmla="*/ 169 h 181"/>
                <a:gd name="T18" fmla="*/ 42 w 42"/>
                <a:gd name="T19" fmla="*/ 169 h 181"/>
                <a:gd name="T20" fmla="*/ 42 w 42"/>
                <a:gd name="T21" fmla="*/ 12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181">
                  <a:moveTo>
                    <a:pt x="42" y="12"/>
                  </a:moveTo>
                  <a:cubicBezTo>
                    <a:pt x="42" y="5"/>
                    <a:pt x="37" y="0"/>
                    <a:pt x="30" y="0"/>
                  </a:cubicBezTo>
                  <a:lnTo>
                    <a:pt x="12" y="0"/>
                  </a:lnTo>
                  <a:cubicBezTo>
                    <a:pt x="5" y="0"/>
                    <a:pt x="0" y="5"/>
                    <a:pt x="0" y="12"/>
                  </a:cubicBezTo>
                  <a:lnTo>
                    <a:pt x="0" y="169"/>
                  </a:lnTo>
                  <a:cubicBezTo>
                    <a:pt x="0" y="176"/>
                    <a:pt x="5" y="181"/>
                    <a:pt x="12" y="181"/>
                  </a:cubicBezTo>
                  <a:lnTo>
                    <a:pt x="12" y="181"/>
                  </a:lnTo>
                  <a:lnTo>
                    <a:pt x="30" y="181"/>
                  </a:lnTo>
                  <a:cubicBezTo>
                    <a:pt x="37" y="181"/>
                    <a:pt x="42" y="176"/>
                    <a:pt x="42" y="169"/>
                  </a:cubicBezTo>
                  <a:lnTo>
                    <a:pt x="42" y="169"/>
                  </a:lnTo>
                  <a:lnTo>
                    <a:pt x="42" y="12"/>
                  </a:lnTo>
                </a:path>
              </a:pathLst>
            </a:custGeom>
            <a:solidFill>
              <a:srgbClr val="7796B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99" name="Freeform 238">
              <a:extLst>
                <a:ext uri="{FF2B5EF4-FFF2-40B4-BE49-F238E27FC236}">
                  <a16:creationId xmlns:a16="http://schemas.microsoft.com/office/drawing/2014/main" id="{C85D1005-8522-2786-2E38-6BD1B7C92854}"/>
                </a:ext>
              </a:extLst>
            </p:cNvPr>
            <p:cNvSpPr>
              <a:spLocks/>
            </p:cNvSpPr>
            <p:nvPr/>
          </p:nvSpPr>
          <p:spPr bwMode="auto">
            <a:xfrm>
              <a:off x="7870113" y="1893609"/>
              <a:ext cx="41275" cy="173038"/>
            </a:xfrm>
            <a:custGeom>
              <a:avLst/>
              <a:gdLst>
                <a:gd name="T0" fmla="*/ 43 w 43"/>
                <a:gd name="T1" fmla="*/ 12 h 181"/>
                <a:gd name="T2" fmla="*/ 30 w 43"/>
                <a:gd name="T3" fmla="*/ 0 h 181"/>
                <a:gd name="T4" fmla="*/ 12 w 43"/>
                <a:gd name="T5" fmla="*/ 0 h 181"/>
                <a:gd name="T6" fmla="*/ 0 w 43"/>
                <a:gd name="T7" fmla="*/ 12 h 181"/>
                <a:gd name="T8" fmla="*/ 0 w 43"/>
                <a:gd name="T9" fmla="*/ 12 h 181"/>
                <a:gd name="T10" fmla="*/ 0 w 43"/>
                <a:gd name="T11" fmla="*/ 169 h 181"/>
                <a:gd name="T12" fmla="*/ 12 w 43"/>
                <a:gd name="T13" fmla="*/ 181 h 181"/>
                <a:gd name="T14" fmla="*/ 12 w 43"/>
                <a:gd name="T15" fmla="*/ 181 h 181"/>
                <a:gd name="T16" fmla="*/ 30 w 43"/>
                <a:gd name="T17" fmla="*/ 181 h 181"/>
                <a:gd name="T18" fmla="*/ 43 w 43"/>
                <a:gd name="T19" fmla="*/ 169 h 181"/>
                <a:gd name="T20" fmla="*/ 43 w 43"/>
                <a:gd name="T21" fmla="*/ 169 h 181"/>
                <a:gd name="T22" fmla="*/ 43 w 43"/>
                <a:gd name="T23" fmla="*/ 12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3" h="181">
                  <a:moveTo>
                    <a:pt x="43" y="12"/>
                  </a:moveTo>
                  <a:cubicBezTo>
                    <a:pt x="43" y="5"/>
                    <a:pt x="37" y="0"/>
                    <a:pt x="30" y="0"/>
                  </a:cubicBezTo>
                  <a:lnTo>
                    <a:pt x="12" y="0"/>
                  </a:lnTo>
                  <a:cubicBezTo>
                    <a:pt x="6" y="0"/>
                    <a:pt x="0" y="5"/>
                    <a:pt x="0" y="12"/>
                  </a:cubicBezTo>
                  <a:lnTo>
                    <a:pt x="0" y="12"/>
                  </a:lnTo>
                  <a:lnTo>
                    <a:pt x="0" y="169"/>
                  </a:lnTo>
                  <a:cubicBezTo>
                    <a:pt x="0" y="176"/>
                    <a:pt x="6" y="181"/>
                    <a:pt x="12" y="181"/>
                  </a:cubicBezTo>
                  <a:lnTo>
                    <a:pt x="12" y="181"/>
                  </a:lnTo>
                  <a:lnTo>
                    <a:pt x="30" y="181"/>
                  </a:lnTo>
                  <a:cubicBezTo>
                    <a:pt x="37" y="181"/>
                    <a:pt x="43" y="176"/>
                    <a:pt x="43" y="169"/>
                  </a:cubicBezTo>
                  <a:lnTo>
                    <a:pt x="43" y="169"/>
                  </a:lnTo>
                  <a:lnTo>
                    <a:pt x="43" y="12"/>
                  </a:lnTo>
                </a:path>
              </a:pathLst>
            </a:custGeom>
            <a:solidFill>
              <a:srgbClr val="7796B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00" name="Freeform 239">
              <a:extLst>
                <a:ext uri="{FF2B5EF4-FFF2-40B4-BE49-F238E27FC236}">
                  <a16:creationId xmlns:a16="http://schemas.microsoft.com/office/drawing/2014/main" id="{5758DB71-A6D6-BBF5-ECD3-30EC9BCE61D5}"/>
                </a:ext>
              </a:extLst>
            </p:cNvPr>
            <p:cNvSpPr>
              <a:spLocks/>
            </p:cNvSpPr>
            <p:nvPr/>
          </p:nvSpPr>
          <p:spPr bwMode="auto">
            <a:xfrm>
              <a:off x="7679613" y="1957109"/>
              <a:ext cx="46038" cy="46038"/>
            </a:xfrm>
            <a:custGeom>
              <a:avLst/>
              <a:gdLst>
                <a:gd name="T0" fmla="*/ 14 w 29"/>
                <a:gd name="T1" fmla="*/ 29 h 29"/>
                <a:gd name="T2" fmla="*/ 0 w 29"/>
                <a:gd name="T3" fmla="*/ 15 h 29"/>
                <a:gd name="T4" fmla="*/ 14 w 29"/>
                <a:gd name="T5" fmla="*/ 0 h 29"/>
                <a:gd name="T6" fmla="*/ 14 w 29"/>
                <a:gd name="T7" fmla="*/ 0 h 29"/>
                <a:gd name="T8" fmla="*/ 29 w 29"/>
                <a:gd name="T9" fmla="*/ 15 h 29"/>
                <a:gd name="T10" fmla="*/ 14 w 29"/>
                <a:gd name="T11" fmla="*/ 29 h 29"/>
              </a:gdLst>
              <a:ahLst/>
              <a:cxnLst>
                <a:cxn ang="0">
                  <a:pos x="T0" y="T1"/>
                </a:cxn>
                <a:cxn ang="0">
                  <a:pos x="T2" y="T3"/>
                </a:cxn>
                <a:cxn ang="0">
                  <a:pos x="T4" y="T5"/>
                </a:cxn>
                <a:cxn ang="0">
                  <a:pos x="T6" y="T7"/>
                </a:cxn>
                <a:cxn ang="0">
                  <a:pos x="T8" y="T9"/>
                </a:cxn>
                <a:cxn ang="0">
                  <a:pos x="T10" y="T11"/>
                </a:cxn>
              </a:cxnLst>
              <a:rect l="0" t="0" r="r" b="b"/>
              <a:pathLst>
                <a:path w="29" h="29">
                  <a:moveTo>
                    <a:pt x="14" y="29"/>
                  </a:moveTo>
                  <a:cubicBezTo>
                    <a:pt x="6" y="29"/>
                    <a:pt x="0" y="23"/>
                    <a:pt x="0" y="15"/>
                  </a:cubicBezTo>
                  <a:cubicBezTo>
                    <a:pt x="0" y="6"/>
                    <a:pt x="6" y="0"/>
                    <a:pt x="14" y="0"/>
                  </a:cubicBezTo>
                  <a:cubicBezTo>
                    <a:pt x="14" y="0"/>
                    <a:pt x="14" y="0"/>
                    <a:pt x="14" y="0"/>
                  </a:cubicBezTo>
                  <a:cubicBezTo>
                    <a:pt x="22" y="0"/>
                    <a:pt x="29" y="6"/>
                    <a:pt x="29" y="15"/>
                  </a:cubicBezTo>
                  <a:cubicBezTo>
                    <a:pt x="29" y="23"/>
                    <a:pt x="22" y="29"/>
                    <a:pt x="14" y="29"/>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01" name="Freeform 240">
              <a:extLst>
                <a:ext uri="{FF2B5EF4-FFF2-40B4-BE49-F238E27FC236}">
                  <a16:creationId xmlns:a16="http://schemas.microsoft.com/office/drawing/2014/main" id="{75F2E2A7-6C78-E9C0-1381-D9EA8706F5E3}"/>
                </a:ext>
              </a:extLst>
            </p:cNvPr>
            <p:cNvSpPr>
              <a:spLocks/>
            </p:cNvSpPr>
            <p:nvPr/>
          </p:nvSpPr>
          <p:spPr bwMode="auto">
            <a:xfrm>
              <a:off x="7736763" y="1957109"/>
              <a:ext cx="46038" cy="46038"/>
            </a:xfrm>
            <a:custGeom>
              <a:avLst/>
              <a:gdLst>
                <a:gd name="T0" fmla="*/ 15 w 29"/>
                <a:gd name="T1" fmla="*/ 29 h 29"/>
                <a:gd name="T2" fmla="*/ 0 w 29"/>
                <a:gd name="T3" fmla="*/ 15 h 29"/>
                <a:gd name="T4" fmla="*/ 15 w 29"/>
                <a:gd name="T5" fmla="*/ 0 h 29"/>
                <a:gd name="T6" fmla="*/ 15 w 29"/>
                <a:gd name="T7" fmla="*/ 0 h 29"/>
                <a:gd name="T8" fmla="*/ 29 w 29"/>
                <a:gd name="T9" fmla="*/ 15 h 29"/>
                <a:gd name="T10" fmla="*/ 15 w 29"/>
                <a:gd name="T11" fmla="*/ 29 h 29"/>
              </a:gdLst>
              <a:ahLst/>
              <a:cxnLst>
                <a:cxn ang="0">
                  <a:pos x="T0" y="T1"/>
                </a:cxn>
                <a:cxn ang="0">
                  <a:pos x="T2" y="T3"/>
                </a:cxn>
                <a:cxn ang="0">
                  <a:pos x="T4" y="T5"/>
                </a:cxn>
                <a:cxn ang="0">
                  <a:pos x="T6" y="T7"/>
                </a:cxn>
                <a:cxn ang="0">
                  <a:pos x="T8" y="T9"/>
                </a:cxn>
                <a:cxn ang="0">
                  <a:pos x="T10" y="T11"/>
                </a:cxn>
              </a:cxnLst>
              <a:rect l="0" t="0" r="r" b="b"/>
              <a:pathLst>
                <a:path w="29" h="29">
                  <a:moveTo>
                    <a:pt x="15" y="29"/>
                  </a:moveTo>
                  <a:cubicBezTo>
                    <a:pt x="7" y="29"/>
                    <a:pt x="0" y="23"/>
                    <a:pt x="0" y="15"/>
                  </a:cubicBezTo>
                  <a:cubicBezTo>
                    <a:pt x="0" y="6"/>
                    <a:pt x="7" y="0"/>
                    <a:pt x="15" y="0"/>
                  </a:cubicBezTo>
                  <a:cubicBezTo>
                    <a:pt x="15" y="0"/>
                    <a:pt x="15" y="0"/>
                    <a:pt x="15" y="0"/>
                  </a:cubicBezTo>
                  <a:cubicBezTo>
                    <a:pt x="23" y="0"/>
                    <a:pt x="29" y="6"/>
                    <a:pt x="29" y="15"/>
                  </a:cubicBezTo>
                  <a:cubicBezTo>
                    <a:pt x="29" y="23"/>
                    <a:pt x="23" y="29"/>
                    <a:pt x="15" y="29"/>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02" name="Freeform 241">
              <a:extLst>
                <a:ext uri="{FF2B5EF4-FFF2-40B4-BE49-F238E27FC236}">
                  <a16:creationId xmlns:a16="http://schemas.microsoft.com/office/drawing/2014/main" id="{E334C063-D2A0-8EDA-517C-110FC713701E}"/>
                </a:ext>
              </a:extLst>
            </p:cNvPr>
            <p:cNvSpPr>
              <a:spLocks/>
            </p:cNvSpPr>
            <p:nvPr/>
          </p:nvSpPr>
          <p:spPr bwMode="auto">
            <a:xfrm>
              <a:off x="7219238" y="1944409"/>
              <a:ext cx="166688" cy="71438"/>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03" name="Line 242">
              <a:extLst>
                <a:ext uri="{FF2B5EF4-FFF2-40B4-BE49-F238E27FC236}">
                  <a16:creationId xmlns:a16="http://schemas.microsoft.com/office/drawing/2014/main" id="{A10229AC-DFBA-D410-A455-8BC4B73B2AA2}"/>
                </a:ext>
              </a:extLst>
            </p:cNvPr>
            <p:cNvSpPr>
              <a:spLocks noChangeShapeType="1"/>
            </p:cNvSpPr>
            <p:nvPr/>
          </p:nvSpPr>
          <p:spPr bwMode="auto">
            <a:xfrm>
              <a:off x="6906500" y="1980922"/>
              <a:ext cx="127000" cy="0"/>
            </a:xfrm>
            <a:prstGeom prst="line">
              <a:avLst/>
            </a:prstGeom>
            <a:noFill/>
            <a:ln w="12700" cap="rnd">
              <a:solidFill>
                <a:schemeClr val="tx1"/>
              </a:solidFill>
              <a:prstDash val="solid"/>
              <a:round/>
              <a:headEnd/>
              <a:tailEnd type="triangle"/>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04" name="Line 243">
              <a:extLst>
                <a:ext uri="{FF2B5EF4-FFF2-40B4-BE49-F238E27FC236}">
                  <a16:creationId xmlns:a16="http://schemas.microsoft.com/office/drawing/2014/main" id="{3C51053C-CD76-5EB5-A004-452E86EA2585}"/>
                </a:ext>
              </a:extLst>
            </p:cNvPr>
            <p:cNvSpPr>
              <a:spLocks noChangeShapeType="1"/>
            </p:cNvSpPr>
            <p:nvPr/>
          </p:nvSpPr>
          <p:spPr bwMode="auto">
            <a:xfrm>
              <a:off x="7924088" y="1980922"/>
              <a:ext cx="349250" cy="0"/>
            </a:xfrm>
            <a:prstGeom prst="line">
              <a:avLst/>
            </a:prstGeom>
            <a:noFill/>
            <a:ln w="12700" cap="rnd">
              <a:solidFill>
                <a:schemeClr val="tx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05" name="Freeform 244">
              <a:extLst>
                <a:ext uri="{FF2B5EF4-FFF2-40B4-BE49-F238E27FC236}">
                  <a16:creationId xmlns:a16="http://schemas.microsoft.com/office/drawing/2014/main" id="{479711AB-1888-5460-3A1B-13C4733F4ABC}"/>
                </a:ext>
              </a:extLst>
            </p:cNvPr>
            <p:cNvSpPr>
              <a:spLocks/>
            </p:cNvSpPr>
            <p:nvPr/>
          </p:nvSpPr>
          <p:spPr bwMode="auto">
            <a:xfrm>
              <a:off x="6773150" y="3736697"/>
              <a:ext cx="46038" cy="46038"/>
            </a:xfrm>
            <a:custGeom>
              <a:avLst/>
              <a:gdLst>
                <a:gd name="T0" fmla="*/ 0 w 29"/>
                <a:gd name="T1" fmla="*/ 14 h 29"/>
                <a:gd name="T2" fmla="*/ 14 w 29"/>
                <a:gd name="T3" fmla="*/ 0 h 29"/>
                <a:gd name="T4" fmla="*/ 29 w 29"/>
                <a:gd name="T5" fmla="*/ 14 h 29"/>
                <a:gd name="T6" fmla="*/ 29 w 29"/>
                <a:gd name="T7" fmla="*/ 14 h 29"/>
                <a:gd name="T8" fmla="*/ 14 w 29"/>
                <a:gd name="T9" fmla="*/ 29 h 29"/>
                <a:gd name="T10" fmla="*/ 0 w 29"/>
                <a:gd name="T11" fmla="*/ 14 h 29"/>
              </a:gdLst>
              <a:ahLst/>
              <a:cxnLst>
                <a:cxn ang="0">
                  <a:pos x="T0" y="T1"/>
                </a:cxn>
                <a:cxn ang="0">
                  <a:pos x="T2" y="T3"/>
                </a:cxn>
                <a:cxn ang="0">
                  <a:pos x="T4" y="T5"/>
                </a:cxn>
                <a:cxn ang="0">
                  <a:pos x="T6" y="T7"/>
                </a:cxn>
                <a:cxn ang="0">
                  <a:pos x="T8" y="T9"/>
                </a:cxn>
                <a:cxn ang="0">
                  <a:pos x="T10" y="T11"/>
                </a:cxn>
              </a:cxnLst>
              <a:rect l="0" t="0" r="r" b="b"/>
              <a:pathLst>
                <a:path w="29" h="29">
                  <a:moveTo>
                    <a:pt x="0" y="14"/>
                  </a:moveTo>
                  <a:cubicBezTo>
                    <a:pt x="0" y="6"/>
                    <a:pt x="6" y="0"/>
                    <a:pt x="14" y="0"/>
                  </a:cubicBezTo>
                  <a:cubicBezTo>
                    <a:pt x="23" y="0"/>
                    <a:pt x="29" y="6"/>
                    <a:pt x="29" y="14"/>
                  </a:cubicBezTo>
                  <a:cubicBezTo>
                    <a:pt x="29" y="14"/>
                    <a:pt x="29" y="14"/>
                    <a:pt x="29" y="14"/>
                  </a:cubicBezTo>
                  <a:cubicBezTo>
                    <a:pt x="29" y="23"/>
                    <a:pt x="23" y="29"/>
                    <a:pt x="14" y="29"/>
                  </a:cubicBezTo>
                  <a:cubicBezTo>
                    <a:pt x="6" y="29"/>
                    <a:pt x="0" y="23"/>
                    <a:pt x="0" y="14"/>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06" name="Freeform 246">
              <a:extLst>
                <a:ext uri="{FF2B5EF4-FFF2-40B4-BE49-F238E27FC236}">
                  <a16:creationId xmlns:a16="http://schemas.microsoft.com/office/drawing/2014/main" id="{54557091-6BE6-1012-36F3-A5CCACC4A95B}"/>
                </a:ext>
              </a:extLst>
            </p:cNvPr>
            <p:cNvSpPr>
              <a:spLocks/>
            </p:cNvSpPr>
            <p:nvPr/>
          </p:nvSpPr>
          <p:spPr bwMode="auto">
            <a:xfrm>
              <a:off x="6709650" y="3531909"/>
              <a:ext cx="173038" cy="41275"/>
            </a:xfrm>
            <a:custGeom>
              <a:avLst/>
              <a:gdLst>
                <a:gd name="T0" fmla="*/ 169 w 181"/>
                <a:gd name="T1" fmla="*/ 43 h 43"/>
                <a:gd name="T2" fmla="*/ 181 w 181"/>
                <a:gd name="T3" fmla="*/ 31 h 43"/>
                <a:gd name="T4" fmla="*/ 181 w 181"/>
                <a:gd name="T5" fmla="*/ 12 h 43"/>
                <a:gd name="T6" fmla="*/ 169 w 181"/>
                <a:gd name="T7" fmla="*/ 0 h 43"/>
                <a:gd name="T8" fmla="*/ 169 w 181"/>
                <a:gd name="T9" fmla="*/ 0 h 43"/>
                <a:gd name="T10" fmla="*/ 12 w 181"/>
                <a:gd name="T11" fmla="*/ 0 h 43"/>
                <a:gd name="T12" fmla="*/ 0 w 181"/>
                <a:gd name="T13" fmla="*/ 12 h 43"/>
                <a:gd name="T14" fmla="*/ 0 w 181"/>
                <a:gd name="T15" fmla="*/ 12 h 43"/>
                <a:gd name="T16" fmla="*/ 0 w 181"/>
                <a:gd name="T17" fmla="*/ 31 h 43"/>
                <a:gd name="T18" fmla="*/ 12 w 181"/>
                <a:gd name="T19" fmla="*/ 43 h 43"/>
                <a:gd name="T20" fmla="*/ 169 w 181"/>
                <a:gd name="T21" fmla="*/ 4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1" h="43">
                  <a:moveTo>
                    <a:pt x="169" y="43"/>
                  </a:moveTo>
                  <a:cubicBezTo>
                    <a:pt x="176" y="43"/>
                    <a:pt x="181" y="37"/>
                    <a:pt x="181" y="31"/>
                  </a:cubicBezTo>
                  <a:lnTo>
                    <a:pt x="181" y="12"/>
                  </a:lnTo>
                  <a:cubicBezTo>
                    <a:pt x="181" y="6"/>
                    <a:pt x="176" y="0"/>
                    <a:pt x="169" y="0"/>
                  </a:cubicBezTo>
                  <a:lnTo>
                    <a:pt x="169" y="0"/>
                  </a:lnTo>
                  <a:lnTo>
                    <a:pt x="12" y="0"/>
                  </a:lnTo>
                  <a:cubicBezTo>
                    <a:pt x="5" y="0"/>
                    <a:pt x="0" y="6"/>
                    <a:pt x="0" y="12"/>
                  </a:cubicBezTo>
                  <a:lnTo>
                    <a:pt x="0" y="12"/>
                  </a:lnTo>
                  <a:lnTo>
                    <a:pt x="0" y="31"/>
                  </a:lnTo>
                  <a:cubicBezTo>
                    <a:pt x="0" y="37"/>
                    <a:pt x="5" y="43"/>
                    <a:pt x="12" y="43"/>
                  </a:cubicBezTo>
                  <a:lnTo>
                    <a:pt x="169" y="43"/>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07" name="Freeform 247">
              <a:extLst>
                <a:ext uri="{FF2B5EF4-FFF2-40B4-BE49-F238E27FC236}">
                  <a16:creationId xmlns:a16="http://schemas.microsoft.com/office/drawing/2014/main" id="{68E02F83-8FCE-8358-79D9-4AEC095246E8}"/>
                </a:ext>
              </a:extLst>
            </p:cNvPr>
            <p:cNvSpPr>
              <a:spLocks/>
            </p:cNvSpPr>
            <p:nvPr/>
          </p:nvSpPr>
          <p:spPr bwMode="auto">
            <a:xfrm>
              <a:off x="6709650" y="3604934"/>
              <a:ext cx="173038" cy="41275"/>
            </a:xfrm>
            <a:custGeom>
              <a:avLst/>
              <a:gdLst>
                <a:gd name="T0" fmla="*/ 169 w 181"/>
                <a:gd name="T1" fmla="*/ 42 h 42"/>
                <a:gd name="T2" fmla="*/ 181 w 181"/>
                <a:gd name="T3" fmla="*/ 30 h 42"/>
                <a:gd name="T4" fmla="*/ 181 w 181"/>
                <a:gd name="T5" fmla="*/ 12 h 42"/>
                <a:gd name="T6" fmla="*/ 169 w 181"/>
                <a:gd name="T7" fmla="*/ 0 h 42"/>
                <a:gd name="T8" fmla="*/ 169 w 181"/>
                <a:gd name="T9" fmla="*/ 0 h 42"/>
                <a:gd name="T10" fmla="*/ 12 w 181"/>
                <a:gd name="T11" fmla="*/ 0 h 42"/>
                <a:gd name="T12" fmla="*/ 0 w 181"/>
                <a:gd name="T13" fmla="*/ 12 h 42"/>
                <a:gd name="T14" fmla="*/ 0 w 181"/>
                <a:gd name="T15" fmla="*/ 12 h 42"/>
                <a:gd name="T16" fmla="*/ 0 w 181"/>
                <a:gd name="T17" fmla="*/ 30 h 42"/>
                <a:gd name="T18" fmla="*/ 12 w 181"/>
                <a:gd name="T19" fmla="*/ 42 h 42"/>
                <a:gd name="T20" fmla="*/ 169 w 181"/>
                <a:gd name="T21" fmla="*/ 42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1" h="42">
                  <a:moveTo>
                    <a:pt x="169" y="42"/>
                  </a:moveTo>
                  <a:cubicBezTo>
                    <a:pt x="176" y="42"/>
                    <a:pt x="181" y="37"/>
                    <a:pt x="181" y="30"/>
                  </a:cubicBezTo>
                  <a:lnTo>
                    <a:pt x="181" y="12"/>
                  </a:lnTo>
                  <a:cubicBezTo>
                    <a:pt x="181" y="5"/>
                    <a:pt x="176" y="0"/>
                    <a:pt x="169" y="0"/>
                  </a:cubicBezTo>
                  <a:lnTo>
                    <a:pt x="169" y="0"/>
                  </a:lnTo>
                  <a:lnTo>
                    <a:pt x="12" y="0"/>
                  </a:lnTo>
                  <a:cubicBezTo>
                    <a:pt x="5" y="0"/>
                    <a:pt x="0" y="5"/>
                    <a:pt x="0" y="12"/>
                  </a:cubicBezTo>
                  <a:lnTo>
                    <a:pt x="0" y="12"/>
                  </a:lnTo>
                  <a:lnTo>
                    <a:pt x="0" y="30"/>
                  </a:lnTo>
                  <a:cubicBezTo>
                    <a:pt x="0" y="37"/>
                    <a:pt x="5" y="42"/>
                    <a:pt x="12" y="42"/>
                  </a:cubicBezTo>
                  <a:lnTo>
                    <a:pt x="169" y="42"/>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08" name="Freeform 248">
              <a:extLst>
                <a:ext uri="{FF2B5EF4-FFF2-40B4-BE49-F238E27FC236}">
                  <a16:creationId xmlns:a16="http://schemas.microsoft.com/office/drawing/2014/main" id="{00FDD26C-87AC-4A7C-EC3D-4896D020FEEA}"/>
                </a:ext>
              </a:extLst>
            </p:cNvPr>
            <p:cNvSpPr>
              <a:spLocks/>
            </p:cNvSpPr>
            <p:nvPr/>
          </p:nvSpPr>
          <p:spPr bwMode="auto">
            <a:xfrm>
              <a:off x="6709650" y="3677959"/>
              <a:ext cx="173038" cy="41275"/>
            </a:xfrm>
            <a:custGeom>
              <a:avLst/>
              <a:gdLst>
                <a:gd name="T0" fmla="*/ 169 w 181"/>
                <a:gd name="T1" fmla="*/ 42 h 42"/>
                <a:gd name="T2" fmla="*/ 181 w 181"/>
                <a:gd name="T3" fmla="*/ 30 h 42"/>
                <a:gd name="T4" fmla="*/ 181 w 181"/>
                <a:gd name="T5" fmla="*/ 12 h 42"/>
                <a:gd name="T6" fmla="*/ 169 w 181"/>
                <a:gd name="T7" fmla="*/ 0 h 42"/>
                <a:gd name="T8" fmla="*/ 169 w 181"/>
                <a:gd name="T9" fmla="*/ 0 h 42"/>
                <a:gd name="T10" fmla="*/ 12 w 181"/>
                <a:gd name="T11" fmla="*/ 0 h 42"/>
                <a:gd name="T12" fmla="*/ 0 w 181"/>
                <a:gd name="T13" fmla="*/ 12 h 42"/>
                <a:gd name="T14" fmla="*/ 0 w 181"/>
                <a:gd name="T15" fmla="*/ 12 h 42"/>
                <a:gd name="T16" fmla="*/ 0 w 181"/>
                <a:gd name="T17" fmla="*/ 30 h 42"/>
                <a:gd name="T18" fmla="*/ 12 w 181"/>
                <a:gd name="T19" fmla="*/ 42 h 42"/>
                <a:gd name="T20" fmla="*/ 169 w 181"/>
                <a:gd name="T21" fmla="*/ 42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1" h="42">
                  <a:moveTo>
                    <a:pt x="169" y="42"/>
                  </a:moveTo>
                  <a:cubicBezTo>
                    <a:pt x="176" y="42"/>
                    <a:pt x="181" y="36"/>
                    <a:pt x="181" y="30"/>
                  </a:cubicBezTo>
                  <a:lnTo>
                    <a:pt x="181" y="12"/>
                  </a:lnTo>
                  <a:cubicBezTo>
                    <a:pt x="181" y="5"/>
                    <a:pt x="176" y="0"/>
                    <a:pt x="169" y="0"/>
                  </a:cubicBezTo>
                  <a:lnTo>
                    <a:pt x="169" y="0"/>
                  </a:lnTo>
                  <a:lnTo>
                    <a:pt x="12" y="0"/>
                  </a:lnTo>
                  <a:cubicBezTo>
                    <a:pt x="5" y="0"/>
                    <a:pt x="0" y="5"/>
                    <a:pt x="0" y="12"/>
                  </a:cubicBezTo>
                  <a:lnTo>
                    <a:pt x="0" y="12"/>
                  </a:lnTo>
                  <a:lnTo>
                    <a:pt x="0" y="30"/>
                  </a:lnTo>
                  <a:cubicBezTo>
                    <a:pt x="0" y="36"/>
                    <a:pt x="5" y="42"/>
                    <a:pt x="12" y="42"/>
                  </a:cubicBezTo>
                  <a:lnTo>
                    <a:pt x="169" y="42"/>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09" name="Freeform 249">
              <a:extLst>
                <a:ext uri="{FF2B5EF4-FFF2-40B4-BE49-F238E27FC236}">
                  <a16:creationId xmlns:a16="http://schemas.microsoft.com/office/drawing/2014/main" id="{E2A555D6-4671-C753-DFBC-C777F5FEB2D3}"/>
                </a:ext>
              </a:extLst>
            </p:cNvPr>
            <p:cNvSpPr>
              <a:spLocks/>
            </p:cNvSpPr>
            <p:nvPr/>
          </p:nvSpPr>
          <p:spPr bwMode="auto">
            <a:xfrm>
              <a:off x="6709650" y="3912909"/>
              <a:ext cx="173038" cy="41275"/>
            </a:xfrm>
            <a:custGeom>
              <a:avLst/>
              <a:gdLst>
                <a:gd name="T0" fmla="*/ 169 w 181"/>
                <a:gd name="T1" fmla="*/ 43 h 43"/>
                <a:gd name="T2" fmla="*/ 181 w 181"/>
                <a:gd name="T3" fmla="*/ 31 h 43"/>
                <a:gd name="T4" fmla="*/ 181 w 181"/>
                <a:gd name="T5" fmla="*/ 13 h 43"/>
                <a:gd name="T6" fmla="*/ 169 w 181"/>
                <a:gd name="T7" fmla="*/ 0 h 43"/>
                <a:gd name="T8" fmla="*/ 169 w 181"/>
                <a:gd name="T9" fmla="*/ 0 h 43"/>
                <a:gd name="T10" fmla="*/ 12 w 181"/>
                <a:gd name="T11" fmla="*/ 0 h 43"/>
                <a:gd name="T12" fmla="*/ 0 w 181"/>
                <a:gd name="T13" fmla="*/ 13 h 43"/>
                <a:gd name="T14" fmla="*/ 0 w 181"/>
                <a:gd name="T15" fmla="*/ 13 h 43"/>
                <a:gd name="T16" fmla="*/ 0 w 181"/>
                <a:gd name="T17" fmla="*/ 31 h 43"/>
                <a:gd name="T18" fmla="*/ 12 w 181"/>
                <a:gd name="T19" fmla="*/ 43 h 43"/>
                <a:gd name="T20" fmla="*/ 169 w 181"/>
                <a:gd name="T21" fmla="*/ 4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1" h="43">
                  <a:moveTo>
                    <a:pt x="169" y="43"/>
                  </a:moveTo>
                  <a:cubicBezTo>
                    <a:pt x="176" y="43"/>
                    <a:pt x="181" y="37"/>
                    <a:pt x="181" y="31"/>
                  </a:cubicBezTo>
                  <a:lnTo>
                    <a:pt x="181" y="13"/>
                  </a:lnTo>
                  <a:cubicBezTo>
                    <a:pt x="181" y="6"/>
                    <a:pt x="176" y="0"/>
                    <a:pt x="169" y="0"/>
                  </a:cubicBezTo>
                  <a:lnTo>
                    <a:pt x="169" y="0"/>
                  </a:lnTo>
                  <a:lnTo>
                    <a:pt x="12" y="0"/>
                  </a:lnTo>
                  <a:cubicBezTo>
                    <a:pt x="5" y="0"/>
                    <a:pt x="0" y="6"/>
                    <a:pt x="0" y="13"/>
                  </a:cubicBezTo>
                  <a:lnTo>
                    <a:pt x="0" y="13"/>
                  </a:lnTo>
                  <a:lnTo>
                    <a:pt x="0" y="31"/>
                  </a:lnTo>
                  <a:cubicBezTo>
                    <a:pt x="0" y="37"/>
                    <a:pt x="5" y="43"/>
                    <a:pt x="12" y="43"/>
                  </a:cubicBezTo>
                  <a:lnTo>
                    <a:pt x="169" y="43"/>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10" name="Freeform 250">
              <a:extLst>
                <a:ext uri="{FF2B5EF4-FFF2-40B4-BE49-F238E27FC236}">
                  <a16:creationId xmlns:a16="http://schemas.microsoft.com/office/drawing/2014/main" id="{4A948211-98CA-E203-7123-F909EB275979}"/>
                </a:ext>
              </a:extLst>
            </p:cNvPr>
            <p:cNvSpPr>
              <a:spLocks/>
            </p:cNvSpPr>
            <p:nvPr/>
          </p:nvSpPr>
          <p:spPr bwMode="auto">
            <a:xfrm>
              <a:off x="6709650" y="3985934"/>
              <a:ext cx="173038" cy="41275"/>
            </a:xfrm>
            <a:custGeom>
              <a:avLst/>
              <a:gdLst>
                <a:gd name="T0" fmla="*/ 169 w 181"/>
                <a:gd name="T1" fmla="*/ 42 h 42"/>
                <a:gd name="T2" fmla="*/ 181 w 181"/>
                <a:gd name="T3" fmla="*/ 30 h 42"/>
                <a:gd name="T4" fmla="*/ 181 w 181"/>
                <a:gd name="T5" fmla="*/ 30 h 42"/>
                <a:gd name="T6" fmla="*/ 181 w 181"/>
                <a:gd name="T7" fmla="*/ 12 h 42"/>
                <a:gd name="T8" fmla="*/ 169 w 181"/>
                <a:gd name="T9" fmla="*/ 0 h 42"/>
                <a:gd name="T10" fmla="*/ 169 w 181"/>
                <a:gd name="T11" fmla="*/ 0 h 42"/>
                <a:gd name="T12" fmla="*/ 12 w 181"/>
                <a:gd name="T13" fmla="*/ 0 h 42"/>
                <a:gd name="T14" fmla="*/ 0 w 181"/>
                <a:gd name="T15" fmla="*/ 12 h 42"/>
                <a:gd name="T16" fmla="*/ 0 w 181"/>
                <a:gd name="T17" fmla="*/ 12 h 42"/>
                <a:gd name="T18" fmla="*/ 0 w 181"/>
                <a:gd name="T19" fmla="*/ 30 h 42"/>
                <a:gd name="T20" fmla="*/ 12 w 181"/>
                <a:gd name="T21" fmla="*/ 42 h 42"/>
                <a:gd name="T22" fmla="*/ 169 w 181"/>
                <a:gd name="T23" fmla="*/ 42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81" h="42">
                  <a:moveTo>
                    <a:pt x="169" y="42"/>
                  </a:moveTo>
                  <a:cubicBezTo>
                    <a:pt x="176" y="42"/>
                    <a:pt x="181" y="37"/>
                    <a:pt x="181" y="30"/>
                  </a:cubicBezTo>
                  <a:lnTo>
                    <a:pt x="181" y="30"/>
                  </a:lnTo>
                  <a:lnTo>
                    <a:pt x="181" y="12"/>
                  </a:lnTo>
                  <a:cubicBezTo>
                    <a:pt x="181" y="5"/>
                    <a:pt x="176" y="0"/>
                    <a:pt x="169" y="0"/>
                  </a:cubicBezTo>
                  <a:lnTo>
                    <a:pt x="169" y="0"/>
                  </a:lnTo>
                  <a:lnTo>
                    <a:pt x="12" y="0"/>
                  </a:lnTo>
                  <a:cubicBezTo>
                    <a:pt x="5" y="0"/>
                    <a:pt x="0" y="5"/>
                    <a:pt x="0" y="12"/>
                  </a:cubicBezTo>
                  <a:lnTo>
                    <a:pt x="0" y="12"/>
                  </a:lnTo>
                  <a:lnTo>
                    <a:pt x="0" y="30"/>
                  </a:lnTo>
                  <a:cubicBezTo>
                    <a:pt x="0" y="37"/>
                    <a:pt x="5" y="42"/>
                    <a:pt x="12" y="42"/>
                  </a:cubicBezTo>
                  <a:lnTo>
                    <a:pt x="169" y="42"/>
                  </a:lnTo>
                </a:path>
              </a:pathLst>
            </a:custGeom>
            <a:solidFill>
              <a:srgbClr val="E64800"/>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11" name="Freeform 251">
              <a:extLst>
                <a:ext uri="{FF2B5EF4-FFF2-40B4-BE49-F238E27FC236}">
                  <a16:creationId xmlns:a16="http://schemas.microsoft.com/office/drawing/2014/main" id="{77BDDC4C-0D07-59F0-B9C3-086A80A67DDE}"/>
                </a:ext>
              </a:extLst>
            </p:cNvPr>
            <p:cNvSpPr>
              <a:spLocks/>
            </p:cNvSpPr>
            <p:nvPr/>
          </p:nvSpPr>
          <p:spPr bwMode="auto">
            <a:xfrm>
              <a:off x="6773150" y="3795434"/>
              <a:ext cx="46038" cy="46038"/>
            </a:xfrm>
            <a:custGeom>
              <a:avLst/>
              <a:gdLst>
                <a:gd name="T0" fmla="*/ 0 w 29"/>
                <a:gd name="T1" fmla="*/ 14 h 29"/>
                <a:gd name="T2" fmla="*/ 14 w 29"/>
                <a:gd name="T3" fmla="*/ 0 h 29"/>
                <a:gd name="T4" fmla="*/ 29 w 29"/>
                <a:gd name="T5" fmla="*/ 14 h 29"/>
                <a:gd name="T6" fmla="*/ 29 w 29"/>
                <a:gd name="T7" fmla="*/ 14 h 29"/>
                <a:gd name="T8" fmla="*/ 14 w 29"/>
                <a:gd name="T9" fmla="*/ 29 h 29"/>
                <a:gd name="T10" fmla="*/ 0 w 29"/>
                <a:gd name="T11" fmla="*/ 14 h 29"/>
              </a:gdLst>
              <a:ahLst/>
              <a:cxnLst>
                <a:cxn ang="0">
                  <a:pos x="T0" y="T1"/>
                </a:cxn>
                <a:cxn ang="0">
                  <a:pos x="T2" y="T3"/>
                </a:cxn>
                <a:cxn ang="0">
                  <a:pos x="T4" y="T5"/>
                </a:cxn>
                <a:cxn ang="0">
                  <a:pos x="T6" y="T7"/>
                </a:cxn>
                <a:cxn ang="0">
                  <a:pos x="T8" y="T9"/>
                </a:cxn>
                <a:cxn ang="0">
                  <a:pos x="T10" y="T11"/>
                </a:cxn>
              </a:cxnLst>
              <a:rect l="0" t="0" r="r" b="b"/>
              <a:pathLst>
                <a:path w="29" h="29">
                  <a:moveTo>
                    <a:pt x="0" y="14"/>
                  </a:moveTo>
                  <a:cubicBezTo>
                    <a:pt x="0" y="6"/>
                    <a:pt x="6" y="0"/>
                    <a:pt x="14" y="0"/>
                  </a:cubicBezTo>
                  <a:cubicBezTo>
                    <a:pt x="23" y="0"/>
                    <a:pt x="29" y="6"/>
                    <a:pt x="29" y="14"/>
                  </a:cubicBezTo>
                  <a:cubicBezTo>
                    <a:pt x="29" y="14"/>
                    <a:pt x="29" y="14"/>
                    <a:pt x="29" y="14"/>
                  </a:cubicBezTo>
                  <a:cubicBezTo>
                    <a:pt x="29" y="22"/>
                    <a:pt x="23" y="29"/>
                    <a:pt x="14" y="29"/>
                  </a:cubicBezTo>
                  <a:cubicBezTo>
                    <a:pt x="6" y="29"/>
                    <a:pt x="0" y="22"/>
                    <a:pt x="0" y="14"/>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12" name="Freeform 252">
              <a:extLst>
                <a:ext uri="{FF2B5EF4-FFF2-40B4-BE49-F238E27FC236}">
                  <a16:creationId xmlns:a16="http://schemas.microsoft.com/office/drawing/2014/main" id="{6F637847-4393-EA12-688D-67B98862666E}"/>
                </a:ext>
              </a:extLst>
            </p:cNvPr>
            <p:cNvSpPr>
              <a:spLocks/>
            </p:cNvSpPr>
            <p:nvPr/>
          </p:nvSpPr>
          <p:spPr bwMode="auto">
            <a:xfrm>
              <a:off x="6773150" y="3852584"/>
              <a:ext cx="46038" cy="46038"/>
            </a:xfrm>
            <a:custGeom>
              <a:avLst/>
              <a:gdLst>
                <a:gd name="T0" fmla="*/ 0 w 29"/>
                <a:gd name="T1" fmla="*/ 15 h 29"/>
                <a:gd name="T2" fmla="*/ 14 w 29"/>
                <a:gd name="T3" fmla="*/ 0 h 29"/>
                <a:gd name="T4" fmla="*/ 29 w 29"/>
                <a:gd name="T5" fmla="*/ 15 h 29"/>
                <a:gd name="T6" fmla="*/ 29 w 29"/>
                <a:gd name="T7" fmla="*/ 15 h 29"/>
                <a:gd name="T8" fmla="*/ 14 w 29"/>
                <a:gd name="T9" fmla="*/ 29 h 29"/>
                <a:gd name="T10" fmla="*/ 0 w 29"/>
                <a:gd name="T11" fmla="*/ 15 h 29"/>
              </a:gdLst>
              <a:ahLst/>
              <a:cxnLst>
                <a:cxn ang="0">
                  <a:pos x="T0" y="T1"/>
                </a:cxn>
                <a:cxn ang="0">
                  <a:pos x="T2" y="T3"/>
                </a:cxn>
                <a:cxn ang="0">
                  <a:pos x="T4" y="T5"/>
                </a:cxn>
                <a:cxn ang="0">
                  <a:pos x="T6" y="T7"/>
                </a:cxn>
                <a:cxn ang="0">
                  <a:pos x="T8" y="T9"/>
                </a:cxn>
                <a:cxn ang="0">
                  <a:pos x="T10" y="T11"/>
                </a:cxn>
              </a:cxnLst>
              <a:rect l="0" t="0" r="r" b="b"/>
              <a:pathLst>
                <a:path w="29" h="29">
                  <a:moveTo>
                    <a:pt x="0" y="15"/>
                  </a:moveTo>
                  <a:cubicBezTo>
                    <a:pt x="0" y="7"/>
                    <a:pt x="6" y="0"/>
                    <a:pt x="14" y="0"/>
                  </a:cubicBezTo>
                  <a:cubicBezTo>
                    <a:pt x="23" y="0"/>
                    <a:pt x="29" y="7"/>
                    <a:pt x="29" y="15"/>
                  </a:cubicBezTo>
                  <a:cubicBezTo>
                    <a:pt x="29" y="15"/>
                    <a:pt x="29" y="15"/>
                    <a:pt x="29" y="15"/>
                  </a:cubicBezTo>
                  <a:cubicBezTo>
                    <a:pt x="29" y="23"/>
                    <a:pt x="23" y="29"/>
                    <a:pt x="14" y="29"/>
                  </a:cubicBezTo>
                  <a:cubicBezTo>
                    <a:pt x="6" y="29"/>
                    <a:pt x="0" y="23"/>
                    <a:pt x="0" y="15"/>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13" name="Freeform 253">
              <a:extLst>
                <a:ext uri="{FF2B5EF4-FFF2-40B4-BE49-F238E27FC236}">
                  <a16:creationId xmlns:a16="http://schemas.microsoft.com/office/drawing/2014/main" id="{FBDEC749-3988-040C-A968-735EFC175AE5}"/>
                </a:ext>
              </a:extLst>
            </p:cNvPr>
            <p:cNvSpPr>
              <a:spLocks/>
            </p:cNvSpPr>
            <p:nvPr/>
          </p:nvSpPr>
          <p:spPr bwMode="auto">
            <a:xfrm>
              <a:off x="7620875" y="3754159"/>
              <a:ext cx="47625" cy="46038"/>
            </a:xfrm>
            <a:custGeom>
              <a:avLst/>
              <a:gdLst>
                <a:gd name="T0" fmla="*/ 14 w 30"/>
                <a:gd name="T1" fmla="*/ 29 h 29"/>
                <a:gd name="T2" fmla="*/ 0 w 30"/>
                <a:gd name="T3" fmla="*/ 14 h 29"/>
                <a:gd name="T4" fmla="*/ 14 w 30"/>
                <a:gd name="T5" fmla="*/ 0 h 29"/>
                <a:gd name="T6" fmla="*/ 14 w 30"/>
                <a:gd name="T7" fmla="*/ 0 h 29"/>
                <a:gd name="T8" fmla="*/ 30 w 30"/>
                <a:gd name="T9" fmla="*/ 14 h 29"/>
                <a:gd name="T10" fmla="*/ 14 w 30"/>
                <a:gd name="T11" fmla="*/ 29 h 29"/>
              </a:gdLst>
              <a:ahLst/>
              <a:cxnLst>
                <a:cxn ang="0">
                  <a:pos x="T0" y="T1"/>
                </a:cxn>
                <a:cxn ang="0">
                  <a:pos x="T2" y="T3"/>
                </a:cxn>
                <a:cxn ang="0">
                  <a:pos x="T4" y="T5"/>
                </a:cxn>
                <a:cxn ang="0">
                  <a:pos x="T6" y="T7"/>
                </a:cxn>
                <a:cxn ang="0">
                  <a:pos x="T8" y="T9"/>
                </a:cxn>
                <a:cxn ang="0">
                  <a:pos x="T10" y="T11"/>
                </a:cxn>
              </a:cxnLst>
              <a:rect l="0" t="0" r="r" b="b"/>
              <a:pathLst>
                <a:path w="30" h="29">
                  <a:moveTo>
                    <a:pt x="14" y="29"/>
                  </a:moveTo>
                  <a:cubicBezTo>
                    <a:pt x="7" y="29"/>
                    <a:pt x="0" y="23"/>
                    <a:pt x="0" y="14"/>
                  </a:cubicBezTo>
                  <a:cubicBezTo>
                    <a:pt x="0" y="6"/>
                    <a:pt x="7" y="0"/>
                    <a:pt x="14" y="0"/>
                  </a:cubicBezTo>
                  <a:cubicBezTo>
                    <a:pt x="14" y="0"/>
                    <a:pt x="14" y="0"/>
                    <a:pt x="14" y="0"/>
                  </a:cubicBezTo>
                  <a:cubicBezTo>
                    <a:pt x="23" y="0"/>
                    <a:pt x="30" y="6"/>
                    <a:pt x="30" y="14"/>
                  </a:cubicBezTo>
                  <a:cubicBezTo>
                    <a:pt x="30" y="23"/>
                    <a:pt x="23" y="29"/>
                    <a:pt x="14" y="29"/>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14" name="Freeform 254">
              <a:extLst>
                <a:ext uri="{FF2B5EF4-FFF2-40B4-BE49-F238E27FC236}">
                  <a16:creationId xmlns:a16="http://schemas.microsoft.com/office/drawing/2014/main" id="{02AAA856-15F0-75D4-F6A9-16FC561B61D3}"/>
                </a:ext>
              </a:extLst>
            </p:cNvPr>
            <p:cNvSpPr>
              <a:spLocks/>
            </p:cNvSpPr>
            <p:nvPr/>
          </p:nvSpPr>
          <p:spPr bwMode="auto">
            <a:xfrm>
              <a:off x="7400213" y="3666847"/>
              <a:ext cx="523875" cy="220663"/>
            </a:xfrm>
            <a:custGeom>
              <a:avLst/>
              <a:gdLst>
                <a:gd name="T0" fmla="*/ 545 w 545"/>
                <a:gd name="T1" fmla="*/ 31 h 230"/>
                <a:gd name="T2" fmla="*/ 514 w 545"/>
                <a:gd name="T3" fmla="*/ 0 h 230"/>
                <a:gd name="T4" fmla="*/ 514 w 545"/>
                <a:gd name="T5" fmla="*/ 0 h 230"/>
                <a:gd name="T6" fmla="*/ 31 w 545"/>
                <a:gd name="T7" fmla="*/ 0 h 230"/>
                <a:gd name="T8" fmla="*/ 0 w 545"/>
                <a:gd name="T9" fmla="*/ 31 h 230"/>
                <a:gd name="T10" fmla="*/ 0 w 545"/>
                <a:gd name="T11" fmla="*/ 31 h 230"/>
                <a:gd name="T12" fmla="*/ 0 w 545"/>
                <a:gd name="T13" fmla="*/ 200 h 230"/>
                <a:gd name="T14" fmla="*/ 31 w 545"/>
                <a:gd name="T15" fmla="*/ 230 h 230"/>
                <a:gd name="T16" fmla="*/ 514 w 545"/>
                <a:gd name="T17" fmla="*/ 230 h 230"/>
                <a:gd name="T18" fmla="*/ 545 w 545"/>
                <a:gd name="T19" fmla="*/ 200 h 230"/>
                <a:gd name="T20" fmla="*/ 545 w 545"/>
                <a:gd name="T21" fmla="*/ 200 h 230"/>
                <a:gd name="T22" fmla="*/ 545 w 545"/>
                <a:gd name="T23" fmla="*/ 31 h 2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545" h="230">
                  <a:moveTo>
                    <a:pt x="545" y="31"/>
                  </a:moveTo>
                  <a:cubicBezTo>
                    <a:pt x="545" y="14"/>
                    <a:pt x="531" y="0"/>
                    <a:pt x="514" y="0"/>
                  </a:cubicBezTo>
                  <a:lnTo>
                    <a:pt x="514" y="0"/>
                  </a:lnTo>
                  <a:lnTo>
                    <a:pt x="31" y="0"/>
                  </a:lnTo>
                  <a:cubicBezTo>
                    <a:pt x="14" y="0"/>
                    <a:pt x="0" y="14"/>
                    <a:pt x="0" y="31"/>
                  </a:cubicBezTo>
                  <a:lnTo>
                    <a:pt x="0" y="31"/>
                  </a:lnTo>
                  <a:lnTo>
                    <a:pt x="0" y="200"/>
                  </a:lnTo>
                  <a:cubicBezTo>
                    <a:pt x="0" y="217"/>
                    <a:pt x="14" y="230"/>
                    <a:pt x="31" y="230"/>
                  </a:cubicBezTo>
                  <a:lnTo>
                    <a:pt x="514" y="230"/>
                  </a:lnTo>
                  <a:cubicBezTo>
                    <a:pt x="531" y="230"/>
                    <a:pt x="545" y="217"/>
                    <a:pt x="545" y="200"/>
                  </a:cubicBezTo>
                  <a:lnTo>
                    <a:pt x="545" y="200"/>
                  </a:lnTo>
                  <a:lnTo>
                    <a:pt x="545" y="31"/>
                  </a:lnTo>
                </a:path>
              </a:pathLst>
            </a:cu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15" name="Freeform 255">
              <a:extLst>
                <a:ext uri="{FF2B5EF4-FFF2-40B4-BE49-F238E27FC236}">
                  <a16:creationId xmlns:a16="http://schemas.microsoft.com/office/drawing/2014/main" id="{B8DAAB56-7943-4D5D-DC42-A17245AED8CA}"/>
                </a:ext>
              </a:extLst>
            </p:cNvPr>
            <p:cNvSpPr>
              <a:spLocks/>
            </p:cNvSpPr>
            <p:nvPr/>
          </p:nvSpPr>
          <p:spPr bwMode="auto">
            <a:xfrm>
              <a:off x="7417675" y="3690659"/>
              <a:ext cx="41275" cy="173038"/>
            </a:xfrm>
            <a:custGeom>
              <a:avLst/>
              <a:gdLst>
                <a:gd name="T0" fmla="*/ 42 w 42"/>
                <a:gd name="T1" fmla="*/ 12 h 181"/>
                <a:gd name="T2" fmla="*/ 30 w 42"/>
                <a:gd name="T3" fmla="*/ 0 h 181"/>
                <a:gd name="T4" fmla="*/ 30 w 42"/>
                <a:gd name="T5" fmla="*/ 0 h 181"/>
                <a:gd name="T6" fmla="*/ 12 w 42"/>
                <a:gd name="T7" fmla="*/ 0 h 181"/>
                <a:gd name="T8" fmla="*/ 0 w 42"/>
                <a:gd name="T9" fmla="*/ 12 h 181"/>
                <a:gd name="T10" fmla="*/ 0 w 42"/>
                <a:gd name="T11" fmla="*/ 12 h 181"/>
                <a:gd name="T12" fmla="*/ 0 w 42"/>
                <a:gd name="T13" fmla="*/ 169 h 181"/>
                <a:gd name="T14" fmla="*/ 12 w 42"/>
                <a:gd name="T15" fmla="*/ 181 h 181"/>
                <a:gd name="T16" fmla="*/ 30 w 42"/>
                <a:gd name="T17" fmla="*/ 181 h 181"/>
                <a:gd name="T18" fmla="*/ 42 w 42"/>
                <a:gd name="T19" fmla="*/ 169 h 181"/>
                <a:gd name="T20" fmla="*/ 42 w 42"/>
                <a:gd name="T21" fmla="*/ 12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2" h="181">
                  <a:moveTo>
                    <a:pt x="42" y="12"/>
                  </a:moveTo>
                  <a:cubicBezTo>
                    <a:pt x="42" y="5"/>
                    <a:pt x="36" y="0"/>
                    <a:pt x="30" y="0"/>
                  </a:cubicBezTo>
                  <a:lnTo>
                    <a:pt x="30" y="0"/>
                  </a:lnTo>
                  <a:lnTo>
                    <a:pt x="12" y="0"/>
                  </a:lnTo>
                  <a:cubicBezTo>
                    <a:pt x="5" y="0"/>
                    <a:pt x="0" y="5"/>
                    <a:pt x="0" y="12"/>
                  </a:cubicBezTo>
                  <a:lnTo>
                    <a:pt x="0" y="12"/>
                  </a:lnTo>
                  <a:lnTo>
                    <a:pt x="0" y="169"/>
                  </a:lnTo>
                  <a:cubicBezTo>
                    <a:pt x="0" y="176"/>
                    <a:pt x="5" y="181"/>
                    <a:pt x="12" y="181"/>
                  </a:cubicBezTo>
                  <a:lnTo>
                    <a:pt x="30" y="181"/>
                  </a:lnTo>
                  <a:cubicBezTo>
                    <a:pt x="36" y="181"/>
                    <a:pt x="42" y="176"/>
                    <a:pt x="42" y="169"/>
                  </a:cubicBezTo>
                  <a:lnTo>
                    <a:pt x="42" y="12"/>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16" name="Freeform 256">
              <a:extLst>
                <a:ext uri="{FF2B5EF4-FFF2-40B4-BE49-F238E27FC236}">
                  <a16:creationId xmlns:a16="http://schemas.microsoft.com/office/drawing/2014/main" id="{6CE34B8E-68F1-CEEA-E974-5822726B8B22}"/>
                </a:ext>
              </a:extLst>
            </p:cNvPr>
            <p:cNvSpPr>
              <a:spLocks/>
            </p:cNvSpPr>
            <p:nvPr/>
          </p:nvSpPr>
          <p:spPr bwMode="auto">
            <a:xfrm>
              <a:off x="7490700" y="3690659"/>
              <a:ext cx="39688" cy="173038"/>
            </a:xfrm>
            <a:custGeom>
              <a:avLst/>
              <a:gdLst>
                <a:gd name="T0" fmla="*/ 42 w 42"/>
                <a:gd name="T1" fmla="*/ 12 h 181"/>
                <a:gd name="T2" fmla="*/ 30 w 42"/>
                <a:gd name="T3" fmla="*/ 0 h 181"/>
                <a:gd name="T4" fmla="*/ 12 w 42"/>
                <a:gd name="T5" fmla="*/ 0 h 181"/>
                <a:gd name="T6" fmla="*/ 0 w 42"/>
                <a:gd name="T7" fmla="*/ 12 h 181"/>
                <a:gd name="T8" fmla="*/ 0 w 42"/>
                <a:gd name="T9" fmla="*/ 169 h 181"/>
                <a:gd name="T10" fmla="*/ 12 w 42"/>
                <a:gd name="T11" fmla="*/ 181 h 181"/>
                <a:gd name="T12" fmla="*/ 30 w 42"/>
                <a:gd name="T13" fmla="*/ 181 h 181"/>
                <a:gd name="T14" fmla="*/ 42 w 42"/>
                <a:gd name="T15" fmla="*/ 169 h 181"/>
                <a:gd name="T16" fmla="*/ 42 w 42"/>
                <a:gd name="T17" fmla="*/ 169 h 181"/>
                <a:gd name="T18" fmla="*/ 42 w 42"/>
                <a:gd name="T19" fmla="*/ 12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2" h="181">
                  <a:moveTo>
                    <a:pt x="42" y="12"/>
                  </a:moveTo>
                  <a:cubicBezTo>
                    <a:pt x="42" y="5"/>
                    <a:pt x="37" y="0"/>
                    <a:pt x="30" y="0"/>
                  </a:cubicBezTo>
                  <a:lnTo>
                    <a:pt x="12" y="0"/>
                  </a:lnTo>
                  <a:cubicBezTo>
                    <a:pt x="6" y="0"/>
                    <a:pt x="0" y="5"/>
                    <a:pt x="0" y="12"/>
                  </a:cubicBezTo>
                  <a:lnTo>
                    <a:pt x="0" y="169"/>
                  </a:lnTo>
                  <a:cubicBezTo>
                    <a:pt x="0" y="176"/>
                    <a:pt x="6" y="181"/>
                    <a:pt x="12" y="181"/>
                  </a:cubicBezTo>
                  <a:lnTo>
                    <a:pt x="30" y="181"/>
                  </a:lnTo>
                  <a:cubicBezTo>
                    <a:pt x="37" y="181"/>
                    <a:pt x="42" y="176"/>
                    <a:pt x="42" y="169"/>
                  </a:cubicBezTo>
                  <a:lnTo>
                    <a:pt x="42" y="169"/>
                  </a:lnTo>
                  <a:lnTo>
                    <a:pt x="42" y="12"/>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17" name="Freeform 257">
              <a:extLst>
                <a:ext uri="{FF2B5EF4-FFF2-40B4-BE49-F238E27FC236}">
                  <a16:creationId xmlns:a16="http://schemas.microsoft.com/office/drawing/2014/main" id="{35D47D56-45AB-009F-5261-5A747D72EB22}"/>
                </a:ext>
              </a:extLst>
            </p:cNvPr>
            <p:cNvSpPr>
              <a:spLocks/>
            </p:cNvSpPr>
            <p:nvPr/>
          </p:nvSpPr>
          <p:spPr bwMode="auto">
            <a:xfrm>
              <a:off x="7563725" y="3690659"/>
              <a:ext cx="39688" cy="173038"/>
            </a:xfrm>
            <a:custGeom>
              <a:avLst/>
              <a:gdLst>
                <a:gd name="T0" fmla="*/ 42 w 42"/>
                <a:gd name="T1" fmla="*/ 12 h 181"/>
                <a:gd name="T2" fmla="*/ 30 w 42"/>
                <a:gd name="T3" fmla="*/ 0 h 181"/>
                <a:gd name="T4" fmla="*/ 12 w 42"/>
                <a:gd name="T5" fmla="*/ 0 h 181"/>
                <a:gd name="T6" fmla="*/ 0 w 42"/>
                <a:gd name="T7" fmla="*/ 12 h 181"/>
                <a:gd name="T8" fmla="*/ 0 w 42"/>
                <a:gd name="T9" fmla="*/ 12 h 181"/>
                <a:gd name="T10" fmla="*/ 0 w 42"/>
                <a:gd name="T11" fmla="*/ 169 h 181"/>
                <a:gd name="T12" fmla="*/ 12 w 42"/>
                <a:gd name="T13" fmla="*/ 181 h 181"/>
                <a:gd name="T14" fmla="*/ 30 w 42"/>
                <a:gd name="T15" fmla="*/ 181 h 181"/>
                <a:gd name="T16" fmla="*/ 42 w 42"/>
                <a:gd name="T17" fmla="*/ 169 h 181"/>
                <a:gd name="T18" fmla="*/ 42 w 42"/>
                <a:gd name="T19" fmla="*/ 12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2" h="181">
                  <a:moveTo>
                    <a:pt x="42" y="12"/>
                  </a:moveTo>
                  <a:cubicBezTo>
                    <a:pt x="42" y="5"/>
                    <a:pt x="37" y="0"/>
                    <a:pt x="30" y="0"/>
                  </a:cubicBezTo>
                  <a:lnTo>
                    <a:pt x="12" y="0"/>
                  </a:lnTo>
                  <a:cubicBezTo>
                    <a:pt x="5" y="0"/>
                    <a:pt x="0" y="5"/>
                    <a:pt x="0" y="12"/>
                  </a:cubicBezTo>
                  <a:lnTo>
                    <a:pt x="0" y="12"/>
                  </a:lnTo>
                  <a:lnTo>
                    <a:pt x="0" y="169"/>
                  </a:lnTo>
                  <a:cubicBezTo>
                    <a:pt x="0" y="176"/>
                    <a:pt x="5" y="181"/>
                    <a:pt x="12" y="181"/>
                  </a:cubicBezTo>
                  <a:lnTo>
                    <a:pt x="30" y="181"/>
                  </a:lnTo>
                  <a:cubicBezTo>
                    <a:pt x="37" y="181"/>
                    <a:pt x="42" y="176"/>
                    <a:pt x="42" y="169"/>
                  </a:cubicBezTo>
                  <a:lnTo>
                    <a:pt x="42" y="12"/>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18" name="Freeform 258">
              <a:extLst>
                <a:ext uri="{FF2B5EF4-FFF2-40B4-BE49-F238E27FC236}">
                  <a16:creationId xmlns:a16="http://schemas.microsoft.com/office/drawing/2014/main" id="{AB8805FA-12C8-649E-0058-7948E72E9379}"/>
                </a:ext>
              </a:extLst>
            </p:cNvPr>
            <p:cNvSpPr>
              <a:spLocks/>
            </p:cNvSpPr>
            <p:nvPr/>
          </p:nvSpPr>
          <p:spPr bwMode="auto">
            <a:xfrm>
              <a:off x="7798675" y="3690659"/>
              <a:ext cx="39688" cy="173038"/>
            </a:xfrm>
            <a:custGeom>
              <a:avLst/>
              <a:gdLst>
                <a:gd name="T0" fmla="*/ 42 w 42"/>
                <a:gd name="T1" fmla="*/ 12 h 181"/>
                <a:gd name="T2" fmla="*/ 30 w 42"/>
                <a:gd name="T3" fmla="*/ 0 h 181"/>
                <a:gd name="T4" fmla="*/ 12 w 42"/>
                <a:gd name="T5" fmla="*/ 0 h 181"/>
                <a:gd name="T6" fmla="*/ 0 w 42"/>
                <a:gd name="T7" fmla="*/ 12 h 181"/>
                <a:gd name="T8" fmla="*/ 0 w 42"/>
                <a:gd name="T9" fmla="*/ 169 h 181"/>
                <a:gd name="T10" fmla="*/ 12 w 42"/>
                <a:gd name="T11" fmla="*/ 181 h 181"/>
                <a:gd name="T12" fmla="*/ 30 w 42"/>
                <a:gd name="T13" fmla="*/ 181 h 181"/>
                <a:gd name="T14" fmla="*/ 42 w 42"/>
                <a:gd name="T15" fmla="*/ 169 h 181"/>
                <a:gd name="T16" fmla="*/ 42 w 42"/>
                <a:gd name="T17" fmla="*/ 12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2" h="181">
                  <a:moveTo>
                    <a:pt x="42" y="12"/>
                  </a:moveTo>
                  <a:cubicBezTo>
                    <a:pt x="42" y="5"/>
                    <a:pt x="37" y="0"/>
                    <a:pt x="30" y="0"/>
                  </a:cubicBezTo>
                  <a:lnTo>
                    <a:pt x="12" y="0"/>
                  </a:lnTo>
                  <a:cubicBezTo>
                    <a:pt x="5" y="0"/>
                    <a:pt x="0" y="5"/>
                    <a:pt x="0" y="12"/>
                  </a:cubicBezTo>
                  <a:lnTo>
                    <a:pt x="0" y="169"/>
                  </a:lnTo>
                  <a:cubicBezTo>
                    <a:pt x="0" y="176"/>
                    <a:pt x="5" y="181"/>
                    <a:pt x="12" y="181"/>
                  </a:cubicBezTo>
                  <a:lnTo>
                    <a:pt x="30" y="181"/>
                  </a:lnTo>
                  <a:cubicBezTo>
                    <a:pt x="37" y="181"/>
                    <a:pt x="42" y="176"/>
                    <a:pt x="42" y="169"/>
                  </a:cubicBezTo>
                  <a:lnTo>
                    <a:pt x="42" y="12"/>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19" name="Freeform 259">
              <a:extLst>
                <a:ext uri="{FF2B5EF4-FFF2-40B4-BE49-F238E27FC236}">
                  <a16:creationId xmlns:a16="http://schemas.microsoft.com/office/drawing/2014/main" id="{648CA13A-2D5B-C3AE-1E8A-C6AA069ECD72}"/>
                </a:ext>
              </a:extLst>
            </p:cNvPr>
            <p:cNvSpPr>
              <a:spLocks/>
            </p:cNvSpPr>
            <p:nvPr/>
          </p:nvSpPr>
          <p:spPr bwMode="auto">
            <a:xfrm>
              <a:off x="7870113" y="3690659"/>
              <a:ext cx="41275" cy="173038"/>
            </a:xfrm>
            <a:custGeom>
              <a:avLst/>
              <a:gdLst>
                <a:gd name="T0" fmla="*/ 43 w 43"/>
                <a:gd name="T1" fmla="*/ 12 h 181"/>
                <a:gd name="T2" fmla="*/ 30 w 43"/>
                <a:gd name="T3" fmla="*/ 0 h 181"/>
                <a:gd name="T4" fmla="*/ 12 w 43"/>
                <a:gd name="T5" fmla="*/ 0 h 181"/>
                <a:gd name="T6" fmla="*/ 0 w 43"/>
                <a:gd name="T7" fmla="*/ 12 h 181"/>
                <a:gd name="T8" fmla="*/ 0 w 43"/>
                <a:gd name="T9" fmla="*/ 12 h 181"/>
                <a:gd name="T10" fmla="*/ 0 w 43"/>
                <a:gd name="T11" fmla="*/ 169 h 181"/>
                <a:gd name="T12" fmla="*/ 12 w 43"/>
                <a:gd name="T13" fmla="*/ 181 h 181"/>
                <a:gd name="T14" fmla="*/ 30 w 43"/>
                <a:gd name="T15" fmla="*/ 181 h 181"/>
                <a:gd name="T16" fmla="*/ 43 w 43"/>
                <a:gd name="T17" fmla="*/ 169 h 181"/>
                <a:gd name="T18" fmla="*/ 43 w 43"/>
                <a:gd name="T19" fmla="*/ 12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 h="181">
                  <a:moveTo>
                    <a:pt x="43" y="12"/>
                  </a:moveTo>
                  <a:cubicBezTo>
                    <a:pt x="43" y="5"/>
                    <a:pt x="37" y="0"/>
                    <a:pt x="30" y="0"/>
                  </a:cubicBezTo>
                  <a:lnTo>
                    <a:pt x="12" y="0"/>
                  </a:lnTo>
                  <a:cubicBezTo>
                    <a:pt x="6" y="0"/>
                    <a:pt x="0" y="5"/>
                    <a:pt x="0" y="12"/>
                  </a:cubicBezTo>
                  <a:lnTo>
                    <a:pt x="0" y="12"/>
                  </a:lnTo>
                  <a:lnTo>
                    <a:pt x="0" y="169"/>
                  </a:lnTo>
                  <a:cubicBezTo>
                    <a:pt x="0" y="176"/>
                    <a:pt x="6" y="181"/>
                    <a:pt x="12" y="181"/>
                  </a:cubicBezTo>
                  <a:lnTo>
                    <a:pt x="30" y="181"/>
                  </a:lnTo>
                  <a:cubicBezTo>
                    <a:pt x="37" y="181"/>
                    <a:pt x="43" y="176"/>
                    <a:pt x="43" y="169"/>
                  </a:cubicBezTo>
                  <a:lnTo>
                    <a:pt x="43" y="12"/>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20" name="Freeform 260">
              <a:extLst>
                <a:ext uri="{FF2B5EF4-FFF2-40B4-BE49-F238E27FC236}">
                  <a16:creationId xmlns:a16="http://schemas.microsoft.com/office/drawing/2014/main" id="{C312EA73-348F-9AFA-F8B1-B8716F533AB3}"/>
                </a:ext>
              </a:extLst>
            </p:cNvPr>
            <p:cNvSpPr>
              <a:spLocks/>
            </p:cNvSpPr>
            <p:nvPr/>
          </p:nvSpPr>
          <p:spPr bwMode="auto">
            <a:xfrm>
              <a:off x="7679613" y="3754159"/>
              <a:ext cx="46038" cy="46038"/>
            </a:xfrm>
            <a:custGeom>
              <a:avLst/>
              <a:gdLst>
                <a:gd name="T0" fmla="*/ 14 w 29"/>
                <a:gd name="T1" fmla="*/ 29 h 29"/>
                <a:gd name="T2" fmla="*/ 0 w 29"/>
                <a:gd name="T3" fmla="*/ 14 h 29"/>
                <a:gd name="T4" fmla="*/ 14 w 29"/>
                <a:gd name="T5" fmla="*/ 0 h 29"/>
                <a:gd name="T6" fmla="*/ 14 w 29"/>
                <a:gd name="T7" fmla="*/ 0 h 29"/>
                <a:gd name="T8" fmla="*/ 29 w 29"/>
                <a:gd name="T9" fmla="*/ 14 h 29"/>
                <a:gd name="T10" fmla="*/ 14 w 29"/>
                <a:gd name="T11" fmla="*/ 29 h 29"/>
              </a:gdLst>
              <a:ahLst/>
              <a:cxnLst>
                <a:cxn ang="0">
                  <a:pos x="T0" y="T1"/>
                </a:cxn>
                <a:cxn ang="0">
                  <a:pos x="T2" y="T3"/>
                </a:cxn>
                <a:cxn ang="0">
                  <a:pos x="T4" y="T5"/>
                </a:cxn>
                <a:cxn ang="0">
                  <a:pos x="T6" y="T7"/>
                </a:cxn>
                <a:cxn ang="0">
                  <a:pos x="T8" y="T9"/>
                </a:cxn>
                <a:cxn ang="0">
                  <a:pos x="T10" y="T11"/>
                </a:cxn>
              </a:cxnLst>
              <a:rect l="0" t="0" r="r" b="b"/>
              <a:pathLst>
                <a:path w="29" h="29">
                  <a:moveTo>
                    <a:pt x="14" y="29"/>
                  </a:moveTo>
                  <a:cubicBezTo>
                    <a:pt x="6" y="29"/>
                    <a:pt x="0" y="23"/>
                    <a:pt x="0" y="14"/>
                  </a:cubicBezTo>
                  <a:cubicBezTo>
                    <a:pt x="0" y="6"/>
                    <a:pt x="6" y="0"/>
                    <a:pt x="14" y="0"/>
                  </a:cubicBezTo>
                  <a:cubicBezTo>
                    <a:pt x="14" y="0"/>
                    <a:pt x="14" y="0"/>
                    <a:pt x="14" y="0"/>
                  </a:cubicBezTo>
                  <a:cubicBezTo>
                    <a:pt x="22" y="0"/>
                    <a:pt x="29" y="6"/>
                    <a:pt x="29" y="14"/>
                  </a:cubicBezTo>
                  <a:cubicBezTo>
                    <a:pt x="29" y="23"/>
                    <a:pt x="22" y="29"/>
                    <a:pt x="14" y="29"/>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21" name="Freeform 261">
              <a:extLst>
                <a:ext uri="{FF2B5EF4-FFF2-40B4-BE49-F238E27FC236}">
                  <a16:creationId xmlns:a16="http://schemas.microsoft.com/office/drawing/2014/main" id="{A2DA7ACE-E79B-9950-1A33-5FEB5254526A}"/>
                </a:ext>
              </a:extLst>
            </p:cNvPr>
            <p:cNvSpPr>
              <a:spLocks/>
            </p:cNvSpPr>
            <p:nvPr/>
          </p:nvSpPr>
          <p:spPr bwMode="auto">
            <a:xfrm>
              <a:off x="7736763" y="3754159"/>
              <a:ext cx="46038" cy="46038"/>
            </a:xfrm>
            <a:custGeom>
              <a:avLst/>
              <a:gdLst>
                <a:gd name="T0" fmla="*/ 15 w 29"/>
                <a:gd name="T1" fmla="*/ 29 h 29"/>
                <a:gd name="T2" fmla="*/ 0 w 29"/>
                <a:gd name="T3" fmla="*/ 14 h 29"/>
                <a:gd name="T4" fmla="*/ 15 w 29"/>
                <a:gd name="T5" fmla="*/ 0 h 29"/>
                <a:gd name="T6" fmla="*/ 15 w 29"/>
                <a:gd name="T7" fmla="*/ 0 h 29"/>
                <a:gd name="T8" fmla="*/ 29 w 29"/>
                <a:gd name="T9" fmla="*/ 14 h 29"/>
                <a:gd name="T10" fmla="*/ 15 w 29"/>
                <a:gd name="T11" fmla="*/ 29 h 29"/>
              </a:gdLst>
              <a:ahLst/>
              <a:cxnLst>
                <a:cxn ang="0">
                  <a:pos x="T0" y="T1"/>
                </a:cxn>
                <a:cxn ang="0">
                  <a:pos x="T2" y="T3"/>
                </a:cxn>
                <a:cxn ang="0">
                  <a:pos x="T4" y="T5"/>
                </a:cxn>
                <a:cxn ang="0">
                  <a:pos x="T6" y="T7"/>
                </a:cxn>
                <a:cxn ang="0">
                  <a:pos x="T8" y="T9"/>
                </a:cxn>
                <a:cxn ang="0">
                  <a:pos x="T10" y="T11"/>
                </a:cxn>
              </a:cxnLst>
              <a:rect l="0" t="0" r="r" b="b"/>
              <a:pathLst>
                <a:path w="29" h="29">
                  <a:moveTo>
                    <a:pt x="15" y="29"/>
                  </a:moveTo>
                  <a:cubicBezTo>
                    <a:pt x="7" y="29"/>
                    <a:pt x="0" y="23"/>
                    <a:pt x="0" y="14"/>
                  </a:cubicBezTo>
                  <a:cubicBezTo>
                    <a:pt x="0" y="6"/>
                    <a:pt x="7" y="0"/>
                    <a:pt x="15" y="0"/>
                  </a:cubicBezTo>
                  <a:cubicBezTo>
                    <a:pt x="15" y="0"/>
                    <a:pt x="15" y="0"/>
                    <a:pt x="15" y="0"/>
                  </a:cubicBezTo>
                  <a:cubicBezTo>
                    <a:pt x="23" y="0"/>
                    <a:pt x="29" y="6"/>
                    <a:pt x="29" y="14"/>
                  </a:cubicBezTo>
                  <a:cubicBezTo>
                    <a:pt x="29" y="23"/>
                    <a:pt x="23" y="29"/>
                    <a:pt x="15" y="29"/>
                  </a:cubicBezTo>
                </a:path>
              </a:pathLst>
            </a:custGeom>
            <a:solidFill>
              <a:schemeClr val="bg1">
                <a:lumMod val="5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22" name="Freeform 262">
              <a:extLst>
                <a:ext uri="{FF2B5EF4-FFF2-40B4-BE49-F238E27FC236}">
                  <a16:creationId xmlns:a16="http://schemas.microsoft.com/office/drawing/2014/main" id="{D6A9D852-A376-6935-FA64-3BB3F8970799}"/>
                </a:ext>
              </a:extLst>
            </p:cNvPr>
            <p:cNvSpPr>
              <a:spLocks/>
            </p:cNvSpPr>
            <p:nvPr/>
          </p:nvSpPr>
          <p:spPr bwMode="auto">
            <a:xfrm>
              <a:off x="7219238" y="3741459"/>
              <a:ext cx="166688" cy="71438"/>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23" name="Line 263">
              <a:extLst>
                <a:ext uri="{FF2B5EF4-FFF2-40B4-BE49-F238E27FC236}">
                  <a16:creationId xmlns:a16="http://schemas.microsoft.com/office/drawing/2014/main" id="{D70E8AD0-391E-7223-7970-8410F90FF843}"/>
                </a:ext>
              </a:extLst>
            </p:cNvPr>
            <p:cNvSpPr>
              <a:spLocks noChangeShapeType="1"/>
            </p:cNvSpPr>
            <p:nvPr/>
          </p:nvSpPr>
          <p:spPr bwMode="auto">
            <a:xfrm>
              <a:off x="6906500" y="3776384"/>
              <a:ext cx="127000" cy="0"/>
            </a:xfrm>
            <a:prstGeom prst="line">
              <a:avLst/>
            </a:prstGeom>
            <a:noFill/>
            <a:ln w="12700" cap="rnd">
              <a:solidFill>
                <a:schemeClr val="tx1"/>
              </a:solidFill>
              <a:prstDash val="solid"/>
              <a:round/>
              <a:headEnd/>
              <a:tailEnd type="triangle"/>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24" name="Line 264">
              <a:extLst>
                <a:ext uri="{FF2B5EF4-FFF2-40B4-BE49-F238E27FC236}">
                  <a16:creationId xmlns:a16="http://schemas.microsoft.com/office/drawing/2014/main" id="{D3EC9FB0-BC26-FF5F-100C-00CEE83174E1}"/>
                </a:ext>
              </a:extLst>
            </p:cNvPr>
            <p:cNvSpPr>
              <a:spLocks noChangeShapeType="1"/>
            </p:cNvSpPr>
            <p:nvPr/>
          </p:nvSpPr>
          <p:spPr bwMode="auto">
            <a:xfrm>
              <a:off x="7924088" y="3776384"/>
              <a:ext cx="349250" cy="0"/>
            </a:xfrm>
            <a:prstGeom prst="line">
              <a:avLst/>
            </a:prstGeom>
            <a:noFill/>
            <a:ln w="12700" cap="rnd">
              <a:solidFill>
                <a:schemeClr val="tx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25" name="Line 265">
              <a:extLst>
                <a:ext uri="{FF2B5EF4-FFF2-40B4-BE49-F238E27FC236}">
                  <a16:creationId xmlns:a16="http://schemas.microsoft.com/office/drawing/2014/main" id="{FAD0C42D-0EE3-13AB-FFFD-ECFDC71EA137}"/>
                </a:ext>
              </a:extLst>
            </p:cNvPr>
            <p:cNvSpPr>
              <a:spLocks noChangeShapeType="1"/>
            </p:cNvSpPr>
            <p:nvPr/>
          </p:nvSpPr>
          <p:spPr bwMode="auto">
            <a:xfrm flipV="1">
              <a:off x="8273338" y="3289022"/>
              <a:ext cx="0" cy="487363"/>
            </a:xfrm>
            <a:prstGeom prst="line">
              <a:avLst/>
            </a:prstGeom>
            <a:noFill/>
            <a:ln w="12700" cap="rnd">
              <a:solidFill>
                <a:schemeClr val="tx1"/>
              </a:solidFill>
              <a:prstDash val="solid"/>
              <a:round/>
              <a:headEnd/>
              <a:tailEnd type="triangle"/>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26" name="Line 266">
              <a:extLst>
                <a:ext uri="{FF2B5EF4-FFF2-40B4-BE49-F238E27FC236}">
                  <a16:creationId xmlns:a16="http://schemas.microsoft.com/office/drawing/2014/main" id="{BA4CA750-BEE3-C1EA-4BF5-2A821413FE71}"/>
                </a:ext>
              </a:extLst>
            </p:cNvPr>
            <p:cNvSpPr>
              <a:spLocks noChangeShapeType="1"/>
            </p:cNvSpPr>
            <p:nvPr/>
          </p:nvSpPr>
          <p:spPr bwMode="auto">
            <a:xfrm flipV="1">
              <a:off x="7435138" y="2858809"/>
              <a:ext cx="0" cy="808038"/>
            </a:xfrm>
            <a:prstGeom prst="line">
              <a:avLst/>
            </a:prstGeom>
            <a:noFill/>
            <a:ln w="12700" cap="rnd">
              <a:solidFill>
                <a:srgbClr val="E64800"/>
              </a:solidFill>
              <a:prstDash val="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27" name="Line 267">
              <a:extLst>
                <a:ext uri="{FF2B5EF4-FFF2-40B4-BE49-F238E27FC236}">
                  <a16:creationId xmlns:a16="http://schemas.microsoft.com/office/drawing/2014/main" id="{32E64C42-1A0F-1F85-D119-36AB3B20485E}"/>
                </a:ext>
              </a:extLst>
            </p:cNvPr>
            <p:cNvSpPr>
              <a:spLocks noChangeShapeType="1"/>
            </p:cNvSpPr>
            <p:nvPr/>
          </p:nvSpPr>
          <p:spPr bwMode="auto">
            <a:xfrm flipH="1">
              <a:off x="7435138" y="2858809"/>
              <a:ext cx="133350" cy="0"/>
            </a:xfrm>
            <a:prstGeom prst="line">
              <a:avLst/>
            </a:prstGeom>
            <a:noFill/>
            <a:ln w="12700" cap="rnd">
              <a:solidFill>
                <a:srgbClr val="E64800"/>
              </a:solidFill>
              <a:prstDash val="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28" name="Line 268">
              <a:extLst>
                <a:ext uri="{FF2B5EF4-FFF2-40B4-BE49-F238E27FC236}">
                  <a16:creationId xmlns:a16="http://schemas.microsoft.com/office/drawing/2014/main" id="{D94D5147-C735-2E90-DC75-B540216C5072}"/>
                </a:ext>
              </a:extLst>
            </p:cNvPr>
            <p:cNvSpPr>
              <a:spLocks noChangeShapeType="1"/>
            </p:cNvSpPr>
            <p:nvPr/>
          </p:nvSpPr>
          <p:spPr bwMode="auto">
            <a:xfrm flipH="1">
              <a:off x="7435138" y="3154084"/>
              <a:ext cx="133350" cy="0"/>
            </a:xfrm>
            <a:prstGeom prst="line">
              <a:avLst/>
            </a:prstGeom>
            <a:noFill/>
            <a:ln w="12700" cap="rnd">
              <a:solidFill>
                <a:srgbClr val="E64800"/>
              </a:solidFill>
              <a:prstDash val="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29" name="Line 269">
              <a:extLst>
                <a:ext uri="{FF2B5EF4-FFF2-40B4-BE49-F238E27FC236}">
                  <a16:creationId xmlns:a16="http://schemas.microsoft.com/office/drawing/2014/main" id="{FAF5892A-C9AA-1727-2BD8-EA6D38DEAAD1}"/>
                </a:ext>
              </a:extLst>
            </p:cNvPr>
            <p:cNvSpPr>
              <a:spLocks noChangeShapeType="1"/>
            </p:cNvSpPr>
            <p:nvPr/>
          </p:nvSpPr>
          <p:spPr bwMode="auto">
            <a:xfrm flipH="1">
              <a:off x="7435138" y="2561947"/>
              <a:ext cx="133350" cy="0"/>
            </a:xfrm>
            <a:prstGeom prst="line">
              <a:avLst/>
            </a:prstGeom>
            <a:noFill/>
            <a:ln w="12700" cap="rnd">
              <a:solidFill>
                <a:srgbClr val="0070C0"/>
              </a:solidFill>
              <a:prstDash val="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30" name="Line 270">
              <a:extLst>
                <a:ext uri="{FF2B5EF4-FFF2-40B4-BE49-F238E27FC236}">
                  <a16:creationId xmlns:a16="http://schemas.microsoft.com/office/drawing/2014/main" id="{38C4168F-4CDD-AF70-E3B7-595FADF8DEAA}"/>
                </a:ext>
              </a:extLst>
            </p:cNvPr>
            <p:cNvSpPr>
              <a:spLocks noChangeShapeType="1"/>
            </p:cNvSpPr>
            <p:nvPr/>
          </p:nvSpPr>
          <p:spPr bwMode="auto">
            <a:xfrm flipV="1">
              <a:off x="7435138" y="2088872"/>
              <a:ext cx="0" cy="473075"/>
            </a:xfrm>
            <a:prstGeom prst="line">
              <a:avLst/>
            </a:prstGeom>
            <a:noFill/>
            <a:ln w="12700" cap="rnd">
              <a:solidFill>
                <a:srgbClr val="0070C0"/>
              </a:solidFill>
              <a:prstDash val="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31" name="Freeform 271">
              <a:extLst>
                <a:ext uri="{FF2B5EF4-FFF2-40B4-BE49-F238E27FC236}">
                  <a16:creationId xmlns:a16="http://schemas.microsoft.com/office/drawing/2014/main" id="{E6C80648-3C45-BDCF-3CDB-7B1C9B9B170F}"/>
                </a:ext>
              </a:extLst>
            </p:cNvPr>
            <p:cNvSpPr>
              <a:spLocks/>
            </p:cNvSpPr>
            <p:nvPr/>
          </p:nvSpPr>
          <p:spPr bwMode="auto">
            <a:xfrm>
              <a:off x="8109825" y="2527022"/>
              <a:ext cx="68263" cy="69850"/>
            </a:xfrm>
            <a:prstGeom prst="rightArrow">
              <a:avLst/>
            </a:pr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32" name="Freeform 272">
              <a:extLst>
                <a:ext uri="{FF2B5EF4-FFF2-40B4-BE49-F238E27FC236}">
                  <a16:creationId xmlns:a16="http://schemas.microsoft.com/office/drawing/2014/main" id="{03096A38-46D8-C851-DA93-D8E2E099E0F4}"/>
                </a:ext>
              </a:extLst>
            </p:cNvPr>
            <p:cNvSpPr>
              <a:spLocks/>
            </p:cNvSpPr>
            <p:nvPr/>
          </p:nvSpPr>
          <p:spPr bwMode="auto">
            <a:xfrm>
              <a:off x="8109825" y="2823884"/>
              <a:ext cx="68263" cy="69850"/>
            </a:xfrm>
            <a:prstGeom prst="rightArrow">
              <a:avLst/>
            </a:pr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33" name="Freeform 273">
              <a:extLst>
                <a:ext uri="{FF2B5EF4-FFF2-40B4-BE49-F238E27FC236}">
                  <a16:creationId xmlns:a16="http://schemas.microsoft.com/office/drawing/2014/main" id="{24083959-612D-CA46-0AB7-86D726FE1D8B}"/>
                </a:ext>
              </a:extLst>
            </p:cNvPr>
            <p:cNvSpPr>
              <a:spLocks/>
            </p:cNvSpPr>
            <p:nvPr/>
          </p:nvSpPr>
          <p:spPr bwMode="auto">
            <a:xfrm>
              <a:off x="8109825" y="3120747"/>
              <a:ext cx="68263" cy="69850"/>
            </a:xfrm>
            <a:prstGeom prst="rightArrow">
              <a:avLst/>
            </a:pr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34" name="Freeform 274">
              <a:extLst>
                <a:ext uri="{FF2B5EF4-FFF2-40B4-BE49-F238E27FC236}">
                  <a16:creationId xmlns:a16="http://schemas.microsoft.com/office/drawing/2014/main" id="{889FA1E3-9AB7-75CC-A209-CB7EBDFE28CB}"/>
                </a:ext>
              </a:extLst>
            </p:cNvPr>
            <p:cNvSpPr>
              <a:spLocks/>
            </p:cNvSpPr>
            <p:nvPr/>
          </p:nvSpPr>
          <p:spPr bwMode="auto">
            <a:xfrm>
              <a:off x="8359063" y="1555472"/>
              <a:ext cx="469900" cy="192088"/>
            </a:xfrm>
            <a:custGeom>
              <a:avLst/>
              <a:gdLst>
                <a:gd name="T0" fmla="*/ 0 w 490"/>
                <a:gd name="T1" fmla="*/ 164 h 200"/>
                <a:gd name="T2" fmla="*/ 36 w 490"/>
                <a:gd name="T3" fmla="*/ 200 h 200"/>
                <a:gd name="T4" fmla="*/ 454 w 490"/>
                <a:gd name="T5" fmla="*/ 200 h 200"/>
                <a:gd name="T6" fmla="*/ 490 w 490"/>
                <a:gd name="T7" fmla="*/ 164 h 200"/>
                <a:gd name="T8" fmla="*/ 490 w 490"/>
                <a:gd name="T9" fmla="*/ 164 h 200"/>
                <a:gd name="T10" fmla="*/ 490 w 490"/>
                <a:gd name="T11" fmla="*/ 37 h 200"/>
                <a:gd name="T12" fmla="*/ 454 w 490"/>
                <a:gd name="T13" fmla="*/ 0 h 200"/>
                <a:gd name="T14" fmla="*/ 36 w 490"/>
                <a:gd name="T15" fmla="*/ 0 h 200"/>
                <a:gd name="T16" fmla="*/ 0 w 490"/>
                <a:gd name="T17" fmla="*/ 37 h 200"/>
                <a:gd name="T18" fmla="*/ 0 w 490"/>
                <a:gd name="T19" fmla="*/ 37 h 200"/>
                <a:gd name="T20" fmla="*/ 0 w 490"/>
                <a:gd name="T21" fmla="*/ 164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0" h="200">
                  <a:moveTo>
                    <a:pt x="0" y="164"/>
                  </a:moveTo>
                  <a:cubicBezTo>
                    <a:pt x="0" y="184"/>
                    <a:pt x="16" y="200"/>
                    <a:pt x="36" y="200"/>
                  </a:cubicBezTo>
                  <a:lnTo>
                    <a:pt x="454" y="200"/>
                  </a:lnTo>
                  <a:cubicBezTo>
                    <a:pt x="474" y="200"/>
                    <a:pt x="490" y="184"/>
                    <a:pt x="490" y="164"/>
                  </a:cubicBezTo>
                  <a:lnTo>
                    <a:pt x="490" y="164"/>
                  </a:lnTo>
                  <a:lnTo>
                    <a:pt x="490" y="37"/>
                  </a:lnTo>
                  <a:cubicBezTo>
                    <a:pt x="490" y="17"/>
                    <a:pt x="474" y="0"/>
                    <a:pt x="454" y="0"/>
                  </a:cubicBezTo>
                  <a:lnTo>
                    <a:pt x="36" y="0"/>
                  </a:lnTo>
                  <a:cubicBezTo>
                    <a:pt x="16" y="0"/>
                    <a:pt x="0" y="17"/>
                    <a:pt x="0" y="37"/>
                  </a:cubicBezTo>
                  <a:lnTo>
                    <a:pt x="0" y="37"/>
                  </a:lnTo>
                  <a:lnTo>
                    <a:pt x="0" y="164"/>
                  </a:lnTo>
                </a:path>
              </a:pathLst>
            </a:custGeom>
            <a:solidFill>
              <a:srgbClr val="9CD68C"/>
            </a:solidFill>
            <a:ln w="12700" cap="rnd">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sz="500" dirty="0"/>
            </a:p>
          </p:txBody>
        </p:sp>
        <p:sp>
          <p:nvSpPr>
            <p:cNvPr id="636" name="Freeform 276">
              <a:extLst>
                <a:ext uri="{FF2B5EF4-FFF2-40B4-BE49-F238E27FC236}">
                  <a16:creationId xmlns:a16="http://schemas.microsoft.com/office/drawing/2014/main" id="{5829D4D0-1A49-E566-B394-2ADD3CB129BD}"/>
                </a:ext>
              </a:extLst>
            </p:cNvPr>
            <p:cNvSpPr>
              <a:spLocks/>
            </p:cNvSpPr>
            <p:nvPr/>
          </p:nvSpPr>
          <p:spPr bwMode="auto">
            <a:xfrm>
              <a:off x="8828963" y="1617384"/>
              <a:ext cx="98425" cy="6985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37" name="Freeform 277">
              <a:extLst>
                <a:ext uri="{FF2B5EF4-FFF2-40B4-BE49-F238E27FC236}">
                  <a16:creationId xmlns:a16="http://schemas.microsoft.com/office/drawing/2014/main" id="{A15EAE65-9255-063E-3E4A-0C676A9F9652}"/>
                </a:ext>
              </a:extLst>
            </p:cNvPr>
            <p:cNvSpPr>
              <a:spLocks/>
            </p:cNvSpPr>
            <p:nvPr/>
          </p:nvSpPr>
          <p:spPr bwMode="auto">
            <a:xfrm>
              <a:off x="8359063" y="3895447"/>
              <a:ext cx="469900" cy="192088"/>
            </a:xfrm>
            <a:custGeom>
              <a:avLst/>
              <a:gdLst>
                <a:gd name="T0" fmla="*/ 0 w 490"/>
                <a:gd name="T1" fmla="*/ 164 h 200"/>
                <a:gd name="T2" fmla="*/ 36 w 490"/>
                <a:gd name="T3" fmla="*/ 200 h 200"/>
                <a:gd name="T4" fmla="*/ 454 w 490"/>
                <a:gd name="T5" fmla="*/ 200 h 200"/>
                <a:gd name="T6" fmla="*/ 490 w 490"/>
                <a:gd name="T7" fmla="*/ 164 h 200"/>
                <a:gd name="T8" fmla="*/ 490 w 490"/>
                <a:gd name="T9" fmla="*/ 164 h 200"/>
                <a:gd name="T10" fmla="*/ 490 w 490"/>
                <a:gd name="T11" fmla="*/ 37 h 200"/>
                <a:gd name="T12" fmla="*/ 454 w 490"/>
                <a:gd name="T13" fmla="*/ 0 h 200"/>
                <a:gd name="T14" fmla="*/ 454 w 490"/>
                <a:gd name="T15" fmla="*/ 0 h 200"/>
                <a:gd name="T16" fmla="*/ 36 w 490"/>
                <a:gd name="T17" fmla="*/ 0 h 200"/>
                <a:gd name="T18" fmla="*/ 0 w 490"/>
                <a:gd name="T19" fmla="*/ 37 h 200"/>
                <a:gd name="T20" fmla="*/ 0 w 490"/>
                <a:gd name="T21" fmla="*/ 37 h 200"/>
                <a:gd name="T22" fmla="*/ 0 w 490"/>
                <a:gd name="T23" fmla="*/ 164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90" h="200">
                  <a:moveTo>
                    <a:pt x="0" y="164"/>
                  </a:moveTo>
                  <a:cubicBezTo>
                    <a:pt x="0" y="184"/>
                    <a:pt x="16" y="200"/>
                    <a:pt x="36" y="200"/>
                  </a:cubicBezTo>
                  <a:lnTo>
                    <a:pt x="454" y="200"/>
                  </a:lnTo>
                  <a:cubicBezTo>
                    <a:pt x="474" y="200"/>
                    <a:pt x="490" y="184"/>
                    <a:pt x="490" y="164"/>
                  </a:cubicBezTo>
                  <a:lnTo>
                    <a:pt x="490" y="164"/>
                  </a:lnTo>
                  <a:lnTo>
                    <a:pt x="490" y="37"/>
                  </a:lnTo>
                  <a:cubicBezTo>
                    <a:pt x="490" y="17"/>
                    <a:pt x="474" y="0"/>
                    <a:pt x="454" y="0"/>
                  </a:cubicBezTo>
                  <a:lnTo>
                    <a:pt x="454" y="0"/>
                  </a:lnTo>
                  <a:lnTo>
                    <a:pt x="36" y="0"/>
                  </a:lnTo>
                  <a:cubicBezTo>
                    <a:pt x="16" y="0"/>
                    <a:pt x="0" y="17"/>
                    <a:pt x="0" y="37"/>
                  </a:cubicBezTo>
                  <a:lnTo>
                    <a:pt x="0" y="37"/>
                  </a:lnTo>
                  <a:lnTo>
                    <a:pt x="0" y="164"/>
                  </a:lnTo>
                </a:path>
              </a:pathLst>
            </a:custGeom>
            <a:solidFill>
              <a:srgbClr val="91CBEE"/>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38" name="Rectangle 278">
              <a:extLst>
                <a:ext uri="{FF2B5EF4-FFF2-40B4-BE49-F238E27FC236}">
                  <a16:creationId xmlns:a16="http://schemas.microsoft.com/office/drawing/2014/main" id="{7998B9E9-5C98-F510-CBDC-621F024D2440}"/>
                </a:ext>
              </a:extLst>
            </p:cNvPr>
            <p:cNvSpPr>
              <a:spLocks noChangeArrowheads="1"/>
            </p:cNvSpPr>
            <p:nvPr/>
          </p:nvSpPr>
          <p:spPr bwMode="auto">
            <a:xfrm>
              <a:off x="9247901" y="3695422"/>
              <a:ext cx="190662" cy="593725"/>
            </a:xfrm>
            <a:prstGeom prst="rect">
              <a:avLst/>
            </a:prstGeom>
            <a:solidFill>
              <a:srgbClr val="727B72"/>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39" name="Freeform 279">
              <a:extLst>
                <a:ext uri="{FF2B5EF4-FFF2-40B4-BE49-F238E27FC236}">
                  <a16:creationId xmlns:a16="http://schemas.microsoft.com/office/drawing/2014/main" id="{F11067BA-0DBF-2E38-1E04-56C481ADB65C}"/>
                </a:ext>
              </a:extLst>
            </p:cNvPr>
            <p:cNvSpPr>
              <a:spLocks/>
            </p:cNvSpPr>
            <p:nvPr/>
          </p:nvSpPr>
          <p:spPr bwMode="auto">
            <a:xfrm>
              <a:off x="8828963" y="3957359"/>
              <a:ext cx="98425" cy="6985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40" name="Line 280">
              <a:extLst>
                <a:ext uri="{FF2B5EF4-FFF2-40B4-BE49-F238E27FC236}">
                  <a16:creationId xmlns:a16="http://schemas.microsoft.com/office/drawing/2014/main" id="{C17A3DA9-0E91-B762-AFD8-FD4F1F1EC0B3}"/>
                </a:ext>
              </a:extLst>
            </p:cNvPr>
            <p:cNvSpPr>
              <a:spLocks noChangeShapeType="1"/>
            </p:cNvSpPr>
            <p:nvPr/>
          </p:nvSpPr>
          <p:spPr bwMode="auto">
            <a:xfrm>
              <a:off x="8594013" y="1747559"/>
              <a:ext cx="0" cy="2147888"/>
            </a:xfrm>
            <a:prstGeom prst="line">
              <a:avLst/>
            </a:prstGeom>
            <a:noFill/>
            <a:ln w="12700" cap="rnd">
              <a:solidFill>
                <a:schemeClr val="tx1"/>
              </a:solidFill>
              <a:prstDash val="solid"/>
              <a:round/>
              <a:headEnd type="triangle"/>
              <a:tailEnd type="triangle"/>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41" name="Line 281">
              <a:extLst>
                <a:ext uri="{FF2B5EF4-FFF2-40B4-BE49-F238E27FC236}">
                  <a16:creationId xmlns:a16="http://schemas.microsoft.com/office/drawing/2014/main" id="{059ABDDB-0CE9-F164-0DCC-971CEBEF4B41}"/>
                </a:ext>
              </a:extLst>
            </p:cNvPr>
            <p:cNvSpPr>
              <a:spLocks noChangeShapeType="1"/>
            </p:cNvSpPr>
            <p:nvPr/>
          </p:nvSpPr>
          <p:spPr bwMode="auto">
            <a:xfrm>
              <a:off x="8363825" y="2852459"/>
              <a:ext cx="230188" cy="0"/>
            </a:xfrm>
            <a:prstGeom prst="line">
              <a:avLst/>
            </a:prstGeom>
            <a:noFill/>
            <a:ln w="12700" cap="rnd">
              <a:solidFill>
                <a:schemeClr val="tx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43" name="Freeform 283">
              <a:extLst>
                <a:ext uri="{FF2B5EF4-FFF2-40B4-BE49-F238E27FC236}">
                  <a16:creationId xmlns:a16="http://schemas.microsoft.com/office/drawing/2014/main" id="{5CA99814-07BC-AB16-5A91-7D403756EABE}"/>
                </a:ext>
              </a:extLst>
            </p:cNvPr>
            <p:cNvSpPr>
              <a:spLocks/>
            </p:cNvSpPr>
            <p:nvPr/>
          </p:nvSpPr>
          <p:spPr bwMode="auto">
            <a:xfrm>
              <a:off x="9502375" y="1523032"/>
              <a:ext cx="124537" cy="188015"/>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p>
          </p:txBody>
        </p:sp>
        <p:sp>
          <p:nvSpPr>
            <p:cNvPr id="644" name="Freeform 284">
              <a:extLst>
                <a:ext uri="{FF2B5EF4-FFF2-40B4-BE49-F238E27FC236}">
                  <a16:creationId xmlns:a16="http://schemas.microsoft.com/office/drawing/2014/main" id="{2EAAE065-B91F-23EB-9B0E-D9D34063B3C3}"/>
                </a:ext>
              </a:extLst>
            </p:cNvPr>
            <p:cNvSpPr>
              <a:spLocks/>
            </p:cNvSpPr>
            <p:nvPr/>
          </p:nvSpPr>
          <p:spPr bwMode="auto">
            <a:xfrm>
              <a:off x="10188103" y="1761847"/>
              <a:ext cx="158510" cy="15309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45" name="Freeform 285">
              <a:extLst>
                <a:ext uri="{FF2B5EF4-FFF2-40B4-BE49-F238E27FC236}">
                  <a16:creationId xmlns:a16="http://schemas.microsoft.com/office/drawing/2014/main" id="{8E527D5A-2F75-842C-7CEC-C63A07435BF6}"/>
                </a:ext>
              </a:extLst>
            </p:cNvPr>
            <p:cNvSpPr>
              <a:spLocks/>
            </p:cNvSpPr>
            <p:nvPr/>
          </p:nvSpPr>
          <p:spPr bwMode="auto">
            <a:xfrm>
              <a:off x="10386300" y="1526897"/>
              <a:ext cx="127000" cy="128588"/>
            </a:xfrm>
            <a:custGeom>
              <a:avLst/>
              <a:gdLst>
                <a:gd name="T0" fmla="*/ 0 w 80"/>
                <a:gd name="T1" fmla="*/ 41 h 81"/>
                <a:gd name="T2" fmla="*/ 40 w 80"/>
                <a:gd name="T3" fmla="*/ 0 h 81"/>
                <a:gd name="T4" fmla="*/ 80 w 80"/>
                <a:gd name="T5" fmla="*/ 41 h 81"/>
                <a:gd name="T6" fmla="*/ 80 w 80"/>
                <a:gd name="T7" fmla="*/ 41 h 81"/>
                <a:gd name="T8" fmla="*/ 40 w 80"/>
                <a:gd name="T9" fmla="*/ 81 h 81"/>
                <a:gd name="T10" fmla="*/ 0 w 80"/>
                <a:gd name="T11" fmla="*/ 41 h 81"/>
              </a:gdLst>
              <a:ahLst/>
              <a:cxnLst>
                <a:cxn ang="0">
                  <a:pos x="T0" y="T1"/>
                </a:cxn>
                <a:cxn ang="0">
                  <a:pos x="T2" y="T3"/>
                </a:cxn>
                <a:cxn ang="0">
                  <a:pos x="T4" y="T5"/>
                </a:cxn>
                <a:cxn ang="0">
                  <a:pos x="T6" y="T7"/>
                </a:cxn>
                <a:cxn ang="0">
                  <a:pos x="T8" y="T9"/>
                </a:cxn>
                <a:cxn ang="0">
                  <a:pos x="T10" y="T11"/>
                </a:cxn>
              </a:cxnLst>
              <a:rect l="0" t="0" r="r" b="b"/>
              <a:pathLst>
                <a:path w="80" h="81">
                  <a:moveTo>
                    <a:pt x="0" y="41"/>
                  </a:moveTo>
                  <a:cubicBezTo>
                    <a:pt x="0" y="18"/>
                    <a:pt x="18" y="0"/>
                    <a:pt x="40" y="0"/>
                  </a:cubicBezTo>
                  <a:cubicBezTo>
                    <a:pt x="62" y="0"/>
                    <a:pt x="80" y="18"/>
                    <a:pt x="80" y="41"/>
                  </a:cubicBezTo>
                  <a:cubicBezTo>
                    <a:pt x="80" y="41"/>
                    <a:pt x="80" y="41"/>
                    <a:pt x="80" y="41"/>
                  </a:cubicBezTo>
                  <a:cubicBezTo>
                    <a:pt x="80" y="62"/>
                    <a:pt x="62" y="81"/>
                    <a:pt x="40" y="81"/>
                  </a:cubicBezTo>
                  <a:cubicBezTo>
                    <a:pt x="18" y="81"/>
                    <a:pt x="0" y="62"/>
                    <a:pt x="0" y="41"/>
                  </a:cubicBezTo>
                </a:path>
              </a:pathLst>
            </a:custGeom>
            <a:solidFill>
              <a:srgbClr val="BFE6B9"/>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46" name="Freeform 286">
              <a:extLst>
                <a:ext uri="{FF2B5EF4-FFF2-40B4-BE49-F238E27FC236}">
                  <a16:creationId xmlns:a16="http://schemas.microsoft.com/office/drawing/2014/main" id="{8B323B2D-C6D0-EF18-D688-FE4AECCE255E}"/>
                </a:ext>
              </a:extLst>
            </p:cNvPr>
            <p:cNvSpPr>
              <a:spLocks/>
            </p:cNvSpPr>
            <p:nvPr/>
          </p:nvSpPr>
          <p:spPr bwMode="auto">
            <a:xfrm>
              <a:off x="10386300" y="1779309"/>
              <a:ext cx="127000" cy="128588"/>
            </a:xfrm>
            <a:custGeom>
              <a:avLst/>
              <a:gdLst>
                <a:gd name="T0" fmla="*/ 0 w 80"/>
                <a:gd name="T1" fmla="*/ 41 h 81"/>
                <a:gd name="T2" fmla="*/ 40 w 80"/>
                <a:gd name="T3" fmla="*/ 0 h 81"/>
                <a:gd name="T4" fmla="*/ 80 w 80"/>
                <a:gd name="T5" fmla="*/ 41 h 81"/>
                <a:gd name="T6" fmla="*/ 80 w 80"/>
                <a:gd name="T7" fmla="*/ 41 h 81"/>
                <a:gd name="T8" fmla="*/ 40 w 80"/>
                <a:gd name="T9" fmla="*/ 81 h 81"/>
                <a:gd name="T10" fmla="*/ 0 w 80"/>
                <a:gd name="T11" fmla="*/ 41 h 81"/>
              </a:gdLst>
              <a:ahLst/>
              <a:cxnLst>
                <a:cxn ang="0">
                  <a:pos x="T0" y="T1"/>
                </a:cxn>
                <a:cxn ang="0">
                  <a:pos x="T2" y="T3"/>
                </a:cxn>
                <a:cxn ang="0">
                  <a:pos x="T4" y="T5"/>
                </a:cxn>
                <a:cxn ang="0">
                  <a:pos x="T6" y="T7"/>
                </a:cxn>
                <a:cxn ang="0">
                  <a:pos x="T8" y="T9"/>
                </a:cxn>
                <a:cxn ang="0">
                  <a:pos x="T10" y="T11"/>
                </a:cxn>
              </a:cxnLst>
              <a:rect l="0" t="0" r="r" b="b"/>
              <a:pathLst>
                <a:path w="80" h="81">
                  <a:moveTo>
                    <a:pt x="0" y="41"/>
                  </a:moveTo>
                  <a:cubicBezTo>
                    <a:pt x="0" y="18"/>
                    <a:pt x="18" y="0"/>
                    <a:pt x="40" y="0"/>
                  </a:cubicBezTo>
                  <a:cubicBezTo>
                    <a:pt x="62" y="0"/>
                    <a:pt x="80" y="18"/>
                    <a:pt x="80" y="41"/>
                  </a:cubicBezTo>
                  <a:cubicBezTo>
                    <a:pt x="80" y="41"/>
                    <a:pt x="80" y="41"/>
                    <a:pt x="80" y="41"/>
                  </a:cubicBezTo>
                  <a:cubicBezTo>
                    <a:pt x="80" y="63"/>
                    <a:pt x="62" y="81"/>
                    <a:pt x="40" y="81"/>
                  </a:cubicBezTo>
                  <a:cubicBezTo>
                    <a:pt x="18" y="81"/>
                    <a:pt x="0" y="63"/>
                    <a:pt x="0" y="41"/>
                  </a:cubicBezTo>
                </a:path>
              </a:pathLst>
            </a:custGeom>
            <a:solidFill>
              <a:srgbClr val="BFE6B9"/>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47" name="Freeform 287">
              <a:extLst>
                <a:ext uri="{FF2B5EF4-FFF2-40B4-BE49-F238E27FC236}">
                  <a16:creationId xmlns:a16="http://schemas.microsoft.com/office/drawing/2014/main" id="{8617A160-BF9A-9E71-BC0A-C64BD6F7BBAF}"/>
                </a:ext>
              </a:extLst>
            </p:cNvPr>
            <p:cNvSpPr>
              <a:spLocks/>
            </p:cNvSpPr>
            <p:nvPr/>
          </p:nvSpPr>
          <p:spPr bwMode="auto">
            <a:xfrm>
              <a:off x="10386300" y="2033309"/>
              <a:ext cx="127000" cy="127000"/>
            </a:xfrm>
            <a:custGeom>
              <a:avLst/>
              <a:gdLst>
                <a:gd name="T0" fmla="*/ 0 w 80"/>
                <a:gd name="T1" fmla="*/ 40 h 80"/>
                <a:gd name="T2" fmla="*/ 40 w 80"/>
                <a:gd name="T3" fmla="*/ 0 h 80"/>
                <a:gd name="T4" fmla="*/ 80 w 80"/>
                <a:gd name="T5" fmla="*/ 40 h 80"/>
                <a:gd name="T6" fmla="*/ 80 w 80"/>
                <a:gd name="T7" fmla="*/ 40 h 80"/>
                <a:gd name="T8" fmla="*/ 40 w 80"/>
                <a:gd name="T9" fmla="*/ 80 h 80"/>
                <a:gd name="T10" fmla="*/ 0 w 80"/>
                <a:gd name="T11" fmla="*/ 40 h 80"/>
              </a:gdLst>
              <a:ahLst/>
              <a:cxnLst>
                <a:cxn ang="0">
                  <a:pos x="T0" y="T1"/>
                </a:cxn>
                <a:cxn ang="0">
                  <a:pos x="T2" y="T3"/>
                </a:cxn>
                <a:cxn ang="0">
                  <a:pos x="T4" y="T5"/>
                </a:cxn>
                <a:cxn ang="0">
                  <a:pos x="T6" y="T7"/>
                </a:cxn>
                <a:cxn ang="0">
                  <a:pos x="T8" y="T9"/>
                </a:cxn>
                <a:cxn ang="0">
                  <a:pos x="T10" y="T11"/>
                </a:cxn>
              </a:cxnLst>
              <a:rect l="0" t="0" r="r" b="b"/>
              <a:pathLst>
                <a:path w="80" h="80">
                  <a:moveTo>
                    <a:pt x="0" y="40"/>
                  </a:moveTo>
                  <a:cubicBezTo>
                    <a:pt x="0" y="18"/>
                    <a:pt x="18" y="0"/>
                    <a:pt x="40" y="0"/>
                  </a:cubicBezTo>
                  <a:cubicBezTo>
                    <a:pt x="62" y="0"/>
                    <a:pt x="80" y="18"/>
                    <a:pt x="80" y="40"/>
                  </a:cubicBezTo>
                  <a:cubicBezTo>
                    <a:pt x="80" y="40"/>
                    <a:pt x="80" y="40"/>
                    <a:pt x="80" y="40"/>
                  </a:cubicBezTo>
                  <a:cubicBezTo>
                    <a:pt x="80" y="62"/>
                    <a:pt x="62" y="80"/>
                    <a:pt x="40" y="80"/>
                  </a:cubicBezTo>
                  <a:cubicBezTo>
                    <a:pt x="18" y="80"/>
                    <a:pt x="0" y="62"/>
                    <a:pt x="0" y="40"/>
                  </a:cubicBezTo>
                </a:path>
              </a:pathLst>
            </a:custGeom>
            <a:solidFill>
              <a:srgbClr val="BFE6B9"/>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48" name="Freeform 288">
              <a:extLst>
                <a:ext uri="{FF2B5EF4-FFF2-40B4-BE49-F238E27FC236}">
                  <a16:creationId xmlns:a16="http://schemas.microsoft.com/office/drawing/2014/main" id="{EDC20670-9049-B874-70D9-45B8C8697E0B}"/>
                </a:ext>
              </a:extLst>
            </p:cNvPr>
            <p:cNvSpPr>
              <a:spLocks/>
            </p:cNvSpPr>
            <p:nvPr/>
          </p:nvSpPr>
          <p:spPr bwMode="auto">
            <a:xfrm>
              <a:off x="10799050" y="1428472"/>
              <a:ext cx="74613" cy="74613"/>
            </a:xfrm>
            <a:custGeom>
              <a:avLst/>
              <a:gdLst>
                <a:gd name="T0" fmla="*/ 0 w 47"/>
                <a:gd name="T1" fmla="*/ 24 h 47"/>
                <a:gd name="T2" fmla="*/ 23 w 47"/>
                <a:gd name="T3" fmla="*/ 0 h 47"/>
                <a:gd name="T4" fmla="*/ 47 w 47"/>
                <a:gd name="T5" fmla="*/ 24 h 47"/>
                <a:gd name="T6" fmla="*/ 47 w 47"/>
                <a:gd name="T7" fmla="*/ 24 h 47"/>
                <a:gd name="T8" fmla="*/ 23 w 47"/>
                <a:gd name="T9" fmla="*/ 47 h 47"/>
                <a:gd name="T10" fmla="*/ 0 w 47"/>
                <a:gd name="T11" fmla="*/ 24 h 47"/>
              </a:gdLst>
              <a:ahLst/>
              <a:cxnLst>
                <a:cxn ang="0">
                  <a:pos x="T0" y="T1"/>
                </a:cxn>
                <a:cxn ang="0">
                  <a:pos x="T2" y="T3"/>
                </a:cxn>
                <a:cxn ang="0">
                  <a:pos x="T4" y="T5"/>
                </a:cxn>
                <a:cxn ang="0">
                  <a:pos x="T6" y="T7"/>
                </a:cxn>
                <a:cxn ang="0">
                  <a:pos x="T8" y="T9"/>
                </a:cxn>
                <a:cxn ang="0">
                  <a:pos x="T10" y="T11"/>
                </a:cxn>
              </a:cxnLst>
              <a:rect l="0" t="0" r="r" b="b"/>
              <a:pathLst>
                <a:path w="47" h="47">
                  <a:moveTo>
                    <a:pt x="0" y="24"/>
                  </a:moveTo>
                  <a:cubicBezTo>
                    <a:pt x="0" y="11"/>
                    <a:pt x="10" y="0"/>
                    <a:pt x="23" y="0"/>
                  </a:cubicBezTo>
                  <a:cubicBezTo>
                    <a:pt x="36" y="0"/>
                    <a:pt x="47" y="11"/>
                    <a:pt x="47" y="24"/>
                  </a:cubicBezTo>
                  <a:cubicBezTo>
                    <a:pt x="47" y="24"/>
                    <a:pt x="47" y="24"/>
                    <a:pt x="47" y="24"/>
                  </a:cubicBezTo>
                  <a:cubicBezTo>
                    <a:pt x="47" y="37"/>
                    <a:pt x="36" y="47"/>
                    <a:pt x="23" y="47"/>
                  </a:cubicBezTo>
                  <a:cubicBezTo>
                    <a:pt x="10" y="47"/>
                    <a:pt x="0" y="37"/>
                    <a:pt x="0" y="24"/>
                  </a:cubicBezTo>
                </a:path>
              </a:pathLst>
            </a:custGeom>
            <a:solidFill>
              <a:srgbClr val="BFE6B9"/>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49" name="Freeform 289">
              <a:extLst>
                <a:ext uri="{FF2B5EF4-FFF2-40B4-BE49-F238E27FC236}">
                  <a16:creationId xmlns:a16="http://schemas.microsoft.com/office/drawing/2014/main" id="{0BB041A1-59E9-B7A5-9B8C-B97040A50636}"/>
                </a:ext>
              </a:extLst>
            </p:cNvPr>
            <p:cNvSpPr>
              <a:spLocks/>
            </p:cNvSpPr>
            <p:nvPr/>
          </p:nvSpPr>
          <p:spPr bwMode="auto">
            <a:xfrm>
              <a:off x="10799050" y="1631672"/>
              <a:ext cx="74613" cy="76200"/>
            </a:xfrm>
            <a:custGeom>
              <a:avLst/>
              <a:gdLst>
                <a:gd name="T0" fmla="*/ 0 w 47"/>
                <a:gd name="T1" fmla="*/ 24 h 48"/>
                <a:gd name="T2" fmla="*/ 23 w 47"/>
                <a:gd name="T3" fmla="*/ 0 h 48"/>
                <a:gd name="T4" fmla="*/ 47 w 47"/>
                <a:gd name="T5" fmla="*/ 24 h 48"/>
                <a:gd name="T6" fmla="*/ 47 w 47"/>
                <a:gd name="T7" fmla="*/ 24 h 48"/>
                <a:gd name="T8" fmla="*/ 23 w 47"/>
                <a:gd name="T9" fmla="*/ 48 h 48"/>
                <a:gd name="T10" fmla="*/ 0 w 47"/>
                <a:gd name="T11" fmla="*/ 24 h 48"/>
              </a:gdLst>
              <a:ahLst/>
              <a:cxnLst>
                <a:cxn ang="0">
                  <a:pos x="T0" y="T1"/>
                </a:cxn>
                <a:cxn ang="0">
                  <a:pos x="T2" y="T3"/>
                </a:cxn>
                <a:cxn ang="0">
                  <a:pos x="T4" y="T5"/>
                </a:cxn>
                <a:cxn ang="0">
                  <a:pos x="T6" y="T7"/>
                </a:cxn>
                <a:cxn ang="0">
                  <a:pos x="T8" y="T9"/>
                </a:cxn>
                <a:cxn ang="0">
                  <a:pos x="T10" y="T11"/>
                </a:cxn>
              </a:cxnLst>
              <a:rect l="0" t="0" r="r" b="b"/>
              <a:pathLst>
                <a:path w="47" h="48">
                  <a:moveTo>
                    <a:pt x="0" y="24"/>
                  </a:moveTo>
                  <a:cubicBezTo>
                    <a:pt x="0" y="11"/>
                    <a:pt x="10" y="0"/>
                    <a:pt x="23" y="0"/>
                  </a:cubicBezTo>
                  <a:cubicBezTo>
                    <a:pt x="36" y="0"/>
                    <a:pt x="47" y="11"/>
                    <a:pt x="47" y="24"/>
                  </a:cubicBezTo>
                  <a:cubicBezTo>
                    <a:pt x="47" y="24"/>
                    <a:pt x="47" y="24"/>
                    <a:pt x="47" y="24"/>
                  </a:cubicBezTo>
                  <a:cubicBezTo>
                    <a:pt x="47" y="37"/>
                    <a:pt x="36" y="48"/>
                    <a:pt x="23" y="48"/>
                  </a:cubicBezTo>
                  <a:cubicBezTo>
                    <a:pt x="10" y="48"/>
                    <a:pt x="0" y="37"/>
                    <a:pt x="0" y="24"/>
                  </a:cubicBezTo>
                </a:path>
              </a:pathLst>
            </a:custGeom>
            <a:solidFill>
              <a:srgbClr val="BFE6B9"/>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50" name="Freeform 290">
              <a:extLst>
                <a:ext uri="{FF2B5EF4-FFF2-40B4-BE49-F238E27FC236}">
                  <a16:creationId xmlns:a16="http://schemas.microsoft.com/office/drawing/2014/main" id="{47EA9C4C-9849-72C4-EEC0-DD47BFC18FF9}"/>
                </a:ext>
              </a:extLst>
            </p:cNvPr>
            <p:cNvSpPr>
              <a:spLocks/>
            </p:cNvSpPr>
            <p:nvPr/>
          </p:nvSpPr>
          <p:spPr bwMode="auto">
            <a:xfrm>
              <a:off x="10799050" y="1806297"/>
              <a:ext cx="74613" cy="76200"/>
            </a:xfrm>
            <a:custGeom>
              <a:avLst/>
              <a:gdLst>
                <a:gd name="T0" fmla="*/ 0 w 47"/>
                <a:gd name="T1" fmla="*/ 24 h 48"/>
                <a:gd name="T2" fmla="*/ 23 w 47"/>
                <a:gd name="T3" fmla="*/ 0 h 48"/>
                <a:gd name="T4" fmla="*/ 47 w 47"/>
                <a:gd name="T5" fmla="*/ 24 h 48"/>
                <a:gd name="T6" fmla="*/ 47 w 47"/>
                <a:gd name="T7" fmla="*/ 24 h 48"/>
                <a:gd name="T8" fmla="*/ 23 w 47"/>
                <a:gd name="T9" fmla="*/ 48 h 48"/>
                <a:gd name="T10" fmla="*/ 0 w 47"/>
                <a:gd name="T11" fmla="*/ 24 h 48"/>
              </a:gdLst>
              <a:ahLst/>
              <a:cxnLst>
                <a:cxn ang="0">
                  <a:pos x="T0" y="T1"/>
                </a:cxn>
                <a:cxn ang="0">
                  <a:pos x="T2" y="T3"/>
                </a:cxn>
                <a:cxn ang="0">
                  <a:pos x="T4" y="T5"/>
                </a:cxn>
                <a:cxn ang="0">
                  <a:pos x="T6" y="T7"/>
                </a:cxn>
                <a:cxn ang="0">
                  <a:pos x="T8" y="T9"/>
                </a:cxn>
                <a:cxn ang="0">
                  <a:pos x="T10" y="T11"/>
                </a:cxn>
              </a:cxnLst>
              <a:rect l="0" t="0" r="r" b="b"/>
              <a:pathLst>
                <a:path w="47" h="48">
                  <a:moveTo>
                    <a:pt x="0" y="24"/>
                  </a:moveTo>
                  <a:cubicBezTo>
                    <a:pt x="0" y="11"/>
                    <a:pt x="10" y="0"/>
                    <a:pt x="23" y="0"/>
                  </a:cubicBezTo>
                  <a:cubicBezTo>
                    <a:pt x="36" y="0"/>
                    <a:pt x="47" y="11"/>
                    <a:pt x="47" y="24"/>
                  </a:cubicBezTo>
                  <a:cubicBezTo>
                    <a:pt x="47" y="24"/>
                    <a:pt x="47" y="24"/>
                    <a:pt x="47" y="24"/>
                  </a:cubicBezTo>
                  <a:cubicBezTo>
                    <a:pt x="47" y="37"/>
                    <a:pt x="36" y="48"/>
                    <a:pt x="23" y="48"/>
                  </a:cubicBezTo>
                  <a:cubicBezTo>
                    <a:pt x="10" y="48"/>
                    <a:pt x="0" y="37"/>
                    <a:pt x="0" y="24"/>
                  </a:cubicBezTo>
                </a:path>
              </a:pathLst>
            </a:custGeom>
            <a:solidFill>
              <a:srgbClr val="BFE6B9"/>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51" name="Freeform 291">
              <a:extLst>
                <a:ext uri="{FF2B5EF4-FFF2-40B4-BE49-F238E27FC236}">
                  <a16:creationId xmlns:a16="http://schemas.microsoft.com/office/drawing/2014/main" id="{820CE552-54E1-7093-2CDE-41C178DBFB67}"/>
                </a:ext>
              </a:extLst>
            </p:cNvPr>
            <p:cNvSpPr>
              <a:spLocks/>
            </p:cNvSpPr>
            <p:nvPr/>
          </p:nvSpPr>
          <p:spPr bwMode="auto">
            <a:xfrm>
              <a:off x="10799050" y="1987272"/>
              <a:ext cx="74613" cy="74613"/>
            </a:xfrm>
            <a:custGeom>
              <a:avLst/>
              <a:gdLst>
                <a:gd name="T0" fmla="*/ 0 w 47"/>
                <a:gd name="T1" fmla="*/ 23 h 47"/>
                <a:gd name="T2" fmla="*/ 23 w 47"/>
                <a:gd name="T3" fmla="*/ 0 h 47"/>
                <a:gd name="T4" fmla="*/ 47 w 47"/>
                <a:gd name="T5" fmla="*/ 23 h 47"/>
                <a:gd name="T6" fmla="*/ 47 w 47"/>
                <a:gd name="T7" fmla="*/ 23 h 47"/>
                <a:gd name="T8" fmla="*/ 23 w 47"/>
                <a:gd name="T9" fmla="*/ 47 h 47"/>
                <a:gd name="T10" fmla="*/ 0 w 47"/>
                <a:gd name="T11" fmla="*/ 23 h 47"/>
              </a:gdLst>
              <a:ahLst/>
              <a:cxnLst>
                <a:cxn ang="0">
                  <a:pos x="T0" y="T1"/>
                </a:cxn>
                <a:cxn ang="0">
                  <a:pos x="T2" y="T3"/>
                </a:cxn>
                <a:cxn ang="0">
                  <a:pos x="T4" y="T5"/>
                </a:cxn>
                <a:cxn ang="0">
                  <a:pos x="T6" y="T7"/>
                </a:cxn>
                <a:cxn ang="0">
                  <a:pos x="T8" y="T9"/>
                </a:cxn>
                <a:cxn ang="0">
                  <a:pos x="T10" y="T11"/>
                </a:cxn>
              </a:cxnLst>
              <a:rect l="0" t="0" r="r" b="b"/>
              <a:pathLst>
                <a:path w="47" h="47">
                  <a:moveTo>
                    <a:pt x="0" y="23"/>
                  </a:moveTo>
                  <a:cubicBezTo>
                    <a:pt x="0" y="10"/>
                    <a:pt x="10" y="0"/>
                    <a:pt x="23" y="0"/>
                  </a:cubicBezTo>
                  <a:cubicBezTo>
                    <a:pt x="36" y="0"/>
                    <a:pt x="47" y="10"/>
                    <a:pt x="47" y="23"/>
                  </a:cubicBezTo>
                  <a:cubicBezTo>
                    <a:pt x="47" y="23"/>
                    <a:pt x="47" y="23"/>
                    <a:pt x="47" y="23"/>
                  </a:cubicBezTo>
                  <a:cubicBezTo>
                    <a:pt x="47" y="36"/>
                    <a:pt x="36" y="47"/>
                    <a:pt x="23" y="47"/>
                  </a:cubicBezTo>
                  <a:cubicBezTo>
                    <a:pt x="10" y="47"/>
                    <a:pt x="0" y="36"/>
                    <a:pt x="0" y="23"/>
                  </a:cubicBezTo>
                </a:path>
              </a:pathLst>
            </a:custGeom>
            <a:solidFill>
              <a:srgbClr val="BFE6B9"/>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52" name="Freeform 292">
              <a:extLst>
                <a:ext uri="{FF2B5EF4-FFF2-40B4-BE49-F238E27FC236}">
                  <a16:creationId xmlns:a16="http://schemas.microsoft.com/office/drawing/2014/main" id="{32BF1A7F-1EA5-D69A-8946-0D46F233643D}"/>
                </a:ext>
              </a:extLst>
            </p:cNvPr>
            <p:cNvSpPr>
              <a:spLocks/>
            </p:cNvSpPr>
            <p:nvPr/>
          </p:nvSpPr>
          <p:spPr bwMode="auto">
            <a:xfrm>
              <a:off x="10799050" y="2155547"/>
              <a:ext cx="74613" cy="74613"/>
            </a:xfrm>
            <a:custGeom>
              <a:avLst/>
              <a:gdLst>
                <a:gd name="T0" fmla="*/ 0 w 47"/>
                <a:gd name="T1" fmla="*/ 23 h 47"/>
                <a:gd name="T2" fmla="*/ 23 w 47"/>
                <a:gd name="T3" fmla="*/ 0 h 47"/>
                <a:gd name="T4" fmla="*/ 47 w 47"/>
                <a:gd name="T5" fmla="*/ 23 h 47"/>
                <a:gd name="T6" fmla="*/ 47 w 47"/>
                <a:gd name="T7" fmla="*/ 23 h 47"/>
                <a:gd name="T8" fmla="*/ 23 w 47"/>
                <a:gd name="T9" fmla="*/ 47 h 47"/>
                <a:gd name="T10" fmla="*/ 0 w 47"/>
                <a:gd name="T11" fmla="*/ 23 h 47"/>
              </a:gdLst>
              <a:ahLst/>
              <a:cxnLst>
                <a:cxn ang="0">
                  <a:pos x="T0" y="T1"/>
                </a:cxn>
                <a:cxn ang="0">
                  <a:pos x="T2" y="T3"/>
                </a:cxn>
                <a:cxn ang="0">
                  <a:pos x="T4" y="T5"/>
                </a:cxn>
                <a:cxn ang="0">
                  <a:pos x="T6" y="T7"/>
                </a:cxn>
                <a:cxn ang="0">
                  <a:pos x="T8" y="T9"/>
                </a:cxn>
                <a:cxn ang="0">
                  <a:pos x="T10" y="T11"/>
                </a:cxn>
              </a:cxnLst>
              <a:rect l="0" t="0" r="r" b="b"/>
              <a:pathLst>
                <a:path w="47" h="47">
                  <a:moveTo>
                    <a:pt x="0" y="23"/>
                  </a:moveTo>
                  <a:cubicBezTo>
                    <a:pt x="0" y="10"/>
                    <a:pt x="10" y="0"/>
                    <a:pt x="23" y="0"/>
                  </a:cubicBezTo>
                  <a:cubicBezTo>
                    <a:pt x="36" y="0"/>
                    <a:pt x="47" y="10"/>
                    <a:pt x="47" y="23"/>
                  </a:cubicBezTo>
                  <a:cubicBezTo>
                    <a:pt x="47" y="23"/>
                    <a:pt x="47" y="23"/>
                    <a:pt x="47" y="23"/>
                  </a:cubicBezTo>
                  <a:cubicBezTo>
                    <a:pt x="47" y="36"/>
                    <a:pt x="36" y="47"/>
                    <a:pt x="23" y="47"/>
                  </a:cubicBezTo>
                  <a:cubicBezTo>
                    <a:pt x="10" y="47"/>
                    <a:pt x="0" y="36"/>
                    <a:pt x="0" y="23"/>
                  </a:cubicBezTo>
                </a:path>
              </a:pathLst>
            </a:custGeom>
            <a:solidFill>
              <a:srgbClr val="BFE6B9"/>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53" name="Freeform 293">
              <a:extLst>
                <a:ext uri="{FF2B5EF4-FFF2-40B4-BE49-F238E27FC236}">
                  <a16:creationId xmlns:a16="http://schemas.microsoft.com/office/drawing/2014/main" id="{513E8B73-6C26-E4FD-B5F9-0010FF7333F0}"/>
                </a:ext>
              </a:extLst>
            </p:cNvPr>
            <p:cNvSpPr>
              <a:spLocks/>
            </p:cNvSpPr>
            <p:nvPr/>
          </p:nvSpPr>
          <p:spPr bwMode="auto">
            <a:xfrm>
              <a:off x="11075275" y="1715809"/>
              <a:ext cx="255588" cy="255588"/>
            </a:xfrm>
            <a:custGeom>
              <a:avLst/>
              <a:gdLst>
                <a:gd name="T0" fmla="*/ 0 w 161"/>
                <a:gd name="T1" fmla="*/ 81 h 161"/>
                <a:gd name="T2" fmla="*/ 80 w 161"/>
                <a:gd name="T3" fmla="*/ 0 h 161"/>
                <a:gd name="T4" fmla="*/ 161 w 161"/>
                <a:gd name="T5" fmla="*/ 81 h 161"/>
                <a:gd name="T6" fmla="*/ 161 w 161"/>
                <a:gd name="T7" fmla="*/ 81 h 161"/>
                <a:gd name="T8" fmla="*/ 80 w 161"/>
                <a:gd name="T9" fmla="*/ 161 h 161"/>
                <a:gd name="T10" fmla="*/ 0 w 161"/>
                <a:gd name="T11" fmla="*/ 81 h 161"/>
              </a:gdLst>
              <a:ahLst/>
              <a:cxnLst>
                <a:cxn ang="0">
                  <a:pos x="T0" y="T1"/>
                </a:cxn>
                <a:cxn ang="0">
                  <a:pos x="T2" y="T3"/>
                </a:cxn>
                <a:cxn ang="0">
                  <a:pos x="T4" y="T5"/>
                </a:cxn>
                <a:cxn ang="0">
                  <a:pos x="T6" y="T7"/>
                </a:cxn>
                <a:cxn ang="0">
                  <a:pos x="T8" y="T9"/>
                </a:cxn>
                <a:cxn ang="0">
                  <a:pos x="T10" y="T11"/>
                </a:cxn>
              </a:cxnLst>
              <a:rect l="0" t="0" r="r" b="b"/>
              <a:pathLst>
                <a:path w="161" h="161">
                  <a:moveTo>
                    <a:pt x="0" y="81"/>
                  </a:moveTo>
                  <a:cubicBezTo>
                    <a:pt x="0" y="36"/>
                    <a:pt x="36" y="0"/>
                    <a:pt x="80" y="0"/>
                  </a:cubicBezTo>
                  <a:cubicBezTo>
                    <a:pt x="124" y="0"/>
                    <a:pt x="161" y="36"/>
                    <a:pt x="161" y="81"/>
                  </a:cubicBezTo>
                  <a:cubicBezTo>
                    <a:pt x="161" y="81"/>
                    <a:pt x="161" y="81"/>
                    <a:pt x="161" y="81"/>
                  </a:cubicBezTo>
                  <a:cubicBezTo>
                    <a:pt x="161" y="125"/>
                    <a:pt x="124" y="161"/>
                    <a:pt x="80" y="161"/>
                  </a:cubicBezTo>
                  <a:cubicBezTo>
                    <a:pt x="36" y="161"/>
                    <a:pt x="0" y="125"/>
                    <a:pt x="0" y="81"/>
                  </a:cubicBezTo>
                </a:path>
              </a:pathLst>
            </a:custGeom>
            <a:solidFill>
              <a:srgbClr val="FFD7D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54" name="Rectangle 294">
              <a:extLst>
                <a:ext uri="{FF2B5EF4-FFF2-40B4-BE49-F238E27FC236}">
                  <a16:creationId xmlns:a16="http://schemas.microsoft.com/office/drawing/2014/main" id="{ACEEC93C-4F1C-9D2A-1FBF-C002149B15D1}"/>
                </a:ext>
              </a:extLst>
            </p:cNvPr>
            <p:cNvSpPr>
              <a:spLocks noChangeArrowheads="1"/>
            </p:cNvSpPr>
            <p:nvPr/>
          </p:nvSpPr>
          <p:spPr bwMode="auto">
            <a:xfrm>
              <a:off x="11440400" y="1665009"/>
              <a:ext cx="301625" cy="358775"/>
            </a:xfrm>
            <a:prstGeom prst="rect">
              <a:avLst/>
            </a:prstGeom>
            <a:solidFill>
              <a:srgbClr val="F7F7F7"/>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55" name="Line 295">
              <a:extLst>
                <a:ext uri="{FF2B5EF4-FFF2-40B4-BE49-F238E27FC236}">
                  <a16:creationId xmlns:a16="http://schemas.microsoft.com/office/drawing/2014/main" id="{41BDFBA1-EEDA-B967-2627-8E5909304DF6}"/>
                </a:ext>
              </a:extLst>
            </p:cNvPr>
            <p:cNvSpPr>
              <a:spLocks noChangeShapeType="1"/>
            </p:cNvSpPr>
            <p:nvPr/>
          </p:nvSpPr>
          <p:spPr bwMode="auto">
            <a:xfrm flipV="1">
              <a:off x="10513300" y="1466572"/>
              <a:ext cx="285750" cy="125413"/>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56" name="Line 296">
              <a:extLst>
                <a:ext uri="{FF2B5EF4-FFF2-40B4-BE49-F238E27FC236}">
                  <a16:creationId xmlns:a16="http://schemas.microsoft.com/office/drawing/2014/main" id="{B8E1334C-14FD-4DC2-7F53-E74918206282}"/>
                </a:ext>
              </a:extLst>
            </p:cNvPr>
            <p:cNvSpPr>
              <a:spLocks noChangeShapeType="1"/>
            </p:cNvSpPr>
            <p:nvPr/>
          </p:nvSpPr>
          <p:spPr bwMode="auto">
            <a:xfrm>
              <a:off x="10513300" y="1591984"/>
              <a:ext cx="285750" cy="77788"/>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57" name="Line 297">
              <a:extLst>
                <a:ext uri="{FF2B5EF4-FFF2-40B4-BE49-F238E27FC236}">
                  <a16:creationId xmlns:a16="http://schemas.microsoft.com/office/drawing/2014/main" id="{AE5D0445-9A67-3FB3-5020-540A3D3F92BF}"/>
                </a:ext>
              </a:extLst>
            </p:cNvPr>
            <p:cNvSpPr>
              <a:spLocks noChangeShapeType="1"/>
            </p:cNvSpPr>
            <p:nvPr/>
          </p:nvSpPr>
          <p:spPr bwMode="auto">
            <a:xfrm>
              <a:off x="10513300" y="1591984"/>
              <a:ext cx="285750" cy="252413"/>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58" name="Line 298">
              <a:extLst>
                <a:ext uri="{FF2B5EF4-FFF2-40B4-BE49-F238E27FC236}">
                  <a16:creationId xmlns:a16="http://schemas.microsoft.com/office/drawing/2014/main" id="{C87702BA-D274-FBF9-DA92-66C1606A8742}"/>
                </a:ext>
              </a:extLst>
            </p:cNvPr>
            <p:cNvSpPr>
              <a:spLocks noChangeShapeType="1"/>
            </p:cNvSpPr>
            <p:nvPr/>
          </p:nvSpPr>
          <p:spPr bwMode="auto">
            <a:xfrm>
              <a:off x="10513300" y="1591984"/>
              <a:ext cx="285750" cy="431800"/>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59" name="Line 299">
              <a:extLst>
                <a:ext uri="{FF2B5EF4-FFF2-40B4-BE49-F238E27FC236}">
                  <a16:creationId xmlns:a16="http://schemas.microsoft.com/office/drawing/2014/main" id="{52A2F0EB-58DC-556E-C857-CE8A7727CA2B}"/>
                </a:ext>
              </a:extLst>
            </p:cNvPr>
            <p:cNvSpPr>
              <a:spLocks noChangeShapeType="1"/>
            </p:cNvSpPr>
            <p:nvPr/>
          </p:nvSpPr>
          <p:spPr bwMode="auto">
            <a:xfrm>
              <a:off x="10513300" y="1591984"/>
              <a:ext cx="285750" cy="600075"/>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60" name="Line 300">
              <a:extLst>
                <a:ext uri="{FF2B5EF4-FFF2-40B4-BE49-F238E27FC236}">
                  <a16:creationId xmlns:a16="http://schemas.microsoft.com/office/drawing/2014/main" id="{F55D2933-B043-D736-3E81-699358F97748}"/>
                </a:ext>
              </a:extLst>
            </p:cNvPr>
            <p:cNvSpPr>
              <a:spLocks noChangeShapeType="1"/>
            </p:cNvSpPr>
            <p:nvPr/>
          </p:nvSpPr>
          <p:spPr bwMode="auto">
            <a:xfrm flipV="1">
              <a:off x="10513300" y="1466572"/>
              <a:ext cx="285750" cy="377825"/>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61" name="Line 301">
              <a:extLst>
                <a:ext uri="{FF2B5EF4-FFF2-40B4-BE49-F238E27FC236}">
                  <a16:creationId xmlns:a16="http://schemas.microsoft.com/office/drawing/2014/main" id="{CDF9BA4C-C5E0-A547-31E2-5160FF571EB2}"/>
                </a:ext>
              </a:extLst>
            </p:cNvPr>
            <p:cNvSpPr>
              <a:spLocks noChangeShapeType="1"/>
            </p:cNvSpPr>
            <p:nvPr/>
          </p:nvSpPr>
          <p:spPr bwMode="auto">
            <a:xfrm>
              <a:off x="11330863" y="1844397"/>
              <a:ext cx="109538" cy="0"/>
            </a:xfrm>
            <a:prstGeom prst="line">
              <a:avLst/>
            </a:prstGeom>
            <a:noFill/>
            <a:ln w="12700" cap="rnd">
              <a:solidFill>
                <a:schemeClr val="tx1"/>
              </a:solidFill>
              <a:prstDash val="solid"/>
              <a:round/>
              <a:headEnd/>
              <a:tailEnd type="triangle"/>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62" name="Line 302">
              <a:extLst>
                <a:ext uri="{FF2B5EF4-FFF2-40B4-BE49-F238E27FC236}">
                  <a16:creationId xmlns:a16="http://schemas.microsoft.com/office/drawing/2014/main" id="{E99AB384-D953-4741-8920-D8B41123FD9A}"/>
                </a:ext>
              </a:extLst>
            </p:cNvPr>
            <p:cNvSpPr>
              <a:spLocks noChangeShapeType="1"/>
            </p:cNvSpPr>
            <p:nvPr/>
          </p:nvSpPr>
          <p:spPr bwMode="auto">
            <a:xfrm>
              <a:off x="10513300" y="1844397"/>
              <a:ext cx="285750" cy="0"/>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63" name="Line 303">
              <a:extLst>
                <a:ext uri="{FF2B5EF4-FFF2-40B4-BE49-F238E27FC236}">
                  <a16:creationId xmlns:a16="http://schemas.microsoft.com/office/drawing/2014/main" id="{84DEF526-4821-37FD-A397-1DF9DFCB5465}"/>
                </a:ext>
              </a:extLst>
            </p:cNvPr>
            <p:cNvSpPr>
              <a:spLocks noChangeShapeType="1"/>
            </p:cNvSpPr>
            <p:nvPr/>
          </p:nvSpPr>
          <p:spPr bwMode="auto">
            <a:xfrm>
              <a:off x="10513300" y="1844397"/>
              <a:ext cx="285750" cy="347663"/>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64" name="Line 304">
              <a:extLst>
                <a:ext uri="{FF2B5EF4-FFF2-40B4-BE49-F238E27FC236}">
                  <a16:creationId xmlns:a16="http://schemas.microsoft.com/office/drawing/2014/main" id="{B556CDCA-5943-AAB7-917F-B7D303EADA37}"/>
                </a:ext>
              </a:extLst>
            </p:cNvPr>
            <p:cNvSpPr>
              <a:spLocks noChangeShapeType="1"/>
            </p:cNvSpPr>
            <p:nvPr/>
          </p:nvSpPr>
          <p:spPr bwMode="auto">
            <a:xfrm>
              <a:off x="10513300" y="1844397"/>
              <a:ext cx="285750" cy="179388"/>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65" name="Line 305">
              <a:extLst>
                <a:ext uri="{FF2B5EF4-FFF2-40B4-BE49-F238E27FC236}">
                  <a16:creationId xmlns:a16="http://schemas.microsoft.com/office/drawing/2014/main" id="{AEEB4FDD-14E6-E69C-AA26-2BB672FB72BA}"/>
                </a:ext>
              </a:extLst>
            </p:cNvPr>
            <p:cNvSpPr>
              <a:spLocks noChangeShapeType="1"/>
            </p:cNvSpPr>
            <p:nvPr/>
          </p:nvSpPr>
          <p:spPr bwMode="auto">
            <a:xfrm flipV="1">
              <a:off x="10513300" y="1669772"/>
              <a:ext cx="285750" cy="174625"/>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66" name="Line 306">
              <a:extLst>
                <a:ext uri="{FF2B5EF4-FFF2-40B4-BE49-F238E27FC236}">
                  <a16:creationId xmlns:a16="http://schemas.microsoft.com/office/drawing/2014/main" id="{85FDEB9A-33DB-F832-25CB-049690775224}"/>
                </a:ext>
              </a:extLst>
            </p:cNvPr>
            <p:cNvSpPr>
              <a:spLocks noChangeShapeType="1"/>
            </p:cNvSpPr>
            <p:nvPr/>
          </p:nvSpPr>
          <p:spPr bwMode="auto">
            <a:xfrm>
              <a:off x="10513300" y="2096809"/>
              <a:ext cx="285750" cy="95250"/>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67" name="Line 307">
              <a:extLst>
                <a:ext uri="{FF2B5EF4-FFF2-40B4-BE49-F238E27FC236}">
                  <a16:creationId xmlns:a16="http://schemas.microsoft.com/office/drawing/2014/main" id="{D5AE164F-B543-B8DD-BB3D-8A40AACA47B2}"/>
                </a:ext>
              </a:extLst>
            </p:cNvPr>
            <p:cNvSpPr>
              <a:spLocks noChangeShapeType="1"/>
            </p:cNvSpPr>
            <p:nvPr/>
          </p:nvSpPr>
          <p:spPr bwMode="auto">
            <a:xfrm flipV="1">
              <a:off x="10513300" y="2023784"/>
              <a:ext cx="285750" cy="73025"/>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68" name="Line 308">
              <a:extLst>
                <a:ext uri="{FF2B5EF4-FFF2-40B4-BE49-F238E27FC236}">
                  <a16:creationId xmlns:a16="http://schemas.microsoft.com/office/drawing/2014/main" id="{074EAE02-C7A7-CB8F-E0F6-4426A9A7044A}"/>
                </a:ext>
              </a:extLst>
            </p:cNvPr>
            <p:cNvSpPr>
              <a:spLocks noChangeShapeType="1"/>
            </p:cNvSpPr>
            <p:nvPr/>
          </p:nvSpPr>
          <p:spPr bwMode="auto">
            <a:xfrm flipV="1">
              <a:off x="10513300" y="1844397"/>
              <a:ext cx="285750" cy="252413"/>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69" name="Line 309">
              <a:extLst>
                <a:ext uri="{FF2B5EF4-FFF2-40B4-BE49-F238E27FC236}">
                  <a16:creationId xmlns:a16="http://schemas.microsoft.com/office/drawing/2014/main" id="{7778413E-3BEA-4763-4A58-95045F322339}"/>
                </a:ext>
              </a:extLst>
            </p:cNvPr>
            <p:cNvSpPr>
              <a:spLocks noChangeShapeType="1"/>
            </p:cNvSpPr>
            <p:nvPr/>
          </p:nvSpPr>
          <p:spPr bwMode="auto">
            <a:xfrm flipV="1">
              <a:off x="10513300" y="1669772"/>
              <a:ext cx="285750" cy="427038"/>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70" name="Line 310">
              <a:extLst>
                <a:ext uri="{FF2B5EF4-FFF2-40B4-BE49-F238E27FC236}">
                  <a16:creationId xmlns:a16="http://schemas.microsoft.com/office/drawing/2014/main" id="{A9153715-CE09-A620-FBCB-30B528F73ED0}"/>
                </a:ext>
              </a:extLst>
            </p:cNvPr>
            <p:cNvSpPr>
              <a:spLocks noChangeShapeType="1"/>
            </p:cNvSpPr>
            <p:nvPr/>
          </p:nvSpPr>
          <p:spPr bwMode="auto">
            <a:xfrm flipV="1">
              <a:off x="10513300" y="1466572"/>
              <a:ext cx="285750" cy="630238"/>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71" name="Line 311">
              <a:extLst>
                <a:ext uri="{FF2B5EF4-FFF2-40B4-BE49-F238E27FC236}">
                  <a16:creationId xmlns:a16="http://schemas.microsoft.com/office/drawing/2014/main" id="{A824A039-03FE-A548-10F2-4DE4E2681D8E}"/>
                </a:ext>
              </a:extLst>
            </p:cNvPr>
            <p:cNvSpPr>
              <a:spLocks noChangeShapeType="1"/>
            </p:cNvSpPr>
            <p:nvPr/>
          </p:nvSpPr>
          <p:spPr bwMode="auto">
            <a:xfrm>
              <a:off x="10873663" y="1466572"/>
              <a:ext cx="163513" cy="377825"/>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72" name="Line 312">
              <a:extLst>
                <a:ext uri="{FF2B5EF4-FFF2-40B4-BE49-F238E27FC236}">
                  <a16:creationId xmlns:a16="http://schemas.microsoft.com/office/drawing/2014/main" id="{31299E68-0663-E706-6E87-0E740C2DE822}"/>
                </a:ext>
              </a:extLst>
            </p:cNvPr>
            <p:cNvSpPr>
              <a:spLocks noChangeShapeType="1"/>
            </p:cNvSpPr>
            <p:nvPr/>
          </p:nvSpPr>
          <p:spPr bwMode="auto">
            <a:xfrm>
              <a:off x="10873663" y="1669772"/>
              <a:ext cx="163513" cy="174625"/>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73" name="Line 313">
              <a:extLst>
                <a:ext uri="{FF2B5EF4-FFF2-40B4-BE49-F238E27FC236}">
                  <a16:creationId xmlns:a16="http://schemas.microsoft.com/office/drawing/2014/main" id="{566F8D01-24B2-EBF8-B2C4-63DC81E6B989}"/>
                </a:ext>
              </a:extLst>
            </p:cNvPr>
            <p:cNvSpPr>
              <a:spLocks noChangeShapeType="1"/>
            </p:cNvSpPr>
            <p:nvPr/>
          </p:nvSpPr>
          <p:spPr bwMode="auto">
            <a:xfrm>
              <a:off x="10873663" y="1844397"/>
              <a:ext cx="163513" cy="0"/>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74" name="Line 314">
              <a:extLst>
                <a:ext uri="{FF2B5EF4-FFF2-40B4-BE49-F238E27FC236}">
                  <a16:creationId xmlns:a16="http://schemas.microsoft.com/office/drawing/2014/main" id="{5F392878-B60C-78D3-AAFE-1292377A7DDD}"/>
                </a:ext>
              </a:extLst>
            </p:cNvPr>
            <p:cNvSpPr>
              <a:spLocks noChangeShapeType="1"/>
            </p:cNvSpPr>
            <p:nvPr/>
          </p:nvSpPr>
          <p:spPr bwMode="auto">
            <a:xfrm flipV="1">
              <a:off x="10873663" y="1844397"/>
              <a:ext cx="163513" cy="179388"/>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75" name="Line 315">
              <a:extLst>
                <a:ext uri="{FF2B5EF4-FFF2-40B4-BE49-F238E27FC236}">
                  <a16:creationId xmlns:a16="http://schemas.microsoft.com/office/drawing/2014/main" id="{402478EC-1F45-1996-761B-B788FFD84324}"/>
                </a:ext>
              </a:extLst>
            </p:cNvPr>
            <p:cNvSpPr>
              <a:spLocks noChangeShapeType="1"/>
            </p:cNvSpPr>
            <p:nvPr/>
          </p:nvSpPr>
          <p:spPr bwMode="auto">
            <a:xfrm flipV="1">
              <a:off x="10873663" y="1844397"/>
              <a:ext cx="163513" cy="347663"/>
            </a:xfrm>
            <a:prstGeom prst="line">
              <a:avLst/>
            </a:prstGeom>
            <a:noFill/>
            <a:ln w="12700" cap="rnd">
              <a:solidFill>
                <a:srgbClr val="1473D0"/>
              </a:solidFill>
              <a:prstDash val="solid"/>
              <a:round/>
              <a:headEnd type="none" w="med" len="med"/>
              <a:tailEnd type="triangle" w="sm" len="sm"/>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97" name="Line 339">
              <a:extLst>
                <a:ext uri="{FF2B5EF4-FFF2-40B4-BE49-F238E27FC236}">
                  <a16:creationId xmlns:a16="http://schemas.microsoft.com/office/drawing/2014/main" id="{2D810881-85D9-8B76-D430-6641557FE3C4}"/>
                </a:ext>
              </a:extLst>
            </p:cNvPr>
            <p:cNvSpPr>
              <a:spLocks noChangeShapeType="1"/>
            </p:cNvSpPr>
            <p:nvPr/>
          </p:nvSpPr>
          <p:spPr bwMode="auto">
            <a:xfrm>
              <a:off x="10794288" y="4018368"/>
              <a:ext cx="0" cy="568325"/>
            </a:xfrm>
            <a:prstGeom prst="line">
              <a:avLst/>
            </a:prstGeom>
            <a:noFill/>
            <a:ln w="12700" cap="rnd">
              <a:solidFill>
                <a:schemeClr val="tx1"/>
              </a:solidFill>
              <a:prstDash val="sysDot"/>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98" name="Rectangle 340">
              <a:extLst>
                <a:ext uri="{FF2B5EF4-FFF2-40B4-BE49-F238E27FC236}">
                  <a16:creationId xmlns:a16="http://schemas.microsoft.com/office/drawing/2014/main" id="{41006092-C0C3-8B51-4E76-38E711B08F24}"/>
                </a:ext>
              </a:extLst>
            </p:cNvPr>
            <p:cNvSpPr>
              <a:spLocks noChangeArrowheads="1"/>
            </p:cNvSpPr>
            <p:nvPr/>
          </p:nvSpPr>
          <p:spPr bwMode="auto">
            <a:xfrm>
              <a:off x="9761158" y="5336897"/>
              <a:ext cx="2143125" cy="52388"/>
            </a:xfrm>
            <a:prstGeom prst="rect">
              <a:avLst/>
            </a:prstGeom>
            <a:solidFill>
              <a:srgbClr val="7B309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699" name="Freeform 341">
              <a:extLst>
                <a:ext uri="{FF2B5EF4-FFF2-40B4-BE49-F238E27FC236}">
                  <a16:creationId xmlns:a16="http://schemas.microsoft.com/office/drawing/2014/main" id="{21B16694-8A86-F112-ECFB-1A44CE231200}"/>
                </a:ext>
              </a:extLst>
            </p:cNvPr>
            <p:cNvSpPr>
              <a:spLocks/>
            </p:cNvSpPr>
            <p:nvPr/>
          </p:nvSpPr>
          <p:spPr bwMode="auto">
            <a:xfrm>
              <a:off x="9473488" y="3957359"/>
              <a:ext cx="350838" cy="6985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00" name="圆柱体 699">
              <a:extLst>
                <a:ext uri="{FF2B5EF4-FFF2-40B4-BE49-F238E27FC236}">
                  <a16:creationId xmlns:a16="http://schemas.microsoft.com/office/drawing/2014/main" id="{2C2DC2D6-5378-0686-63E4-357A5E4EDEFB}"/>
                </a:ext>
              </a:extLst>
            </p:cNvPr>
            <p:cNvSpPr/>
            <p:nvPr/>
          </p:nvSpPr>
          <p:spPr>
            <a:xfrm rot="5400000">
              <a:off x="6963253" y="1904327"/>
              <a:ext cx="333374" cy="153193"/>
            </a:xfrm>
            <a:prstGeom prst="can">
              <a:avLst/>
            </a:prstGeom>
            <a:solidFill>
              <a:srgbClr val="D6E7F7"/>
            </a:solidFill>
            <a:ln w="127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1" name="圆柱体 700">
              <a:extLst>
                <a:ext uri="{FF2B5EF4-FFF2-40B4-BE49-F238E27FC236}">
                  <a16:creationId xmlns:a16="http://schemas.microsoft.com/office/drawing/2014/main" id="{FF0098FC-01EB-C79A-E319-0EF45071A89E}"/>
                </a:ext>
              </a:extLst>
            </p:cNvPr>
            <p:cNvSpPr/>
            <p:nvPr/>
          </p:nvSpPr>
          <p:spPr>
            <a:xfrm rot="5400000">
              <a:off x="6963253" y="3699788"/>
              <a:ext cx="333374" cy="153193"/>
            </a:xfrm>
            <a:prstGeom prst="can">
              <a:avLst/>
            </a:prstGeom>
            <a:solidFill>
              <a:srgbClr val="D6E7F7"/>
            </a:solidFill>
            <a:ln w="127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00" name="组合 799">
              <a:extLst>
                <a:ext uri="{FF2B5EF4-FFF2-40B4-BE49-F238E27FC236}">
                  <a16:creationId xmlns:a16="http://schemas.microsoft.com/office/drawing/2014/main" id="{89B06DAE-DBD3-7F15-4D67-C53DD14AC381}"/>
                </a:ext>
              </a:extLst>
            </p:cNvPr>
            <p:cNvGrpSpPr/>
            <p:nvPr/>
          </p:nvGrpSpPr>
          <p:grpSpPr>
            <a:xfrm>
              <a:off x="9882164" y="2923120"/>
              <a:ext cx="614479" cy="966646"/>
              <a:chOff x="7875483" y="2895975"/>
              <a:chExt cx="673100" cy="1058863"/>
            </a:xfrm>
          </p:grpSpPr>
          <p:sp>
            <p:nvSpPr>
              <p:cNvPr id="676" name="Line 316">
                <a:extLst>
                  <a:ext uri="{FF2B5EF4-FFF2-40B4-BE49-F238E27FC236}">
                    <a16:creationId xmlns:a16="http://schemas.microsoft.com/office/drawing/2014/main" id="{1E353FAB-9203-5FFD-E622-5833097D1CCF}"/>
                  </a:ext>
                </a:extLst>
              </p:cNvPr>
              <p:cNvSpPr>
                <a:spLocks noChangeShapeType="1"/>
              </p:cNvSpPr>
              <p:nvPr/>
            </p:nvSpPr>
            <p:spPr bwMode="auto">
              <a:xfrm>
                <a:off x="8032645" y="2895975"/>
                <a:ext cx="215900" cy="8255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77" name="Line 317">
                <a:extLst>
                  <a:ext uri="{FF2B5EF4-FFF2-40B4-BE49-F238E27FC236}">
                    <a16:creationId xmlns:a16="http://schemas.microsoft.com/office/drawing/2014/main" id="{8EDE020E-E07B-2107-FBFC-7F8AEB18F73B}"/>
                  </a:ext>
                </a:extLst>
              </p:cNvPr>
              <p:cNvSpPr>
                <a:spLocks noChangeShapeType="1"/>
              </p:cNvSpPr>
              <p:nvPr/>
            </p:nvSpPr>
            <p:spPr bwMode="auto">
              <a:xfrm>
                <a:off x="8248545" y="2978525"/>
                <a:ext cx="20638" cy="207963"/>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78" name="Line 318">
                <a:extLst>
                  <a:ext uri="{FF2B5EF4-FFF2-40B4-BE49-F238E27FC236}">
                    <a16:creationId xmlns:a16="http://schemas.microsoft.com/office/drawing/2014/main" id="{F412C0FE-E885-2215-29D7-47C506E5C8E5}"/>
                  </a:ext>
                </a:extLst>
              </p:cNvPr>
              <p:cNvSpPr>
                <a:spLocks noChangeShapeType="1"/>
              </p:cNvSpPr>
              <p:nvPr/>
            </p:nvSpPr>
            <p:spPr bwMode="auto">
              <a:xfrm>
                <a:off x="7875483" y="3035675"/>
                <a:ext cx="20638" cy="20320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79" name="Line 319">
                <a:extLst>
                  <a:ext uri="{FF2B5EF4-FFF2-40B4-BE49-F238E27FC236}">
                    <a16:creationId xmlns:a16="http://schemas.microsoft.com/office/drawing/2014/main" id="{1C84F466-72E9-83DF-AA65-FAB6B20B0539}"/>
                  </a:ext>
                </a:extLst>
              </p:cNvPr>
              <p:cNvSpPr>
                <a:spLocks noChangeShapeType="1"/>
              </p:cNvSpPr>
              <p:nvPr/>
            </p:nvSpPr>
            <p:spPr bwMode="auto">
              <a:xfrm flipV="1">
                <a:off x="7875483" y="2895975"/>
                <a:ext cx="157163" cy="13970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80" name="Line 320">
                <a:extLst>
                  <a:ext uri="{FF2B5EF4-FFF2-40B4-BE49-F238E27FC236}">
                    <a16:creationId xmlns:a16="http://schemas.microsoft.com/office/drawing/2014/main" id="{78E7CEE7-4F14-8655-E817-1E2801F26A77}"/>
                  </a:ext>
                </a:extLst>
              </p:cNvPr>
              <p:cNvSpPr>
                <a:spLocks noChangeShapeType="1"/>
              </p:cNvSpPr>
              <p:nvPr/>
            </p:nvSpPr>
            <p:spPr bwMode="auto">
              <a:xfrm>
                <a:off x="7896120" y="3238875"/>
                <a:ext cx="222250" cy="80963"/>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81" name="Line 321">
                <a:extLst>
                  <a:ext uri="{FF2B5EF4-FFF2-40B4-BE49-F238E27FC236}">
                    <a16:creationId xmlns:a16="http://schemas.microsoft.com/office/drawing/2014/main" id="{B657D063-A3F8-5496-9A38-BA8358A50611}"/>
                  </a:ext>
                </a:extLst>
              </p:cNvPr>
              <p:cNvSpPr>
                <a:spLocks noChangeShapeType="1"/>
              </p:cNvSpPr>
              <p:nvPr/>
            </p:nvSpPr>
            <p:spPr bwMode="auto">
              <a:xfrm flipV="1">
                <a:off x="8118370" y="3186487"/>
                <a:ext cx="150813" cy="13335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82" name="Line 322">
                <a:extLst>
                  <a:ext uri="{FF2B5EF4-FFF2-40B4-BE49-F238E27FC236}">
                    <a16:creationId xmlns:a16="http://schemas.microsoft.com/office/drawing/2014/main" id="{80344052-AB38-D55D-3946-68E09AA555DD}"/>
                  </a:ext>
                </a:extLst>
              </p:cNvPr>
              <p:cNvSpPr>
                <a:spLocks noChangeShapeType="1"/>
              </p:cNvSpPr>
              <p:nvPr/>
            </p:nvSpPr>
            <p:spPr bwMode="auto">
              <a:xfrm>
                <a:off x="8269183" y="3186487"/>
                <a:ext cx="207963" cy="7937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83" name="Line 323">
                <a:extLst>
                  <a:ext uri="{FF2B5EF4-FFF2-40B4-BE49-F238E27FC236}">
                    <a16:creationId xmlns:a16="http://schemas.microsoft.com/office/drawing/2014/main" id="{EA4D6577-6542-D1D2-9FC9-BDCED55F4350}"/>
                  </a:ext>
                </a:extLst>
              </p:cNvPr>
              <p:cNvSpPr>
                <a:spLocks noChangeShapeType="1"/>
              </p:cNvSpPr>
              <p:nvPr/>
            </p:nvSpPr>
            <p:spPr bwMode="auto">
              <a:xfrm>
                <a:off x="8477145" y="3265862"/>
                <a:ext cx="71438" cy="20637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84" name="Line 324">
                <a:extLst>
                  <a:ext uri="{FF2B5EF4-FFF2-40B4-BE49-F238E27FC236}">
                    <a16:creationId xmlns:a16="http://schemas.microsoft.com/office/drawing/2014/main" id="{B428F69C-B1F0-974D-6CD9-92E4F3795FA0}"/>
                  </a:ext>
                </a:extLst>
              </p:cNvPr>
              <p:cNvSpPr>
                <a:spLocks noChangeShapeType="1"/>
              </p:cNvSpPr>
              <p:nvPr/>
            </p:nvSpPr>
            <p:spPr bwMode="auto">
              <a:xfrm flipH="1">
                <a:off x="8405708" y="3472237"/>
                <a:ext cx="142875" cy="141288"/>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85" name="Line 325">
                <a:extLst>
                  <a:ext uri="{FF2B5EF4-FFF2-40B4-BE49-F238E27FC236}">
                    <a16:creationId xmlns:a16="http://schemas.microsoft.com/office/drawing/2014/main" id="{91689238-9067-15E4-435C-0F6DF388BEAD}"/>
                  </a:ext>
                </a:extLst>
              </p:cNvPr>
              <p:cNvSpPr>
                <a:spLocks noChangeShapeType="1"/>
              </p:cNvSpPr>
              <p:nvPr/>
            </p:nvSpPr>
            <p:spPr bwMode="auto">
              <a:xfrm flipH="1" flipV="1">
                <a:off x="8188220" y="3529387"/>
                <a:ext cx="217488" cy="84138"/>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86" name="Line 326">
                <a:extLst>
                  <a:ext uri="{FF2B5EF4-FFF2-40B4-BE49-F238E27FC236}">
                    <a16:creationId xmlns:a16="http://schemas.microsoft.com/office/drawing/2014/main" id="{01D613E6-28BA-807D-F101-F6C74DA39016}"/>
                  </a:ext>
                </a:extLst>
              </p:cNvPr>
              <p:cNvSpPr>
                <a:spLocks noChangeShapeType="1"/>
              </p:cNvSpPr>
              <p:nvPr/>
            </p:nvSpPr>
            <p:spPr bwMode="auto">
              <a:xfrm flipH="1" flipV="1">
                <a:off x="8118370" y="3319837"/>
                <a:ext cx="69850" cy="20955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87" name="Line 327">
                <a:extLst>
                  <a:ext uri="{FF2B5EF4-FFF2-40B4-BE49-F238E27FC236}">
                    <a16:creationId xmlns:a16="http://schemas.microsoft.com/office/drawing/2014/main" id="{C08DD97F-5C33-2089-4CF1-5BD6099291AD}"/>
                  </a:ext>
                </a:extLst>
              </p:cNvPr>
              <p:cNvSpPr>
                <a:spLocks noChangeShapeType="1"/>
              </p:cNvSpPr>
              <p:nvPr/>
            </p:nvSpPr>
            <p:spPr bwMode="auto">
              <a:xfrm flipH="1">
                <a:off x="8048520" y="3529387"/>
                <a:ext cx="139700" cy="13652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88" name="Line 328">
                <a:extLst>
                  <a:ext uri="{FF2B5EF4-FFF2-40B4-BE49-F238E27FC236}">
                    <a16:creationId xmlns:a16="http://schemas.microsoft.com/office/drawing/2014/main" id="{264B1CA0-FB38-ECA6-8EDD-8ED9AFACCE60}"/>
                  </a:ext>
                </a:extLst>
              </p:cNvPr>
              <p:cNvSpPr>
                <a:spLocks noChangeShapeType="1"/>
              </p:cNvSpPr>
              <p:nvPr/>
            </p:nvSpPr>
            <p:spPr bwMode="auto">
              <a:xfrm>
                <a:off x="8048520" y="3665912"/>
                <a:ext cx="11113" cy="188913"/>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89" name="Line 329">
                <a:extLst>
                  <a:ext uri="{FF2B5EF4-FFF2-40B4-BE49-F238E27FC236}">
                    <a16:creationId xmlns:a16="http://schemas.microsoft.com/office/drawing/2014/main" id="{08538804-C1DF-79A8-A097-E2E5443EB591}"/>
                  </a:ext>
                </a:extLst>
              </p:cNvPr>
              <p:cNvSpPr>
                <a:spLocks noChangeShapeType="1"/>
              </p:cNvSpPr>
              <p:nvPr/>
            </p:nvSpPr>
            <p:spPr bwMode="auto">
              <a:xfrm>
                <a:off x="8059633" y="3854825"/>
                <a:ext cx="233363" cy="100013"/>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90" name="Line 330">
                <a:extLst>
                  <a:ext uri="{FF2B5EF4-FFF2-40B4-BE49-F238E27FC236}">
                    <a16:creationId xmlns:a16="http://schemas.microsoft.com/office/drawing/2014/main" id="{BFFF32FE-D6C7-4FED-BBC5-376539B7230C}"/>
                  </a:ext>
                </a:extLst>
              </p:cNvPr>
              <p:cNvSpPr>
                <a:spLocks noChangeShapeType="1"/>
              </p:cNvSpPr>
              <p:nvPr/>
            </p:nvSpPr>
            <p:spPr bwMode="auto">
              <a:xfrm flipV="1">
                <a:off x="8292995" y="3816725"/>
                <a:ext cx="136525" cy="138113"/>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91" name="Line 331">
                <a:extLst>
                  <a:ext uri="{FF2B5EF4-FFF2-40B4-BE49-F238E27FC236}">
                    <a16:creationId xmlns:a16="http://schemas.microsoft.com/office/drawing/2014/main" id="{B73840E1-B95C-F894-E8D1-B08854ABEF32}"/>
                  </a:ext>
                </a:extLst>
              </p:cNvPr>
              <p:cNvSpPr>
                <a:spLocks noChangeShapeType="1"/>
              </p:cNvSpPr>
              <p:nvPr/>
            </p:nvSpPr>
            <p:spPr bwMode="auto">
              <a:xfrm>
                <a:off x="8405708" y="3613525"/>
                <a:ext cx="23813" cy="20320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92" name="Line 332">
                <a:extLst>
                  <a:ext uri="{FF2B5EF4-FFF2-40B4-BE49-F238E27FC236}">
                    <a16:creationId xmlns:a16="http://schemas.microsoft.com/office/drawing/2014/main" id="{98A14536-4D2B-CB95-70B8-4E8AF5D7D113}"/>
                  </a:ext>
                </a:extLst>
              </p:cNvPr>
              <p:cNvSpPr>
                <a:spLocks noChangeShapeType="1"/>
              </p:cNvSpPr>
              <p:nvPr/>
            </p:nvSpPr>
            <p:spPr bwMode="auto">
              <a:xfrm>
                <a:off x="8380308" y="3648450"/>
                <a:ext cx="19050" cy="160338"/>
              </a:xfrm>
              <a:prstGeom prst="line">
                <a:avLst/>
              </a:prstGeom>
              <a:noFill/>
              <a:ln w="12700" cap="rnd">
                <a:solidFill>
                  <a:schemeClr val="tx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93" name="Line 333">
                <a:extLst>
                  <a:ext uri="{FF2B5EF4-FFF2-40B4-BE49-F238E27FC236}">
                    <a16:creationId xmlns:a16="http://schemas.microsoft.com/office/drawing/2014/main" id="{7538D7F9-475C-CED2-DBE5-CF85D7F7275A}"/>
                  </a:ext>
                </a:extLst>
              </p:cNvPr>
              <p:cNvSpPr>
                <a:spLocks noChangeShapeType="1"/>
              </p:cNvSpPr>
              <p:nvPr/>
            </p:nvSpPr>
            <p:spPr bwMode="auto">
              <a:xfrm flipV="1">
                <a:off x="8073920" y="3573837"/>
                <a:ext cx="111125" cy="109538"/>
              </a:xfrm>
              <a:prstGeom prst="line">
                <a:avLst/>
              </a:prstGeom>
              <a:noFill/>
              <a:ln w="12700" cap="rnd">
                <a:solidFill>
                  <a:schemeClr val="tx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94" name="Line 334">
                <a:extLst>
                  <a:ext uri="{FF2B5EF4-FFF2-40B4-BE49-F238E27FC236}">
                    <a16:creationId xmlns:a16="http://schemas.microsoft.com/office/drawing/2014/main" id="{7053ABD3-0107-D859-F424-144931548ABF}"/>
                  </a:ext>
                </a:extLst>
              </p:cNvPr>
              <p:cNvSpPr>
                <a:spLocks noChangeShapeType="1"/>
              </p:cNvSpPr>
              <p:nvPr/>
            </p:nvSpPr>
            <p:spPr bwMode="auto">
              <a:xfrm>
                <a:off x="8100908" y="3837362"/>
                <a:ext cx="174625" cy="74613"/>
              </a:xfrm>
              <a:prstGeom prst="line">
                <a:avLst/>
              </a:prstGeom>
              <a:noFill/>
              <a:ln w="12700" cap="rnd">
                <a:solidFill>
                  <a:schemeClr val="tx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95" name="Freeform 337">
                <a:extLst>
                  <a:ext uri="{FF2B5EF4-FFF2-40B4-BE49-F238E27FC236}">
                    <a16:creationId xmlns:a16="http://schemas.microsoft.com/office/drawing/2014/main" id="{E20B7C08-D4DA-0133-5D08-891BEC086D8C}"/>
                  </a:ext>
                </a:extLst>
              </p:cNvPr>
              <p:cNvSpPr>
                <a:spLocks/>
              </p:cNvSpPr>
              <p:nvPr/>
            </p:nvSpPr>
            <p:spPr bwMode="auto">
              <a:xfrm>
                <a:off x="8015183" y="3634162"/>
                <a:ext cx="65088" cy="63500"/>
              </a:xfrm>
              <a:custGeom>
                <a:avLst/>
                <a:gdLst>
                  <a:gd name="T0" fmla="*/ 0 w 41"/>
                  <a:gd name="T1" fmla="*/ 20 h 40"/>
                  <a:gd name="T2" fmla="*/ 21 w 41"/>
                  <a:gd name="T3" fmla="*/ 0 h 40"/>
                  <a:gd name="T4" fmla="*/ 41 w 41"/>
                  <a:gd name="T5" fmla="*/ 20 h 40"/>
                  <a:gd name="T6" fmla="*/ 41 w 41"/>
                  <a:gd name="T7" fmla="*/ 20 h 40"/>
                  <a:gd name="T8" fmla="*/ 21 w 41"/>
                  <a:gd name="T9" fmla="*/ 40 h 40"/>
                  <a:gd name="T10" fmla="*/ 0 w 41"/>
                  <a:gd name="T11" fmla="*/ 20 h 40"/>
                </a:gdLst>
                <a:ahLst/>
                <a:cxnLst>
                  <a:cxn ang="0">
                    <a:pos x="T0" y="T1"/>
                  </a:cxn>
                  <a:cxn ang="0">
                    <a:pos x="T2" y="T3"/>
                  </a:cxn>
                  <a:cxn ang="0">
                    <a:pos x="T4" y="T5"/>
                  </a:cxn>
                  <a:cxn ang="0">
                    <a:pos x="T6" y="T7"/>
                  </a:cxn>
                  <a:cxn ang="0">
                    <a:pos x="T8" y="T9"/>
                  </a:cxn>
                  <a:cxn ang="0">
                    <a:pos x="T10" y="T11"/>
                  </a:cxn>
                </a:cxnLst>
                <a:rect l="0" t="0" r="r" b="b"/>
                <a:pathLst>
                  <a:path w="41" h="40">
                    <a:moveTo>
                      <a:pt x="0" y="20"/>
                    </a:moveTo>
                    <a:cubicBezTo>
                      <a:pt x="0" y="9"/>
                      <a:pt x="10" y="0"/>
                      <a:pt x="21" y="0"/>
                    </a:cubicBezTo>
                    <a:cubicBezTo>
                      <a:pt x="32" y="0"/>
                      <a:pt x="41" y="9"/>
                      <a:pt x="41" y="20"/>
                    </a:cubicBezTo>
                    <a:cubicBezTo>
                      <a:pt x="41" y="20"/>
                      <a:pt x="41" y="20"/>
                      <a:pt x="41" y="20"/>
                    </a:cubicBezTo>
                    <a:cubicBezTo>
                      <a:pt x="41" y="31"/>
                      <a:pt x="32" y="40"/>
                      <a:pt x="21" y="40"/>
                    </a:cubicBezTo>
                    <a:cubicBezTo>
                      <a:pt x="10" y="40"/>
                      <a:pt x="0" y="31"/>
                      <a:pt x="0" y="20"/>
                    </a:cubicBezTo>
                  </a:path>
                </a:pathLst>
              </a:custGeom>
              <a:solidFill>
                <a:srgbClr val="E75300"/>
              </a:solidFill>
              <a:ln w="12700" cap="rnd">
                <a:noFill/>
                <a:prstDash val="solid"/>
                <a:round/>
                <a:headEnd/>
                <a:tailEnd/>
              </a:ln>
              <a:effectLst>
                <a:glow rad="63500">
                  <a:schemeClr val="accent2">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696" name="Freeform 338">
                <a:extLst>
                  <a:ext uri="{FF2B5EF4-FFF2-40B4-BE49-F238E27FC236}">
                    <a16:creationId xmlns:a16="http://schemas.microsoft.com/office/drawing/2014/main" id="{6BC1FAF6-60DC-6144-E38D-AA930C8BEBFF}"/>
                  </a:ext>
                </a:extLst>
              </p:cNvPr>
              <p:cNvSpPr>
                <a:spLocks/>
              </p:cNvSpPr>
              <p:nvPr/>
            </p:nvSpPr>
            <p:spPr bwMode="auto">
              <a:xfrm>
                <a:off x="8373958" y="3581775"/>
                <a:ext cx="61913" cy="65088"/>
              </a:xfrm>
              <a:custGeom>
                <a:avLst/>
                <a:gdLst>
                  <a:gd name="T0" fmla="*/ 0 w 39"/>
                  <a:gd name="T1" fmla="*/ 20 h 41"/>
                  <a:gd name="T2" fmla="*/ 20 w 39"/>
                  <a:gd name="T3" fmla="*/ 0 h 41"/>
                  <a:gd name="T4" fmla="*/ 39 w 39"/>
                  <a:gd name="T5" fmla="*/ 20 h 41"/>
                  <a:gd name="T6" fmla="*/ 39 w 39"/>
                  <a:gd name="T7" fmla="*/ 20 h 41"/>
                  <a:gd name="T8" fmla="*/ 20 w 39"/>
                  <a:gd name="T9" fmla="*/ 41 h 41"/>
                  <a:gd name="T10" fmla="*/ 0 w 39"/>
                  <a:gd name="T11" fmla="*/ 20 h 41"/>
                </a:gdLst>
                <a:ahLst/>
                <a:cxnLst>
                  <a:cxn ang="0">
                    <a:pos x="T0" y="T1"/>
                  </a:cxn>
                  <a:cxn ang="0">
                    <a:pos x="T2" y="T3"/>
                  </a:cxn>
                  <a:cxn ang="0">
                    <a:pos x="T4" y="T5"/>
                  </a:cxn>
                  <a:cxn ang="0">
                    <a:pos x="T6" y="T7"/>
                  </a:cxn>
                  <a:cxn ang="0">
                    <a:pos x="T8" y="T9"/>
                  </a:cxn>
                  <a:cxn ang="0">
                    <a:pos x="T10" y="T11"/>
                  </a:cxn>
                </a:cxnLst>
                <a:rect l="0" t="0" r="r" b="b"/>
                <a:pathLst>
                  <a:path w="39" h="41">
                    <a:moveTo>
                      <a:pt x="0" y="20"/>
                    </a:moveTo>
                    <a:cubicBezTo>
                      <a:pt x="0" y="9"/>
                      <a:pt x="9" y="0"/>
                      <a:pt x="20" y="0"/>
                    </a:cubicBezTo>
                    <a:cubicBezTo>
                      <a:pt x="30" y="0"/>
                      <a:pt x="39" y="9"/>
                      <a:pt x="39" y="20"/>
                    </a:cubicBezTo>
                    <a:cubicBezTo>
                      <a:pt x="39" y="20"/>
                      <a:pt x="39" y="20"/>
                      <a:pt x="39" y="20"/>
                    </a:cubicBezTo>
                    <a:cubicBezTo>
                      <a:pt x="39" y="32"/>
                      <a:pt x="30" y="41"/>
                      <a:pt x="20" y="41"/>
                    </a:cubicBezTo>
                    <a:cubicBezTo>
                      <a:pt x="9" y="41"/>
                      <a:pt x="0" y="32"/>
                      <a:pt x="0" y="20"/>
                    </a:cubicBezTo>
                  </a:path>
                </a:pathLst>
              </a:custGeom>
              <a:solidFill>
                <a:srgbClr val="E75300"/>
              </a:solidFill>
              <a:ln w="12700" cap="rnd">
                <a:noFill/>
                <a:prstDash val="solid"/>
                <a:round/>
                <a:headEnd/>
                <a:tailEnd/>
              </a:ln>
              <a:effectLst>
                <a:glow rad="63500">
                  <a:schemeClr val="accent2">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02" name="Freeform 335">
                <a:extLst>
                  <a:ext uri="{FF2B5EF4-FFF2-40B4-BE49-F238E27FC236}">
                    <a16:creationId xmlns:a16="http://schemas.microsoft.com/office/drawing/2014/main" id="{B9ADD600-EACE-272B-FEA1-12165D67B588}"/>
                  </a:ext>
                </a:extLst>
              </p:cNvPr>
              <p:cNvSpPr>
                <a:spLocks/>
              </p:cNvSpPr>
              <p:nvPr/>
            </p:nvSpPr>
            <p:spPr bwMode="auto">
              <a:xfrm>
                <a:off x="8237433" y="3154737"/>
                <a:ext cx="63500" cy="63500"/>
              </a:xfrm>
              <a:custGeom>
                <a:avLst/>
                <a:gdLst>
                  <a:gd name="T0" fmla="*/ 0 w 40"/>
                  <a:gd name="T1" fmla="*/ 20 h 40"/>
                  <a:gd name="T2" fmla="*/ 20 w 40"/>
                  <a:gd name="T3" fmla="*/ 0 h 40"/>
                  <a:gd name="T4" fmla="*/ 40 w 40"/>
                  <a:gd name="T5" fmla="*/ 20 h 40"/>
                  <a:gd name="T6" fmla="*/ 40 w 40"/>
                  <a:gd name="T7" fmla="*/ 20 h 40"/>
                  <a:gd name="T8" fmla="*/ 20 w 40"/>
                  <a:gd name="T9" fmla="*/ 40 h 40"/>
                  <a:gd name="T10" fmla="*/ 0 w 40"/>
                  <a:gd name="T11" fmla="*/ 20 h 40"/>
                </a:gdLst>
                <a:ahLst/>
                <a:cxnLst>
                  <a:cxn ang="0">
                    <a:pos x="T0" y="T1"/>
                  </a:cxn>
                  <a:cxn ang="0">
                    <a:pos x="T2" y="T3"/>
                  </a:cxn>
                  <a:cxn ang="0">
                    <a:pos x="T4" y="T5"/>
                  </a:cxn>
                  <a:cxn ang="0">
                    <a:pos x="T6" y="T7"/>
                  </a:cxn>
                  <a:cxn ang="0">
                    <a:pos x="T8" y="T9"/>
                  </a:cxn>
                  <a:cxn ang="0">
                    <a:pos x="T10" y="T11"/>
                  </a:cxn>
                </a:cxnLst>
                <a:rect l="0" t="0" r="r" b="b"/>
                <a:pathLst>
                  <a:path w="40" h="40">
                    <a:moveTo>
                      <a:pt x="0" y="20"/>
                    </a:moveTo>
                    <a:cubicBezTo>
                      <a:pt x="0" y="9"/>
                      <a:pt x="9" y="0"/>
                      <a:pt x="20" y="0"/>
                    </a:cubicBezTo>
                    <a:cubicBezTo>
                      <a:pt x="30" y="0"/>
                      <a:pt x="40" y="9"/>
                      <a:pt x="40" y="20"/>
                    </a:cubicBezTo>
                    <a:cubicBezTo>
                      <a:pt x="40" y="20"/>
                      <a:pt x="40" y="20"/>
                      <a:pt x="40" y="20"/>
                    </a:cubicBezTo>
                    <a:cubicBezTo>
                      <a:pt x="40" y="31"/>
                      <a:pt x="30" y="40"/>
                      <a:pt x="20" y="40"/>
                    </a:cubicBezTo>
                    <a:cubicBezTo>
                      <a:pt x="9" y="40"/>
                      <a:pt x="0" y="31"/>
                      <a:pt x="0" y="20"/>
                    </a:cubicBezTo>
                  </a:path>
                </a:pathLst>
              </a:custGeom>
              <a:solidFill>
                <a:srgbClr val="E75300"/>
              </a:solidFill>
              <a:ln w="12700" cap="rnd">
                <a:noFill/>
                <a:prstDash val="solid"/>
                <a:round/>
                <a:headEnd/>
                <a:tailEnd/>
              </a:ln>
              <a:effectLst>
                <a:glow rad="63500">
                  <a:schemeClr val="accent2">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03" name="Freeform 336">
                <a:extLst>
                  <a:ext uri="{FF2B5EF4-FFF2-40B4-BE49-F238E27FC236}">
                    <a16:creationId xmlns:a16="http://schemas.microsoft.com/office/drawing/2014/main" id="{CB050844-BE29-8A62-EDD0-E99F126D30EF}"/>
                  </a:ext>
                </a:extLst>
              </p:cNvPr>
              <p:cNvSpPr>
                <a:spLocks/>
              </p:cNvSpPr>
              <p:nvPr/>
            </p:nvSpPr>
            <p:spPr bwMode="auto">
              <a:xfrm>
                <a:off x="8086620" y="3288087"/>
                <a:ext cx="63500" cy="63500"/>
              </a:xfrm>
              <a:custGeom>
                <a:avLst/>
                <a:gdLst>
                  <a:gd name="T0" fmla="*/ 0 w 40"/>
                  <a:gd name="T1" fmla="*/ 20 h 40"/>
                  <a:gd name="T2" fmla="*/ 20 w 40"/>
                  <a:gd name="T3" fmla="*/ 0 h 40"/>
                  <a:gd name="T4" fmla="*/ 40 w 40"/>
                  <a:gd name="T5" fmla="*/ 20 h 40"/>
                  <a:gd name="T6" fmla="*/ 40 w 40"/>
                  <a:gd name="T7" fmla="*/ 20 h 40"/>
                  <a:gd name="T8" fmla="*/ 20 w 40"/>
                  <a:gd name="T9" fmla="*/ 40 h 40"/>
                  <a:gd name="T10" fmla="*/ 0 w 40"/>
                  <a:gd name="T11" fmla="*/ 20 h 40"/>
                </a:gdLst>
                <a:ahLst/>
                <a:cxnLst>
                  <a:cxn ang="0">
                    <a:pos x="T0" y="T1"/>
                  </a:cxn>
                  <a:cxn ang="0">
                    <a:pos x="T2" y="T3"/>
                  </a:cxn>
                  <a:cxn ang="0">
                    <a:pos x="T4" y="T5"/>
                  </a:cxn>
                  <a:cxn ang="0">
                    <a:pos x="T6" y="T7"/>
                  </a:cxn>
                  <a:cxn ang="0">
                    <a:pos x="T8" y="T9"/>
                  </a:cxn>
                  <a:cxn ang="0">
                    <a:pos x="T10" y="T11"/>
                  </a:cxn>
                </a:cxnLst>
                <a:rect l="0" t="0" r="r" b="b"/>
                <a:pathLst>
                  <a:path w="40" h="40">
                    <a:moveTo>
                      <a:pt x="0" y="20"/>
                    </a:moveTo>
                    <a:cubicBezTo>
                      <a:pt x="0" y="9"/>
                      <a:pt x="9" y="0"/>
                      <a:pt x="20" y="0"/>
                    </a:cubicBezTo>
                    <a:cubicBezTo>
                      <a:pt x="31" y="0"/>
                      <a:pt x="40" y="9"/>
                      <a:pt x="40" y="20"/>
                    </a:cubicBezTo>
                    <a:cubicBezTo>
                      <a:pt x="40" y="20"/>
                      <a:pt x="40" y="20"/>
                      <a:pt x="40" y="20"/>
                    </a:cubicBezTo>
                    <a:cubicBezTo>
                      <a:pt x="40" y="31"/>
                      <a:pt x="31" y="40"/>
                      <a:pt x="20" y="40"/>
                    </a:cubicBezTo>
                    <a:cubicBezTo>
                      <a:pt x="9" y="40"/>
                      <a:pt x="0" y="31"/>
                      <a:pt x="0" y="20"/>
                    </a:cubicBezTo>
                  </a:path>
                </a:pathLst>
              </a:custGeom>
              <a:solidFill>
                <a:srgbClr val="E75300"/>
              </a:solidFill>
              <a:ln w="12700" cap="rnd">
                <a:noFill/>
                <a:prstDash val="solid"/>
                <a:round/>
                <a:headEnd/>
                <a:tailEnd/>
              </a:ln>
              <a:effectLst>
                <a:glow rad="63500">
                  <a:schemeClr val="accent2">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grpSp>
        <p:cxnSp>
          <p:nvCxnSpPr>
            <p:cNvPr id="705" name="直接连接符 704">
              <a:extLst>
                <a:ext uri="{FF2B5EF4-FFF2-40B4-BE49-F238E27FC236}">
                  <a16:creationId xmlns:a16="http://schemas.microsoft.com/office/drawing/2014/main" id="{445B4C28-C69F-51CD-7BA6-0A6305D34B06}"/>
                </a:ext>
              </a:extLst>
            </p:cNvPr>
            <p:cNvCxnSpPr>
              <a:cxnSpLocks/>
            </p:cNvCxnSpPr>
            <p:nvPr/>
          </p:nvCxnSpPr>
          <p:spPr>
            <a:xfrm>
              <a:off x="9462375" y="2771497"/>
              <a:ext cx="23241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08" name="文本框 707">
              <a:extLst>
                <a:ext uri="{FF2B5EF4-FFF2-40B4-BE49-F238E27FC236}">
                  <a16:creationId xmlns:a16="http://schemas.microsoft.com/office/drawing/2014/main" id="{6D243CA7-7433-0A6F-8759-38637420B64F}"/>
                </a:ext>
              </a:extLst>
            </p:cNvPr>
            <p:cNvSpPr txBox="1"/>
            <p:nvPr/>
          </p:nvSpPr>
          <p:spPr>
            <a:xfrm>
              <a:off x="6520243" y="1450466"/>
              <a:ext cx="588623" cy="253916"/>
            </a:xfrm>
            <a:prstGeom prst="rect">
              <a:avLst/>
            </a:prstGeom>
            <a:noFill/>
          </p:spPr>
          <p:txBody>
            <a:bodyPr wrap="none" rtlCol="0">
              <a:spAutoFit/>
            </a:bodyPr>
            <a:lstStyle/>
            <a:p>
              <a:r>
                <a:rPr lang="zh-CN" altLang="en-US" sz="1050" dirty="0"/>
                <a:t>蛋白质</a:t>
              </a:r>
            </a:p>
          </p:txBody>
        </p:sp>
        <p:sp>
          <p:nvSpPr>
            <p:cNvPr id="709" name="文本框 708">
              <a:extLst>
                <a:ext uri="{FF2B5EF4-FFF2-40B4-BE49-F238E27FC236}">
                  <a16:creationId xmlns:a16="http://schemas.microsoft.com/office/drawing/2014/main" id="{19E9F954-9E27-2FDC-8EB8-EDD4FF9AC8F4}"/>
                </a:ext>
              </a:extLst>
            </p:cNvPr>
            <p:cNvSpPr txBox="1"/>
            <p:nvPr/>
          </p:nvSpPr>
          <p:spPr>
            <a:xfrm>
              <a:off x="6605009" y="4077566"/>
              <a:ext cx="453970" cy="253916"/>
            </a:xfrm>
            <a:prstGeom prst="rect">
              <a:avLst/>
            </a:prstGeom>
            <a:noFill/>
          </p:spPr>
          <p:txBody>
            <a:bodyPr wrap="none" rtlCol="0">
              <a:spAutoFit/>
            </a:bodyPr>
            <a:lstStyle/>
            <a:p>
              <a:r>
                <a:rPr lang="zh-CN" altLang="en-US" sz="1050" dirty="0"/>
                <a:t>药物</a:t>
              </a:r>
            </a:p>
          </p:txBody>
        </p:sp>
        <p:sp>
          <p:nvSpPr>
            <p:cNvPr id="710" name="文本框 709">
              <a:extLst>
                <a:ext uri="{FF2B5EF4-FFF2-40B4-BE49-F238E27FC236}">
                  <a16:creationId xmlns:a16="http://schemas.microsoft.com/office/drawing/2014/main" id="{9EDB31AF-6B9B-4C2B-D727-0718B51905D5}"/>
                </a:ext>
              </a:extLst>
            </p:cNvPr>
            <p:cNvSpPr txBox="1"/>
            <p:nvPr/>
          </p:nvSpPr>
          <p:spPr>
            <a:xfrm>
              <a:off x="6899439" y="1624789"/>
              <a:ext cx="530915" cy="230832"/>
            </a:xfrm>
            <a:prstGeom prst="rect">
              <a:avLst/>
            </a:prstGeom>
            <a:noFill/>
          </p:spPr>
          <p:txBody>
            <a:bodyPr wrap="none" rtlCol="0">
              <a:spAutoFit/>
            </a:bodyPr>
            <a:lstStyle/>
            <a:p>
              <a:r>
                <a:rPr lang="zh-CN" altLang="en-US" sz="900" dirty="0"/>
                <a:t>全连接</a:t>
              </a:r>
            </a:p>
          </p:txBody>
        </p:sp>
        <p:sp>
          <p:nvSpPr>
            <p:cNvPr id="711" name="文本框 710">
              <a:extLst>
                <a:ext uri="{FF2B5EF4-FFF2-40B4-BE49-F238E27FC236}">
                  <a16:creationId xmlns:a16="http://schemas.microsoft.com/office/drawing/2014/main" id="{7816F907-2D9A-7C8A-5FFF-B950FF23F898}"/>
                </a:ext>
              </a:extLst>
            </p:cNvPr>
            <p:cNvSpPr txBox="1"/>
            <p:nvPr/>
          </p:nvSpPr>
          <p:spPr>
            <a:xfrm>
              <a:off x="6946501" y="3957365"/>
              <a:ext cx="530915" cy="230832"/>
            </a:xfrm>
            <a:prstGeom prst="rect">
              <a:avLst/>
            </a:prstGeom>
            <a:noFill/>
          </p:spPr>
          <p:txBody>
            <a:bodyPr wrap="none" rtlCol="0">
              <a:spAutoFit/>
            </a:bodyPr>
            <a:lstStyle/>
            <a:p>
              <a:r>
                <a:rPr lang="zh-CN" altLang="en-US" sz="900" dirty="0"/>
                <a:t>全连接</a:t>
              </a:r>
            </a:p>
          </p:txBody>
        </p:sp>
        <p:sp>
          <p:nvSpPr>
            <p:cNvPr id="712" name="文本框 711">
              <a:extLst>
                <a:ext uri="{FF2B5EF4-FFF2-40B4-BE49-F238E27FC236}">
                  <a16:creationId xmlns:a16="http://schemas.microsoft.com/office/drawing/2014/main" id="{C061CCDA-A7DE-959C-00D2-8203E72D984F}"/>
                </a:ext>
              </a:extLst>
            </p:cNvPr>
            <p:cNvSpPr txBox="1"/>
            <p:nvPr/>
          </p:nvSpPr>
          <p:spPr>
            <a:xfrm>
              <a:off x="7107834" y="2022167"/>
              <a:ext cx="352982" cy="200055"/>
            </a:xfrm>
            <a:prstGeom prst="rect">
              <a:avLst/>
            </a:prstGeom>
            <a:noFill/>
          </p:spPr>
          <p:txBody>
            <a:bodyPr wrap="none" rtlCol="0">
              <a:spAutoFit/>
            </a:bodyPr>
            <a:lstStyle/>
            <a:p>
              <a:r>
                <a:rPr lang="en-US" altLang="zh-CN" sz="700" dirty="0" err="1"/>
                <a:t>Relu</a:t>
              </a:r>
              <a:endParaRPr lang="zh-CN" altLang="en-US" sz="700" dirty="0"/>
            </a:p>
          </p:txBody>
        </p:sp>
        <p:sp>
          <p:nvSpPr>
            <p:cNvPr id="715" name="文本框 714">
              <a:extLst>
                <a:ext uri="{FF2B5EF4-FFF2-40B4-BE49-F238E27FC236}">
                  <a16:creationId xmlns:a16="http://schemas.microsoft.com/office/drawing/2014/main" id="{E893894E-DFD3-9A58-0E29-430D6A1DD337}"/>
                </a:ext>
              </a:extLst>
            </p:cNvPr>
            <p:cNvSpPr txBox="1"/>
            <p:nvPr/>
          </p:nvSpPr>
          <p:spPr>
            <a:xfrm>
              <a:off x="7133513" y="3560668"/>
              <a:ext cx="352982" cy="200055"/>
            </a:xfrm>
            <a:prstGeom prst="rect">
              <a:avLst/>
            </a:prstGeom>
            <a:noFill/>
          </p:spPr>
          <p:txBody>
            <a:bodyPr wrap="none" rtlCol="0">
              <a:spAutoFit/>
            </a:bodyPr>
            <a:lstStyle/>
            <a:p>
              <a:r>
                <a:rPr lang="en-US" altLang="zh-CN" sz="700" dirty="0" err="1"/>
                <a:t>Relu</a:t>
              </a:r>
              <a:endParaRPr lang="zh-CN" altLang="en-US" sz="700" dirty="0"/>
            </a:p>
          </p:txBody>
        </p:sp>
        <mc:AlternateContent xmlns:mc="http://schemas.openxmlformats.org/markup-compatibility/2006">
          <mc:Choice xmlns:a14="http://schemas.microsoft.com/office/drawing/2010/main" Requires="a14">
            <p:sp>
              <p:nvSpPr>
                <p:cNvPr id="716" name="文本框 715">
                  <a:extLst>
                    <a:ext uri="{FF2B5EF4-FFF2-40B4-BE49-F238E27FC236}">
                      <a16:creationId xmlns:a16="http://schemas.microsoft.com/office/drawing/2014/main" id="{ED4DFF2B-D234-1D43-D47A-8BA39981B59D}"/>
                    </a:ext>
                  </a:extLst>
                </p:cNvPr>
                <p:cNvSpPr txBox="1"/>
                <p:nvPr/>
              </p:nvSpPr>
              <p:spPr>
                <a:xfrm>
                  <a:off x="7559179" y="2470861"/>
                  <a:ext cx="95963" cy="1758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sz="500" i="1" smtClean="0">
                                <a:latin typeface="Cambria Math" panose="02040503050406030204" pitchFamily="18" charset="0"/>
                              </a:rPr>
                            </m:ctrlPr>
                          </m:sSubPr>
                          <m:e>
                            <m:r>
                              <a:rPr lang="en-US" altLang="zh-CN" sz="500" b="0" i="1" smtClean="0">
                                <a:latin typeface="Cambria Math" panose="02040503050406030204" pitchFamily="18" charset="0"/>
                              </a:rPr>
                              <m:t>𝑄</m:t>
                            </m:r>
                          </m:e>
                          <m:sub>
                            <m:r>
                              <a:rPr lang="en-US" altLang="zh-CN" sz="500" b="0" i="1" smtClean="0">
                                <a:latin typeface="Cambria Math" panose="02040503050406030204" pitchFamily="18" charset="0"/>
                              </a:rPr>
                              <m:t>1</m:t>
                            </m:r>
                          </m:sub>
                        </m:sSub>
                      </m:oMath>
                    </m:oMathPara>
                  </a14:m>
                  <a:endParaRPr lang="zh-CN" altLang="en-US" sz="500" dirty="0"/>
                </a:p>
              </p:txBody>
            </p:sp>
          </mc:Choice>
          <mc:Fallback>
            <p:sp>
              <p:nvSpPr>
                <p:cNvPr id="716" name="文本框 715">
                  <a:extLst>
                    <a:ext uri="{FF2B5EF4-FFF2-40B4-BE49-F238E27FC236}">
                      <a16:creationId xmlns:a16="http://schemas.microsoft.com/office/drawing/2014/main" id="{ED4DFF2B-D234-1D43-D47A-8BA39981B59D}"/>
                    </a:ext>
                  </a:extLst>
                </p:cNvPr>
                <p:cNvSpPr txBox="1">
                  <a:spLocks noRot="1" noChangeAspect="1" noMove="1" noResize="1" noEditPoints="1" noAdjustHandles="1" noChangeArrowheads="1" noChangeShapeType="1" noTextEdit="1"/>
                </p:cNvSpPr>
                <p:nvPr/>
              </p:nvSpPr>
              <p:spPr>
                <a:xfrm>
                  <a:off x="7559179" y="2470861"/>
                  <a:ext cx="95963" cy="175822"/>
                </a:xfrm>
                <a:prstGeom prst="rect">
                  <a:avLst/>
                </a:prstGeom>
                <a:blipFill>
                  <a:blip r:embed="rId5"/>
                  <a:stretch>
                    <a:fillRect r="-37500"/>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717" name="文本框 716">
                  <a:extLst>
                    <a:ext uri="{FF2B5EF4-FFF2-40B4-BE49-F238E27FC236}">
                      <a16:creationId xmlns:a16="http://schemas.microsoft.com/office/drawing/2014/main" id="{2F5A2C82-BA8A-06A9-C10E-975FC9D8F2FD}"/>
                    </a:ext>
                  </a:extLst>
                </p:cNvPr>
                <p:cNvSpPr txBox="1"/>
                <p:nvPr/>
              </p:nvSpPr>
              <p:spPr>
                <a:xfrm>
                  <a:off x="7556078" y="2780565"/>
                  <a:ext cx="95963" cy="1758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sz="500" i="1" smtClean="0">
                                <a:latin typeface="Cambria Math" panose="02040503050406030204" pitchFamily="18" charset="0"/>
                              </a:rPr>
                            </m:ctrlPr>
                          </m:sSubPr>
                          <m:e>
                            <m:r>
                              <a:rPr lang="en-US" altLang="zh-CN" sz="500" b="0" i="1" smtClean="0">
                                <a:latin typeface="Cambria Math" panose="02040503050406030204" pitchFamily="18" charset="0"/>
                              </a:rPr>
                              <m:t>𝐾</m:t>
                            </m:r>
                          </m:e>
                          <m:sub>
                            <m:r>
                              <a:rPr lang="en-US" altLang="zh-CN" sz="500" b="0" i="1" smtClean="0">
                                <a:latin typeface="Cambria Math" panose="02040503050406030204" pitchFamily="18" charset="0"/>
                              </a:rPr>
                              <m:t>1</m:t>
                            </m:r>
                          </m:sub>
                        </m:sSub>
                      </m:oMath>
                    </m:oMathPara>
                  </a14:m>
                  <a:endParaRPr lang="zh-CN" altLang="en-US" sz="500" dirty="0"/>
                </a:p>
              </p:txBody>
            </p:sp>
          </mc:Choice>
          <mc:Fallback>
            <p:sp>
              <p:nvSpPr>
                <p:cNvPr id="717" name="文本框 716">
                  <a:extLst>
                    <a:ext uri="{FF2B5EF4-FFF2-40B4-BE49-F238E27FC236}">
                      <a16:creationId xmlns:a16="http://schemas.microsoft.com/office/drawing/2014/main" id="{2F5A2C82-BA8A-06A9-C10E-975FC9D8F2FD}"/>
                    </a:ext>
                  </a:extLst>
                </p:cNvPr>
                <p:cNvSpPr txBox="1">
                  <a:spLocks noRot="1" noChangeAspect="1" noMove="1" noResize="1" noEditPoints="1" noAdjustHandles="1" noChangeArrowheads="1" noChangeShapeType="1" noTextEdit="1"/>
                </p:cNvSpPr>
                <p:nvPr/>
              </p:nvSpPr>
              <p:spPr>
                <a:xfrm>
                  <a:off x="7556078" y="2780565"/>
                  <a:ext cx="95963" cy="175822"/>
                </a:xfrm>
                <a:prstGeom prst="rect">
                  <a:avLst/>
                </a:prstGeom>
                <a:blipFill>
                  <a:blip r:embed="rId6"/>
                  <a:stretch>
                    <a:fillRect r="-31250"/>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718" name="文本框 717">
                  <a:extLst>
                    <a:ext uri="{FF2B5EF4-FFF2-40B4-BE49-F238E27FC236}">
                      <a16:creationId xmlns:a16="http://schemas.microsoft.com/office/drawing/2014/main" id="{8D0E9B81-14FC-F82F-20E8-B819AB6466B1}"/>
                    </a:ext>
                  </a:extLst>
                </p:cNvPr>
                <p:cNvSpPr txBox="1"/>
                <p:nvPr/>
              </p:nvSpPr>
              <p:spPr>
                <a:xfrm>
                  <a:off x="7564052" y="3079916"/>
                  <a:ext cx="95963" cy="1758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sz="500" i="1" smtClean="0">
                                <a:latin typeface="Cambria Math" panose="02040503050406030204" pitchFamily="18" charset="0"/>
                              </a:rPr>
                            </m:ctrlPr>
                          </m:sSubPr>
                          <m:e>
                            <m:r>
                              <a:rPr lang="en-US" altLang="zh-CN" sz="500" b="0" i="1" smtClean="0">
                                <a:latin typeface="Cambria Math" panose="02040503050406030204" pitchFamily="18" charset="0"/>
                              </a:rPr>
                              <m:t>𝑉</m:t>
                            </m:r>
                          </m:e>
                          <m:sub>
                            <m:r>
                              <a:rPr lang="en-US" altLang="zh-CN" sz="500" b="0" i="1" smtClean="0">
                                <a:latin typeface="Cambria Math" panose="02040503050406030204" pitchFamily="18" charset="0"/>
                              </a:rPr>
                              <m:t>1</m:t>
                            </m:r>
                          </m:sub>
                        </m:sSub>
                      </m:oMath>
                    </m:oMathPara>
                  </a14:m>
                  <a:endParaRPr lang="zh-CN" altLang="en-US" sz="500" dirty="0"/>
                </a:p>
              </p:txBody>
            </p:sp>
          </mc:Choice>
          <mc:Fallback>
            <p:sp>
              <p:nvSpPr>
                <p:cNvPr id="718" name="文本框 717">
                  <a:extLst>
                    <a:ext uri="{FF2B5EF4-FFF2-40B4-BE49-F238E27FC236}">
                      <a16:creationId xmlns:a16="http://schemas.microsoft.com/office/drawing/2014/main" id="{8D0E9B81-14FC-F82F-20E8-B819AB6466B1}"/>
                    </a:ext>
                  </a:extLst>
                </p:cNvPr>
                <p:cNvSpPr txBox="1">
                  <a:spLocks noRot="1" noChangeAspect="1" noMove="1" noResize="1" noEditPoints="1" noAdjustHandles="1" noChangeArrowheads="1" noChangeShapeType="1" noTextEdit="1"/>
                </p:cNvSpPr>
                <p:nvPr/>
              </p:nvSpPr>
              <p:spPr>
                <a:xfrm>
                  <a:off x="7564052" y="3079916"/>
                  <a:ext cx="95963" cy="175822"/>
                </a:xfrm>
                <a:prstGeom prst="rect">
                  <a:avLst/>
                </a:prstGeom>
                <a:blipFill>
                  <a:blip r:embed="rId7"/>
                  <a:stretch>
                    <a:fillRect r="-2666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719" name="文本框 718">
                  <a:extLst>
                    <a:ext uri="{FF2B5EF4-FFF2-40B4-BE49-F238E27FC236}">
                      <a16:creationId xmlns:a16="http://schemas.microsoft.com/office/drawing/2014/main" id="{8C40028B-38BB-0F97-CA6A-F64A65E4BB2E}"/>
                    </a:ext>
                  </a:extLst>
                </p:cNvPr>
                <p:cNvSpPr txBox="1"/>
                <p:nvPr/>
              </p:nvSpPr>
              <p:spPr>
                <a:xfrm>
                  <a:off x="7693510" y="2469191"/>
                  <a:ext cx="95963" cy="1758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sz="500" i="1" smtClean="0">
                                <a:latin typeface="Cambria Math" panose="02040503050406030204" pitchFamily="18" charset="0"/>
                              </a:rPr>
                            </m:ctrlPr>
                          </m:sSubPr>
                          <m:e>
                            <m:r>
                              <a:rPr lang="en-US" altLang="zh-CN" sz="500" b="0" i="1" smtClean="0">
                                <a:latin typeface="Cambria Math" panose="02040503050406030204" pitchFamily="18" charset="0"/>
                              </a:rPr>
                              <m:t>𝑄</m:t>
                            </m:r>
                          </m:e>
                          <m:sub>
                            <m:r>
                              <a:rPr lang="en-US" altLang="zh-CN" sz="500" b="0" i="1" smtClean="0">
                                <a:latin typeface="Cambria Math" panose="02040503050406030204" pitchFamily="18" charset="0"/>
                              </a:rPr>
                              <m:t>2</m:t>
                            </m:r>
                          </m:sub>
                        </m:sSub>
                      </m:oMath>
                    </m:oMathPara>
                  </a14:m>
                  <a:endParaRPr lang="zh-CN" altLang="en-US" sz="500" dirty="0"/>
                </a:p>
              </p:txBody>
            </p:sp>
          </mc:Choice>
          <mc:Fallback>
            <p:sp>
              <p:nvSpPr>
                <p:cNvPr id="719" name="文本框 718">
                  <a:extLst>
                    <a:ext uri="{FF2B5EF4-FFF2-40B4-BE49-F238E27FC236}">
                      <a16:creationId xmlns:a16="http://schemas.microsoft.com/office/drawing/2014/main" id="{8C40028B-38BB-0F97-CA6A-F64A65E4BB2E}"/>
                    </a:ext>
                  </a:extLst>
                </p:cNvPr>
                <p:cNvSpPr txBox="1">
                  <a:spLocks noRot="1" noChangeAspect="1" noMove="1" noResize="1" noEditPoints="1" noAdjustHandles="1" noChangeArrowheads="1" noChangeShapeType="1" noTextEdit="1"/>
                </p:cNvSpPr>
                <p:nvPr/>
              </p:nvSpPr>
              <p:spPr>
                <a:xfrm>
                  <a:off x="7693510" y="2469191"/>
                  <a:ext cx="95963" cy="175822"/>
                </a:xfrm>
                <a:prstGeom prst="rect">
                  <a:avLst/>
                </a:prstGeom>
                <a:blipFill>
                  <a:blip r:embed="rId8"/>
                  <a:stretch>
                    <a:fillRect r="-37500"/>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721" name="文本框 720">
                  <a:extLst>
                    <a:ext uri="{FF2B5EF4-FFF2-40B4-BE49-F238E27FC236}">
                      <a16:creationId xmlns:a16="http://schemas.microsoft.com/office/drawing/2014/main" id="{F857CE8D-AC32-95C6-224A-D091BED434FA}"/>
                    </a:ext>
                  </a:extLst>
                </p:cNvPr>
                <p:cNvSpPr txBox="1"/>
                <p:nvPr/>
              </p:nvSpPr>
              <p:spPr>
                <a:xfrm>
                  <a:off x="7942424" y="2468010"/>
                  <a:ext cx="95963" cy="1758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sz="500" i="1" smtClean="0">
                                <a:latin typeface="Cambria Math" panose="02040503050406030204" pitchFamily="18" charset="0"/>
                              </a:rPr>
                            </m:ctrlPr>
                          </m:sSubPr>
                          <m:e>
                            <m:r>
                              <a:rPr lang="en-US" altLang="zh-CN" sz="500" b="0" i="1" smtClean="0">
                                <a:latin typeface="Cambria Math" panose="02040503050406030204" pitchFamily="18" charset="0"/>
                              </a:rPr>
                              <m:t>𝑄</m:t>
                            </m:r>
                          </m:e>
                          <m:sub>
                            <m:r>
                              <a:rPr lang="en-US" altLang="zh-CN" sz="500" b="0" i="1" smtClean="0">
                                <a:latin typeface="Cambria Math" panose="02040503050406030204" pitchFamily="18" charset="0"/>
                              </a:rPr>
                              <m:t>h</m:t>
                            </m:r>
                          </m:sub>
                        </m:sSub>
                      </m:oMath>
                    </m:oMathPara>
                  </a14:m>
                  <a:endParaRPr lang="zh-CN" altLang="en-US" sz="500" dirty="0"/>
                </a:p>
              </p:txBody>
            </p:sp>
          </mc:Choice>
          <mc:Fallback>
            <p:sp>
              <p:nvSpPr>
                <p:cNvPr id="721" name="文本框 720">
                  <a:extLst>
                    <a:ext uri="{FF2B5EF4-FFF2-40B4-BE49-F238E27FC236}">
                      <a16:creationId xmlns:a16="http://schemas.microsoft.com/office/drawing/2014/main" id="{F857CE8D-AC32-95C6-224A-D091BED434FA}"/>
                    </a:ext>
                  </a:extLst>
                </p:cNvPr>
                <p:cNvSpPr txBox="1">
                  <a:spLocks noRot="1" noChangeAspect="1" noMove="1" noResize="1" noEditPoints="1" noAdjustHandles="1" noChangeArrowheads="1" noChangeShapeType="1" noTextEdit="1"/>
                </p:cNvSpPr>
                <p:nvPr/>
              </p:nvSpPr>
              <p:spPr>
                <a:xfrm>
                  <a:off x="7942424" y="2468010"/>
                  <a:ext cx="95963" cy="175822"/>
                </a:xfrm>
                <a:prstGeom prst="rect">
                  <a:avLst/>
                </a:prstGeom>
                <a:blipFill>
                  <a:blip r:embed="rId9"/>
                  <a:stretch>
                    <a:fillRect r="-4666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722" name="文本框 721">
                  <a:extLst>
                    <a:ext uri="{FF2B5EF4-FFF2-40B4-BE49-F238E27FC236}">
                      <a16:creationId xmlns:a16="http://schemas.microsoft.com/office/drawing/2014/main" id="{ABF28388-FC43-8291-A1A6-4EECA1ECA8E3}"/>
                    </a:ext>
                  </a:extLst>
                </p:cNvPr>
                <p:cNvSpPr txBox="1"/>
                <p:nvPr/>
              </p:nvSpPr>
              <p:spPr>
                <a:xfrm>
                  <a:off x="7689428" y="2780565"/>
                  <a:ext cx="95963" cy="1758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sz="500" i="1" smtClean="0">
                                <a:latin typeface="Cambria Math" panose="02040503050406030204" pitchFamily="18" charset="0"/>
                              </a:rPr>
                            </m:ctrlPr>
                          </m:sSubPr>
                          <m:e>
                            <m:r>
                              <a:rPr lang="en-US" altLang="zh-CN" sz="500" b="0" i="1" smtClean="0">
                                <a:latin typeface="Cambria Math" panose="02040503050406030204" pitchFamily="18" charset="0"/>
                              </a:rPr>
                              <m:t>𝐾</m:t>
                            </m:r>
                          </m:e>
                          <m:sub>
                            <m:r>
                              <a:rPr lang="en-US" altLang="zh-CN" sz="500" b="0" i="1" smtClean="0">
                                <a:latin typeface="Cambria Math" panose="02040503050406030204" pitchFamily="18" charset="0"/>
                              </a:rPr>
                              <m:t>2</m:t>
                            </m:r>
                          </m:sub>
                        </m:sSub>
                      </m:oMath>
                    </m:oMathPara>
                  </a14:m>
                  <a:endParaRPr lang="zh-CN" altLang="en-US" sz="500" dirty="0"/>
                </a:p>
              </p:txBody>
            </p:sp>
          </mc:Choice>
          <mc:Fallback>
            <p:sp>
              <p:nvSpPr>
                <p:cNvPr id="722" name="文本框 721">
                  <a:extLst>
                    <a:ext uri="{FF2B5EF4-FFF2-40B4-BE49-F238E27FC236}">
                      <a16:creationId xmlns:a16="http://schemas.microsoft.com/office/drawing/2014/main" id="{ABF28388-FC43-8291-A1A6-4EECA1ECA8E3}"/>
                    </a:ext>
                  </a:extLst>
                </p:cNvPr>
                <p:cNvSpPr txBox="1">
                  <a:spLocks noRot="1" noChangeAspect="1" noMove="1" noResize="1" noEditPoints="1" noAdjustHandles="1" noChangeArrowheads="1" noChangeShapeType="1" noTextEdit="1"/>
                </p:cNvSpPr>
                <p:nvPr/>
              </p:nvSpPr>
              <p:spPr>
                <a:xfrm>
                  <a:off x="7689428" y="2780565"/>
                  <a:ext cx="95963" cy="175822"/>
                </a:xfrm>
                <a:prstGeom prst="rect">
                  <a:avLst/>
                </a:prstGeom>
                <a:blipFill>
                  <a:blip r:embed="rId10"/>
                  <a:stretch>
                    <a:fillRect r="-31250"/>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724" name="文本框 723">
                  <a:extLst>
                    <a:ext uri="{FF2B5EF4-FFF2-40B4-BE49-F238E27FC236}">
                      <a16:creationId xmlns:a16="http://schemas.microsoft.com/office/drawing/2014/main" id="{04620B4C-DE5C-E5A0-D9E7-E61375689876}"/>
                    </a:ext>
                  </a:extLst>
                </p:cNvPr>
                <p:cNvSpPr txBox="1"/>
                <p:nvPr/>
              </p:nvSpPr>
              <p:spPr>
                <a:xfrm>
                  <a:off x="7949926" y="2780565"/>
                  <a:ext cx="95963" cy="1758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sz="500" i="1" smtClean="0">
                                <a:latin typeface="Cambria Math" panose="02040503050406030204" pitchFamily="18" charset="0"/>
                              </a:rPr>
                            </m:ctrlPr>
                          </m:sSubPr>
                          <m:e>
                            <m:r>
                              <a:rPr lang="en-US" altLang="zh-CN" sz="500" b="0" i="1" smtClean="0">
                                <a:latin typeface="Cambria Math" panose="02040503050406030204" pitchFamily="18" charset="0"/>
                              </a:rPr>
                              <m:t>𝐾</m:t>
                            </m:r>
                          </m:e>
                          <m:sub>
                            <m:r>
                              <a:rPr lang="en-US" altLang="zh-CN" sz="500" b="0" i="1" smtClean="0">
                                <a:latin typeface="Cambria Math" panose="02040503050406030204" pitchFamily="18" charset="0"/>
                              </a:rPr>
                              <m:t>h</m:t>
                            </m:r>
                          </m:sub>
                        </m:sSub>
                      </m:oMath>
                    </m:oMathPara>
                  </a14:m>
                  <a:endParaRPr lang="zh-CN" altLang="en-US" sz="500" dirty="0"/>
                </a:p>
              </p:txBody>
            </p:sp>
          </mc:Choice>
          <mc:Fallback>
            <p:sp>
              <p:nvSpPr>
                <p:cNvPr id="724" name="文本框 723">
                  <a:extLst>
                    <a:ext uri="{FF2B5EF4-FFF2-40B4-BE49-F238E27FC236}">
                      <a16:creationId xmlns:a16="http://schemas.microsoft.com/office/drawing/2014/main" id="{04620B4C-DE5C-E5A0-D9E7-E61375689876}"/>
                    </a:ext>
                  </a:extLst>
                </p:cNvPr>
                <p:cNvSpPr txBox="1">
                  <a:spLocks noRot="1" noChangeAspect="1" noMove="1" noResize="1" noEditPoints="1" noAdjustHandles="1" noChangeArrowheads="1" noChangeShapeType="1" noTextEdit="1"/>
                </p:cNvSpPr>
                <p:nvPr/>
              </p:nvSpPr>
              <p:spPr>
                <a:xfrm>
                  <a:off x="7949926" y="2780565"/>
                  <a:ext cx="95963" cy="175822"/>
                </a:xfrm>
                <a:prstGeom prst="rect">
                  <a:avLst/>
                </a:prstGeom>
                <a:blipFill>
                  <a:blip r:embed="rId11"/>
                  <a:stretch>
                    <a:fillRect r="-31250"/>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725" name="文本框 724">
                  <a:extLst>
                    <a:ext uri="{FF2B5EF4-FFF2-40B4-BE49-F238E27FC236}">
                      <a16:creationId xmlns:a16="http://schemas.microsoft.com/office/drawing/2014/main" id="{7F4D8C75-2203-2233-7EE6-706CCA1E07DC}"/>
                    </a:ext>
                  </a:extLst>
                </p:cNvPr>
                <p:cNvSpPr txBox="1"/>
                <p:nvPr/>
              </p:nvSpPr>
              <p:spPr>
                <a:xfrm>
                  <a:off x="7698194" y="3077536"/>
                  <a:ext cx="95963" cy="1758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sz="500" i="1" smtClean="0">
                                <a:latin typeface="Cambria Math" panose="02040503050406030204" pitchFamily="18" charset="0"/>
                              </a:rPr>
                            </m:ctrlPr>
                          </m:sSubPr>
                          <m:e>
                            <m:r>
                              <a:rPr lang="en-US" altLang="zh-CN" sz="500" b="0" i="1" smtClean="0">
                                <a:latin typeface="Cambria Math" panose="02040503050406030204" pitchFamily="18" charset="0"/>
                              </a:rPr>
                              <m:t>𝑉</m:t>
                            </m:r>
                          </m:e>
                          <m:sub>
                            <m:r>
                              <a:rPr lang="en-US" altLang="zh-CN" sz="500" b="0" i="1" smtClean="0">
                                <a:latin typeface="Cambria Math" panose="02040503050406030204" pitchFamily="18" charset="0"/>
                              </a:rPr>
                              <m:t>2</m:t>
                            </m:r>
                          </m:sub>
                        </m:sSub>
                      </m:oMath>
                    </m:oMathPara>
                  </a14:m>
                  <a:endParaRPr lang="zh-CN" altLang="en-US" sz="500" dirty="0"/>
                </a:p>
              </p:txBody>
            </p:sp>
          </mc:Choice>
          <mc:Fallback>
            <p:sp>
              <p:nvSpPr>
                <p:cNvPr id="725" name="文本框 724">
                  <a:extLst>
                    <a:ext uri="{FF2B5EF4-FFF2-40B4-BE49-F238E27FC236}">
                      <a16:creationId xmlns:a16="http://schemas.microsoft.com/office/drawing/2014/main" id="{7F4D8C75-2203-2233-7EE6-706CCA1E07DC}"/>
                    </a:ext>
                  </a:extLst>
                </p:cNvPr>
                <p:cNvSpPr txBox="1">
                  <a:spLocks noRot="1" noChangeAspect="1" noMove="1" noResize="1" noEditPoints="1" noAdjustHandles="1" noChangeArrowheads="1" noChangeShapeType="1" noTextEdit="1"/>
                </p:cNvSpPr>
                <p:nvPr/>
              </p:nvSpPr>
              <p:spPr>
                <a:xfrm>
                  <a:off x="7698194" y="3077536"/>
                  <a:ext cx="95963" cy="175822"/>
                </a:xfrm>
                <a:prstGeom prst="rect">
                  <a:avLst/>
                </a:prstGeom>
                <a:blipFill>
                  <a:blip r:embed="rId12"/>
                  <a:stretch>
                    <a:fillRect r="-26667"/>
                  </a:stretch>
                </a:blipFill>
              </p:spPr>
              <p:txBody>
                <a:bodyPr/>
                <a:lstStyle/>
                <a:p>
                  <a:r>
                    <a:rPr lang="zh-CN" altLang="en-US">
                      <a:noFill/>
                    </a:rPr>
                    <a:t> </a:t>
                  </a:r>
                </a:p>
              </p:txBody>
            </p:sp>
          </mc:Fallback>
        </mc:AlternateContent>
        <p:sp>
          <p:nvSpPr>
            <p:cNvPr id="727" name="Freeform 219">
              <a:extLst>
                <a:ext uri="{FF2B5EF4-FFF2-40B4-BE49-F238E27FC236}">
                  <a16:creationId xmlns:a16="http://schemas.microsoft.com/office/drawing/2014/main" id="{DC81BEE5-F85F-EEA5-0DE2-BC8541A4C39A}"/>
                </a:ext>
              </a:extLst>
            </p:cNvPr>
            <p:cNvSpPr>
              <a:spLocks/>
            </p:cNvSpPr>
            <p:nvPr/>
          </p:nvSpPr>
          <p:spPr bwMode="auto">
            <a:xfrm>
              <a:off x="7966949" y="3069440"/>
              <a:ext cx="104775" cy="179388"/>
            </a:xfrm>
            <a:custGeom>
              <a:avLst/>
              <a:gdLst>
                <a:gd name="T0" fmla="*/ 0 w 109"/>
                <a:gd name="T1" fmla="*/ 169 h 187"/>
                <a:gd name="T2" fmla="*/ 18 w 109"/>
                <a:gd name="T3" fmla="*/ 187 h 187"/>
                <a:gd name="T4" fmla="*/ 91 w 109"/>
                <a:gd name="T5" fmla="*/ 187 h 187"/>
                <a:gd name="T6" fmla="*/ 109 w 109"/>
                <a:gd name="T7" fmla="*/ 169 h 187"/>
                <a:gd name="T8" fmla="*/ 109 w 109"/>
                <a:gd name="T9" fmla="*/ 169 h 187"/>
                <a:gd name="T10" fmla="*/ 109 w 109"/>
                <a:gd name="T11" fmla="*/ 18 h 187"/>
                <a:gd name="T12" fmla="*/ 91 w 109"/>
                <a:gd name="T13" fmla="*/ 0 h 187"/>
                <a:gd name="T14" fmla="*/ 18 w 109"/>
                <a:gd name="T15" fmla="*/ 0 h 187"/>
                <a:gd name="T16" fmla="*/ 0 w 109"/>
                <a:gd name="T17" fmla="*/ 18 h 187"/>
                <a:gd name="T18" fmla="*/ 0 w 109"/>
                <a:gd name="T19" fmla="*/ 18 h 187"/>
                <a:gd name="T20" fmla="*/ 0 w 109"/>
                <a:gd name="T21" fmla="*/ 169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187">
                  <a:moveTo>
                    <a:pt x="0" y="169"/>
                  </a:moveTo>
                  <a:cubicBezTo>
                    <a:pt x="0" y="179"/>
                    <a:pt x="8" y="187"/>
                    <a:pt x="18" y="187"/>
                  </a:cubicBezTo>
                  <a:lnTo>
                    <a:pt x="91" y="187"/>
                  </a:lnTo>
                  <a:cubicBezTo>
                    <a:pt x="101" y="187"/>
                    <a:pt x="109" y="179"/>
                    <a:pt x="109" y="169"/>
                  </a:cubicBezTo>
                  <a:lnTo>
                    <a:pt x="109" y="169"/>
                  </a:lnTo>
                  <a:lnTo>
                    <a:pt x="109" y="18"/>
                  </a:lnTo>
                  <a:cubicBezTo>
                    <a:pt x="109" y="8"/>
                    <a:pt x="101" y="0"/>
                    <a:pt x="91" y="0"/>
                  </a:cubicBezTo>
                  <a:lnTo>
                    <a:pt x="18" y="0"/>
                  </a:lnTo>
                  <a:cubicBezTo>
                    <a:pt x="8" y="0"/>
                    <a:pt x="0" y="8"/>
                    <a:pt x="0" y="18"/>
                  </a:cubicBezTo>
                  <a:lnTo>
                    <a:pt x="0" y="18"/>
                  </a:lnTo>
                  <a:lnTo>
                    <a:pt x="0" y="169"/>
                  </a:lnTo>
                </a:path>
              </a:pathLst>
            </a:custGeom>
            <a:solidFill>
              <a:srgbClr val="FFC2A1"/>
            </a:solidFill>
            <a:ln w="12700" cap="rnd">
              <a:solidFill>
                <a:srgbClr val="E648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mc:AlternateContent xmlns:mc="http://schemas.openxmlformats.org/markup-compatibility/2006">
          <mc:Choice xmlns:a14="http://schemas.microsoft.com/office/drawing/2010/main" Requires="a14">
            <p:sp>
              <p:nvSpPr>
                <p:cNvPr id="728" name="文本框 727">
                  <a:extLst>
                    <a:ext uri="{FF2B5EF4-FFF2-40B4-BE49-F238E27FC236}">
                      <a16:creationId xmlns:a16="http://schemas.microsoft.com/office/drawing/2014/main" id="{4E66E420-A5BB-3817-50AB-42275291E3F0}"/>
                    </a:ext>
                  </a:extLst>
                </p:cNvPr>
                <p:cNvSpPr txBox="1"/>
                <p:nvPr/>
              </p:nvSpPr>
              <p:spPr>
                <a:xfrm>
                  <a:off x="7946664" y="3077030"/>
                  <a:ext cx="95963" cy="1758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sz="500" i="1" smtClean="0">
                                <a:latin typeface="Cambria Math" panose="02040503050406030204" pitchFamily="18" charset="0"/>
                              </a:rPr>
                            </m:ctrlPr>
                          </m:sSubPr>
                          <m:e>
                            <m:r>
                              <a:rPr lang="en-US" altLang="zh-CN" sz="500" b="0" i="1" smtClean="0">
                                <a:latin typeface="Cambria Math" panose="02040503050406030204" pitchFamily="18" charset="0"/>
                              </a:rPr>
                              <m:t>𝑉</m:t>
                            </m:r>
                          </m:e>
                          <m:sub>
                            <m:r>
                              <a:rPr lang="en-US" altLang="zh-CN" sz="500" b="0" i="1" smtClean="0">
                                <a:latin typeface="Cambria Math" panose="02040503050406030204" pitchFamily="18" charset="0"/>
                              </a:rPr>
                              <m:t>h</m:t>
                            </m:r>
                          </m:sub>
                        </m:sSub>
                      </m:oMath>
                    </m:oMathPara>
                  </a14:m>
                  <a:endParaRPr lang="zh-CN" altLang="en-US" sz="500" dirty="0"/>
                </a:p>
              </p:txBody>
            </p:sp>
          </mc:Choice>
          <mc:Fallback>
            <p:sp>
              <p:nvSpPr>
                <p:cNvPr id="728" name="文本框 727">
                  <a:extLst>
                    <a:ext uri="{FF2B5EF4-FFF2-40B4-BE49-F238E27FC236}">
                      <a16:creationId xmlns:a16="http://schemas.microsoft.com/office/drawing/2014/main" id="{4E66E420-A5BB-3817-50AB-42275291E3F0}"/>
                    </a:ext>
                  </a:extLst>
                </p:cNvPr>
                <p:cNvSpPr txBox="1">
                  <a:spLocks noRot="1" noChangeAspect="1" noMove="1" noResize="1" noEditPoints="1" noAdjustHandles="1" noChangeArrowheads="1" noChangeShapeType="1" noTextEdit="1"/>
                </p:cNvSpPr>
                <p:nvPr/>
              </p:nvSpPr>
              <p:spPr>
                <a:xfrm>
                  <a:off x="7946664" y="3077030"/>
                  <a:ext cx="95963" cy="175822"/>
                </a:xfrm>
                <a:prstGeom prst="rect">
                  <a:avLst/>
                </a:prstGeom>
                <a:blipFill>
                  <a:blip r:embed="rId13"/>
                  <a:stretch>
                    <a:fillRect r="-25000"/>
                  </a:stretch>
                </a:blipFill>
              </p:spPr>
              <p:txBody>
                <a:bodyPr/>
                <a:lstStyle/>
                <a:p>
                  <a:r>
                    <a:rPr lang="zh-CN" altLang="en-US">
                      <a:noFill/>
                    </a:rPr>
                    <a:t> </a:t>
                  </a:r>
                </a:p>
              </p:txBody>
            </p:sp>
          </mc:Fallback>
        </mc:AlternateContent>
        <p:sp>
          <p:nvSpPr>
            <p:cNvPr id="729" name="Freeform 239">
              <a:extLst>
                <a:ext uri="{FF2B5EF4-FFF2-40B4-BE49-F238E27FC236}">
                  <a16:creationId xmlns:a16="http://schemas.microsoft.com/office/drawing/2014/main" id="{DDDB0446-B6ED-71CD-80FA-390D4F9F8A7F}"/>
                </a:ext>
              </a:extLst>
            </p:cNvPr>
            <p:cNvSpPr>
              <a:spLocks/>
            </p:cNvSpPr>
            <p:nvPr/>
          </p:nvSpPr>
          <p:spPr bwMode="auto">
            <a:xfrm>
              <a:off x="7901863" y="2539722"/>
              <a:ext cx="46038" cy="46038"/>
            </a:xfrm>
            <a:custGeom>
              <a:avLst/>
              <a:gdLst>
                <a:gd name="T0" fmla="*/ 14 w 29"/>
                <a:gd name="T1" fmla="*/ 29 h 29"/>
                <a:gd name="T2" fmla="*/ 0 w 29"/>
                <a:gd name="T3" fmla="*/ 15 h 29"/>
                <a:gd name="T4" fmla="*/ 14 w 29"/>
                <a:gd name="T5" fmla="*/ 0 h 29"/>
                <a:gd name="T6" fmla="*/ 14 w 29"/>
                <a:gd name="T7" fmla="*/ 0 h 29"/>
                <a:gd name="T8" fmla="*/ 29 w 29"/>
                <a:gd name="T9" fmla="*/ 15 h 29"/>
                <a:gd name="T10" fmla="*/ 14 w 29"/>
                <a:gd name="T11" fmla="*/ 29 h 29"/>
              </a:gdLst>
              <a:ahLst/>
              <a:cxnLst>
                <a:cxn ang="0">
                  <a:pos x="T0" y="T1"/>
                </a:cxn>
                <a:cxn ang="0">
                  <a:pos x="T2" y="T3"/>
                </a:cxn>
                <a:cxn ang="0">
                  <a:pos x="T4" y="T5"/>
                </a:cxn>
                <a:cxn ang="0">
                  <a:pos x="T6" y="T7"/>
                </a:cxn>
                <a:cxn ang="0">
                  <a:pos x="T8" y="T9"/>
                </a:cxn>
                <a:cxn ang="0">
                  <a:pos x="T10" y="T11"/>
                </a:cxn>
              </a:cxnLst>
              <a:rect l="0" t="0" r="r" b="b"/>
              <a:pathLst>
                <a:path w="29" h="29">
                  <a:moveTo>
                    <a:pt x="14" y="29"/>
                  </a:moveTo>
                  <a:cubicBezTo>
                    <a:pt x="6" y="29"/>
                    <a:pt x="0" y="23"/>
                    <a:pt x="0" y="15"/>
                  </a:cubicBezTo>
                  <a:cubicBezTo>
                    <a:pt x="0" y="6"/>
                    <a:pt x="6" y="0"/>
                    <a:pt x="14" y="0"/>
                  </a:cubicBezTo>
                  <a:cubicBezTo>
                    <a:pt x="14" y="0"/>
                    <a:pt x="14" y="0"/>
                    <a:pt x="14" y="0"/>
                  </a:cubicBezTo>
                  <a:cubicBezTo>
                    <a:pt x="22" y="0"/>
                    <a:pt x="29" y="6"/>
                    <a:pt x="29" y="15"/>
                  </a:cubicBezTo>
                  <a:cubicBezTo>
                    <a:pt x="29" y="23"/>
                    <a:pt x="22" y="29"/>
                    <a:pt x="14" y="29"/>
                  </a:cubicBezTo>
                </a:path>
              </a:pathLst>
            </a:custGeom>
            <a:solidFill>
              <a:srgbClr val="7796B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30" name="Freeform 239">
              <a:extLst>
                <a:ext uri="{FF2B5EF4-FFF2-40B4-BE49-F238E27FC236}">
                  <a16:creationId xmlns:a16="http://schemas.microsoft.com/office/drawing/2014/main" id="{7B1B26A6-0BF9-2442-AD3C-573F28DC503B}"/>
                </a:ext>
              </a:extLst>
            </p:cNvPr>
            <p:cNvSpPr>
              <a:spLocks/>
            </p:cNvSpPr>
            <p:nvPr/>
          </p:nvSpPr>
          <p:spPr bwMode="auto">
            <a:xfrm>
              <a:off x="7841538" y="2541032"/>
              <a:ext cx="46038" cy="46038"/>
            </a:xfrm>
            <a:custGeom>
              <a:avLst/>
              <a:gdLst>
                <a:gd name="T0" fmla="*/ 14 w 29"/>
                <a:gd name="T1" fmla="*/ 29 h 29"/>
                <a:gd name="T2" fmla="*/ 0 w 29"/>
                <a:gd name="T3" fmla="*/ 15 h 29"/>
                <a:gd name="T4" fmla="*/ 14 w 29"/>
                <a:gd name="T5" fmla="*/ 0 h 29"/>
                <a:gd name="T6" fmla="*/ 14 w 29"/>
                <a:gd name="T7" fmla="*/ 0 h 29"/>
                <a:gd name="T8" fmla="*/ 29 w 29"/>
                <a:gd name="T9" fmla="*/ 15 h 29"/>
                <a:gd name="T10" fmla="*/ 14 w 29"/>
                <a:gd name="T11" fmla="*/ 29 h 29"/>
              </a:gdLst>
              <a:ahLst/>
              <a:cxnLst>
                <a:cxn ang="0">
                  <a:pos x="T0" y="T1"/>
                </a:cxn>
                <a:cxn ang="0">
                  <a:pos x="T2" y="T3"/>
                </a:cxn>
                <a:cxn ang="0">
                  <a:pos x="T4" y="T5"/>
                </a:cxn>
                <a:cxn ang="0">
                  <a:pos x="T6" y="T7"/>
                </a:cxn>
                <a:cxn ang="0">
                  <a:pos x="T8" y="T9"/>
                </a:cxn>
                <a:cxn ang="0">
                  <a:pos x="T10" y="T11"/>
                </a:cxn>
              </a:cxnLst>
              <a:rect l="0" t="0" r="r" b="b"/>
              <a:pathLst>
                <a:path w="29" h="29">
                  <a:moveTo>
                    <a:pt x="14" y="29"/>
                  </a:moveTo>
                  <a:cubicBezTo>
                    <a:pt x="6" y="29"/>
                    <a:pt x="0" y="23"/>
                    <a:pt x="0" y="15"/>
                  </a:cubicBezTo>
                  <a:cubicBezTo>
                    <a:pt x="0" y="6"/>
                    <a:pt x="6" y="0"/>
                    <a:pt x="14" y="0"/>
                  </a:cubicBezTo>
                  <a:cubicBezTo>
                    <a:pt x="14" y="0"/>
                    <a:pt x="14" y="0"/>
                    <a:pt x="14" y="0"/>
                  </a:cubicBezTo>
                  <a:cubicBezTo>
                    <a:pt x="22" y="0"/>
                    <a:pt x="29" y="6"/>
                    <a:pt x="29" y="15"/>
                  </a:cubicBezTo>
                  <a:cubicBezTo>
                    <a:pt x="29" y="23"/>
                    <a:pt x="22" y="29"/>
                    <a:pt x="14" y="29"/>
                  </a:cubicBezTo>
                </a:path>
              </a:pathLst>
            </a:custGeom>
            <a:solidFill>
              <a:srgbClr val="7796B6"/>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31" name="Freeform 239">
              <a:extLst>
                <a:ext uri="{FF2B5EF4-FFF2-40B4-BE49-F238E27FC236}">
                  <a16:creationId xmlns:a16="http://schemas.microsoft.com/office/drawing/2014/main" id="{18126EDE-4006-47B3-AE98-6A311D624BB9}"/>
                </a:ext>
              </a:extLst>
            </p:cNvPr>
            <p:cNvSpPr>
              <a:spLocks/>
            </p:cNvSpPr>
            <p:nvPr/>
          </p:nvSpPr>
          <p:spPr bwMode="auto">
            <a:xfrm>
              <a:off x="7904244" y="2844522"/>
              <a:ext cx="46038" cy="46038"/>
            </a:xfrm>
            <a:custGeom>
              <a:avLst/>
              <a:gdLst>
                <a:gd name="T0" fmla="*/ 14 w 29"/>
                <a:gd name="T1" fmla="*/ 29 h 29"/>
                <a:gd name="T2" fmla="*/ 0 w 29"/>
                <a:gd name="T3" fmla="*/ 15 h 29"/>
                <a:gd name="T4" fmla="*/ 14 w 29"/>
                <a:gd name="T5" fmla="*/ 0 h 29"/>
                <a:gd name="T6" fmla="*/ 14 w 29"/>
                <a:gd name="T7" fmla="*/ 0 h 29"/>
                <a:gd name="T8" fmla="*/ 29 w 29"/>
                <a:gd name="T9" fmla="*/ 15 h 29"/>
                <a:gd name="T10" fmla="*/ 14 w 29"/>
                <a:gd name="T11" fmla="*/ 29 h 29"/>
              </a:gdLst>
              <a:ahLst/>
              <a:cxnLst>
                <a:cxn ang="0">
                  <a:pos x="T0" y="T1"/>
                </a:cxn>
                <a:cxn ang="0">
                  <a:pos x="T2" y="T3"/>
                </a:cxn>
                <a:cxn ang="0">
                  <a:pos x="T4" y="T5"/>
                </a:cxn>
                <a:cxn ang="0">
                  <a:pos x="T6" y="T7"/>
                </a:cxn>
                <a:cxn ang="0">
                  <a:pos x="T8" y="T9"/>
                </a:cxn>
                <a:cxn ang="0">
                  <a:pos x="T10" y="T11"/>
                </a:cxn>
              </a:cxnLst>
              <a:rect l="0" t="0" r="r" b="b"/>
              <a:pathLst>
                <a:path w="29" h="29">
                  <a:moveTo>
                    <a:pt x="14" y="29"/>
                  </a:moveTo>
                  <a:cubicBezTo>
                    <a:pt x="6" y="29"/>
                    <a:pt x="0" y="23"/>
                    <a:pt x="0" y="15"/>
                  </a:cubicBezTo>
                  <a:cubicBezTo>
                    <a:pt x="0" y="6"/>
                    <a:pt x="6" y="0"/>
                    <a:pt x="14" y="0"/>
                  </a:cubicBezTo>
                  <a:cubicBezTo>
                    <a:pt x="14" y="0"/>
                    <a:pt x="14" y="0"/>
                    <a:pt x="14" y="0"/>
                  </a:cubicBezTo>
                  <a:cubicBezTo>
                    <a:pt x="22" y="0"/>
                    <a:pt x="29" y="6"/>
                    <a:pt x="29" y="15"/>
                  </a:cubicBezTo>
                  <a:cubicBezTo>
                    <a:pt x="29" y="23"/>
                    <a:pt x="22" y="29"/>
                    <a:pt x="14" y="29"/>
                  </a:cubicBezTo>
                </a:path>
              </a:pathLst>
            </a:custGeom>
            <a:solidFill>
              <a:srgbClr val="FFC2A1"/>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32" name="Freeform 239">
              <a:extLst>
                <a:ext uri="{FF2B5EF4-FFF2-40B4-BE49-F238E27FC236}">
                  <a16:creationId xmlns:a16="http://schemas.microsoft.com/office/drawing/2014/main" id="{98F7EC93-78F7-E5BA-EE50-BF5509F54860}"/>
                </a:ext>
              </a:extLst>
            </p:cNvPr>
            <p:cNvSpPr>
              <a:spLocks/>
            </p:cNvSpPr>
            <p:nvPr/>
          </p:nvSpPr>
          <p:spPr bwMode="auto">
            <a:xfrm>
              <a:off x="7843919" y="2845832"/>
              <a:ext cx="46038" cy="46038"/>
            </a:xfrm>
            <a:custGeom>
              <a:avLst/>
              <a:gdLst>
                <a:gd name="T0" fmla="*/ 14 w 29"/>
                <a:gd name="T1" fmla="*/ 29 h 29"/>
                <a:gd name="T2" fmla="*/ 0 w 29"/>
                <a:gd name="T3" fmla="*/ 15 h 29"/>
                <a:gd name="T4" fmla="*/ 14 w 29"/>
                <a:gd name="T5" fmla="*/ 0 h 29"/>
                <a:gd name="T6" fmla="*/ 14 w 29"/>
                <a:gd name="T7" fmla="*/ 0 h 29"/>
                <a:gd name="T8" fmla="*/ 29 w 29"/>
                <a:gd name="T9" fmla="*/ 15 h 29"/>
                <a:gd name="T10" fmla="*/ 14 w 29"/>
                <a:gd name="T11" fmla="*/ 29 h 29"/>
              </a:gdLst>
              <a:ahLst/>
              <a:cxnLst>
                <a:cxn ang="0">
                  <a:pos x="T0" y="T1"/>
                </a:cxn>
                <a:cxn ang="0">
                  <a:pos x="T2" y="T3"/>
                </a:cxn>
                <a:cxn ang="0">
                  <a:pos x="T4" y="T5"/>
                </a:cxn>
                <a:cxn ang="0">
                  <a:pos x="T6" y="T7"/>
                </a:cxn>
                <a:cxn ang="0">
                  <a:pos x="T8" y="T9"/>
                </a:cxn>
                <a:cxn ang="0">
                  <a:pos x="T10" y="T11"/>
                </a:cxn>
              </a:cxnLst>
              <a:rect l="0" t="0" r="r" b="b"/>
              <a:pathLst>
                <a:path w="29" h="29">
                  <a:moveTo>
                    <a:pt x="14" y="29"/>
                  </a:moveTo>
                  <a:cubicBezTo>
                    <a:pt x="6" y="29"/>
                    <a:pt x="0" y="23"/>
                    <a:pt x="0" y="15"/>
                  </a:cubicBezTo>
                  <a:cubicBezTo>
                    <a:pt x="0" y="6"/>
                    <a:pt x="6" y="0"/>
                    <a:pt x="14" y="0"/>
                  </a:cubicBezTo>
                  <a:cubicBezTo>
                    <a:pt x="14" y="0"/>
                    <a:pt x="14" y="0"/>
                    <a:pt x="14" y="0"/>
                  </a:cubicBezTo>
                  <a:cubicBezTo>
                    <a:pt x="22" y="0"/>
                    <a:pt x="29" y="6"/>
                    <a:pt x="29" y="15"/>
                  </a:cubicBezTo>
                  <a:cubicBezTo>
                    <a:pt x="29" y="23"/>
                    <a:pt x="22" y="29"/>
                    <a:pt x="14" y="29"/>
                  </a:cubicBezTo>
                </a:path>
              </a:pathLst>
            </a:custGeom>
            <a:solidFill>
              <a:srgbClr val="FFC2A1"/>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33" name="Freeform 239">
              <a:extLst>
                <a:ext uri="{FF2B5EF4-FFF2-40B4-BE49-F238E27FC236}">
                  <a16:creationId xmlns:a16="http://schemas.microsoft.com/office/drawing/2014/main" id="{70F9AD29-A9D0-8440-3616-30C932C85E3D}"/>
                </a:ext>
              </a:extLst>
            </p:cNvPr>
            <p:cNvSpPr>
              <a:spLocks/>
            </p:cNvSpPr>
            <p:nvPr/>
          </p:nvSpPr>
          <p:spPr bwMode="auto">
            <a:xfrm>
              <a:off x="7901863" y="3142428"/>
              <a:ext cx="46038" cy="46038"/>
            </a:xfrm>
            <a:custGeom>
              <a:avLst/>
              <a:gdLst>
                <a:gd name="T0" fmla="*/ 14 w 29"/>
                <a:gd name="T1" fmla="*/ 29 h 29"/>
                <a:gd name="T2" fmla="*/ 0 w 29"/>
                <a:gd name="T3" fmla="*/ 15 h 29"/>
                <a:gd name="T4" fmla="*/ 14 w 29"/>
                <a:gd name="T5" fmla="*/ 0 h 29"/>
                <a:gd name="T6" fmla="*/ 14 w 29"/>
                <a:gd name="T7" fmla="*/ 0 h 29"/>
                <a:gd name="T8" fmla="*/ 29 w 29"/>
                <a:gd name="T9" fmla="*/ 15 h 29"/>
                <a:gd name="T10" fmla="*/ 14 w 29"/>
                <a:gd name="T11" fmla="*/ 29 h 29"/>
              </a:gdLst>
              <a:ahLst/>
              <a:cxnLst>
                <a:cxn ang="0">
                  <a:pos x="T0" y="T1"/>
                </a:cxn>
                <a:cxn ang="0">
                  <a:pos x="T2" y="T3"/>
                </a:cxn>
                <a:cxn ang="0">
                  <a:pos x="T4" y="T5"/>
                </a:cxn>
                <a:cxn ang="0">
                  <a:pos x="T6" y="T7"/>
                </a:cxn>
                <a:cxn ang="0">
                  <a:pos x="T8" y="T9"/>
                </a:cxn>
                <a:cxn ang="0">
                  <a:pos x="T10" y="T11"/>
                </a:cxn>
              </a:cxnLst>
              <a:rect l="0" t="0" r="r" b="b"/>
              <a:pathLst>
                <a:path w="29" h="29">
                  <a:moveTo>
                    <a:pt x="14" y="29"/>
                  </a:moveTo>
                  <a:cubicBezTo>
                    <a:pt x="6" y="29"/>
                    <a:pt x="0" y="23"/>
                    <a:pt x="0" y="15"/>
                  </a:cubicBezTo>
                  <a:cubicBezTo>
                    <a:pt x="0" y="6"/>
                    <a:pt x="6" y="0"/>
                    <a:pt x="14" y="0"/>
                  </a:cubicBezTo>
                  <a:cubicBezTo>
                    <a:pt x="14" y="0"/>
                    <a:pt x="14" y="0"/>
                    <a:pt x="14" y="0"/>
                  </a:cubicBezTo>
                  <a:cubicBezTo>
                    <a:pt x="22" y="0"/>
                    <a:pt x="29" y="6"/>
                    <a:pt x="29" y="15"/>
                  </a:cubicBezTo>
                  <a:cubicBezTo>
                    <a:pt x="29" y="23"/>
                    <a:pt x="22" y="29"/>
                    <a:pt x="14" y="29"/>
                  </a:cubicBezTo>
                </a:path>
              </a:pathLst>
            </a:custGeom>
            <a:solidFill>
              <a:srgbClr val="FFC2A1"/>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34" name="Freeform 239">
              <a:extLst>
                <a:ext uri="{FF2B5EF4-FFF2-40B4-BE49-F238E27FC236}">
                  <a16:creationId xmlns:a16="http://schemas.microsoft.com/office/drawing/2014/main" id="{D56B9135-E8CF-4F82-06CA-4DC5EB43AFD6}"/>
                </a:ext>
              </a:extLst>
            </p:cNvPr>
            <p:cNvSpPr>
              <a:spLocks/>
            </p:cNvSpPr>
            <p:nvPr/>
          </p:nvSpPr>
          <p:spPr bwMode="auto">
            <a:xfrm>
              <a:off x="7841538" y="3143738"/>
              <a:ext cx="46038" cy="46038"/>
            </a:xfrm>
            <a:custGeom>
              <a:avLst/>
              <a:gdLst>
                <a:gd name="T0" fmla="*/ 14 w 29"/>
                <a:gd name="T1" fmla="*/ 29 h 29"/>
                <a:gd name="T2" fmla="*/ 0 w 29"/>
                <a:gd name="T3" fmla="*/ 15 h 29"/>
                <a:gd name="T4" fmla="*/ 14 w 29"/>
                <a:gd name="T5" fmla="*/ 0 h 29"/>
                <a:gd name="T6" fmla="*/ 14 w 29"/>
                <a:gd name="T7" fmla="*/ 0 h 29"/>
                <a:gd name="T8" fmla="*/ 29 w 29"/>
                <a:gd name="T9" fmla="*/ 15 h 29"/>
                <a:gd name="T10" fmla="*/ 14 w 29"/>
                <a:gd name="T11" fmla="*/ 29 h 29"/>
              </a:gdLst>
              <a:ahLst/>
              <a:cxnLst>
                <a:cxn ang="0">
                  <a:pos x="T0" y="T1"/>
                </a:cxn>
                <a:cxn ang="0">
                  <a:pos x="T2" y="T3"/>
                </a:cxn>
                <a:cxn ang="0">
                  <a:pos x="T4" y="T5"/>
                </a:cxn>
                <a:cxn ang="0">
                  <a:pos x="T6" y="T7"/>
                </a:cxn>
                <a:cxn ang="0">
                  <a:pos x="T8" y="T9"/>
                </a:cxn>
                <a:cxn ang="0">
                  <a:pos x="T10" y="T11"/>
                </a:cxn>
              </a:cxnLst>
              <a:rect l="0" t="0" r="r" b="b"/>
              <a:pathLst>
                <a:path w="29" h="29">
                  <a:moveTo>
                    <a:pt x="14" y="29"/>
                  </a:moveTo>
                  <a:cubicBezTo>
                    <a:pt x="6" y="29"/>
                    <a:pt x="0" y="23"/>
                    <a:pt x="0" y="15"/>
                  </a:cubicBezTo>
                  <a:cubicBezTo>
                    <a:pt x="0" y="6"/>
                    <a:pt x="6" y="0"/>
                    <a:pt x="14" y="0"/>
                  </a:cubicBezTo>
                  <a:cubicBezTo>
                    <a:pt x="14" y="0"/>
                    <a:pt x="14" y="0"/>
                    <a:pt x="14" y="0"/>
                  </a:cubicBezTo>
                  <a:cubicBezTo>
                    <a:pt x="22" y="0"/>
                    <a:pt x="29" y="6"/>
                    <a:pt x="29" y="15"/>
                  </a:cubicBezTo>
                  <a:cubicBezTo>
                    <a:pt x="29" y="23"/>
                    <a:pt x="22" y="29"/>
                    <a:pt x="14" y="29"/>
                  </a:cubicBezTo>
                </a:path>
              </a:pathLst>
            </a:custGeom>
            <a:solidFill>
              <a:srgbClr val="FFC2A1"/>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35" name="文本框 734">
              <a:extLst>
                <a:ext uri="{FF2B5EF4-FFF2-40B4-BE49-F238E27FC236}">
                  <a16:creationId xmlns:a16="http://schemas.microsoft.com/office/drawing/2014/main" id="{8655BE30-F720-2C60-28C4-E1A7B2AD5566}"/>
                </a:ext>
              </a:extLst>
            </p:cNvPr>
            <p:cNvSpPr txBox="1"/>
            <p:nvPr/>
          </p:nvSpPr>
          <p:spPr>
            <a:xfrm>
              <a:off x="8108659" y="2490510"/>
              <a:ext cx="338554" cy="733534"/>
            </a:xfrm>
            <a:prstGeom prst="rect">
              <a:avLst/>
            </a:prstGeom>
            <a:noFill/>
          </p:spPr>
          <p:txBody>
            <a:bodyPr vert="eaVert" wrap="none" rtlCol="0">
              <a:spAutoFit/>
            </a:bodyPr>
            <a:lstStyle/>
            <a:p>
              <a:r>
                <a:rPr lang="zh-CN" altLang="en-US" sz="1000" dirty="0"/>
                <a:t>多头注意力</a:t>
              </a:r>
            </a:p>
          </p:txBody>
        </p:sp>
        <p:sp>
          <p:nvSpPr>
            <p:cNvPr id="736" name="文本框 735">
              <a:extLst>
                <a:ext uri="{FF2B5EF4-FFF2-40B4-BE49-F238E27FC236}">
                  <a16:creationId xmlns:a16="http://schemas.microsoft.com/office/drawing/2014/main" id="{7CC3B8D2-EAE8-E7BA-57AE-9DBFFE1376D2}"/>
                </a:ext>
              </a:extLst>
            </p:cNvPr>
            <p:cNvSpPr txBox="1"/>
            <p:nvPr/>
          </p:nvSpPr>
          <p:spPr>
            <a:xfrm>
              <a:off x="8291127" y="1546977"/>
              <a:ext cx="595035" cy="215444"/>
            </a:xfrm>
            <a:prstGeom prst="rect">
              <a:avLst/>
            </a:prstGeom>
            <a:noFill/>
          </p:spPr>
          <p:txBody>
            <a:bodyPr wrap="none" rtlCol="0">
              <a:spAutoFit/>
            </a:bodyPr>
            <a:lstStyle/>
            <a:p>
              <a:r>
                <a:rPr lang="zh-CN" altLang="en-US" sz="800" dirty="0"/>
                <a:t>加权特征</a:t>
              </a:r>
            </a:p>
          </p:txBody>
        </p:sp>
        <p:grpSp>
          <p:nvGrpSpPr>
            <p:cNvPr id="747" name="组合 746">
              <a:extLst>
                <a:ext uri="{FF2B5EF4-FFF2-40B4-BE49-F238E27FC236}">
                  <a16:creationId xmlns:a16="http://schemas.microsoft.com/office/drawing/2014/main" id="{77C608BA-B0F8-8E0D-B11C-5638C6E67BB8}"/>
                </a:ext>
              </a:extLst>
            </p:cNvPr>
            <p:cNvGrpSpPr/>
            <p:nvPr/>
          </p:nvGrpSpPr>
          <p:grpSpPr>
            <a:xfrm>
              <a:off x="9624130" y="1403422"/>
              <a:ext cx="565274" cy="679692"/>
              <a:chOff x="6916984" y="1355447"/>
              <a:chExt cx="595035" cy="593725"/>
            </a:xfrm>
          </p:grpSpPr>
          <p:sp>
            <p:nvSpPr>
              <p:cNvPr id="635" name="Rectangle 275">
                <a:extLst>
                  <a:ext uri="{FF2B5EF4-FFF2-40B4-BE49-F238E27FC236}">
                    <a16:creationId xmlns:a16="http://schemas.microsoft.com/office/drawing/2014/main" id="{E7DFBFA8-9F65-974E-6F90-8D4BB9A6E8A7}"/>
                  </a:ext>
                </a:extLst>
              </p:cNvPr>
              <p:cNvSpPr>
                <a:spLocks noChangeArrowheads="1"/>
              </p:cNvSpPr>
              <p:nvPr/>
            </p:nvSpPr>
            <p:spPr bwMode="auto">
              <a:xfrm>
                <a:off x="6946188" y="1355447"/>
                <a:ext cx="511175" cy="593725"/>
              </a:xfrm>
              <a:prstGeom prst="rect">
                <a:avLst/>
              </a:prstGeom>
              <a:solidFill>
                <a:srgbClr val="727B72"/>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39" name="文本框 738">
                <a:extLst>
                  <a:ext uri="{FF2B5EF4-FFF2-40B4-BE49-F238E27FC236}">
                    <a16:creationId xmlns:a16="http://schemas.microsoft.com/office/drawing/2014/main" id="{8CE03AC1-2BEE-C723-0129-1B6523A69BA7}"/>
                  </a:ext>
                </a:extLst>
              </p:cNvPr>
              <p:cNvSpPr txBox="1"/>
              <p:nvPr/>
            </p:nvSpPr>
            <p:spPr>
              <a:xfrm>
                <a:off x="7009545" y="1413265"/>
                <a:ext cx="389850" cy="215444"/>
              </a:xfrm>
              <a:prstGeom prst="rect">
                <a:avLst/>
              </a:prstGeom>
              <a:noFill/>
            </p:spPr>
            <p:txBody>
              <a:bodyPr wrap="none" rtlCol="0">
                <a:spAutoFit/>
              </a:bodyPr>
              <a:lstStyle/>
              <a:p>
                <a:r>
                  <a:rPr lang="zh-CN" altLang="en-US" sz="800" dirty="0">
                    <a:solidFill>
                      <a:schemeClr val="bg1"/>
                    </a:solidFill>
                  </a:rPr>
                  <a:t>转置</a:t>
                </a:r>
              </a:p>
            </p:txBody>
          </p:sp>
          <p:sp>
            <p:nvSpPr>
              <p:cNvPr id="742" name="文本框 741">
                <a:extLst>
                  <a:ext uri="{FF2B5EF4-FFF2-40B4-BE49-F238E27FC236}">
                    <a16:creationId xmlns:a16="http://schemas.microsoft.com/office/drawing/2014/main" id="{5CBF2C04-B920-482E-99DA-FE32E22B5EF7}"/>
                  </a:ext>
                </a:extLst>
              </p:cNvPr>
              <p:cNvSpPr txBox="1"/>
              <p:nvPr/>
            </p:nvSpPr>
            <p:spPr>
              <a:xfrm>
                <a:off x="6916984" y="1632483"/>
                <a:ext cx="595035" cy="215444"/>
              </a:xfrm>
              <a:prstGeom prst="rect">
                <a:avLst/>
              </a:prstGeom>
              <a:noFill/>
            </p:spPr>
            <p:txBody>
              <a:bodyPr wrap="none" rtlCol="0">
                <a:spAutoFit/>
              </a:bodyPr>
              <a:lstStyle/>
              <a:p>
                <a:r>
                  <a:rPr lang="zh-CN" altLang="en-US" sz="800" dirty="0">
                    <a:solidFill>
                      <a:schemeClr val="bg1"/>
                    </a:solidFill>
                  </a:rPr>
                  <a:t>平均池化</a:t>
                </a:r>
              </a:p>
            </p:txBody>
          </p:sp>
        </p:grpSp>
        <p:sp>
          <p:nvSpPr>
            <p:cNvPr id="743" name="文本框 742">
              <a:extLst>
                <a:ext uri="{FF2B5EF4-FFF2-40B4-BE49-F238E27FC236}">
                  <a16:creationId xmlns:a16="http://schemas.microsoft.com/office/drawing/2014/main" id="{ED8F4205-06F5-0B9D-47F6-3B8F3B3C4089}"/>
                </a:ext>
              </a:extLst>
            </p:cNvPr>
            <p:cNvSpPr txBox="1"/>
            <p:nvPr/>
          </p:nvSpPr>
          <p:spPr>
            <a:xfrm>
              <a:off x="8380027" y="3886050"/>
              <a:ext cx="389850" cy="215444"/>
            </a:xfrm>
            <a:prstGeom prst="rect">
              <a:avLst/>
            </a:prstGeom>
            <a:noFill/>
          </p:spPr>
          <p:txBody>
            <a:bodyPr wrap="none" rtlCol="0">
              <a:spAutoFit/>
            </a:bodyPr>
            <a:lstStyle/>
            <a:p>
              <a:r>
                <a:rPr lang="zh-CN" altLang="en-US" sz="800" dirty="0"/>
                <a:t>权重</a:t>
              </a:r>
            </a:p>
          </p:txBody>
        </p:sp>
        <p:grpSp>
          <p:nvGrpSpPr>
            <p:cNvPr id="748" name="组合 747">
              <a:extLst>
                <a:ext uri="{FF2B5EF4-FFF2-40B4-BE49-F238E27FC236}">
                  <a16:creationId xmlns:a16="http://schemas.microsoft.com/office/drawing/2014/main" id="{C877F3CF-7902-F9A3-6991-609DB5826CDF}"/>
                </a:ext>
              </a:extLst>
            </p:cNvPr>
            <p:cNvGrpSpPr/>
            <p:nvPr/>
          </p:nvGrpSpPr>
          <p:grpSpPr>
            <a:xfrm>
              <a:off x="9203883" y="1286255"/>
              <a:ext cx="210714" cy="805133"/>
              <a:chOff x="7204720" y="1271317"/>
              <a:chExt cx="269227" cy="811375"/>
            </a:xfrm>
          </p:grpSpPr>
          <p:sp>
            <p:nvSpPr>
              <p:cNvPr id="642" name="Freeform 282">
                <a:extLst>
                  <a:ext uri="{FF2B5EF4-FFF2-40B4-BE49-F238E27FC236}">
                    <a16:creationId xmlns:a16="http://schemas.microsoft.com/office/drawing/2014/main" id="{7BD2B212-E67C-3805-4028-9C46A8B4F3E0}"/>
                  </a:ext>
                </a:extLst>
              </p:cNvPr>
              <p:cNvSpPr>
                <a:spLocks/>
              </p:cNvSpPr>
              <p:nvPr/>
            </p:nvSpPr>
            <p:spPr bwMode="auto">
              <a:xfrm>
                <a:off x="7264981" y="1271317"/>
                <a:ext cx="208966" cy="811375"/>
              </a:xfrm>
              <a:custGeom>
                <a:avLst/>
                <a:gdLst>
                  <a:gd name="T0" fmla="*/ 0 w 287"/>
                  <a:gd name="T1" fmla="*/ 1168 h 1213"/>
                  <a:gd name="T2" fmla="*/ 45 w 287"/>
                  <a:gd name="T3" fmla="*/ 1213 h 1213"/>
                  <a:gd name="T4" fmla="*/ 45 w 287"/>
                  <a:gd name="T5" fmla="*/ 1213 h 1213"/>
                  <a:gd name="T6" fmla="*/ 242 w 287"/>
                  <a:gd name="T7" fmla="*/ 1213 h 1213"/>
                  <a:gd name="T8" fmla="*/ 287 w 287"/>
                  <a:gd name="T9" fmla="*/ 1168 h 1213"/>
                  <a:gd name="T10" fmla="*/ 287 w 287"/>
                  <a:gd name="T11" fmla="*/ 46 h 1213"/>
                  <a:gd name="T12" fmla="*/ 242 w 287"/>
                  <a:gd name="T13" fmla="*/ 0 h 1213"/>
                  <a:gd name="T14" fmla="*/ 45 w 287"/>
                  <a:gd name="T15" fmla="*/ 0 h 1213"/>
                  <a:gd name="T16" fmla="*/ 0 w 287"/>
                  <a:gd name="T17" fmla="*/ 46 h 1213"/>
                  <a:gd name="T18" fmla="*/ 0 w 287"/>
                  <a:gd name="T19" fmla="*/ 46 h 1213"/>
                  <a:gd name="T20" fmla="*/ 0 w 287"/>
                  <a:gd name="T21" fmla="*/ 1168 h 1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7" h="1213">
                    <a:moveTo>
                      <a:pt x="0" y="1168"/>
                    </a:moveTo>
                    <a:cubicBezTo>
                      <a:pt x="0" y="1193"/>
                      <a:pt x="20" y="1213"/>
                      <a:pt x="45" y="1213"/>
                    </a:cubicBezTo>
                    <a:lnTo>
                      <a:pt x="45" y="1213"/>
                    </a:lnTo>
                    <a:lnTo>
                      <a:pt x="242" y="1213"/>
                    </a:lnTo>
                    <a:cubicBezTo>
                      <a:pt x="267" y="1213"/>
                      <a:pt x="287" y="1193"/>
                      <a:pt x="287" y="1168"/>
                    </a:cubicBezTo>
                    <a:lnTo>
                      <a:pt x="287" y="46"/>
                    </a:lnTo>
                    <a:cubicBezTo>
                      <a:pt x="287" y="21"/>
                      <a:pt x="267" y="0"/>
                      <a:pt x="242" y="0"/>
                    </a:cubicBezTo>
                    <a:lnTo>
                      <a:pt x="45" y="0"/>
                    </a:lnTo>
                    <a:cubicBezTo>
                      <a:pt x="20" y="0"/>
                      <a:pt x="0" y="21"/>
                      <a:pt x="0" y="46"/>
                    </a:cubicBezTo>
                    <a:lnTo>
                      <a:pt x="0" y="46"/>
                    </a:lnTo>
                    <a:lnTo>
                      <a:pt x="0" y="1168"/>
                    </a:lnTo>
                  </a:path>
                </a:pathLst>
              </a:custGeom>
              <a:solidFill>
                <a:schemeClr val="accent3">
                  <a:lumMod val="40000"/>
                  <a:lumOff val="6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44" name="文本框 743">
                <a:extLst>
                  <a:ext uri="{FF2B5EF4-FFF2-40B4-BE49-F238E27FC236}">
                    <a16:creationId xmlns:a16="http://schemas.microsoft.com/office/drawing/2014/main" id="{3291310A-592D-DB97-9BB4-1E6ED11279FB}"/>
                  </a:ext>
                </a:extLst>
              </p:cNvPr>
              <p:cNvSpPr txBox="1"/>
              <p:nvPr/>
            </p:nvSpPr>
            <p:spPr>
              <a:xfrm>
                <a:off x="7204720" y="1391908"/>
                <a:ext cx="266719" cy="527276"/>
              </a:xfrm>
              <a:prstGeom prst="rect">
                <a:avLst/>
              </a:prstGeom>
              <a:noFill/>
            </p:spPr>
            <p:txBody>
              <a:bodyPr wrap="square" rtlCol="0">
                <a:spAutoFit/>
              </a:bodyPr>
              <a:lstStyle/>
              <a:p>
                <a:r>
                  <a:rPr lang="zh-CN" altLang="en-US" sz="700" dirty="0"/>
                  <a:t>联合表示</a:t>
                </a:r>
              </a:p>
            </p:txBody>
          </p:sp>
        </p:grpSp>
        <p:sp>
          <p:nvSpPr>
            <p:cNvPr id="745" name="圆柱体 744">
              <a:extLst>
                <a:ext uri="{FF2B5EF4-FFF2-40B4-BE49-F238E27FC236}">
                  <a16:creationId xmlns:a16="http://schemas.microsoft.com/office/drawing/2014/main" id="{F7C813DF-9D0B-CEBB-0EBE-1B07586F751A}"/>
                </a:ext>
              </a:extLst>
            </p:cNvPr>
            <p:cNvSpPr/>
            <p:nvPr/>
          </p:nvSpPr>
          <p:spPr>
            <a:xfrm rot="5400000">
              <a:off x="8876217" y="1591223"/>
              <a:ext cx="277001" cy="127288"/>
            </a:xfrm>
            <a:prstGeom prst="can">
              <a:avLst/>
            </a:prstGeom>
            <a:solidFill>
              <a:srgbClr val="D6E7F7"/>
            </a:solidFill>
            <a:ln w="127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6" name="Freeform 283">
              <a:extLst>
                <a:ext uri="{FF2B5EF4-FFF2-40B4-BE49-F238E27FC236}">
                  <a16:creationId xmlns:a16="http://schemas.microsoft.com/office/drawing/2014/main" id="{AE3FD7E4-082E-4176-F6E1-712F15AFD566}"/>
                </a:ext>
              </a:extLst>
            </p:cNvPr>
            <p:cNvSpPr>
              <a:spLocks/>
            </p:cNvSpPr>
            <p:nvPr/>
          </p:nvSpPr>
          <p:spPr bwMode="auto">
            <a:xfrm>
              <a:off x="9102174" y="1618976"/>
              <a:ext cx="133138" cy="6481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49" name="文本框 748">
              <a:extLst>
                <a:ext uri="{FF2B5EF4-FFF2-40B4-BE49-F238E27FC236}">
                  <a16:creationId xmlns:a16="http://schemas.microsoft.com/office/drawing/2014/main" id="{923DDB99-D6F7-0047-4EF7-8394441FE806}"/>
                </a:ext>
              </a:extLst>
            </p:cNvPr>
            <p:cNvSpPr txBox="1"/>
            <p:nvPr/>
          </p:nvSpPr>
          <p:spPr>
            <a:xfrm>
              <a:off x="8777664" y="1694158"/>
              <a:ext cx="156453" cy="246221"/>
            </a:xfrm>
            <a:prstGeom prst="rect">
              <a:avLst/>
            </a:prstGeom>
            <a:noFill/>
          </p:spPr>
          <p:txBody>
            <a:bodyPr wrap="square" rtlCol="0">
              <a:spAutoFit/>
            </a:bodyPr>
            <a:lstStyle/>
            <a:p>
              <a:r>
                <a:rPr lang="zh-CN" altLang="en-US" sz="500" dirty="0"/>
                <a:t>拼接</a:t>
              </a:r>
            </a:p>
          </p:txBody>
        </p:sp>
        <p:sp>
          <p:nvSpPr>
            <p:cNvPr id="750" name="文本框 749">
              <a:extLst>
                <a:ext uri="{FF2B5EF4-FFF2-40B4-BE49-F238E27FC236}">
                  <a16:creationId xmlns:a16="http://schemas.microsoft.com/office/drawing/2014/main" id="{0178FA23-4CF5-8EEC-590E-E958E1F24AE4}"/>
                </a:ext>
              </a:extLst>
            </p:cNvPr>
            <p:cNvSpPr txBox="1"/>
            <p:nvPr/>
          </p:nvSpPr>
          <p:spPr>
            <a:xfrm>
              <a:off x="8790045" y="1326548"/>
              <a:ext cx="453970" cy="200055"/>
            </a:xfrm>
            <a:prstGeom prst="rect">
              <a:avLst/>
            </a:prstGeom>
            <a:noFill/>
          </p:spPr>
          <p:txBody>
            <a:bodyPr wrap="none" rtlCol="0">
              <a:spAutoFit/>
            </a:bodyPr>
            <a:lstStyle/>
            <a:p>
              <a:r>
                <a:rPr lang="zh-CN" altLang="en-US" sz="700" dirty="0"/>
                <a:t>全连接</a:t>
              </a:r>
            </a:p>
          </p:txBody>
        </p:sp>
        <p:sp>
          <p:nvSpPr>
            <p:cNvPr id="752" name="文本框 751">
              <a:extLst>
                <a:ext uri="{FF2B5EF4-FFF2-40B4-BE49-F238E27FC236}">
                  <a16:creationId xmlns:a16="http://schemas.microsoft.com/office/drawing/2014/main" id="{357F7D38-C84E-8488-3D1C-FACB50B87D8C}"/>
                </a:ext>
              </a:extLst>
            </p:cNvPr>
            <p:cNvSpPr txBox="1"/>
            <p:nvPr/>
          </p:nvSpPr>
          <p:spPr>
            <a:xfrm>
              <a:off x="11084376" y="1714533"/>
              <a:ext cx="263214" cy="261610"/>
            </a:xfrm>
            <a:prstGeom prst="rect">
              <a:avLst/>
            </a:prstGeom>
            <a:noFill/>
          </p:spPr>
          <p:txBody>
            <a:bodyPr wrap="none" rtlCol="0">
              <a:spAutoFit/>
            </a:bodyPr>
            <a:lstStyle/>
            <a:p>
              <a:r>
                <a:rPr lang="en-US" altLang="zh-CN" sz="1100" dirty="0"/>
                <a:t>P</a:t>
              </a:r>
              <a:endParaRPr lang="zh-CN" altLang="en-US" sz="1100" dirty="0"/>
            </a:p>
          </p:txBody>
        </p:sp>
        <mc:AlternateContent xmlns:mc="http://schemas.openxmlformats.org/markup-compatibility/2006">
          <mc:Choice xmlns:a14="http://schemas.microsoft.com/office/drawing/2010/main" Requires="a14">
            <p:sp>
              <p:nvSpPr>
                <p:cNvPr id="753" name="文本框 752">
                  <a:extLst>
                    <a:ext uri="{FF2B5EF4-FFF2-40B4-BE49-F238E27FC236}">
                      <a16:creationId xmlns:a16="http://schemas.microsoft.com/office/drawing/2014/main" id="{14265DDA-F883-1651-3374-0088203FC341}"/>
                    </a:ext>
                  </a:extLst>
                </p:cNvPr>
                <p:cNvSpPr txBox="1"/>
                <p:nvPr/>
              </p:nvSpPr>
              <p:spPr>
                <a:xfrm>
                  <a:off x="11451755" y="1706572"/>
                  <a:ext cx="264209" cy="28200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zh-CN" altLang="en-US" sz="1200" i="1" smtClean="0">
                                <a:latin typeface="Cambria Math" panose="02040503050406030204" pitchFamily="18" charset="0"/>
                              </a:rPr>
                            </m:ctrlPr>
                          </m:accPr>
                          <m:e>
                            <m:r>
                              <a:rPr lang="en-US" altLang="zh-CN" sz="1200" b="0" i="1" smtClean="0">
                                <a:latin typeface="Cambria Math" panose="02040503050406030204" pitchFamily="18" charset="0"/>
                              </a:rPr>
                              <m:t>𝑌</m:t>
                            </m:r>
                          </m:e>
                        </m:acc>
                      </m:oMath>
                    </m:oMathPara>
                  </a14:m>
                  <a:endParaRPr lang="zh-CN" altLang="en-US" dirty="0"/>
                </a:p>
              </p:txBody>
            </p:sp>
          </mc:Choice>
          <mc:Fallback>
            <p:sp>
              <p:nvSpPr>
                <p:cNvPr id="753" name="文本框 752">
                  <a:extLst>
                    <a:ext uri="{FF2B5EF4-FFF2-40B4-BE49-F238E27FC236}">
                      <a16:creationId xmlns:a16="http://schemas.microsoft.com/office/drawing/2014/main" id="{14265DDA-F883-1651-3374-0088203FC341}"/>
                    </a:ext>
                  </a:extLst>
                </p:cNvPr>
                <p:cNvSpPr txBox="1">
                  <a:spLocks noRot="1" noChangeAspect="1" noMove="1" noResize="1" noEditPoints="1" noAdjustHandles="1" noChangeArrowheads="1" noChangeShapeType="1" noTextEdit="1"/>
                </p:cNvSpPr>
                <p:nvPr/>
              </p:nvSpPr>
              <p:spPr>
                <a:xfrm>
                  <a:off x="11451755" y="1706572"/>
                  <a:ext cx="264209" cy="282000"/>
                </a:xfrm>
                <a:prstGeom prst="rect">
                  <a:avLst/>
                </a:prstGeom>
                <a:blipFill>
                  <a:blip r:embed="rId14"/>
                  <a:stretch>
                    <a:fillRect t="-2174"/>
                  </a:stretch>
                </a:blipFill>
              </p:spPr>
              <p:txBody>
                <a:bodyPr/>
                <a:lstStyle/>
                <a:p>
                  <a:r>
                    <a:rPr lang="zh-CN" altLang="en-US">
                      <a:noFill/>
                    </a:rPr>
                    <a:t> </a:t>
                  </a:r>
                </a:p>
              </p:txBody>
            </p:sp>
          </mc:Fallback>
        </mc:AlternateContent>
        <p:sp>
          <p:nvSpPr>
            <p:cNvPr id="754" name="圆柱体 753">
              <a:extLst>
                <a:ext uri="{FF2B5EF4-FFF2-40B4-BE49-F238E27FC236}">
                  <a16:creationId xmlns:a16="http://schemas.microsoft.com/office/drawing/2014/main" id="{4316B674-E651-AD35-55EC-2E6C8BFD0BE3}"/>
                </a:ext>
              </a:extLst>
            </p:cNvPr>
            <p:cNvSpPr/>
            <p:nvPr/>
          </p:nvSpPr>
          <p:spPr>
            <a:xfrm rot="5400000">
              <a:off x="8875083" y="3927815"/>
              <a:ext cx="277001" cy="127288"/>
            </a:xfrm>
            <a:prstGeom prst="can">
              <a:avLst/>
            </a:prstGeom>
            <a:solidFill>
              <a:srgbClr val="D6E7F7"/>
            </a:solidFill>
            <a:ln w="127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5" name="文本框 754">
              <a:extLst>
                <a:ext uri="{FF2B5EF4-FFF2-40B4-BE49-F238E27FC236}">
                  <a16:creationId xmlns:a16="http://schemas.microsoft.com/office/drawing/2014/main" id="{56DE9E27-C19C-3F26-400B-7BF9AADD0925}"/>
                </a:ext>
              </a:extLst>
            </p:cNvPr>
            <p:cNvSpPr txBox="1"/>
            <p:nvPr/>
          </p:nvSpPr>
          <p:spPr>
            <a:xfrm>
              <a:off x="8779667" y="3676356"/>
              <a:ext cx="453970" cy="200055"/>
            </a:xfrm>
            <a:prstGeom prst="rect">
              <a:avLst/>
            </a:prstGeom>
            <a:noFill/>
          </p:spPr>
          <p:txBody>
            <a:bodyPr wrap="none" rtlCol="0">
              <a:spAutoFit/>
            </a:bodyPr>
            <a:lstStyle/>
            <a:p>
              <a:r>
                <a:rPr lang="zh-CN" altLang="en-US" sz="700" dirty="0"/>
                <a:t>全连接</a:t>
              </a:r>
            </a:p>
          </p:txBody>
        </p:sp>
        <p:sp>
          <p:nvSpPr>
            <p:cNvPr id="756" name="Freeform 283">
              <a:extLst>
                <a:ext uri="{FF2B5EF4-FFF2-40B4-BE49-F238E27FC236}">
                  <a16:creationId xmlns:a16="http://schemas.microsoft.com/office/drawing/2014/main" id="{595B09B8-EF43-70A4-8705-4962A102BF9A}"/>
                </a:ext>
              </a:extLst>
            </p:cNvPr>
            <p:cNvSpPr>
              <a:spLocks/>
            </p:cNvSpPr>
            <p:nvPr/>
          </p:nvSpPr>
          <p:spPr bwMode="auto">
            <a:xfrm>
              <a:off x="9089474" y="3953558"/>
              <a:ext cx="133138" cy="64810"/>
            </a:xfrm>
            <a:prstGeom prst="rightArrow">
              <a:avLst/>
            </a:prstGeom>
            <a:solidFill>
              <a:srgbClr val="7F7F7F"/>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757" name="文本框 756">
              <a:extLst>
                <a:ext uri="{FF2B5EF4-FFF2-40B4-BE49-F238E27FC236}">
                  <a16:creationId xmlns:a16="http://schemas.microsoft.com/office/drawing/2014/main" id="{CB39A927-F425-69FD-6FF6-E5B5326ED392}"/>
                </a:ext>
              </a:extLst>
            </p:cNvPr>
            <p:cNvSpPr txBox="1"/>
            <p:nvPr/>
          </p:nvSpPr>
          <p:spPr>
            <a:xfrm>
              <a:off x="8776325" y="4020820"/>
              <a:ext cx="156453" cy="246221"/>
            </a:xfrm>
            <a:prstGeom prst="rect">
              <a:avLst/>
            </a:prstGeom>
            <a:noFill/>
          </p:spPr>
          <p:txBody>
            <a:bodyPr wrap="square" rtlCol="0">
              <a:spAutoFit/>
            </a:bodyPr>
            <a:lstStyle/>
            <a:p>
              <a:r>
                <a:rPr lang="zh-CN" altLang="en-US" sz="500" dirty="0"/>
                <a:t>拼接</a:t>
              </a:r>
            </a:p>
          </p:txBody>
        </p:sp>
        <p:sp>
          <p:nvSpPr>
            <p:cNvPr id="759" name="文本框 758">
              <a:extLst>
                <a:ext uri="{FF2B5EF4-FFF2-40B4-BE49-F238E27FC236}">
                  <a16:creationId xmlns:a16="http://schemas.microsoft.com/office/drawing/2014/main" id="{10821EF6-A3D1-C0D0-2761-6C747A57C76A}"/>
                </a:ext>
              </a:extLst>
            </p:cNvPr>
            <p:cNvSpPr txBox="1"/>
            <p:nvPr/>
          </p:nvSpPr>
          <p:spPr>
            <a:xfrm>
              <a:off x="9206326" y="3739172"/>
              <a:ext cx="276999" cy="477054"/>
            </a:xfrm>
            <a:prstGeom prst="rect">
              <a:avLst/>
            </a:prstGeom>
            <a:noFill/>
          </p:spPr>
          <p:txBody>
            <a:bodyPr vert="eaVert" wrap="none" rtlCol="0">
              <a:spAutoFit/>
            </a:bodyPr>
            <a:lstStyle/>
            <a:p>
              <a:r>
                <a:rPr lang="zh-CN" altLang="en-US" sz="600" dirty="0">
                  <a:solidFill>
                    <a:schemeClr val="bg1"/>
                  </a:solidFill>
                </a:rPr>
                <a:t>注意力矩阵</a:t>
              </a:r>
            </a:p>
          </p:txBody>
        </p:sp>
        <p:sp>
          <p:nvSpPr>
            <p:cNvPr id="760" name="文本框 759">
              <a:extLst>
                <a:ext uri="{FF2B5EF4-FFF2-40B4-BE49-F238E27FC236}">
                  <a16:creationId xmlns:a16="http://schemas.microsoft.com/office/drawing/2014/main" id="{87D2B557-F9A4-7248-86C3-5177976FD0CC}"/>
                </a:ext>
              </a:extLst>
            </p:cNvPr>
            <p:cNvSpPr txBox="1"/>
            <p:nvPr/>
          </p:nvSpPr>
          <p:spPr>
            <a:xfrm>
              <a:off x="9462375" y="4004526"/>
              <a:ext cx="338554" cy="184666"/>
            </a:xfrm>
            <a:prstGeom prst="rect">
              <a:avLst/>
            </a:prstGeom>
            <a:noFill/>
          </p:spPr>
          <p:txBody>
            <a:bodyPr vert="horz" wrap="none" rtlCol="0">
              <a:spAutoFit/>
            </a:bodyPr>
            <a:lstStyle/>
            <a:p>
              <a:r>
                <a:rPr lang="zh-CN" altLang="en-US" sz="600" dirty="0"/>
                <a:t>解释</a:t>
              </a:r>
            </a:p>
          </p:txBody>
        </p:sp>
        <p:grpSp>
          <p:nvGrpSpPr>
            <p:cNvPr id="799" name="组合 798">
              <a:extLst>
                <a:ext uri="{FF2B5EF4-FFF2-40B4-BE49-F238E27FC236}">
                  <a16:creationId xmlns:a16="http://schemas.microsoft.com/office/drawing/2014/main" id="{2AD76691-807B-9EE0-F74A-D87E1B5F8C20}"/>
                </a:ext>
              </a:extLst>
            </p:cNvPr>
            <p:cNvGrpSpPr/>
            <p:nvPr/>
          </p:nvGrpSpPr>
          <p:grpSpPr>
            <a:xfrm>
              <a:off x="11068707" y="2903028"/>
              <a:ext cx="621512" cy="968309"/>
              <a:chOff x="9170188" y="3103054"/>
              <a:chExt cx="434328" cy="676678"/>
            </a:xfrm>
          </p:grpSpPr>
          <p:sp>
            <p:nvSpPr>
              <p:cNvPr id="763" name="Freeform 116">
                <a:extLst>
                  <a:ext uri="{FF2B5EF4-FFF2-40B4-BE49-F238E27FC236}">
                    <a16:creationId xmlns:a16="http://schemas.microsoft.com/office/drawing/2014/main" id="{9E327363-9768-B016-7275-67999043C39A}"/>
                  </a:ext>
                </a:extLst>
              </p:cNvPr>
              <p:cNvSpPr>
                <a:spLocks/>
              </p:cNvSpPr>
              <p:nvPr/>
            </p:nvSpPr>
            <p:spPr bwMode="auto">
              <a:xfrm>
                <a:off x="9382125" y="3156276"/>
                <a:ext cx="40867" cy="42768"/>
              </a:xfrm>
              <a:custGeom>
                <a:avLst/>
                <a:gdLst>
                  <a:gd name="T0" fmla="*/ 0 w 43"/>
                  <a:gd name="T1" fmla="*/ 23 h 45"/>
                  <a:gd name="T2" fmla="*/ 21 w 43"/>
                  <a:gd name="T3" fmla="*/ 0 h 45"/>
                  <a:gd name="T4" fmla="*/ 43 w 43"/>
                  <a:gd name="T5" fmla="*/ 23 h 45"/>
                  <a:gd name="T6" fmla="*/ 43 w 43"/>
                  <a:gd name="T7" fmla="*/ 23 h 45"/>
                  <a:gd name="T8" fmla="*/ 21 w 43"/>
                  <a:gd name="T9" fmla="*/ 45 h 45"/>
                  <a:gd name="T10" fmla="*/ 0 w 43"/>
                  <a:gd name="T11" fmla="*/ 23 h 45"/>
                </a:gdLst>
                <a:ahLst/>
                <a:cxnLst>
                  <a:cxn ang="0">
                    <a:pos x="T0" y="T1"/>
                  </a:cxn>
                  <a:cxn ang="0">
                    <a:pos x="T2" y="T3"/>
                  </a:cxn>
                  <a:cxn ang="0">
                    <a:pos x="T4" y="T5"/>
                  </a:cxn>
                  <a:cxn ang="0">
                    <a:pos x="T6" y="T7"/>
                  </a:cxn>
                  <a:cxn ang="0">
                    <a:pos x="T8" y="T9"/>
                  </a:cxn>
                  <a:cxn ang="0">
                    <a:pos x="T10" y="T11"/>
                  </a:cxn>
                </a:cxnLst>
                <a:rect l="0" t="0" r="r" b="b"/>
                <a:pathLst>
                  <a:path w="43" h="45">
                    <a:moveTo>
                      <a:pt x="0" y="23"/>
                    </a:moveTo>
                    <a:cubicBezTo>
                      <a:pt x="0" y="11"/>
                      <a:pt x="9" y="0"/>
                      <a:pt x="21" y="0"/>
                    </a:cubicBezTo>
                    <a:cubicBezTo>
                      <a:pt x="34" y="0"/>
                      <a:pt x="43" y="11"/>
                      <a:pt x="43" y="23"/>
                    </a:cubicBezTo>
                    <a:cubicBezTo>
                      <a:pt x="43" y="23"/>
                      <a:pt x="43" y="23"/>
                      <a:pt x="43" y="23"/>
                    </a:cubicBezTo>
                    <a:cubicBezTo>
                      <a:pt x="43" y="35"/>
                      <a:pt x="34" y="45"/>
                      <a:pt x="21" y="45"/>
                    </a:cubicBezTo>
                    <a:cubicBezTo>
                      <a:pt x="9" y="45"/>
                      <a:pt x="0" y="35"/>
                      <a:pt x="0" y="23"/>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64" name="Freeform 117">
                <a:extLst>
                  <a:ext uri="{FF2B5EF4-FFF2-40B4-BE49-F238E27FC236}">
                    <a16:creationId xmlns:a16="http://schemas.microsoft.com/office/drawing/2014/main" id="{5CD78B48-927B-3AC4-12A1-0B2EC0586A4E}"/>
                  </a:ext>
                </a:extLst>
              </p:cNvPr>
              <p:cNvSpPr>
                <a:spLocks/>
              </p:cNvSpPr>
              <p:nvPr/>
            </p:nvSpPr>
            <p:spPr bwMode="auto">
              <a:xfrm>
                <a:off x="9249070" y="3103054"/>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65" name="Freeform 118">
                <a:extLst>
                  <a:ext uri="{FF2B5EF4-FFF2-40B4-BE49-F238E27FC236}">
                    <a16:creationId xmlns:a16="http://schemas.microsoft.com/office/drawing/2014/main" id="{903D32A9-D810-473C-2BCA-91151A420D88}"/>
                  </a:ext>
                </a:extLst>
              </p:cNvPr>
              <p:cNvSpPr>
                <a:spLocks/>
              </p:cNvSpPr>
              <p:nvPr/>
            </p:nvSpPr>
            <p:spPr bwMode="auto">
              <a:xfrm>
                <a:off x="9170188" y="3182887"/>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E75300"/>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66" name="Freeform 119">
                <a:extLst>
                  <a:ext uri="{FF2B5EF4-FFF2-40B4-BE49-F238E27FC236}">
                    <a16:creationId xmlns:a16="http://schemas.microsoft.com/office/drawing/2014/main" id="{7BCDDA73-7531-636E-38D5-07D33A31FCBE}"/>
                  </a:ext>
                </a:extLst>
              </p:cNvPr>
              <p:cNvSpPr>
                <a:spLocks/>
              </p:cNvSpPr>
              <p:nvPr/>
            </p:nvSpPr>
            <p:spPr bwMode="auto">
              <a:xfrm>
                <a:off x="9184444" y="3301686"/>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67" name="Freeform 120">
                <a:extLst>
                  <a:ext uri="{FF2B5EF4-FFF2-40B4-BE49-F238E27FC236}">
                    <a16:creationId xmlns:a16="http://schemas.microsoft.com/office/drawing/2014/main" id="{93FB1AC3-2644-9E29-2243-30E861474FB1}"/>
                  </a:ext>
                </a:extLst>
              </p:cNvPr>
              <p:cNvSpPr>
                <a:spLocks/>
              </p:cNvSpPr>
              <p:nvPr/>
            </p:nvSpPr>
            <p:spPr bwMode="auto">
              <a:xfrm>
                <a:off x="9308945" y="3354907"/>
                <a:ext cx="40867" cy="42768"/>
              </a:xfrm>
              <a:custGeom>
                <a:avLst/>
                <a:gdLst>
                  <a:gd name="T0" fmla="*/ 0 w 43"/>
                  <a:gd name="T1" fmla="*/ 22 h 45"/>
                  <a:gd name="T2" fmla="*/ 22 w 43"/>
                  <a:gd name="T3" fmla="*/ 0 h 45"/>
                  <a:gd name="T4" fmla="*/ 43 w 43"/>
                  <a:gd name="T5" fmla="*/ 22 h 45"/>
                  <a:gd name="T6" fmla="*/ 43 w 43"/>
                  <a:gd name="T7" fmla="*/ 22 h 45"/>
                  <a:gd name="T8" fmla="*/ 22 w 43"/>
                  <a:gd name="T9" fmla="*/ 45 h 45"/>
                  <a:gd name="T10" fmla="*/ 0 w 43"/>
                  <a:gd name="T11" fmla="*/ 22 h 45"/>
                </a:gdLst>
                <a:ahLst/>
                <a:cxnLst>
                  <a:cxn ang="0">
                    <a:pos x="T0" y="T1"/>
                  </a:cxn>
                  <a:cxn ang="0">
                    <a:pos x="T2" y="T3"/>
                  </a:cxn>
                  <a:cxn ang="0">
                    <a:pos x="T4" y="T5"/>
                  </a:cxn>
                  <a:cxn ang="0">
                    <a:pos x="T6" y="T7"/>
                  </a:cxn>
                  <a:cxn ang="0">
                    <a:pos x="T8" y="T9"/>
                  </a:cxn>
                  <a:cxn ang="0">
                    <a:pos x="T10" y="T11"/>
                  </a:cxn>
                </a:cxnLst>
                <a:rect l="0" t="0" r="r" b="b"/>
                <a:pathLst>
                  <a:path w="43" h="45">
                    <a:moveTo>
                      <a:pt x="0" y="22"/>
                    </a:moveTo>
                    <a:cubicBezTo>
                      <a:pt x="0" y="10"/>
                      <a:pt x="9" y="0"/>
                      <a:pt x="22" y="0"/>
                    </a:cubicBezTo>
                    <a:cubicBezTo>
                      <a:pt x="34" y="0"/>
                      <a:pt x="43" y="10"/>
                      <a:pt x="43" y="22"/>
                    </a:cubicBezTo>
                    <a:cubicBezTo>
                      <a:pt x="43" y="22"/>
                      <a:pt x="43" y="22"/>
                      <a:pt x="43" y="22"/>
                    </a:cubicBezTo>
                    <a:cubicBezTo>
                      <a:pt x="43" y="34"/>
                      <a:pt x="34" y="45"/>
                      <a:pt x="22" y="45"/>
                    </a:cubicBezTo>
                    <a:cubicBezTo>
                      <a:pt x="9" y="45"/>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68" name="Freeform 121">
                <a:extLst>
                  <a:ext uri="{FF2B5EF4-FFF2-40B4-BE49-F238E27FC236}">
                    <a16:creationId xmlns:a16="http://schemas.microsoft.com/office/drawing/2014/main" id="{8DB39F5A-9D6D-BF2C-D881-887ABDF4D583}"/>
                  </a:ext>
                </a:extLst>
              </p:cNvPr>
              <p:cNvSpPr>
                <a:spLocks/>
              </p:cNvSpPr>
              <p:nvPr/>
            </p:nvSpPr>
            <p:spPr bwMode="auto">
              <a:xfrm>
                <a:off x="9395431" y="3278876"/>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9"/>
                      <a:pt x="10" y="0"/>
                      <a:pt x="22" y="0"/>
                    </a:cubicBezTo>
                    <a:cubicBezTo>
                      <a:pt x="34" y="0"/>
                      <a:pt x="44" y="9"/>
                      <a:pt x="44" y="22"/>
                    </a:cubicBezTo>
                    <a:cubicBezTo>
                      <a:pt x="44" y="22"/>
                      <a:pt x="44" y="22"/>
                      <a:pt x="44" y="22"/>
                    </a:cubicBezTo>
                    <a:cubicBezTo>
                      <a:pt x="44" y="34"/>
                      <a:pt x="34" y="44"/>
                      <a:pt x="22" y="44"/>
                    </a:cubicBezTo>
                    <a:cubicBezTo>
                      <a:pt x="10" y="44"/>
                      <a:pt x="0" y="34"/>
                      <a:pt x="0" y="22"/>
                    </a:cubicBezTo>
                  </a:path>
                </a:pathLst>
              </a:custGeom>
              <a:solidFill>
                <a:srgbClr val="E75300"/>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69" name="Freeform 122">
                <a:extLst>
                  <a:ext uri="{FF2B5EF4-FFF2-40B4-BE49-F238E27FC236}">
                    <a16:creationId xmlns:a16="http://schemas.microsoft.com/office/drawing/2014/main" id="{CD2FBE38-A071-104E-ED3B-4F35594E11AC}"/>
                  </a:ext>
                </a:extLst>
              </p:cNvPr>
              <p:cNvSpPr>
                <a:spLocks/>
              </p:cNvSpPr>
              <p:nvPr/>
            </p:nvSpPr>
            <p:spPr bwMode="auto">
              <a:xfrm>
                <a:off x="9520882" y="3324495"/>
                <a:ext cx="41817" cy="40867"/>
              </a:xfrm>
              <a:custGeom>
                <a:avLst/>
                <a:gdLst>
                  <a:gd name="T0" fmla="*/ 0 w 44"/>
                  <a:gd name="T1" fmla="*/ 21 h 43"/>
                  <a:gd name="T2" fmla="*/ 22 w 44"/>
                  <a:gd name="T3" fmla="*/ 0 h 43"/>
                  <a:gd name="T4" fmla="*/ 44 w 44"/>
                  <a:gd name="T5" fmla="*/ 21 h 43"/>
                  <a:gd name="T6" fmla="*/ 44 w 44"/>
                  <a:gd name="T7" fmla="*/ 21 h 43"/>
                  <a:gd name="T8" fmla="*/ 22 w 44"/>
                  <a:gd name="T9" fmla="*/ 43 h 43"/>
                  <a:gd name="T10" fmla="*/ 0 w 44"/>
                  <a:gd name="T11" fmla="*/ 21 h 43"/>
                </a:gdLst>
                <a:ahLst/>
                <a:cxnLst>
                  <a:cxn ang="0">
                    <a:pos x="T0" y="T1"/>
                  </a:cxn>
                  <a:cxn ang="0">
                    <a:pos x="T2" y="T3"/>
                  </a:cxn>
                  <a:cxn ang="0">
                    <a:pos x="T4" y="T5"/>
                  </a:cxn>
                  <a:cxn ang="0">
                    <a:pos x="T6" y="T7"/>
                  </a:cxn>
                  <a:cxn ang="0">
                    <a:pos x="T8" y="T9"/>
                  </a:cxn>
                  <a:cxn ang="0">
                    <a:pos x="T10" y="T11"/>
                  </a:cxn>
                </a:cxnLst>
                <a:rect l="0" t="0" r="r" b="b"/>
                <a:pathLst>
                  <a:path w="44" h="43">
                    <a:moveTo>
                      <a:pt x="0" y="21"/>
                    </a:moveTo>
                    <a:cubicBezTo>
                      <a:pt x="0" y="9"/>
                      <a:pt x="10" y="0"/>
                      <a:pt x="22" y="0"/>
                    </a:cubicBezTo>
                    <a:cubicBezTo>
                      <a:pt x="34" y="0"/>
                      <a:pt x="44" y="9"/>
                      <a:pt x="44" y="21"/>
                    </a:cubicBezTo>
                    <a:cubicBezTo>
                      <a:pt x="44" y="21"/>
                      <a:pt x="44" y="21"/>
                      <a:pt x="44" y="21"/>
                    </a:cubicBezTo>
                    <a:cubicBezTo>
                      <a:pt x="44" y="34"/>
                      <a:pt x="34" y="43"/>
                      <a:pt x="22" y="43"/>
                    </a:cubicBezTo>
                    <a:cubicBezTo>
                      <a:pt x="10" y="43"/>
                      <a:pt x="0" y="34"/>
                      <a:pt x="0" y="21"/>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70" name="Freeform 123">
                <a:extLst>
                  <a:ext uri="{FF2B5EF4-FFF2-40B4-BE49-F238E27FC236}">
                    <a16:creationId xmlns:a16="http://schemas.microsoft.com/office/drawing/2014/main" id="{261ABA03-C420-D19B-55DD-3D9A772CC2F5}"/>
                  </a:ext>
                </a:extLst>
              </p:cNvPr>
              <p:cNvSpPr>
                <a:spLocks/>
              </p:cNvSpPr>
              <p:nvPr/>
            </p:nvSpPr>
            <p:spPr bwMode="auto">
              <a:xfrm>
                <a:off x="9562699" y="3455649"/>
                <a:ext cx="41817" cy="42768"/>
              </a:xfrm>
              <a:custGeom>
                <a:avLst/>
                <a:gdLst>
                  <a:gd name="T0" fmla="*/ 0 w 44"/>
                  <a:gd name="T1" fmla="*/ 23 h 45"/>
                  <a:gd name="T2" fmla="*/ 21 w 44"/>
                  <a:gd name="T3" fmla="*/ 0 h 45"/>
                  <a:gd name="T4" fmla="*/ 44 w 44"/>
                  <a:gd name="T5" fmla="*/ 23 h 45"/>
                  <a:gd name="T6" fmla="*/ 44 w 44"/>
                  <a:gd name="T7" fmla="*/ 23 h 45"/>
                  <a:gd name="T8" fmla="*/ 21 w 44"/>
                  <a:gd name="T9" fmla="*/ 45 h 45"/>
                  <a:gd name="T10" fmla="*/ 0 w 44"/>
                  <a:gd name="T11" fmla="*/ 23 h 45"/>
                </a:gdLst>
                <a:ahLst/>
                <a:cxnLst>
                  <a:cxn ang="0">
                    <a:pos x="T0" y="T1"/>
                  </a:cxn>
                  <a:cxn ang="0">
                    <a:pos x="T2" y="T3"/>
                  </a:cxn>
                  <a:cxn ang="0">
                    <a:pos x="T4" y="T5"/>
                  </a:cxn>
                  <a:cxn ang="0">
                    <a:pos x="T6" y="T7"/>
                  </a:cxn>
                  <a:cxn ang="0">
                    <a:pos x="T8" y="T9"/>
                  </a:cxn>
                  <a:cxn ang="0">
                    <a:pos x="T10" y="T11"/>
                  </a:cxn>
                </a:cxnLst>
                <a:rect l="0" t="0" r="r" b="b"/>
                <a:pathLst>
                  <a:path w="44" h="45">
                    <a:moveTo>
                      <a:pt x="0" y="23"/>
                    </a:moveTo>
                    <a:cubicBezTo>
                      <a:pt x="0" y="11"/>
                      <a:pt x="9" y="0"/>
                      <a:pt x="21" y="0"/>
                    </a:cubicBezTo>
                    <a:cubicBezTo>
                      <a:pt x="34" y="0"/>
                      <a:pt x="44" y="11"/>
                      <a:pt x="44" y="23"/>
                    </a:cubicBezTo>
                    <a:cubicBezTo>
                      <a:pt x="44" y="23"/>
                      <a:pt x="44" y="23"/>
                      <a:pt x="44" y="23"/>
                    </a:cubicBezTo>
                    <a:cubicBezTo>
                      <a:pt x="44" y="35"/>
                      <a:pt x="34" y="45"/>
                      <a:pt x="21" y="45"/>
                    </a:cubicBezTo>
                    <a:cubicBezTo>
                      <a:pt x="9" y="45"/>
                      <a:pt x="0" y="35"/>
                      <a:pt x="0" y="23"/>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71" name="Freeform 124">
                <a:extLst>
                  <a:ext uri="{FF2B5EF4-FFF2-40B4-BE49-F238E27FC236}">
                    <a16:creationId xmlns:a16="http://schemas.microsoft.com/office/drawing/2014/main" id="{84FF7E1E-97D7-F99B-3919-BA2B5D6E573D}"/>
                  </a:ext>
                </a:extLst>
              </p:cNvPr>
              <p:cNvSpPr>
                <a:spLocks/>
              </p:cNvSpPr>
              <p:nvPr/>
            </p:nvSpPr>
            <p:spPr bwMode="auto">
              <a:xfrm>
                <a:off x="9485717" y="3540234"/>
                <a:ext cx="41817" cy="40867"/>
              </a:xfrm>
              <a:custGeom>
                <a:avLst/>
                <a:gdLst>
                  <a:gd name="T0" fmla="*/ 0 w 44"/>
                  <a:gd name="T1" fmla="*/ 22 h 43"/>
                  <a:gd name="T2" fmla="*/ 22 w 44"/>
                  <a:gd name="T3" fmla="*/ 0 h 43"/>
                  <a:gd name="T4" fmla="*/ 44 w 44"/>
                  <a:gd name="T5" fmla="*/ 22 h 43"/>
                  <a:gd name="T6" fmla="*/ 44 w 44"/>
                  <a:gd name="T7" fmla="*/ 22 h 43"/>
                  <a:gd name="T8" fmla="*/ 22 w 44"/>
                  <a:gd name="T9" fmla="*/ 43 h 43"/>
                  <a:gd name="T10" fmla="*/ 0 w 44"/>
                  <a:gd name="T11" fmla="*/ 22 h 43"/>
                </a:gdLst>
                <a:ahLst/>
                <a:cxnLst>
                  <a:cxn ang="0">
                    <a:pos x="T0" y="T1"/>
                  </a:cxn>
                  <a:cxn ang="0">
                    <a:pos x="T2" y="T3"/>
                  </a:cxn>
                  <a:cxn ang="0">
                    <a:pos x="T4" y="T5"/>
                  </a:cxn>
                  <a:cxn ang="0">
                    <a:pos x="T6" y="T7"/>
                  </a:cxn>
                  <a:cxn ang="0">
                    <a:pos x="T8" y="T9"/>
                  </a:cxn>
                  <a:cxn ang="0">
                    <a:pos x="T10" y="T11"/>
                  </a:cxn>
                </a:cxnLst>
                <a:rect l="0" t="0" r="r" b="b"/>
                <a:pathLst>
                  <a:path w="44" h="43">
                    <a:moveTo>
                      <a:pt x="0" y="22"/>
                    </a:moveTo>
                    <a:cubicBezTo>
                      <a:pt x="0" y="9"/>
                      <a:pt x="10" y="0"/>
                      <a:pt x="22" y="0"/>
                    </a:cubicBezTo>
                    <a:cubicBezTo>
                      <a:pt x="34" y="0"/>
                      <a:pt x="44" y="9"/>
                      <a:pt x="44" y="22"/>
                    </a:cubicBezTo>
                    <a:cubicBezTo>
                      <a:pt x="44" y="22"/>
                      <a:pt x="44" y="22"/>
                      <a:pt x="44" y="22"/>
                    </a:cubicBezTo>
                    <a:cubicBezTo>
                      <a:pt x="44" y="34"/>
                      <a:pt x="34" y="43"/>
                      <a:pt x="22" y="43"/>
                    </a:cubicBezTo>
                    <a:cubicBezTo>
                      <a:pt x="10" y="43"/>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72" name="Freeform 125">
                <a:extLst>
                  <a:ext uri="{FF2B5EF4-FFF2-40B4-BE49-F238E27FC236}">
                    <a16:creationId xmlns:a16="http://schemas.microsoft.com/office/drawing/2014/main" id="{7F846AFC-5583-C7DC-22A3-0288380237D0}"/>
                  </a:ext>
                </a:extLst>
              </p:cNvPr>
              <p:cNvSpPr>
                <a:spLocks/>
              </p:cNvSpPr>
              <p:nvPr/>
            </p:nvSpPr>
            <p:spPr bwMode="auto">
              <a:xfrm>
                <a:off x="9346960" y="3484160"/>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9" y="0"/>
                      <a:pt x="22" y="0"/>
                    </a:cubicBezTo>
                    <a:cubicBezTo>
                      <a:pt x="34" y="0"/>
                      <a:pt x="44" y="10"/>
                      <a:pt x="44" y="22"/>
                    </a:cubicBezTo>
                    <a:cubicBezTo>
                      <a:pt x="44" y="22"/>
                      <a:pt x="44" y="22"/>
                      <a:pt x="44" y="22"/>
                    </a:cubicBezTo>
                    <a:cubicBezTo>
                      <a:pt x="44" y="34"/>
                      <a:pt x="34" y="44"/>
                      <a:pt x="22" y="44"/>
                    </a:cubicBezTo>
                    <a:cubicBezTo>
                      <a:pt x="9" y="44"/>
                      <a:pt x="0" y="34"/>
                      <a:pt x="0" y="22"/>
                    </a:cubicBezTo>
                  </a:path>
                </a:pathLst>
              </a:custGeom>
              <a:solidFill>
                <a:srgbClr val="E75300"/>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73" name="Freeform 126">
                <a:extLst>
                  <a:ext uri="{FF2B5EF4-FFF2-40B4-BE49-F238E27FC236}">
                    <a16:creationId xmlns:a16="http://schemas.microsoft.com/office/drawing/2014/main" id="{BA7A73B8-CBEC-0B83-5B8B-62A365F0F519}"/>
                  </a:ext>
                </a:extLst>
              </p:cNvPr>
              <p:cNvSpPr>
                <a:spLocks/>
              </p:cNvSpPr>
              <p:nvPr/>
            </p:nvSpPr>
            <p:spPr bwMode="auto">
              <a:xfrm>
                <a:off x="9263326" y="3574448"/>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10" y="0"/>
                      <a:pt x="22" y="0"/>
                    </a:cubicBezTo>
                    <a:cubicBezTo>
                      <a:pt x="34" y="0"/>
                      <a:pt x="44" y="10"/>
                      <a:pt x="44" y="22"/>
                    </a:cubicBezTo>
                    <a:cubicBezTo>
                      <a:pt x="44" y="22"/>
                      <a:pt x="44" y="22"/>
                      <a:pt x="44" y="22"/>
                    </a:cubicBezTo>
                    <a:cubicBezTo>
                      <a:pt x="44" y="34"/>
                      <a:pt x="34" y="44"/>
                      <a:pt x="22" y="44"/>
                    </a:cubicBezTo>
                    <a:cubicBezTo>
                      <a:pt x="10" y="44"/>
                      <a:pt x="0" y="34"/>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74" name="Freeform 127">
                <a:extLst>
                  <a:ext uri="{FF2B5EF4-FFF2-40B4-BE49-F238E27FC236}">
                    <a16:creationId xmlns:a16="http://schemas.microsoft.com/office/drawing/2014/main" id="{3E4F8A33-F0FA-5BCA-F95C-67B44EA98409}"/>
                  </a:ext>
                </a:extLst>
              </p:cNvPr>
              <p:cNvSpPr>
                <a:spLocks/>
              </p:cNvSpPr>
              <p:nvPr/>
            </p:nvSpPr>
            <p:spPr bwMode="auto">
              <a:xfrm>
                <a:off x="9269979" y="3686594"/>
                <a:ext cx="41817" cy="40867"/>
              </a:xfrm>
              <a:custGeom>
                <a:avLst/>
                <a:gdLst>
                  <a:gd name="T0" fmla="*/ 0 w 44"/>
                  <a:gd name="T1" fmla="*/ 21 h 43"/>
                  <a:gd name="T2" fmla="*/ 22 w 44"/>
                  <a:gd name="T3" fmla="*/ 0 h 43"/>
                  <a:gd name="T4" fmla="*/ 44 w 44"/>
                  <a:gd name="T5" fmla="*/ 21 h 43"/>
                  <a:gd name="T6" fmla="*/ 44 w 44"/>
                  <a:gd name="T7" fmla="*/ 21 h 43"/>
                  <a:gd name="T8" fmla="*/ 22 w 44"/>
                  <a:gd name="T9" fmla="*/ 43 h 43"/>
                  <a:gd name="T10" fmla="*/ 0 w 44"/>
                  <a:gd name="T11" fmla="*/ 21 h 43"/>
                </a:gdLst>
                <a:ahLst/>
                <a:cxnLst>
                  <a:cxn ang="0">
                    <a:pos x="T0" y="T1"/>
                  </a:cxn>
                  <a:cxn ang="0">
                    <a:pos x="T2" y="T3"/>
                  </a:cxn>
                  <a:cxn ang="0">
                    <a:pos x="T4" y="T5"/>
                  </a:cxn>
                  <a:cxn ang="0">
                    <a:pos x="T6" y="T7"/>
                  </a:cxn>
                  <a:cxn ang="0">
                    <a:pos x="T8" y="T9"/>
                  </a:cxn>
                  <a:cxn ang="0">
                    <a:pos x="T10" y="T11"/>
                  </a:cxn>
                </a:cxnLst>
                <a:rect l="0" t="0" r="r" b="b"/>
                <a:pathLst>
                  <a:path w="44" h="43">
                    <a:moveTo>
                      <a:pt x="0" y="21"/>
                    </a:moveTo>
                    <a:cubicBezTo>
                      <a:pt x="0" y="9"/>
                      <a:pt x="10" y="0"/>
                      <a:pt x="22" y="0"/>
                    </a:cubicBezTo>
                    <a:cubicBezTo>
                      <a:pt x="34" y="0"/>
                      <a:pt x="44" y="9"/>
                      <a:pt x="44" y="21"/>
                    </a:cubicBezTo>
                    <a:cubicBezTo>
                      <a:pt x="44" y="21"/>
                      <a:pt x="44" y="21"/>
                      <a:pt x="44" y="21"/>
                    </a:cubicBezTo>
                    <a:cubicBezTo>
                      <a:pt x="44" y="33"/>
                      <a:pt x="34" y="43"/>
                      <a:pt x="22" y="43"/>
                    </a:cubicBezTo>
                    <a:cubicBezTo>
                      <a:pt x="10" y="43"/>
                      <a:pt x="0" y="33"/>
                      <a:pt x="0" y="21"/>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75" name="Freeform 128">
                <a:extLst>
                  <a:ext uri="{FF2B5EF4-FFF2-40B4-BE49-F238E27FC236}">
                    <a16:creationId xmlns:a16="http://schemas.microsoft.com/office/drawing/2014/main" id="{C3D1B6D9-4711-05F2-CF39-5E4C0817EB27}"/>
                  </a:ext>
                </a:extLst>
              </p:cNvPr>
              <p:cNvSpPr>
                <a:spLocks/>
              </p:cNvSpPr>
              <p:nvPr/>
            </p:nvSpPr>
            <p:spPr bwMode="auto">
              <a:xfrm>
                <a:off x="9409686" y="3737915"/>
                <a:ext cx="41817" cy="41817"/>
              </a:xfrm>
              <a:custGeom>
                <a:avLst/>
                <a:gdLst>
                  <a:gd name="T0" fmla="*/ 0 w 44"/>
                  <a:gd name="T1" fmla="*/ 22 h 44"/>
                  <a:gd name="T2" fmla="*/ 21 w 44"/>
                  <a:gd name="T3" fmla="*/ 0 h 44"/>
                  <a:gd name="T4" fmla="*/ 44 w 44"/>
                  <a:gd name="T5" fmla="*/ 22 h 44"/>
                  <a:gd name="T6" fmla="*/ 44 w 44"/>
                  <a:gd name="T7" fmla="*/ 22 h 44"/>
                  <a:gd name="T8" fmla="*/ 21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9" y="0"/>
                      <a:pt x="21" y="0"/>
                    </a:cubicBezTo>
                    <a:cubicBezTo>
                      <a:pt x="34" y="0"/>
                      <a:pt x="44" y="10"/>
                      <a:pt x="44" y="22"/>
                    </a:cubicBezTo>
                    <a:cubicBezTo>
                      <a:pt x="44" y="22"/>
                      <a:pt x="44" y="22"/>
                      <a:pt x="44" y="22"/>
                    </a:cubicBezTo>
                    <a:cubicBezTo>
                      <a:pt x="44" y="35"/>
                      <a:pt x="34" y="44"/>
                      <a:pt x="21" y="44"/>
                    </a:cubicBezTo>
                    <a:cubicBezTo>
                      <a:pt x="9" y="44"/>
                      <a:pt x="0" y="35"/>
                      <a:pt x="0" y="22"/>
                    </a:cubicBezTo>
                  </a:path>
                </a:pathLst>
              </a:custGeom>
              <a:solidFill>
                <a:srgbClr val="FFBA8C"/>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dirty="0"/>
              </a:p>
            </p:txBody>
          </p:sp>
          <p:sp>
            <p:nvSpPr>
              <p:cNvPr id="776" name="Freeform 129">
                <a:extLst>
                  <a:ext uri="{FF2B5EF4-FFF2-40B4-BE49-F238E27FC236}">
                    <a16:creationId xmlns:a16="http://schemas.microsoft.com/office/drawing/2014/main" id="{02EC8B82-AEFD-2EAF-A4B3-94FB7A140688}"/>
                  </a:ext>
                </a:extLst>
              </p:cNvPr>
              <p:cNvSpPr>
                <a:spLocks/>
              </p:cNvSpPr>
              <p:nvPr/>
            </p:nvSpPr>
            <p:spPr bwMode="auto">
              <a:xfrm>
                <a:off x="9499974" y="3658082"/>
                <a:ext cx="41817" cy="41817"/>
              </a:xfrm>
              <a:custGeom>
                <a:avLst/>
                <a:gdLst>
                  <a:gd name="T0" fmla="*/ 0 w 44"/>
                  <a:gd name="T1" fmla="*/ 22 h 44"/>
                  <a:gd name="T2" fmla="*/ 22 w 44"/>
                  <a:gd name="T3" fmla="*/ 0 h 44"/>
                  <a:gd name="T4" fmla="*/ 44 w 44"/>
                  <a:gd name="T5" fmla="*/ 22 h 44"/>
                  <a:gd name="T6" fmla="*/ 44 w 44"/>
                  <a:gd name="T7" fmla="*/ 22 h 44"/>
                  <a:gd name="T8" fmla="*/ 22 w 44"/>
                  <a:gd name="T9" fmla="*/ 44 h 44"/>
                  <a:gd name="T10" fmla="*/ 0 w 44"/>
                  <a:gd name="T11" fmla="*/ 22 h 44"/>
                </a:gdLst>
                <a:ahLst/>
                <a:cxnLst>
                  <a:cxn ang="0">
                    <a:pos x="T0" y="T1"/>
                  </a:cxn>
                  <a:cxn ang="0">
                    <a:pos x="T2" y="T3"/>
                  </a:cxn>
                  <a:cxn ang="0">
                    <a:pos x="T4" y="T5"/>
                  </a:cxn>
                  <a:cxn ang="0">
                    <a:pos x="T6" y="T7"/>
                  </a:cxn>
                  <a:cxn ang="0">
                    <a:pos x="T8" y="T9"/>
                  </a:cxn>
                  <a:cxn ang="0">
                    <a:pos x="T10" y="T11"/>
                  </a:cxn>
                </a:cxnLst>
                <a:rect l="0" t="0" r="r" b="b"/>
                <a:pathLst>
                  <a:path w="44" h="44">
                    <a:moveTo>
                      <a:pt x="0" y="22"/>
                    </a:moveTo>
                    <a:cubicBezTo>
                      <a:pt x="0" y="10"/>
                      <a:pt x="9" y="0"/>
                      <a:pt x="22" y="0"/>
                    </a:cubicBezTo>
                    <a:cubicBezTo>
                      <a:pt x="34" y="0"/>
                      <a:pt x="44" y="10"/>
                      <a:pt x="44" y="22"/>
                    </a:cubicBezTo>
                    <a:cubicBezTo>
                      <a:pt x="44" y="22"/>
                      <a:pt x="44" y="22"/>
                      <a:pt x="44" y="22"/>
                    </a:cubicBezTo>
                    <a:cubicBezTo>
                      <a:pt x="44" y="34"/>
                      <a:pt x="34" y="44"/>
                      <a:pt x="22" y="44"/>
                    </a:cubicBezTo>
                    <a:cubicBezTo>
                      <a:pt x="9" y="44"/>
                      <a:pt x="0" y="34"/>
                      <a:pt x="0" y="22"/>
                    </a:cubicBezTo>
                  </a:path>
                </a:pathLst>
              </a:custGeom>
              <a:solidFill>
                <a:srgbClr val="E75300"/>
              </a:solidFill>
              <a:ln w="12700" cap="rnd">
                <a:solidFill>
                  <a:srgbClr val="FFEF21"/>
                </a:solidFill>
                <a:prstDash val="solid"/>
                <a:round/>
                <a:headEnd/>
                <a:tailEnd/>
              </a:ln>
              <a:effectLst>
                <a:glow rad="63500">
                  <a:schemeClr val="accent3">
                    <a:satMod val="175000"/>
                    <a:alpha val="40000"/>
                  </a:schemeClr>
                </a:glow>
              </a:effectLst>
            </p:spPr>
            <p:txBody>
              <a:bodyPr vert="horz" wrap="square" lIns="91440" tIns="45720" rIns="91440" bIns="45720" numCol="1" anchor="t" anchorCtr="0" compatLnSpc="1">
                <a:prstTxWarp prst="textNoShape">
                  <a:avLst/>
                </a:prstTxWarp>
              </a:bodyPr>
              <a:lstStyle/>
              <a:p>
                <a:endParaRPr lang="zh-CN" altLang="en-US"/>
              </a:p>
            </p:txBody>
          </p:sp>
          <p:sp>
            <p:nvSpPr>
              <p:cNvPr id="777" name="Line 130">
                <a:extLst>
                  <a:ext uri="{FF2B5EF4-FFF2-40B4-BE49-F238E27FC236}">
                    <a16:creationId xmlns:a16="http://schemas.microsoft.com/office/drawing/2014/main" id="{D15DF084-224F-7666-B208-F9EDB31CD300}"/>
                  </a:ext>
                </a:extLst>
              </p:cNvPr>
              <p:cNvSpPr>
                <a:spLocks noChangeShapeType="1"/>
              </p:cNvSpPr>
              <p:nvPr/>
            </p:nvSpPr>
            <p:spPr bwMode="auto">
              <a:xfrm flipV="1">
                <a:off x="9346010" y="3313090"/>
                <a:ext cx="55123" cy="50371"/>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78" name="Line 131">
                <a:extLst>
                  <a:ext uri="{FF2B5EF4-FFF2-40B4-BE49-F238E27FC236}">
                    <a16:creationId xmlns:a16="http://schemas.microsoft.com/office/drawing/2014/main" id="{8E554ADC-8400-A734-BE69-DE507FCCA884}"/>
                  </a:ext>
                </a:extLst>
              </p:cNvPr>
              <p:cNvSpPr>
                <a:spLocks noChangeShapeType="1"/>
              </p:cNvSpPr>
              <p:nvPr/>
            </p:nvSpPr>
            <p:spPr bwMode="auto">
              <a:xfrm>
                <a:off x="9402083" y="3199043"/>
                <a:ext cx="14256" cy="79833"/>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79" name="Line 132">
                <a:extLst>
                  <a:ext uri="{FF2B5EF4-FFF2-40B4-BE49-F238E27FC236}">
                    <a16:creationId xmlns:a16="http://schemas.microsoft.com/office/drawing/2014/main" id="{A937E946-1A0A-FA2A-2096-1530215B0129}"/>
                  </a:ext>
                </a:extLst>
              </p:cNvPr>
              <p:cNvSpPr>
                <a:spLocks noChangeShapeType="1"/>
              </p:cNvSpPr>
              <p:nvPr/>
            </p:nvSpPr>
            <p:spPr bwMode="auto">
              <a:xfrm flipH="1" flipV="1">
                <a:off x="9288036" y="3134416"/>
                <a:ext cx="95039" cy="3611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80" name="Line 133">
                <a:extLst>
                  <a:ext uri="{FF2B5EF4-FFF2-40B4-BE49-F238E27FC236}">
                    <a16:creationId xmlns:a16="http://schemas.microsoft.com/office/drawing/2014/main" id="{280701F7-8F19-3911-5608-7EAB3923A9EC}"/>
                  </a:ext>
                </a:extLst>
              </p:cNvPr>
              <p:cNvSpPr>
                <a:spLocks noChangeShapeType="1"/>
              </p:cNvSpPr>
              <p:nvPr/>
            </p:nvSpPr>
            <p:spPr bwMode="auto">
              <a:xfrm flipV="1">
                <a:off x="9195849" y="3139168"/>
                <a:ext cx="59875" cy="5987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82" name="Line 136">
                <a:extLst>
                  <a:ext uri="{FF2B5EF4-FFF2-40B4-BE49-F238E27FC236}">
                    <a16:creationId xmlns:a16="http://schemas.microsoft.com/office/drawing/2014/main" id="{6C728D21-8187-8808-7C07-9D90DF38727F}"/>
                  </a:ext>
                </a:extLst>
              </p:cNvPr>
              <p:cNvSpPr>
                <a:spLocks noChangeShapeType="1"/>
              </p:cNvSpPr>
              <p:nvPr/>
            </p:nvSpPr>
            <p:spPr bwMode="auto">
              <a:xfrm>
                <a:off x="9329853" y="3397675"/>
                <a:ext cx="30413" cy="87436"/>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83" name="Line 137">
                <a:extLst>
                  <a:ext uri="{FF2B5EF4-FFF2-40B4-BE49-F238E27FC236}">
                    <a16:creationId xmlns:a16="http://schemas.microsoft.com/office/drawing/2014/main" id="{841BFA07-8F79-F818-5DCC-68AEB0B35E4C}"/>
                  </a:ext>
                </a:extLst>
              </p:cNvPr>
              <p:cNvSpPr>
                <a:spLocks noChangeShapeType="1"/>
              </p:cNvSpPr>
              <p:nvPr/>
            </p:nvSpPr>
            <p:spPr bwMode="auto">
              <a:xfrm>
                <a:off x="9435347" y="3309288"/>
                <a:ext cx="85535" cy="35165"/>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84" name="Line 138">
                <a:extLst>
                  <a:ext uri="{FF2B5EF4-FFF2-40B4-BE49-F238E27FC236}">
                    <a16:creationId xmlns:a16="http://schemas.microsoft.com/office/drawing/2014/main" id="{AE8E399B-98B3-1930-69F6-8559A029F5A6}"/>
                  </a:ext>
                </a:extLst>
              </p:cNvPr>
              <p:cNvSpPr>
                <a:spLocks noChangeShapeType="1"/>
              </p:cNvSpPr>
              <p:nvPr/>
            </p:nvSpPr>
            <p:spPr bwMode="auto">
              <a:xfrm>
                <a:off x="9548443" y="3364411"/>
                <a:ext cx="27562" cy="93138"/>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85" name="Line 139">
                <a:extLst>
                  <a:ext uri="{FF2B5EF4-FFF2-40B4-BE49-F238E27FC236}">
                    <a16:creationId xmlns:a16="http://schemas.microsoft.com/office/drawing/2014/main" id="{51D64576-E165-5A9C-1C2D-F7B4B0488A10}"/>
                  </a:ext>
                </a:extLst>
              </p:cNvPr>
              <p:cNvSpPr>
                <a:spLocks noChangeShapeType="1"/>
              </p:cNvSpPr>
              <p:nvPr/>
            </p:nvSpPr>
            <p:spPr bwMode="auto">
              <a:xfrm flipV="1">
                <a:off x="9517081" y="3492714"/>
                <a:ext cx="52272" cy="49420"/>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86" name="Line 141">
                <a:extLst>
                  <a:ext uri="{FF2B5EF4-FFF2-40B4-BE49-F238E27FC236}">
                    <a16:creationId xmlns:a16="http://schemas.microsoft.com/office/drawing/2014/main" id="{9959654D-5DCB-0075-B2C6-806C1E73E3E1}"/>
                  </a:ext>
                </a:extLst>
              </p:cNvPr>
              <p:cNvSpPr>
                <a:spLocks noChangeShapeType="1"/>
              </p:cNvSpPr>
              <p:nvPr/>
            </p:nvSpPr>
            <p:spPr bwMode="auto">
              <a:xfrm>
                <a:off x="9506626" y="3581100"/>
                <a:ext cx="1901" cy="80784"/>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87" name="Line 142">
                <a:extLst>
                  <a:ext uri="{FF2B5EF4-FFF2-40B4-BE49-F238E27FC236}">
                    <a16:creationId xmlns:a16="http://schemas.microsoft.com/office/drawing/2014/main" id="{9369CAED-527F-89E6-33BA-0C41DA5A69F8}"/>
                  </a:ext>
                </a:extLst>
              </p:cNvPr>
              <p:cNvSpPr>
                <a:spLocks noChangeShapeType="1"/>
              </p:cNvSpPr>
              <p:nvPr/>
            </p:nvSpPr>
            <p:spPr bwMode="auto">
              <a:xfrm>
                <a:off x="9297540" y="3713482"/>
                <a:ext cx="125452" cy="50094"/>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88" name="Line 143">
                <a:extLst>
                  <a:ext uri="{FF2B5EF4-FFF2-40B4-BE49-F238E27FC236}">
                    <a16:creationId xmlns:a16="http://schemas.microsoft.com/office/drawing/2014/main" id="{A03236E1-FAE2-C215-31F4-22F0A13CA182}"/>
                  </a:ext>
                </a:extLst>
              </p:cNvPr>
              <p:cNvSpPr>
                <a:spLocks noChangeShapeType="1"/>
              </p:cNvSpPr>
              <p:nvPr/>
            </p:nvSpPr>
            <p:spPr bwMode="auto">
              <a:xfrm>
                <a:off x="9284235" y="3616265"/>
                <a:ext cx="6653" cy="70329"/>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789" name="Line 145">
                <a:extLst>
                  <a:ext uri="{FF2B5EF4-FFF2-40B4-BE49-F238E27FC236}">
                    <a16:creationId xmlns:a16="http://schemas.microsoft.com/office/drawing/2014/main" id="{24C204E0-5F00-2F79-49BA-A91F8392AF61}"/>
                  </a:ext>
                </a:extLst>
              </p:cNvPr>
              <p:cNvSpPr>
                <a:spLocks noChangeShapeType="1"/>
              </p:cNvSpPr>
              <p:nvPr/>
            </p:nvSpPr>
            <p:spPr bwMode="auto">
              <a:xfrm flipV="1">
                <a:off x="9445801" y="3692296"/>
                <a:ext cx="58924" cy="52272"/>
              </a:xfrm>
              <a:prstGeom prst="line">
                <a:avLst/>
              </a:prstGeom>
              <a:noFill/>
              <a:ln w="12700" cap="rnd">
                <a:solidFill>
                  <a:srgbClr val="1473D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grpSp>
        <p:sp>
          <p:nvSpPr>
            <p:cNvPr id="801" name="Line 339">
              <a:extLst>
                <a:ext uri="{FF2B5EF4-FFF2-40B4-BE49-F238E27FC236}">
                  <a16:creationId xmlns:a16="http://schemas.microsoft.com/office/drawing/2014/main" id="{A5165086-662E-9535-F69E-36FE87B9E8CC}"/>
                </a:ext>
              </a:extLst>
            </p:cNvPr>
            <p:cNvSpPr>
              <a:spLocks noChangeShapeType="1"/>
            </p:cNvSpPr>
            <p:nvPr/>
          </p:nvSpPr>
          <p:spPr bwMode="auto">
            <a:xfrm>
              <a:off x="10794288" y="4618443"/>
              <a:ext cx="0" cy="568325"/>
            </a:xfrm>
            <a:prstGeom prst="line">
              <a:avLst/>
            </a:prstGeom>
            <a:noFill/>
            <a:ln w="12700" cap="rnd">
              <a:solidFill>
                <a:schemeClr val="tx1"/>
              </a:solidFill>
              <a:prstDash val="sysDot"/>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802" name="文本框 801">
              <a:extLst>
                <a:ext uri="{FF2B5EF4-FFF2-40B4-BE49-F238E27FC236}">
                  <a16:creationId xmlns:a16="http://schemas.microsoft.com/office/drawing/2014/main" id="{D6072EF5-B4E4-6CA7-41FF-DBBB16EDA81E}"/>
                </a:ext>
              </a:extLst>
            </p:cNvPr>
            <p:cNvSpPr txBox="1"/>
            <p:nvPr/>
          </p:nvSpPr>
          <p:spPr>
            <a:xfrm>
              <a:off x="9689387" y="4247970"/>
              <a:ext cx="1261884" cy="1015663"/>
            </a:xfrm>
            <a:prstGeom prst="rect">
              <a:avLst/>
            </a:prstGeom>
            <a:noFill/>
          </p:spPr>
          <p:txBody>
            <a:bodyPr wrap="none" rtlCol="0">
              <a:spAutoFit/>
            </a:bodyPr>
            <a:lstStyle/>
            <a:p>
              <a:r>
                <a:rPr lang="en-US" altLang="zh-CN" sz="1200" dirty="0">
                  <a:effectLst/>
                  <a:latin typeface="宋体" panose="02010600030101010101" pitchFamily="2" charset="-122"/>
                  <a:cs typeface="Times New Roman" panose="02020603050405020304" pitchFamily="18" charset="0"/>
                </a:rPr>
                <a:t>C, N, O, </a:t>
              </a:r>
              <a:r>
                <a:rPr lang="en-US" altLang="zh-CN" sz="1200" dirty="0">
                  <a:solidFill>
                    <a:srgbClr val="FF0000"/>
                  </a:solidFill>
                  <a:effectLst/>
                  <a:latin typeface="宋体" panose="02010600030101010101" pitchFamily="2" charset="-122"/>
                  <a:cs typeface="Times New Roman" panose="02020603050405020304" pitchFamily="18" charset="0"/>
                </a:rPr>
                <a:t>F</a:t>
              </a:r>
              <a:r>
                <a:rPr lang="en-US" altLang="zh-CN" sz="1200" dirty="0">
                  <a:effectLst/>
                  <a:latin typeface="宋体" panose="02010600030101010101" pitchFamily="2" charset="-122"/>
                  <a:cs typeface="Times New Roman" panose="02020603050405020304" pitchFamily="18" charset="0"/>
                </a:rPr>
                <a:t>,</a:t>
              </a:r>
            </a:p>
            <a:p>
              <a:r>
                <a:rPr lang="en-US" altLang="zh-CN" sz="1200" dirty="0">
                  <a:effectLst/>
                  <a:latin typeface="宋体" panose="02010600030101010101" pitchFamily="2" charset="-122"/>
                  <a:cs typeface="Times New Roman" panose="02020603050405020304" pitchFamily="18" charset="0"/>
                </a:rPr>
                <a:t>P, S, </a:t>
              </a:r>
              <a:r>
                <a:rPr lang="en-US" altLang="zh-CN" sz="1200" dirty="0">
                  <a:solidFill>
                    <a:srgbClr val="FF0000"/>
                  </a:solidFill>
                  <a:effectLst/>
                  <a:latin typeface="宋体" panose="02010600030101010101" pitchFamily="2" charset="-122"/>
                  <a:cs typeface="Times New Roman" panose="02020603050405020304" pitchFamily="18" charset="0"/>
                </a:rPr>
                <a:t>Cl</a:t>
              </a:r>
              <a:r>
                <a:rPr lang="en-US" altLang="zh-CN" sz="1200" dirty="0">
                  <a:effectLst/>
                  <a:latin typeface="宋体" panose="02010600030101010101" pitchFamily="2" charset="-122"/>
                  <a:cs typeface="Times New Roman" panose="02020603050405020304" pitchFamily="18" charset="0"/>
                </a:rPr>
                <a:t>, Br,</a:t>
              </a:r>
            </a:p>
            <a:p>
              <a:r>
                <a:rPr lang="en-US" altLang="zh-CN" sz="1200" dirty="0">
                  <a:effectLst/>
                  <a:latin typeface="宋体" panose="02010600030101010101" pitchFamily="2" charset="-122"/>
                  <a:cs typeface="Times New Roman" panose="02020603050405020304" pitchFamily="18" charset="0"/>
                </a:rPr>
                <a:t>I, </a:t>
              </a:r>
              <a:r>
                <a:rPr lang="en-US" altLang="zh-CN" sz="1200" dirty="0">
                  <a:solidFill>
                    <a:srgbClr val="FF0000"/>
                  </a:solidFill>
                  <a:effectLst/>
                  <a:latin typeface="宋体" panose="02010600030101010101" pitchFamily="2" charset="-122"/>
                  <a:cs typeface="Times New Roman" panose="02020603050405020304" pitchFamily="18" charset="0"/>
                </a:rPr>
                <a:t>B</a:t>
              </a:r>
              <a:r>
                <a:rPr lang="en-US" altLang="zh-CN" sz="1200" dirty="0">
                  <a:effectLst/>
                  <a:latin typeface="宋体" panose="02010600030101010101" pitchFamily="2" charset="-122"/>
                  <a:cs typeface="Times New Roman" panose="02020603050405020304" pitchFamily="18" charset="0"/>
                </a:rPr>
                <a:t>, Si, </a:t>
              </a:r>
              <a:r>
                <a:rPr lang="en-US" altLang="zh-CN" sz="1200" dirty="0">
                  <a:solidFill>
                    <a:srgbClr val="FF0000"/>
                  </a:solidFill>
                  <a:effectLst/>
                  <a:latin typeface="宋体" panose="02010600030101010101" pitchFamily="2" charset="-122"/>
                  <a:cs typeface="Times New Roman" panose="02020603050405020304" pitchFamily="18" charset="0"/>
                </a:rPr>
                <a:t>Fe</a:t>
              </a:r>
              <a:r>
                <a:rPr lang="en-US" altLang="zh-CN" sz="1200" dirty="0">
                  <a:effectLst/>
                  <a:latin typeface="宋体" panose="02010600030101010101" pitchFamily="2" charset="-122"/>
                  <a:cs typeface="Times New Roman" panose="02020603050405020304" pitchFamily="18" charset="0"/>
                </a:rPr>
                <a:t>, </a:t>
              </a:r>
            </a:p>
            <a:p>
              <a:r>
                <a:rPr lang="en-US" altLang="zh-CN" sz="1200" dirty="0" err="1">
                  <a:effectLst/>
                  <a:latin typeface="宋体" panose="02010600030101010101" pitchFamily="2" charset="-122"/>
                  <a:cs typeface="Times New Roman" panose="02020603050405020304" pitchFamily="18" charset="0"/>
                </a:rPr>
                <a:t>Zn,Cu,Mn</a:t>
              </a:r>
              <a:r>
                <a:rPr lang="en-US" altLang="zh-CN" sz="1200" dirty="0">
                  <a:effectLst/>
                  <a:latin typeface="宋体" panose="02010600030101010101" pitchFamily="2" charset="-122"/>
                  <a:cs typeface="Times New Roman" panose="02020603050405020304" pitchFamily="18" charset="0"/>
                </a:rPr>
                <a:t>, Mo,</a:t>
              </a:r>
            </a:p>
            <a:p>
              <a:r>
                <a:rPr lang="en-US" altLang="zh-CN" sz="1200" dirty="0">
                  <a:effectLst/>
                  <a:latin typeface="宋体" panose="02010600030101010101" pitchFamily="2" charset="-122"/>
                  <a:cs typeface="Times New Roman" panose="02020603050405020304" pitchFamily="18" charset="0"/>
                </a:rPr>
                <a:t>…</a:t>
              </a:r>
            </a:p>
          </p:txBody>
        </p:sp>
        <p:sp>
          <p:nvSpPr>
            <p:cNvPr id="803" name="文本框 802">
              <a:extLst>
                <a:ext uri="{FF2B5EF4-FFF2-40B4-BE49-F238E27FC236}">
                  <a16:creationId xmlns:a16="http://schemas.microsoft.com/office/drawing/2014/main" id="{A1B2A6AF-FBF2-0EF3-F89F-B234888B3996}"/>
                </a:ext>
              </a:extLst>
            </p:cNvPr>
            <p:cNvSpPr txBox="1"/>
            <p:nvPr/>
          </p:nvSpPr>
          <p:spPr>
            <a:xfrm>
              <a:off x="10795809" y="4240722"/>
              <a:ext cx="1313180" cy="938719"/>
            </a:xfrm>
            <a:prstGeom prst="rect">
              <a:avLst/>
            </a:prstGeom>
            <a:noFill/>
          </p:spPr>
          <p:txBody>
            <a:bodyPr wrap="none" rtlCol="0">
              <a:spAutoFit/>
            </a:bodyPr>
            <a:lstStyle/>
            <a:p>
              <a:r>
                <a:rPr lang="en-US" altLang="zh-CN" sz="1100" dirty="0">
                  <a:solidFill>
                    <a:srgbClr val="0D0D0D"/>
                  </a:solidFill>
                  <a:effectLst/>
                  <a:latin typeface="宋体" panose="02010600030101010101" pitchFamily="2" charset="-122"/>
                  <a:ea typeface="宋体" panose="02010600030101010101" pitchFamily="2" charset="-122"/>
                </a:rPr>
                <a:t>GLY,</a:t>
              </a:r>
              <a:r>
                <a:rPr lang="en-US" altLang="zh-CN" sz="1100" dirty="0">
                  <a:solidFill>
                    <a:srgbClr val="FF0000"/>
                  </a:solidFill>
                  <a:effectLst/>
                  <a:latin typeface="宋体" panose="02010600030101010101" pitchFamily="2" charset="-122"/>
                  <a:ea typeface="宋体" panose="02010600030101010101" pitchFamily="2" charset="-122"/>
                </a:rPr>
                <a:t>ALA</a:t>
              </a:r>
              <a:r>
                <a:rPr lang="en-US" altLang="zh-CN" sz="1100" dirty="0">
                  <a:solidFill>
                    <a:srgbClr val="0D0D0D"/>
                  </a:solidFill>
                  <a:effectLst/>
                  <a:latin typeface="宋体" panose="02010600030101010101" pitchFamily="2" charset="-122"/>
                  <a:ea typeface="宋体" panose="02010600030101010101" pitchFamily="2" charset="-122"/>
                </a:rPr>
                <a:t>,VAL,LEU,</a:t>
              </a:r>
            </a:p>
            <a:p>
              <a:r>
                <a:rPr lang="en-US" altLang="zh-CN" sz="1100" dirty="0">
                  <a:solidFill>
                    <a:srgbClr val="0D0D0D"/>
                  </a:solidFill>
                  <a:effectLst/>
                  <a:latin typeface="宋体" panose="02010600030101010101" pitchFamily="2" charset="-122"/>
                  <a:ea typeface="宋体" panose="02010600030101010101" pitchFamily="2" charset="-122"/>
                </a:rPr>
                <a:t>ILE,PRO,PHE,</a:t>
              </a:r>
              <a:r>
                <a:rPr lang="en-US" altLang="zh-CN" sz="1100" dirty="0">
                  <a:solidFill>
                    <a:srgbClr val="FF0000"/>
                  </a:solidFill>
                  <a:effectLst/>
                  <a:latin typeface="宋体" panose="02010600030101010101" pitchFamily="2" charset="-122"/>
                  <a:ea typeface="宋体" panose="02010600030101010101" pitchFamily="2" charset="-122"/>
                </a:rPr>
                <a:t>TYR</a:t>
              </a:r>
              <a:r>
                <a:rPr lang="en-US" altLang="zh-CN" sz="1100" dirty="0">
                  <a:solidFill>
                    <a:srgbClr val="0D0D0D"/>
                  </a:solidFill>
                  <a:effectLst/>
                  <a:latin typeface="宋体" panose="02010600030101010101" pitchFamily="2" charset="-122"/>
                  <a:ea typeface="宋体" panose="02010600030101010101" pitchFamily="2" charset="-122"/>
                </a:rPr>
                <a:t>,</a:t>
              </a:r>
              <a:br>
                <a:rPr lang="en-US" altLang="zh-CN" sz="1100" dirty="0">
                  <a:solidFill>
                    <a:srgbClr val="0D0D0D"/>
                  </a:solidFill>
                  <a:effectLst/>
                  <a:latin typeface="宋体" panose="02010600030101010101" pitchFamily="2" charset="-122"/>
                  <a:ea typeface="宋体" panose="02010600030101010101" pitchFamily="2" charset="-122"/>
                </a:rPr>
              </a:br>
              <a:r>
                <a:rPr lang="en-US" altLang="zh-CN" sz="1100" dirty="0">
                  <a:solidFill>
                    <a:srgbClr val="0D0D0D"/>
                  </a:solidFill>
                  <a:effectLst/>
                  <a:latin typeface="宋体" panose="02010600030101010101" pitchFamily="2" charset="-122"/>
                  <a:ea typeface="宋体" panose="02010600030101010101" pitchFamily="2" charset="-122"/>
                </a:rPr>
                <a:t>TRP,SER,</a:t>
              </a:r>
              <a:r>
                <a:rPr lang="en-US" altLang="zh-CN" sz="1100" dirty="0">
                  <a:solidFill>
                    <a:srgbClr val="FF0000"/>
                  </a:solidFill>
                  <a:effectLst/>
                  <a:latin typeface="宋体" panose="02010600030101010101" pitchFamily="2" charset="-122"/>
                  <a:ea typeface="宋体" panose="02010600030101010101" pitchFamily="2" charset="-122"/>
                </a:rPr>
                <a:t>THR</a:t>
              </a:r>
              <a:r>
                <a:rPr lang="en-US" altLang="zh-CN" sz="1100" dirty="0">
                  <a:solidFill>
                    <a:srgbClr val="0D0D0D"/>
                  </a:solidFill>
                  <a:effectLst/>
                  <a:latin typeface="宋体" panose="02010600030101010101" pitchFamily="2" charset="-122"/>
                  <a:ea typeface="宋体" panose="02010600030101010101" pitchFamily="2" charset="-122"/>
                </a:rPr>
                <a:t>,CYS,</a:t>
              </a:r>
            </a:p>
            <a:p>
              <a:r>
                <a:rPr lang="en-US" altLang="zh-CN" sz="1100" dirty="0">
                  <a:solidFill>
                    <a:srgbClr val="FF0000"/>
                  </a:solidFill>
                  <a:latin typeface="宋体" panose="02010600030101010101" pitchFamily="2" charset="-122"/>
                  <a:ea typeface="宋体" panose="02010600030101010101" pitchFamily="2" charset="-122"/>
                </a:rPr>
                <a:t>MET</a:t>
              </a:r>
              <a:r>
                <a:rPr lang="en-US" altLang="zh-CN" sz="1100" dirty="0">
                  <a:solidFill>
                    <a:srgbClr val="0D0D0D"/>
                  </a:solidFill>
                  <a:latin typeface="宋体" panose="02010600030101010101" pitchFamily="2" charset="-122"/>
                  <a:ea typeface="宋体" panose="02010600030101010101" pitchFamily="2" charset="-122"/>
                </a:rPr>
                <a:t>,ASN,GLN,ASP,</a:t>
              </a:r>
            </a:p>
            <a:p>
              <a:r>
                <a:rPr lang="en-US" altLang="zh-CN" sz="1100" dirty="0">
                  <a:solidFill>
                    <a:srgbClr val="0D0D0D"/>
                  </a:solidFill>
                  <a:effectLst/>
                  <a:latin typeface="宋体" panose="02010600030101010101" pitchFamily="2" charset="-122"/>
                  <a:ea typeface="宋体" panose="02010600030101010101" pitchFamily="2" charset="-122"/>
                </a:rPr>
                <a:t>GLU,LYS,ARG,…</a:t>
              </a:r>
            </a:p>
          </p:txBody>
        </p:sp>
        <p:sp>
          <p:nvSpPr>
            <p:cNvPr id="804" name="Rectangle 10">
              <a:extLst>
                <a:ext uri="{FF2B5EF4-FFF2-40B4-BE49-F238E27FC236}">
                  <a16:creationId xmlns:a16="http://schemas.microsoft.com/office/drawing/2014/main" id="{56720237-7068-72AA-FF99-24D5348E3999}"/>
                </a:ext>
              </a:extLst>
            </p:cNvPr>
            <p:cNvSpPr>
              <a:spLocks noChangeArrowheads="1"/>
            </p:cNvSpPr>
            <p:nvPr/>
          </p:nvSpPr>
          <p:spPr bwMode="auto">
            <a:xfrm>
              <a:off x="3731411" y="402847"/>
              <a:ext cx="2736064" cy="66016"/>
            </a:xfrm>
            <a:prstGeom prst="rect">
              <a:avLst/>
            </a:prstGeom>
            <a:solidFill>
              <a:srgbClr val="C7C7C7"/>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805" name="Rectangle 10">
              <a:extLst>
                <a:ext uri="{FF2B5EF4-FFF2-40B4-BE49-F238E27FC236}">
                  <a16:creationId xmlns:a16="http://schemas.microsoft.com/office/drawing/2014/main" id="{0B1A56C2-67B9-58DB-E997-07C26B5D2F82}"/>
                </a:ext>
              </a:extLst>
            </p:cNvPr>
            <p:cNvSpPr>
              <a:spLocks noChangeArrowheads="1"/>
            </p:cNvSpPr>
            <p:nvPr/>
          </p:nvSpPr>
          <p:spPr bwMode="auto">
            <a:xfrm>
              <a:off x="6566856" y="389625"/>
              <a:ext cx="2871873" cy="59660"/>
            </a:xfrm>
            <a:prstGeom prst="rect">
              <a:avLst/>
            </a:prstGeom>
            <a:solidFill>
              <a:srgbClr val="C7C7C7"/>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806" name="Rectangle 10">
              <a:extLst>
                <a:ext uri="{FF2B5EF4-FFF2-40B4-BE49-F238E27FC236}">
                  <a16:creationId xmlns:a16="http://schemas.microsoft.com/office/drawing/2014/main" id="{68692EFD-AE8B-C742-BDA7-A67FCFF1212A}"/>
                </a:ext>
              </a:extLst>
            </p:cNvPr>
            <p:cNvSpPr>
              <a:spLocks noChangeArrowheads="1"/>
            </p:cNvSpPr>
            <p:nvPr/>
          </p:nvSpPr>
          <p:spPr bwMode="auto">
            <a:xfrm>
              <a:off x="9567848" y="387943"/>
              <a:ext cx="2281252" cy="45719"/>
            </a:xfrm>
            <a:prstGeom prst="rect">
              <a:avLst/>
            </a:prstGeom>
            <a:solidFill>
              <a:srgbClr val="C7C7C7"/>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807" name="Rectangle 10">
              <a:extLst>
                <a:ext uri="{FF2B5EF4-FFF2-40B4-BE49-F238E27FC236}">
                  <a16:creationId xmlns:a16="http://schemas.microsoft.com/office/drawing/2014/main" id="{49AA9C03-5028-0FD8-541F-04A42052A753}"/>
                </a:ext>
              </a:extLst>
            </p:cNvPr>
            <p:cNvSpPr>
              <a:spLocks noChangeArrowheads="1"/>
            </p:cNvSpPr>
            <p:nvPr/>
          </p:nvSpPr>
          <p:spPr bwMode="auto">
            <a:xfrm>
              <a:off x="2165892" y="403581"/>
              <a:ext cx="1487896" cy="70336"/>
            </a:xfrm>
            <a:prstGeom prst="rect">
              <a:avLst/>
            </a:prstGeom>
            <a:solidFill>
              <a:srgbClr val="C7C7C7"/>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808" name="Rectangle 9">
              <a:extLst>
                <a:ext uri="{FF2B5EF4-FFF2-40B4-BE49-F238E27FC236}">
                  <a16:creationId xmlns:a16="http://schemas.microsoft.com/office/drawing/2014/main" id="{B5A4F7C4-8B72-F141-44B3-50E9269256F2}"/>
                </a:ext>
              </a:extLst>
            </p:cNvPr>
            <p:cNvSpPr>
              <a:spLocks noChangeArrowheads="1"/>
            </p:cNvSpPr>
            <p:nvPr/>
          </p:nvSpPr>
          <p:spPr bwMode="auto">
            <a:xfrm>
              <a:off x="1650342" y="104734"/>
              <a:ext cx="10367487" cy="5385009"/>
            </a:xfrm>
            <a:prstGeom prst="rect">
              <a:avLst/>
            </a:prstGeom>
            <a:no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spTree>
    <p:extLst>
      <p:ext uri="{BB962C8B-B14F-4D97-AF65-F5344CB8AC3E}">
        <p14:creationId xmlns:p14="http://schemas.microsoft.com/office/powerpoint/2010/main" val="7962011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EDB41-99DA-1242-5EC8-574C1858497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508105-9BBE-DA15-D06C-2014A19952F7}"/>
              </a:ext>
            </a:extLst>
          </p:cNvPr>
          <p:cNvSpPr>
            <a:spLocks noGrp="1"/>
          </p:cNvSpPr>
          <p:nvPr>
            <p:ph type="ctrTitle"/>
          </p:nvPr>
        </p:nvSpPr>
        <p:spPr>
          <a:xfrm>
            <a:off x="145366" y="137625"/>
            <a:ext cx="2794782" cy="425083"/>
          </a:xfrm>
        </p:spPr>
        <p:txBody>
          <a:bodyPr>
            <a:noAutofit/>
          </a:bodyPr>
          <a:lstStyle/>
          <a:p>
            <a:r>
              <a:rPr lang="zh-CN" altLang="en-US" sz="2000" b="1" dirty="0">
                <a:highlight>
                  <a:srgbClr val="FFFF00"/>
                </a:highlight>
                <a:latin typeface="宋体" panose="02010600030101010101" pitchFamily="2" charset="-122"/>
                <a:ea typeface="宋体" panose="02010600030101010101" pitchFamily="2" charset="-122"/>
              </a:rPr>
              <a:t>数据集与仿真实验环境</a:t>
            </a:r>
          </a:p>
        </p:txBody>
      </p:sp>
      <p:sp>
        <p:nvSpPr>
          <p:cNvPr id="3" name="副标题 2">
            <a:extLst>
              <a:ext uri="{FF2B5EF4-FFF2-40B4-BE49-F238E27FC236}">
                <a16:creationId xmlns:a16="http://schemas.microsoft.com/office/drawing/2014/main" id="{3143D0FD-7FFA-B1B3-9C0F-6419A7F9F2EE}"/>
              </a:ext>
            </a:extLst>
          </p:cNvPr>
          <p:cNvSpPr>
            <a:spLocks noGrp="1"/>
          </p:cNvSpPr>
          <p:nvPr>
            <p:ph type="subTitle" idx="1"/>
          </p:nvPr>
        </p:nvSpPr>
        <p:spPr>
          <a:xfrm>
            <a:off x="464234" y="815926"/>
            <a:ext cx="11422966" cy="5767754"/>
          </a:xfrm>
        </p:spPr>
        <p:txBody>
          <a:bodyPr>
            <a:normAutofit/>
          </a:bodyPr>
          <a:lstStyle/>
          <a:p>
            <a:pPr algn="just"/>
            <a:endParaRPr lang="zh-CN" altLang="en-US" sz="2000" dirty="0"/>
          </a:p>
        </p:txBody>
      </p:sp>
      <p:grpSp>
        <p:nvGrpSpPr>
          <p:cNvPr id="532" name="组合 531">
            <a:extLst>
              <a:ext uri="{FF2B5EF4-FFF2-40B4-BE49-F238E27FC236}">
                <a16:creationId xmlns:a16="http://schemas.microsoft.com/office/drawing/2014/main" id="{54DF3257-C431-E664-8A6B-2CBAF6432788}"/>
              </a:ext>
            </a:extLst>
          </p:cNvPr>
          <p:cNvGrpSpPr/>
          <p:nvPr/>
        </p:nvGrpSpPr>
        <p:grpSpPr>
          <a:xfrm>
            <a:off x="3452609" y="1777486"/>
            <a:ext cx="2873669" cy="2150400"/>
            <a:chOff x="25305" y="2616834"/>
            <a:chExt cx="2618835" cy="1959705"/>
          </a:xfrm>
        </p:grpSpPr>
        <p:sp>
          <p:nvSpPr>
            <p:cNvPr id="443" name="矩形 442">
              <a:extLst>
                <a:ext uri="{FF2B5EF4-FFF2-40B4-BE49-F238E27FC236}">
                  <a16:creationId xmlns:a16="http://schemas.microsoft.com/office/drawing/2014/main" id="{4B2BA3EC-9101-1B75-D72B-A31F25557289}"/>
                </a:ext>
              </a:extLst>
            </p:cNvPr>
            <p:cNvSpPr/>
            <p:nvPr/>
          </p:nvSpPr>
          <p:spPr>
            <a:xfrm>
              <a:off x="82275" y="2625456"/>
              <a:ext cx="2561865" cy="193336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900" dirty="0">
                <a:solidFill>
                  <a:schemeClr val="tx1"/>
                </a:solidFill>
              </a:endParaRPr>
            </a:p>
          </p:txBody>
        </p:sp>
        <p:sp>
          <p:nvSpPr>
            <p:cNvPr id="444" name="文本框 443">
              <a:extLst>
                <a:ext uri="{FF2B5EF4-FFF2-40B4-BE49-F238E27FC236}">
                  <a16:creationId xmlns:a16="http://schemas.microsoft.com/office/drawing/2014/main" id="{23DC98E3-71B1-BCE5-ECFB-486488E6F190}"/>
                </a:ext>
              </a:extLst>
            </p:cNvPr>
            <p:cNvSpPr txBox="1"/>
            <p:nvPr/>
          </p:nvSpPr>
          <p:spPr>
            <a:xfrm>
              <a:off x="25305" y="2616834"/>
              <a:ext cx="1166460" cy="210362"/>
            </a:xfrm>
            <a:prstGeom prst="rect">
              <a:avLst/>
            </a:prstGeom>
            <a:noFill/>
          </p:spPr>
          <p:txBody>
            <a:bodyPr wrap="square" rtlCol="0">
              <a:spAutoFit/>
            </a:bodyPr>
            <a:lstStyle/>
            <a:p>
              <a:r>
                <a:rPr lang="zh-CN" altLang="en-US" sz="900" dirty="0">
                  <a:solidFill>
                    <a:schemeClr val="tx1"/>
                  </a:solidFill>
                </a:rPr>
                <a:t>交叉注意力模块</a:t>
              </a:r>
            </a:p>
          </p:txBody>
        </p:sp>
        <p:grpSp>
          <p:nvGrpSpPr>
            <p:cNvPr id="451" name="组合 450">
              <a:extLst>
                <a:ext uri="{FF2B5EF4-FFF2-40B4-BE49-F238E27FC236}">
                  <a16:creationId xmlns:a16="http://schemas.microsoft.com/office/drawing/2014/main" id="{D216CB1B-BE6A-7CA0-1874-8A630E817896}"/>
                </a:ext>
              </a:extLst>
            </p:cNvPr>
            <p:cNvGrpSpPr/>
            <p:nvPr/>
          </p:nvGrpSpPr>
          <p:grpSpPr>
            <a:xfrm>
              <a:off x="891202" y="2888494"/>
              <a:ext cx="99558" cy="421877"/>
              <a:chOff x="304302" y="2866054"/>
              <a:chExt cx="99558" cy="421877"/>
            </a:xfrm>
          </p:grpSpPr>
          <p:sp>
            <p:nvSpPr>
              <p:cNvPr id="448" name="Freeform 30">
                <a:extLst>
                  <a:ext uri="{FF2B5EF4-FFF2-40B4-BE49-F238E27FC236}">
                    <a16:creationId xmlns:a16="http://schemas.microsoft.com/office/drawing/2014/main" id="{AB44C743-9BDC-96E1-AADB-8E5F514AF64C}"/>
                  </a:ext>
                </a:extLst>
              </p:cNvPr>
              <p:cNvSpPr>
                <a:spLocks/>
              </p:cNvSpPr>
              <p:nvPr/>
            </p:nvSpPr>
            <p:spPr bwMode="auto">
              <a:xfrm>
                <a:off x="304303" y="2866054"/>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20000"/>
                  <a:lumOff val="8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49" name="Freeform 30">
                <a:extLst>
                  <a:ext uri="{FF2B5EF4-FFF2-40B4-BE49-F238E27FC236}">
                    <a16:creationId xmlns:a16="http://schemas.microsoft.com/office/drawing/2014/main" id="{D34CFAE6-AB0E-EB39-70FA-58FA05062728}"/>
                  </a:ext>
                </a:extLst>
              </p:cNvPr>
              <p:cNvSpPr>
                <a:spLocks/>
              </p:cNvSpPr>
              <p:nvPr/>
            </p:nvSpPr>
            <p:spPr bwMode="auto">
              <a:xfrm>
                <a:off x="304302" y="3006768"/>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50" name="Freeform 30">
                <a:extLst>
                  <a:ext uri="{FF2B5EF4-FFF2-40B4-BE49-F238E27FC236}">
                    <a16:creationId xmlns:a16="http://schemas.microsoft.com/office/drawing/2014/main" id="{D0DFD243-96E7-4822-F7ED-07AC6EE9C27D}"/>
                  </a:ext>
                </a:extLst>
              </p:cNvPr>
              <p:cNvSpPr>
                <a:spLocks/>
              </p:cNvSpPr>
              <p:nvPr/>
            </p:nvSpPr>
            <p:spPr bwMode="auto">
              <a:xfrm>
                <a:off x="304302" y="3146490"/>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grpSp>
          <p:nvGrpSpPr>
            <p:cNvPr id="452" name="组合 451">
              <a:extLst>
                <a:ext uri="{FF2B5EF4-FFF2-40B4-BE49-F238E27FC236}">
                  <a16:creationId xmlns:a16="http://schemas.microsoft.com/office/drawing/2014/main" id="{9C198D2D-F346-4F13-5763-794445134C21}"/>
                </a:ext>
              </a:extLst>
            </p:cNvPr>
            <p:cNvGrpSpPr/>
            <p:nvPr/>
          </p:nvGrpSpPr>
          <p:grpSpPr>
            <a:xfrm>
              <a:off x="882310" y="3452733"/>
              <a:ext cx="99558" cy="421877"/>
              <a:chOff x="304302" y="2866054"/>
              <a:chExt cx="99558" cy="421877"/>
            </a:xfrm>
          </p:grpSpPr>
          <p:sp>
            <p:nvSpPr>
              <p:cNvPr id="453" name="Freeform 30">
                <a:extLst>
                  <a:ext uri="{FF2B5EF4-FFF2-40B4-BE49-F238E27FC236}">
                    <a16:creationId xmlns:a16="http://schemas.microsoft.com/office/drawing/2014/main" id="{878F1404-1E37-F479-2F12-6B49E9F8B5C6}"/>
                  </a:ext>
                </a:extLst>
              </p:cNvPr>
              <p:cNvSpPr>
                <a:spLocks/>
              </p:cNvSpPr>
              <p:nvPr/>
            </p:nvSpPr>
            <p:spPr bwMode="auto">
              <a:xfrm>
                <a:off x="304303" y="2866054"/>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54" name="Freeform 30">
                <a:extLst>
                  <a:ext uri="{FF2B5EF4-FFF2-40B4-BE49-F238E27FC236}">
                    <a16:creationId xmlns:a16="http://schemas.microsoft.com/office/drawing/2014/main" id="{F4F8B9F4-E610-C22F-0C82-A811BDAC4A36}"/>
                  </a:ext>
                </a:extLst>
              </p:cNvPr>
              <p:cNvSpPr>
                <a:spLocks/>
              </p:cNvSpPr>
              <p:nvPr/>
            </p:nvSpPr>
            <p:spPr bwMode="auto">
              <a:xfrm>
                <a:off x="304302" y="3006768"/>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20000"/>
                  <a:lumOff val="8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55" name="Freeform 30">
                <a:extLst>
                  <a:ext uri="{FF2B5EF4-FFF2-40B4-BE49-F238E27FC236}">
                    <a16:creationId xmlns:a16="http://schemas.microsoft.com/office/drawing/2014/main" id="{5F7D40C6-E220-0336-2A0C-641699E348AF}"/>
                  </a:ext>
                </a:extLst>
              </p:cNvPr>
              <p:cNvSpPr>
                <a:spLocks/>
              </p:cNvSpPr>
              <p:nvPr/>
            </p:nvSpPr>
            <p:spPr bwMode="auto">
              <a:xfrm>
                <a:off x="304302" y="3146490"/>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grpSp>
          <p:nvGrpSpPr>
            <p:cNvPr id="456" name="组合 455">
              <a:extLst>
                <a:ext uri="{FF2B5EF4-FFF2-40B4-BE49-F238E27FC236}">
                  <a16:creationId xmlns:a16="http://schemas.microsoft.com/office/drawing/2014/main" id="{70B7AB9B-5558-E2F9-00CF-C48458843588}"/>
                </a:ext>
              </a:extLst>
            </p:cNvPr>
            <p:cNvGrpSpPr/>
            <p:nvPr/>
          </p:nvGrpSpPr>
          <p:grpSpPr>
            <a:xfrm>
              <a:off x="878741" y="4067508"/>
              <a:ext cx="99558" cy="421877"/>
              <a:chOff x="304302" y="2866054"/>
              <a:chExt cx="99558" cy="421877"/>
            </a:xfrm>
          </p:grpSpPr>
          <p:sp>
            <p:nvSpPr>
              <p:cNvPr id="457" name="Freeform 30">
                <a:extLst>
                  <a:ext uri="{FF2B5EF4-FFF2-40B4-BE49-F238E27FC236}">
                    <a16:creationId xmlns:a16="http://schemas.microsoft.com/office/drawing/2014/main" id="{9423D16F-EBA5-7F76-36D4-0F2FD919DA4E}"/>
                  </a:ext>
                </a:extLst>
              </p:cNvPr>
              <p:cNvSpPr>
                <a:spLocks/>
              </p:cNvSpPr>
              <p:nvPr/>
            </p:nvSpPr>
            <p:spPr bwMode="auto">
              <a:xfrm>
                <a:off x="304303" y="2866054"/>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20000"/>
                  <a:lumOff val="8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58" name="Freeform 30">
                <a:extLst>
                  <a:ext uri="{FF2B5EF4-FFF2-40B4-BE49-F238E27FC236}">
                    <a16:creationId xmlns:a16="http://schemas.microsoft.com/office/drawing/2014/main" id="{75E9121B-CA36-54E5-F40A-65E6DDEBA19D}"/>
                  </a:ext>
                </a:extLst>
              </p:cNvPr>
              <p:cNvSpPr>
                <a:spLocks/>
              </p:cNvSpPr>
              <p:nvPr/>
            </p:nvSpPr>
            <p:spPr bwMode="auto">
              <a:xfrm>
                <a:off x="304302" y="3006768"/>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459" name="Freeform 30">
                <a:extLst>
                  <a:ext uri="{FF2B5EF4-FFF2-40B4-BE49-F238E27FC236}">
                    <a16:creationId xmlns:a16="http://schemas.microsoft.com/office/drawing/2014/main" id="{50DF550B-7151-4B77-6BCB-213EB2F27A3A}"/>
                  </a:ext>
                </a:extLst>
              </p:cNvPr>
              <p:cNvSpPr>
                <a:spLocks/>
              </p:cNvSpPr>
              <p:nvPr/>
            </p:nvSpPr>
            <p:spPr bwMode="auto">
              <a:xfrm>
                <a:off x="304302" y="3146490"/>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sp>
          <p:nvSpPr>
            <p:cNvPr id="460" name="文本框 459">
              <a:extLst>
                <a:ext uri="{FF2B5EF4-FFF2-40B4-BE49-F238E27FC236}">
                  <a16:creationId xmlns:a16="http://schemas.microsoft.com/office/drawing/2014/main" id="{3CF9797E-2940-E4D1-A3BC-CA53764F3595}"/>
                </a:ext>
              </a:extLst>
            </p:cNvPr>
            <p:cNvSpPr txBox="1"/>
            <p:nvPr/>
          </p:nvSpPr>
          <p:spPr>
            <a:xfrm>
              <a:off x="657948" y="2746881"/>
              <a:ext cx="272832" cy="230832"/>
            </a:xfrm>
            <a:prstGeom prst="rect">
              <a:avLst/>
            </a:prstGeom>
            <a:noFill/>
          </p:spPr>
          <p:txBody>
            <a:bodyPr wrap="none" rtlCol="0">
              <a:spAutoFit/>
            </a:bodyPr>
            <a:lstStyle/>
            <a:p>
              <a:r>
                <a:rPr lang="en-US" altLang="zh-CN" sz="900" dirty="0"/>
                <a:t>Q</a:t>
              </a:r>
              <a:endParaRPr lang="zh-CN" altLang="en-US" sz="900" dirty="0"/>
            </a:p>
          </p:txBody>
        </p:sp>
        <p:sp>
          <p:nvSpPr>
            <p:cNvPr id="461" name="文本框 460">
              <a:extLst>
                <a:ext uri="{FF2B5EF4-FFF2-40B4-BE49-F238E27FC236}">
                  <a16:creationId xmlns:a16="http://schemas.microsoft.com/office/drawing/2014/main" id="{EABF8A78-A7E6-DBEC-0F6E-8720C62072E2}"/>
                </a:ext>
              </a:extLst>
            </p:cNvPr>
            <p:cNvSpPr txBox="1"/>
            <p:nvPr/>
          </p:nvSpPr>
          <p:spPr>
            <a:xfrm>
              <a:off x="628575" y="3370349"/>
              <a:ext cx="248786" cy="230832"/>
            </a:xfrm>
            <a:prstGeom prst="rect">
              <a:avLst/>
            </a:prstGeom>
            <a:noFill/>
          </p:spPr>
          <p:txBody>
            <a:bodyPr wrap="none" rtlCol="0">
              <a:spAutoFit/>
            </a:bodyPr>
            <a:lstStyle/>
            <a:p>
              <a:r>
                <a:rPr lang="en-US" altLang="zh-CN" sz="900" dirty="0"/>
                <a:t>K</a:t>
              </a:r>
              <a:endParaRPr lang="zh-CN" altLang="en-US" sz="900" dirty="0"/>
            </a:p>
          </p:txBody>
        </p:sp>
        <p:sp>
          <p:nvSpPr>
            <p:cNvPr id="462" name="文本框 461">
              <a:extLst>
                <a:ext uri="{FF2B5EF4-FFF2-40B4-BE49-F238E27FC236}">
                  <a16:creationId xmlns:a16="http://schemas.microsoft.com/office/drawing/2014/main" id="{48E0E257-0390-C2EF-AEA5-25F8CD045811}"/>
                </a:ext>
              </a:extLst>
            </p:cNvPr>
            <p:cNvSpPr txBox="1"/>
            <p:nvPr/>
          </p:nvSpPr>
          <p:spPr>
            <a:xfrm>
              <a:off x="619363" y="4345707"/>
              <a:ext cx="255198" cy="230832"/>
            </a:xfrm>
            <a:prstGeom prst="rect">
              <a:avLst/>
            </a:prstGeom>
            <a:noFill/>
          </p:spPr>
          <p:txBody>
            <a:bodyPr wrap="square" rtlCol="0">
              <a:spAutoFit/>
            </a:bodyPr>
            <a:lstStyle/>
            <a:p>
              <a:r>
                <a:rPr lang="en-US" altLang="zh-CN" sz="900" dirty="0"/>
                <a:t>V</a:t>
              </a:r>
              <a:endParaRPr lang="zh-CN" altLang="en-US" sz="900" dirty="0"/>
            </a:p>
          </p:txBody>
        </p:sp>
        <p:sp>
          <p:nvSpPr>
            <p:cNvPr id="463" name="文本框 462">
              <a:extLst>
                <a:ext uri="{FF2B5EF4-FFF2-40B4-BE49-F238E27FC236}">
                  <a16:creationId xmlns:a16="http://schemas.microsoft.com/office/drawing/2014/main" id="{0F0DD762-EAD2-F0F4-02A5-C91E8FE47DCA}"/>
                </a:ext>
              </a:extLst>
            </p:cNvPr>
            <p:cNvSpPr txBox="1"/>
            <p:nvPr/>
          </p:nvSpPr>
          <p:spPr>
            <a:xfrm>
              <a:off x="146757" y="3774402"/>
              <a:ext cx="235826" cy="378652"/>
            </a:xfrm>
            <a:prstGeom prst="rect">
              <a:avLst/>
            </a:prstGeom>
            <a:noFill/>
          </p:spPr>
          <p:txBody>
            <a:bodyPr wrap="square" rtlCol="0">
              <a:spAutoFit/>
            </a:bodyPr>
            <a:lstStyle/>
            <a:p>
              <a:r>
                <a:rPr lang="zh-CN" altLang="en-US" sz="700" dirty="0"/>
                <a:t>图特征</a:t>
              </a:r>
            </a:p>
          </p:txBody>
        </p:sp>
        <p:sp>
          <p:nvSpPr>
            <p:cNvPr id="465" name="文本框 464">
              <a:extLst>
                <a:ext uri="{FF2B5EF4-FFF2-40B4-BE49-F238E27FC236}">
                  <a16:creationId xmlns:a16="http://schemas.microsoft.com/office/drawing/2014/main" id="{D3CC31A8-349A-062D-64A5-3788EC89A70A}"/>
                </a:ext>
              </a:extLst>
            </p:cNvPr>
            <p:cNvSpPr txBox="1"/>
            <p:nvPr/>
          </p:nvSpPr>
          <p:spPr>
            <a:xfrm>
              <a:off x="166947" y="2808735"/>
              <a:ext cx="328353" cy="476821"/>
            </a:xfrm>
            <a:prstGeom prst="rect">
              <a:avLst/>
            </a:prstGeom>
            <a:noFill/>
          </p:spPr>
          <p:txBody>
            <a:bodyPr wrap="square" rtlCol="0">
              <a:spAutoFit/>
            </a:bodyPr>
            <a:lstStyle/>
            <a:p>
              <a:r>
                <a:rPr lang="zh-CN" altLang="en-US" sz="700" dirty="0"/>
                <a:t>序列嵌入</a:t>
              </a:r>
            </a:p>
          </p:txBody>
        </p:sp>
        <p:cxnSp>
          <p:nvCxnSpPr>
            <p:cNvPr id="466" name="直接箭头连接符 465">
              <a:extLst>
                <a:ext uri="{FF2B5EF4-FFF2-40B4-BE49-F238E27FC236}">
                  <a16:creationId xmlns:a16="http://schemas.microsoft.com/office/drawing/2014/main" id="{375DD565-00DB-355C-88A6-4A7F9396F262}"/>
                </a:ext>
              </a:extLst>
            </p:cNvPr>
            <p:cNvCxnSpPr>
              <a:cxnSpLocks/>
              <a:stCxn id="465" idx="3"/>
              <a:endCxn id="449" idx="7"/>
            </p:cNvCxnSpPr>
            <p:nvPr/>
          </p:nvCxnSpPr>
          <p:spPr>
            <a:xfrm>
              <a:off x="495299" y="3047146"/>
              <a:ext cx="395903" cy="45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79" name="连接符: 肘形 478">
              <a:extLst>
                <a:ext uri="{FF2B5EF4-FFF2-40B4-BE49-F238E27FC236}">
                  <a16:creationId xmlns:a16="http://schemas.microsoft.com/office/drawing/2014/main" id="{C97DA3B2-B8F8-D4BA-FFF3-E3B58285179D}"/>
                </a:ext>
              </a:extLst>
            </p:cNvPr>
            <p:cNvCxnSpPr>
              <a:cxnSpLocks/>
              <a:stCxn id="463" idx="3"/>
            </p:cNvCxnSpPr>
            <p:nvPr/>
          </p:nvCxnSpPr>
          <p:spPr>
            <a:xfrm>
              <a:off x="382584" y="3963728"/>
              <a:ext cx="462661" cy="330954"/>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81" name="连接符: 肘形 480">
              <a:extLst>
                <a:ext uri="{FF2B5EF4-FFF2-40B4-BE49-F238E27FC236}">
                  <a16:creationId xmlns:a16="http://schemas.microsoft.com/office/drawing/2014/main" id="{39AC503E-A309-24CF-9939-97EF73ACB049}"/>
                </a:ext>
              </a:extLst>
            </p:cNvPr>
            <p:cNvCxnSpPr>
              <a:cxnSpLocks/>
              <a:stCxn id="463" idx="3"/>
            </p:cNvCxnSpPr>
            <p:nvPr/>
          </p:nvCxnSpPr>
          <p:spPr>
            <a:xfrm flipV="1">
              <a:off x="382584" y="3657739"/>
              <a:ext cx="476442" cy="305989"/>
            </a:xfrm>
            <a:prstGeom prst="bentConnector3">
              <a:avLst>
                <a:gd name="adj1" fmla="val 4825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492" name="组合 491">
              <a:extLst>
                <a:ext uri="{FF2B5EF4-FFF2-40B4-BE49-F238E27FC236}">
                  <a16:creationId xmlns:a16="http://schemas.microsoft.com/office/drawing/2014/main" id="{69D77FC8-50FC-E122-2262-7E94C56759C3}"/>
                </a:ext>
              </a:extLst>
            </p:cNvPr>
            <p:cNvGrpSpPr/>
            <p:nvPr/>
          </p:nvGrpSpPr>
          <p:grpSpPr>
            <a:xfrm>
              <a:off x="1270722" y="3316519"/>
              <a:ext cx="180142" cy="201708"/>
              <a:chOff x="1174419" y="3213303"/>
              <a:chExt cx="180142" cy="201708"/>
            </a:xfrm>
          </p:grpSpPr>
          <p:sp>
            <p:nvSpPr>
              <p:cNvPr id="490" name="椭圆 489">
                <a:extLst>
                  <a:ext uri="{FF2B5EF4-FFF2-40B4-BE49-F238E27FC236}">
                    <a16:creationId xmlns:a16="http://schemas.microsoft.com/office/drawing/2014/main" id="{9F759AE9-4BA1-3456-5299-D4016F1DDAEB}"/>
                  </a:ext>
                </a:extLst>
              </p:cNvPr>
              <p:cNvSpPr/>
              <p:nvPr/>
            </p:nvSpPr>
            <p:spPr>
              <a:xfrm flipV="1">
                <a:off x="1174419" y="3213303"/>
                <a:ext cx="180142" cy="20170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1" name="椭圆 490">
                <a:extLst>
                  <a:ext uri="{FF2B5EF4-FFF2-40B4-BE49-F238E27FC236}">
                    <a16:creationId xmlns:a16="http://schemas.microsoft.com/office/drawing/2014/main" id="{90AEEC66-BBE7-3708-DA70-86183EF6E453}"/>
                  </a:ext>
                </a:extLst>
              </p:cNvPr>
              <p:cNvSpPr/>
              <p:nvPr/>
            </p:nvSpPr>
            <p:spPr>
              <a:xfrm flipH="1" flipV="1">
                <a:off x="1244487" y="3293648"/>
                <a:ext cx="45719" cy="45719"/>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493" name="直接箭头连接符 492">
              <a:extLst>
                <a:ext uri="{FF2B5EF4-FFF2-40B4-BE49-F238E27FC236}">
                  <a16:creationId xmlns:a16="http://schemas.microsoft.com/office/drawing/2014/main" id="{48FCA7F0-FA43-12A9-7501-5B3F5A9F5166}"/>
                </a:ext>
              </a:extLst>
            </p:cNvPr>
            <p:cNvCxnSpPr>
              <a:cxnSpLocks/>
              <a:endCxn id="490" idx="4"/>
            </p:cNvCxnSpPr>
            <p:nvPr/>
          </p:nvCxnSpPr>
          <p:spPr>
            <a:xfrm>
              <a:off x="1001108" y="3069793"/>
              <a:ext cx="359685" cy="246726"/>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96" name="直接箭头连接符 492">
              <a:extLst>
                <a:ext uri="{FF2B5EF4-FFF2-40B4-BE49-F238E27FC236}">
                  <a16:creationId xmlns:a16="http://schemas.microsoft.com/office/drawing/2014/main" id="{7E479ABC-915A-8512-E853-2AF2F54B9D2D}"/>
                </a:ext>
              </a:extLst>
            </p:cNvPr>
            <p:cNvCxnSpPr>
              <a:cxnSpLocks/>
              <a:endCxn id="490" idx="0"/>
            </p:cNvCxnSpPr>
            <p:nvPr/>
          </p:nvCxnSpPr>
          <p:spPr>
            <a:xfrm flipV="1">
              <a:off x="988312" y="3518227"/>
              <a:ext cx="372481" cy="171510"/>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510" name="组合 509">
              <a:extLst>
                <a:ext uri="{FF2B5EF4-FFF2-40B4-BE49-F238E27FC236}">
                  <a16:creationId xmlns:a16="http://schemas.microsoft.com/office/drawing/2014/main" id="{A2526760-AFDB-B922-FEE7-2F55A383C927}"/>
                </a:ext>
              </a:extLst>
            </p:cNvPr>
            <p:cNvGrpSpPr/>
            <p:nvPr/>
          </p:nvGrpSpPr>
          <p:grpSpPr>
            <a:xfrm>
              <a:off x="1843882" y="3177137"/>
              <a:ext cx="292856" cy="424044"/>
              <a:chOff x="1780553" y="2840750"/>
              <a:chExt cx="292856" cy="424044"/>
            </a:xfrm>
          </p:grpSpPr>
          <p:grpSp>
            <p:nvGrpSpPr>
              <p:cNvPr id="498" name="组合 497">
                <a:extLst>
                  <a:ext uri="{FF2B5EF4-FFF2-40B4-BE49-F238E27FC236}">
                    <a16:creationId xmlns:a16="http://schemas.microsoft.com/office/drawing/2014/main" id="{64D06DFF-2728-1BBC-7B60-958857720FD2}"/>
                  </a:ext>
                </a:extLst>
              </p:cNvPr>
              <p:cNvGrpSpPr/>
              <p:nvPr/>
            </p:nvGrpSpPr>
            <p:grpSpPr>
              <a:xfrm>
                <a:off x="1780553" y="2842917"/>
                <a:ext cx="99558" cy="421877"/>
                <a:chOff x="304302" y="2866054"/>
                <a:chExt cx="99558" cy="421877"/>
              </a:xfrm>
            </p:grpSpPr>
            <p:sp>
              <p:nvSpPr>
                <p:cNvPr id="499" name="Freeform 30">
                  <a:extLst>
                    <a:ext uri="{FF2B5EF4-FFF2-40B4-BE49-F238E27FC236}">
                      <a16:creationId xmlns:a16="http://schemas.microsoft.com/office/drawing/2014/main" id="{6B95B12C-1438-A7F4-0501-C82D2EA99C5D}"/>
                    </a:ext>
                  </a:extLst>
                </p:cNvPr>
                <p:cNvSpPr>
                  <a:spLocks/>
                </p:cNvSpPr>
                <p:nvPr/>
              </p:nvSpPr>
              <p:spPr bwMode="auto">
                <a:xfrm>
                  <a:off x="304303" y="2866054"/>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20000"/>
                    <a:lumOff val="8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00" name="Freeform 30">
                  <a:extLst>
                    <a:ext uri="{FF2B5EF4-FFF2-40B4-BE49-F238E27FC236}">
                      <a16:creationId xmlns:a16="http://schemas.microsoft.com/office/drawing/2014/main" id="{17EF251C-D639-55E1-63B8-68B8CB821664}"/>
                    </a:ext>
                  </a:extLst>
                </p:cNvPr>
                <p:cNvSpPr>
                  <a:spLocks/>
                </p:cNvSpPr>
                <p:nvPr/>
              </p:nvSpPr>
              <p:spPr bwMode="auto">
                <a:xfrm>
                  <a:off x="304302" y="3006768"/>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01" name="Freeform 30">
                  <a:extLst>
                    <a:ext uri="{FF2B5EF4-FFF2-40B4-BE49-F238E27FC236}">
                      <a16:creationId xmlns:a16="http://schemas.microsoft.com/office/drawing/2014/main" id="{D59A6ED3-C6DD-C8D1-3508-F78A5A84A689}"/>
                    </a:ext>
                  </a:extLst>
                </p:cNvPr>
                <p:cNvSpPr>
                  <a:spLocks/>
                </p:cNvSpPr>
                <p:nvPr/>
              </p:nvSpPr>
              <p:spPr bwMode="auto">
                <a:xfrm>
                  <a:off x="304302" y="3146490"/>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grpSp>
            <p:nvGrpSpPr>
              <p:cNvPr id="502" name="组合 501">
                <a:extLst>
                  <a:ext uri="{FF2B5EF4-FFF2-40B4-BE49-F238E27FC236}">
                    <a16:creationId xmlns:a16="http://schemas.microsoft.com/office/drawing/2014/main" id="{57634FC9-20DE-4BA9-7815-024677CA83CF}"/>
                  </a:ext>
                </a:extLst>
              </p:cNvPr>
              <p:cNvGrpSpPr/>
              <p:nvPr/>
            </p:nvGrpSpPr>
            <p:grpSpPr>
              <a:xfrm>
                <a:off x="1878940" y="2840750"/>
                <a:ext cx="99558" cy="421877"/>
                <a:chOff x="304302" y="2866054"/>
                <a:chExt cx="99558" cy="421877"/>
              </a:xfrm>
            </p:grpSpPr>
            <p:sp>
              <p:nvSpPr>
                <p:cNvPr id="503" name="Freeform 30">
                  <a:extLst>
                    <a:ext uri="{FF2B5EF4-FFF2-40B4-BE49-F238E27FC236}">
                      <a16:creationId xmlns:a16="http://schemas.microsoft.com/office/drawing/2014/main" id="{60372A39-ECF6-7609-BAB8-A05321FCC363}"/>
                    </a:ext>
                  </a:extLst>
                </p:cNvPr>
                <p:cNvSpPr>
                  <a:spLocks/>
                </p:cNvSpPr>
                <p:nvPr/>
              </p:nvSpPr>
              <p:spPr bwMode="auto">
                <a:xfrm>
                  <a:off x="304303" y="2866054"/>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04" name="Freeform 30">
                  <a:extLst>
                    <a:ext uri="{FF2B5EF4-FFF2-40B4-BE49-F238E27FC236}">
                      <a16:creationId xmlns:a16="http://schemas.microsoft.com/office/drawing/2014/main" id="{21A70582-E546-66B4-2761-2CC29F1C4C62}"/>
                    </a:ext>
                  </a:extLst>
                </p:cNvPr>
                <p:cNvSpPr>
                  <a:spLocks/>
                </p:cNvSpPr>
                <p:nvPr/>
              </p:nvSpPr>
              <p:spPr bwMode="auto">
                <a:xfrm>
                  <a:off x="304302" y="3006768"/>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20000"/>
                    <a:lumOff val="8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05" name="Freeform 30">
                  <a:extLst>
                    <a:ext uri="{FF2B5EF4-FFF2-40B4-BE49-F238E27FC236}">
                      <a16:creationId xmlns:a16="http://schemas.microsoft.com/office/drawing/2014/main" id="{4E65DA4F-0C97-8354-DD88-7737F36D7E75}"/>
                    </a:ext>
                  </a:extLst>
                </p:cNvPr>
                <p:cNvSpPr>
                  <a:spLocks/>
                </p:cNvSpPr>
                <p:nvPr/>
              </p:nvSpPr>
              <p:spPr bwMode="auto">
                <a:xfrm>
                  <a:off x="304302" y="3146490"/>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grpSp>
            <p:nvGrpSpPr>
              <p:cNvPr id="506" name="组合 505">
                <a:extLst>
                  <a:ext uri="{FF2B5EF4-FFF2-40B4-BE49-F238E27FC236}">
                    <a16:creationId xmlns:a16="http://schemas.microsoft.com/office/drawing/2014/main" id="{10642EDC-6974-9A6F-9163-78A681D949F9}"/>
                  </a:ext>
                </a:extLst>
              </p:cNvPr>
              <p:cNvGrpSpPr/>
              <p:nvPr/>
            </p:nvGrpSpPr>
            <p:grpSpPr>
              <a:xfrm>
                <a:off x="1973851" y="2840750"/>
                <a:ext cx="99558" cy="421877"/>
                <a:chOff x="304302" y="2866054"/>
                <a:chExt cx="99558" cy="421877"/>
              </a:xfrm>
            </p:grpSpPr>
            <p:sp>
              <p:nvSpPr>
                <p:cNvPr id="507" name="Freeform 30">
                  <a:extLst>
                    <a:ext uri="{FF2B5EF4-FFF2-40B4-BE49-F238E27FC236}">
                      <a16:creationId xmlns:a16="http://schemas.microsoft.com/office/drawing/2014/main" id="{91F9D1B7-E78B-EECF-B082-3E2EBAFDB6CB}"/>
                    </a:ext>
                  </a:extLst>
                </p:cNvPr>
                <p:cNvSpPr>
                  <a:spLocks/>
                </p:cNvSpPr>
                <p:nvPr/>
              </p:nvSpPr>
              <p:spPr bwMode="auto">
                <a:xfrm>
                  <a:off x="304303" y="2866054"/>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08" name="Freeform 30">
                  <a:extLst>
                    <a:ext uri="{FF2B5EF4-FFF2-40B4-BE49-F238E27FC236}">
                      <a16:creationId xmlns:a16="http://schemas.microsoft.com/office/drawing/2014/main" id="{C2F12872-65AA-44AD-81D7-6E5843CA42E7}"/>
                    </a:ext>
                  </a:extLst>
                </p:cNvPr>
                <p:cNvSpPr>
                  <a:spLocks/>
                </p:cNvSpPr>
                <p:nvPr/>
              </p:nvSpPr>
              <p:spPr bwMode="auto">
                <a:xfrm>
                  <a:off x="304302" y="3006768"/>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09" name="Freeform 30">
                  <a:extLst>
                    <a:ext uri="{FF2B5EF4-FFF2-40B4-BE49-F238E27FC236}">
                      <a16:creationId xmlns:a16="http://schemas.microsoft.com/office/drawing/2014/main" id="{E7F47729-7985-BBCE-BF36-C792819C3FB9}"/>
                    </a:ext>
                  </a:extLst>
                </p:cNvPr>
                <p:cNvSpPr>
                  <a:spLocks/>
                </p:cNvSpPr>
                <p:nvPr/>
              </p:nvSpPr>
              <p:spPr bwMode="auto">
                <a:xfrm>
                  <a:off x="304302" y="3146490"/>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10000"/>
                    <a:lumOff val="9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p>
              </p:txBody>
            </p:sp>
          </p:grpSp>
        </p:grpSp>
        <p:cxnSp>
          <p:nvCxnSpPr>
            <p:cNvPr id="511" name="直接箭头连接符 510">
              <a:extLst>
                <a:ext uri="{FF2B5EF4-FFF2-40B4-BE49-F238E27FC236}">
                  <a16:creationId xmlns:a16="http://schemas.microsoft.com/office/drawing/2014/main" id="{FB543618-FF9F-67A2-55C6-CFBF3FFB6AEA}"/>
                </a:ext>
              </a:extLst>
            </p:cNvPr>
            <p:cNvCxnSpPr>
              <a:cxnSpLocks/>
            </p:cNvCxnSpPr>
            <p:nvPr/>
          </p:nvCxnSpPr>
          <p:spPr>
            <a:xfrm>
              <a:off x="1467584" y="3389594"/>
              <a:ext cx="32469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514" name="组合 513">
              <a:extLst>
                <a:ext uri="{FF2B5EF4-FFF2-40B4-BE49-F238E27FC236}">
                  <a16:creationId xmlns:a16="http://schemas.microsoft.com/office/drawing/2014/main" id="{F5B951DE-8015-DBC5-9A2F-22930FD6D6C7}"/>
                </a:ext>
              </a:extLst>
            </p:cNvPr>
            <p:cNvGrpSpPr/>
            <p:nvPr/>
          </p:nvGrpSpPr>
          <p:grpSpPr>
            <a:xfrm>
              <a:off x="1898876" y="3850036"/>
              <a:ext cx="180142" cy="201708"/>
              <a:chOff x="1174419" y="3213303"/>
              <a:chExt cx="180142" cy="201708"/>
            </a:xfrm>
          </p:grpSpPr>
          <p:sp>
            <p:nvSpPr>
              <p:cNvPr id="515" name="椭圆 514">
                <a:extLst>
                  <a:ext uri="{FF2B5EF4-FFF2-40B4-BE49-F238E27FC236}">
                    <a16:creationId xmlns:a16="http://schemas.microsoft.com/office/drawing/2014/main" id="{42CF1DF7-9825-5899-2AA0-680A485F2B01}"/>
                  </a:ext>
                </a:extLst>
              </p:cNvPr>
              <p:cNvSpPr/>
              <p:nvPr/>
            </p:nvSpPr>
            <p:spPr>
              <a:xfrm flipV="1">
                <a:off x="1174419" y="3213303"/>
                <a:ext cx="180142" cy="20170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6" name="椭圆 515">
                <a:extLst>
                  <a:ext uri="{FF2B5EF4-FFF2-40B4-BE49-F238E27FC236}">
                    <a16:creationId xmlns:a16="http://schemas.microsoft.com/office/drawing/2014/main" id="{FBACE4EB-0DBD-EBD5-8987-416F66048270}"/>
                  </a:ext>
                </a:extLst>
              </p:cNvPr>
              <p:cNvSpPr/>
              <p:nvPr/>
            </p:nvSpPr>
            <p:spPr>
              <a:xfrm flipH="1" flipV="1">
                <a:off x="1244487" y="3293648"/>
                <a:ext cx="45719" cy="45719"/>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517" name="直接箭头连接符 492">
              <a:extLst>
                <a:ext uri="{FF2B5EF4-FFF2-40B4-BE49-F238E27FC236}">
                  <a16:creationId xmlns:a16="http://schemas.microsoft.com/office/drawing/2014/main" id="{8728860C-39B4-CFE6-4C61-B3455DE85F2B}"/>
                </a:ext>
              </a:extLst>
            </p:cNvPr>
            <p:cNvCxnSpPr>
              <a:cxnSpLocks/>
              <a:endCxn id="515" idx="0"/>
            </p:cNvCxnSpPr>
            <p:nvPr/>
          </p:nvCxnSpPr>
          <p:spPr>
            <a:xfrm flipV="1">
              <a:off x="993506" y="4051744"/>
              <a:ext cx="995441" cy="259910"/>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19" name="直接箭头连接符 518">
              <a:extLst>
                <a:ext uri="{FF2B5EF4-FFF2-40B4-BE49-F238E27FC236}">
                  <a16:creationId xmlns:a16="http://schemas.microsoft.com/office/drawing/2014/main" id="{EA308C90-4D1B-2168-0C04-BE0366B47D20}"/>
                </a:ext>
              </a:extLst>
            </p:cNvPr>
            <p:cNvCxnSpPr>
              <a:cxnSpLocks/>
            </p:cNvCxnSpPr>
            <p:nvPr/>
          </p:nvCxnSpPr>
          <p:spPr>
            <a:xfrm>
              <a:off x="1990310" y="3638550"/>
              <a:ext cx="0" cy="19526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24" name="直接箭头连接符 523">
              <a:extLst>
                <a:ext uri="{FF2B5EF4-FFF2-40B4-BE49-F238E27FC236}">
                  <a16:creationId xmlns:a16="http://schemas.microsoft.com/office/drawing/2014/main" id="{81530B58-0A21-1F71-B415-CDB8B403E0F7}"/>
                </a:ext>
              </a:extLst>
            </p:cNvPr>
            <p:cNvCxnSpPr>
              <a:cxnSpLocks/>
            </p:cNvCxnSpPr>
            <p:nvPr/>
          </p:nvCxnSpPr>
          <p:spPr>
            <a:xfrm>
              <a:off x="2079018" y="3952875"/>
              <a:ext cx="24508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528" name="组合 527">
              <a:extLst>
                <a:ext uri="{FF2B5EF4-FFF2-40B4-BE49-F238E27FC236}">
                  <a16:creationId xmlns:a16="http://schemas.microsoft.com/office/drawing/2014/main" id="{29CC5B1E-9F1B-B759-13B0-DF17782B8871}"/>
                </a:ext>
              </a:extLst>
            </p:cNvPr>
            <p:cNvGrpSpPr/>
            <p:nvPr/>
          </p:nvGrpSpPr>
          <p:grpSpPr>
            <a:xfrm>
              <a:off x="2352404" y="3740982"/>
              <a:ext cx="99558" cy="421877"/>
              <a:chOff x="304302" y="2866054"/>
              <a:chExt cx="99558" cy="421877"/>
            </a:xfrm>
          </p:grpSpPr>
          <p:sp>
            <p:nvSpPr>
              <p:cNvPr id="529" name="Freeform 30">
                <a:extLst>
                  <a:ext uri="{FF2B5EF4-FFF2-40B4-BE49-F238E27FC236}">
                    <a16:creationId xmlns:a16="http://schemas.microsoft.com/office/drawing/2014/main" id="{B31C8D23-922B-D634-08A6-7CDAE8A78871}"/>
                  </a:ext>
                </a:extLst>
              </p:cNvPr>
              <p:cNvSpPr>
                <a:spLocks/>
              </p:cNvSpPr>
              <p:nvPr/>
            </p:nvSpPr>
            <p:spPr bwMode="auto">
              <a:xfrm>
                <a:off x="304303" y="2866054"/>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20000"/>
                  <a:lumOff val="8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30" name="Freeform 30">
                <a:extLst>
                  <a:ext uri="{FF2B5EF4-FFF2-40B4-BE49-F238E27FC236}">
                    <a16:creationId xmlns:a16="http://schemas.microsoft.com/office/drawing/2014/main" id="{53ADBBC9-D476-4A55-7168-D736E2BA81E3}"/>
                  </a:ext>
                </a:extLst>
              </p:cNvPr>
              <p:cNvSpPr>
                <a:spLocks/>
              </p:cNvSpPr>
              <p:nvPr/>
            </p:nvSpPr>
            <p:spPr bwMode="auto">
              <a:xfrm>
                <a:off x="304302" y="3006768"/>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tx2">
                  <a:lumMod val="25000"/>
                  <a:lumOff val="75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31" name="Freeform 30">
                <a:extLst>
                  <a:ext uri="{FF2B5EF4-FFF2-40B4-BE49-F238E27FC236}">
                    <a16:creationId xmlns:a16="http://schemas.microsoft.com/office/drawing/2014/main" id="{7A451CF9-1975-659F-5389-86ABB67EC18C}"/>
                  </a:ext>
                </a:extLst>
              </p:cNvPr>
              <p:cNvSpPr>
                <a:spLocks/>
              </p:cNvSpPr>
              <p:nvPr/>
            </p:nvSpPr>
            <p:spPr bwMode="auto">
              <a:xfrm>
                <a:off x="304302" y="3146490"/>
                <a:ext cx="99557" cy="141441"/>
              </a:xfrm>
              <a:custGeom>
                <a:avLst/>
                <a:gdLst>
                  <a:gd name="T0" fmla="*/ 362 w 387"/>
                  <a:gd name="T1" fmla="*/ 151 h 151"/>
                  <a:gd name="T2" fmla="*/ 387 w 387"/>
                  <a:gd name="T3" fmla="*/ 127 h 151"/>
                  <a:gd name="T4" fmla="*/ 387 w 387"/>
                  <a:gd name="T5" fmla="*/ 127 h 151"/>
                  <a:gd name="T6" fmla="*/ 387 w 387"/>
                  <a:gd name="T7" fmla="*/ 24 h 151"/>
                  <a:gd name="T8" fmla="*/ 362 w 387"/>
                  <a:gd name="T9" fmla="*/ 0 h 151"/>
                  <a:gd name="T10" fmla="*/ 362 w 387"/>
                  <a:gd name="T11" fmla="*/ 0 h 151"/>
                  <a:gd name="T12" fmla="*/ 24 w 387"/>
                  <a:gd name="T13" fmla="*/ 0 h 151"/>
                  <a:gd name="T14" fmla="*/ 0 w 387"/>
                  <a:gd name="T15" fmla="*/ 24 h 151"/>
                  <a:gd name="T16" fmla="*/ 0 w 387"/>
                  <a:gd name="T17" fmla="*/ 24 h 151"/>
                  <a:gd name="T18" fmla="*/ 0 w 387"/>
                  <a:gd name="T19" fmla="*/ 127 h 151"/>
                  <a:gd name="T20" fmla="*/ 24 w 387"/>
                  <a:gd name="T21" fmla="*/ 151 h 151"/>
                  <a:gd name="T22" fmla="*/ 24 w 387"/>
                  <a:gd name="T23" fmla="*/ 151 h 151"/>
                  <a:gd name="T24" fmla="*/ 362 w 387"/>
                  <a:gd name="T25" fmla="*/ 15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7" h="151">
                    <a:moveTo>
                      <a:pt x="362" y="151"/>
                    </a:moveTo>
                    <a:cubicBezTo>
                      <a:pt x="376" y="151"/>
                      <a:pt x="387" y="140"/>
                      <a:pt x="387" y="127"/>
                    </a:cubicBezTo>
                    <a:lnTo>
                      <a:pt x="387" y="127"/>
                    </a:lnTo>
                    <a:lnTo>
                      <a:pt x="387" y="24"/>
                    </a:lnTo>
                    <a:cubicBezTo>
                      <a:pt x="387" y="11"/>
                      <a:pt x="376" y="0"/>
                      <a:pt x="362" y="0"/>
                    </a:cubicBezTo>
                    <a:lnTo>
                      <a:pt x="362" y="0"/>
                    </a:lnTo>
                    <a:lnTo>
                      <a:pt x="24" y="0"/>
                    </a:lnTo>
                    <a:cubicBezTo>
                      <a:pt x="10" y="0"/>
                      <a:pt x="0" y="11"/>
                      <a:pt x="0" y="24"/>
                    </a:cubicBezTo>
                    <a:lnTo>
                      <a:pt x="0" y="24"/>
                    </a:lnTo>
                    <a:lnTo>
                      <a:pt x="0" y="127"/>
                    </a:lnTo>
                    <a:cubicBezTo>
                      <a:pt x="0" y="140"/>
                      <a:pt x="10" y="151"/>
                      <a:pt x="24" y="151"/>
                    </a:cubicBezTo>
                    <a:lnTo>
                      <a:pt x="24" y="151"/>
                    </a:lnTo>
                    <a:lnTo>
                      <a:pt x="362" y="151"/>
                    </a:lnTo>
                  </a:path>
                </a:pathLst>
              </a:custGeom>
              <a:solidFill>
                <a:schemeClr val="accent1">
                  <a:lumMod val="60000"/>
                  <a:lumOff val="40000"/>
                </a:schemeClr>
              </a:solidFill>
              <a:ln w="12700" cap="rnd">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grpSp>
      </p:grpSp>
    </p:spTree>
    <p:extLst>
      <p:ext uri="{BB962C8B-B14F-4D97-AF65-F5344CB8AC3E}">
        <p14:creationId xmlns:p14="http://schemas.microsoft.com/office/powerpoint/2010/main" val="2935897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57811-722D-8301-E7AB-E9C8A24D473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FC01EFD-204F-7D59-718F-AA95B5CA5EFB}"/>
              </a:ext>
            </a:extLst>
          </p:cNvPr>
          <p:cNvSpPr>
            <a:spLocks noGrp="1"/>
          </p:cNvSpPr>
          <p:nvPr>
            <p:ph type="ctrTitle"/>
          </p:nvPr>
        </p:nvSpPr>
        <p:spPr>
          <a:xfrm>
            <a:off x="145366" y="137625"/>
            <a:ext cx="1641231" cy="425083"/>
          </a:xfrm>
        </p:spPr>
        <p:txBody>
          <a:bodyPr>
            <a:noAutofit/>
          </a:bodyPr>
          <a:lstStyle/>
          <a:p>
            <a:r>
              <a:rPr lang="zh-CN" altLang="en-US" sz="2000" b="1" dirty="0">
                <a:highlight>
                  <a:srgbClr val="FFFF00"/>
                </a:highlight>
                <a:latin typeface="宋体" panose="02010600030101010101" pitchFamily="2" charset="-122"/>
                <a:ea typeface="宋体" panose="02010600030101010101" pitchFamily="2" charset="-122"/>
              </a:rPr>
              <a:t>创新点</a:t>
            </a:r>
          </a:p>
        </p:txBody>
      </p:sp>
      <p:sp>
        <p:nvSpPr>
          <p:cNvPr id="3" name="副标题 2">
            <a:extLst>
              <a:ext uri="{FF2B5EF4-FFF2-40B4-BE49-F238E27FC236}">
                <a16:creationId xmlns:a16="http://schemas.microsoft.com/office/drawing/2014/main" id="{5129A17C-272C-1B46-AD30-F887DB9625DF}"/>
              </a:ext>
            </a:extLst>
          </p:cNvPr>
          <p:cNvSpPr>
            <a:spLocks noGrp="1"/>
          </p:cNvSpPr>
          <p:nvPr>
            <p:ph type="subTitle" idx="1"/>
          </p:nvPr>
        </p:nvSpPr>
        <p:spPr>
          <a:xfrm>
            <a:off x="464234" y="815926"/>
            <a:ext cx="11422966" cy="5767754"/>
          </a:xfrm>
        </p:spPr>
        <p:txBody>
          <a:bodyPr>
            <a:normAutofit/>
          </a:bodyPr>
          <a:lstStyle/>
          <a:p>
            <a:pPr algn="just"/>
            <a:endParaRPr lang="zh-CN" altLang="en-US" sz="2000" dirty="0"/>
          </a:p>
        </p:txBody>
      </p:sp>
    </p:spTree>
    <p:extLst>
      <p:ext uri="{BB962C8B-B14F-4D97-AF65-F5344CB8AC3E}">
        <p14:creationId xmlns:p14="http://schemas.microsoft.com/office/powerpoint/2010/main" val="33140054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BED22-CFEF-B000-74CC-1295E78724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2FA7880-2189-D452-2B22-737C89231F45}"/>
              </a:ext>
            </a:extLst>
          </p:cNvPr>
          <p:cNvSpPr>
            <a:spLocks noGrp="1"/>
          </p:cNvSpPr>
          <p:nvPr>
            <p:ph type="ctrTitle"/>
          </p:nvPr>
        </p:nvSpPr>
        <p:spPr>
          <a:xfrm>
            <a:off x="145366" y="137625"/>
            <a:ext cx="1641231" cy="425083"/>
          </a:xfrm>
        </p:spPr>
        <p:txBody>
          <a:bodyPr>
            <a:noAutofit/>
          </a:bodyPr>
          <a:lstStyle/>
          <a:p>
            <a:r>
              <a:rPr lang="zh-CN" altLang="en-US" sz="2000" b="1" dirty="0">
                <a:highlight>
                  <a:srgbClr val="FFFF00"/>
                </a:highlight>
                <a:latin typeface="宋体" panose="02010600030101010101" pitchFamily="2" charset="-122"/>
                <a:ea typeface="宋体" panose="02010600030101010101" pitchFamily="2" charset="-122"/>
              </a:rPr>
              <a:t>可行性分析</a:t>
            </a:r>
          </a:p>
        </p:txBody>
      </p:sp>
      <p:sp>
        <p:nvSpPr>
          <p:cNvPr id="3" name="副标题 2">
            <a:extLst>
              <a:ext uri="{FF2B5EF4-FFF2-40B4-BE49-F238E27FC236}">
                <a16:creationId xmlns:a16="http://schemas.microsoft.com/office/drawing/2014/main" id="{5215803F-ED97-4C40-76E3-58C59DFED54A}"/>
              </a:ext>
            </a:extLst>
          </p:cNvPr>
          <p:cNvSpPr>
            <a:spLocks noGrp="1"/>
          </p:cNvSpPr>
          <p:nvPr>
            <p:ph type="subTitle" idx="1"/>
          </p:nvPr>
        </p:nvSpPr>
        <p:spPr>
          <a:xfrm>
            <a:off x="464234" y="815926"/>
            <a:ext cx="11422966" cy="5767754"/>
          </a:xfrm>
        </p:spPr>
        <p:txBody>
          <a:bodyPr>
            <a:normAutofit/>
          </a:bodyPr>
          <a:lstStyle/>
          <a:p>
            <a:pPr algn="just"/>
            <a:endParaRPr lang="zh-CN" altLang="en-US" sz="2000" dirty="0"/>
          </a:p>
        </p:txBody>
      </p:sp>
    </p:spTree>
    <p:extLst>
      <p:ext uri="{BB962C8B-B14F-4D97-AF65-F5344CB8AC3E}">
        <p14:creationId xmlns:p14="http://schemas.microsoft.com/office/powerpoint/2010/main" val="2251421018"/>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3317</TotalTime>
  <Words>1056</Words>
  <Application>Microsoft Office PowerPoint</Application>
  <PresentationFormat>宽屏</PresentationFormat>
  <Paragraphs>160</Paragraphs>
  <Slides>13</Slides>
  <Notes>3</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13</vt:i4>
      </vt:variant>
    </vt:vector>
  </HeadingPairs>
  <TitlesOfParts>
    <vt:vector size="21" baseType="lpstr">
      <vt:lpstr>SourceHanSerifCN-Regular</vt:lpstr>
      <vt:lpstr>等线</vt:lpstr>
      <vt:lpstr>等线 Light</vt:lpstr>
      <vt:lpstr>宋体</vt:lpstr>
      <vt:lpstr>Arial</vt:lpstr>
      <vt:lpstr>Cambria Math</vt:lpstr>
      <vt:lpstr>Times New Roman</vt:lpstr>
      <vt:lpstr>Office 主题​​</vt:lpstr>
      <vt:lpstr>研究背景</vt:lpstr>
      <vt:lpstr>国内外研究现状</vt:lpstr>
      <vt:lpstr>关键科学问题</vt:lpstr>
      <vt:lpstr>研究内容</vt:lpstr>
      <vt:lpstr>研究内容</vt:lpstr>
      <vt:lpstr>研究内容</vt:lpstr>
      <vt:lpstr>研究内容</vt:lpstr>
      <vt:lpstr>技术路线</vt:lpstr>
      <vt:lpstr>技术路线</vt:lpstr>
      <vt:lpstr>PowerPoint 演示文稿</vt:lpstr>
      <vt:lpstr>数据集与仿真实验环境</vt:lpstr>
      <vt:lpstr>创新点</vt:lpstr>
      <vt:lpstr>可行性分析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牛　文涛</dc:creator>
  <cp:lastModifiedBy>牛　文涛</cp:lastModifiedBy>
  <cp:revision>489</cp:revision>
  <dcterms:created xsi:type="dcterms:W3CDTF">2025-03-25T01:48:09Z</dcterms:created>
  <dcterms:modified xsi:type="dcterms:W3CDTF">2025-03-30T09:06:32Z</dcterms:modified>
</cp:coreProperties>
</file>