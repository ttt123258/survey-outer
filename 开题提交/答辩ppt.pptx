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4" r:id="rId6"/>
    <p:sldId id="265" r:id="rId7"/>
    <p:sldId id="266" r:id="rId8"/>
    <p:sldId id="260" r:id="rId9"/>
    <p:sldId id="267" r:id="rId10"/>
    <p:sldId id="268" r:id="rId11"/>
    <p:sldId id="261" r:id="rId12"/>
    <p:sldId id="262" r:id="rId13"/>
    <p:sldId id="263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77" autoAdjust="0"/>
    <p:restoredTop sz="94660"/>
  </p:normalViewPr>
  <p:slideViewPr>
    <p:cSldViewPr snapToGrid="0">
      <p:cViewPr>
        <p:scale>
          <a:sx n="100" d="100"/>
          <a:sy n="100" d="100"/>
        </p:scale>
        <p:origin x="6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965D32-5B74-4B1A-932F-5518DF156731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ED98B2-4531-4090-B022-1A0C526112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7062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药物</a:t>
            </a:r>
            <a:r>
              <a:rPr lang="en-US" altLang="zh-CN" dirty="0"/>
              <a:t>-</a:t>
            </a:r>
            <a:r>
              <a:rPr lang="zh-CN" altLang="en-US" dirty="0"/>
              <a:t>蛋白质相互作用集合</a:t>
            </a:r>
            <a:r>
              <a:rPr lang="en-US" altLang="zh-CN" dirty="0"/>
              <a:t>K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ED98B2-4531-4090-B022-1A0C526112B3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09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18EA-8F84-B28F-EF18-BB468DA53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EFF4FA-717D-8C86-C37A-FD8B96F71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184C538-9D81-7B01-0100-641FC339E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药物</a:t>
            </a:r>
            <a:r>
              <a:rPr lang="en-US" altLang="zh-CN" dirty="0"/>
              <a:t>-</a:t>
            </a:r>
            <a:r>
              <a:rPr lang="zh-CN" altLang="en-US" dirty="0"/>
              <a:t>蛋白质相互作用集合</a:t>
            </a:r>
            <a:r>
              <a:rPr lang="en-US" altLang="zh-CN" dirty="0"/>
              <a:t>K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09E8EB8-8EEE-20A6-8AA8-DF0C8B2763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ED98B2-4531-4090-B022-1A0C526112B3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02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53C91-0A95-584A-39F1-AD0B56454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D41E812-AB46-B756-559C-5F2763834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465FA5-BE20-CB83-A09C-EAFD45752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药物</a:t>
            </a:r>
            <a:r>
              <a:rPr lang="en-US" altLang="zh-CN" dirty="0"/>
              <a:t>-</a:t>
            </a:r>
            <a:r>
              <a:rPr lang="zh-CN" altLang="en-US" dirty="0"/>
              <a:t>蛋白质相互作用集合</a:t>
            </a:r>
            <a:r>
              <a:rPr lang="en-US" altLang="zh-CN" dirty="0"/>
              <a:t>K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4C54EC2-44CE-57C1-A1CC-33DAB792C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ED98B2-4531-4090-B022-1A0C526112B3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3768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B32A25-6BB5-DF88-1DC8-CADCE4728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A15B866-F7E2-22C2-E437-382DDDB3D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01274C-9D9C-6E4D-9D76-4B3A6A968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AED6F6-DCA1-1786-0683-8E666CD18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02BDEE3-9D15-8E2C-661B-2DA4DC022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7434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6DC10F-25E3-BC92-2528-C8F7B740A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8AAD81-59E8-0AFD-9A0D-29220BC27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45AB54-6EAF-A71B-4F1F-40DA1F940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7930CB-AB06-C08A-3940-0C1F235B5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2F896C-0606-51A4-AADC-F2CB2F562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3844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443B42-AEEA-9853-D997-077B06EF5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1D05A2-EAF6-5F98-3230-E280742F87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E10F84-08B7-726E-23FE-A84247C9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F7AE80-242B-03C4-E92A-F81B5680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B96CB4-C086-CC0F-983B-4CCA8DA37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0523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C13C79-9AC3-DDEA-F2F9-30FB5DB4F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894BA3-3375-3879-0E3B-F0C97406D3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656506A-08FC-7813-B3DF-5305291BFC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BB4B49-33EB-27E0-1312-B5B692D70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D426800-29A2-D795-1FD3-0A2669BF1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441307-61A6-AD2C-8566-FFCC1A445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374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906C53-BA6C-E8E8-AB8C-1BFD85903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6D72BE7-68BB-CADA-F0E7-5DEE469FB6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3711A23-C4BD-DBC8-FB09-8DDF5C4FEC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ED463CA-6522-6971-9189-E80CA9C372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11B43AB-F728-1217-BA0C-BF60FDC244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A6CDF0E-8CE7-3381-485E-0E272E0D7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E0B94D-A9E9-E3A0-A6A3-7940B1A45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F8442F-84E6-0785-C450-5004A7981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2120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EC23BE-B4BE-BA1E-1ECD-5E39D080C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B115FCC-C6C3-89D2-DECE-C31D38FF7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A6D8FD-BF9A-766C-1D9C-4B115B3D9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6ED5E1C-EECF-D3DB-27F0-76A160C3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39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C9B756A-70C8-7E0B-55A8-7ABB84CE3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91E1830-2AC6-38A9-9FF4-28B35A9DE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EF76F0-0578-DA7D-68AF-F37023327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963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EB62E8-2826-D55F-D45C-5C451B631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57D1EF-5333-A4C7-87C5-D5D18000B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0BBC28-4795-8AD6-968A-1AE75D4CA3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58F68A0-5D79-FD7E-AD1A-A14E1263D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F60DB4-E3E1-6C7E-B7F8-26514B0F2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689B463-8301-76E6-B296-58CD9BB78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8156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247F3-4034-649D-64C8-1CF172678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DF238BB-83C2-FDE8-05E7-24A9DEE4CB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3116203-DA84-7C16-386D-FB4D612FB9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9AB8EC9-9BC9-7199-975A-3EE4709CF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ABEF6-21AC-8EDD-F7A8-55226FE6C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9D29D2A-0EE1-546C-9EEA-CA1E6CF01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1770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25E70C-FAC4-00B4-2CC0-8D62F6A57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0670411-A7F0-A69A-E284-9C82F3E2E1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F5858A-96EF-000F-CA24-15C71893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BCB759-681F-EA36-3A70-C52481B42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1EB35D-F65E-FE7D-D54B-2D7D87E01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559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985AB7-0C9A-96F3-097B-E64BB13ED0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04EC59-26F3-E595-4134-5E5657CAD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FD1A5B-CF40-B81C-FEA3-8161DC6C3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ADC26E-1782-6CD6-D39C-878F7B195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7F3F289-9A02-A71E-082D-DA0E863BC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9011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B0AE7B1-634A-D820-A35D-922FE7BA8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48204D8-7B8C-7BB6-E482-A506D11A14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E6CEAF-0CEE-4FB7-BE38-7CFF65607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356BD-5833-427C-A982-3EFD493748C6}" type="datetimeFigureOut">
              <a:rPr lang="zh-CN" altLang="en-US" smtClean="0"/>
              <a:t>2025/3/27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3D3874-78EE-C3FF-369B-10D0FBBF8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7E74C1-6A53-B988-47BB-93AE8598C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70597-A726-4846-8F82-A8BF151993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1315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26" Type="http://schemas.openxmlformats.org/officeDocument/2006/relationships/image" Target="../media/image33.png"/><Relationship Id="rId3" Type="http://schemas.openxmlformats.org/officeDocument/2006/relationships/image" Target="../media/image10.png"/><Relationship Id="rId21" Type="http://schemas.openxmlformats.org/officeDocument/2006/relationships/image" Target="../media/image28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5" Type="http://schemas.openxmlformats.org/officeDocument/2006/relationships/image" Target="../media/image3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29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24" Type="http://schemas.openxmlformats.org/officeDocument/2006/relationships/image" Target="../media/image31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23" Type="http://schemas.openxmlformats.org/officeDocument/2006/relationships/image" Target="../media/image30.png"/><Relationship Id="rId28" Type="http://schemas.openxmlformats.org/officeDocument/2006/relationships/image" Target="../media/image35.png"/><Relationship Id="rId10" Type="http://schemas.openxmlformats.org/officeDocument/2006/relationships/image" Target="../media/image17.png"/><Relationship Id="rId19" Type="http://schemas.openxmlformats.org/officeDocument/2006/relationships/image" Target="../media/image26.png"/><Relationship Id="rId31" Type="http://schemas.openxmlformats.org/officeDocument/2006/relationships/image" Target="../media/image38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Relationship Id="rId22" Type="http://schemas.openxmlformats.org/officeDocument/2006/relationships/image" Target="../media/image29.png"/><Relationship Id="rId27" Type="http://schemas.openxmlformats.org/officeDocument/2006/relationships/image" Target="../media/image34.png"/><Relationship Id="rId30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FD2CDC-81AD-C9DD-1661-D82F8B6EEE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研究背景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A033A4B-A9EB-56F6-341F-57BC9457EE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131271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C7DA5-C67B-8477-ACBE-9D641A16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F4C992-2F01-C587-C941-52113C0EBF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2232074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国内外研究现状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7E61635-C37D-A71E-751D-3BA2781A82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68414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D0E20-DA67-C142-2415-64E600183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F11736-4061-410A-2B09-326275821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992923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关键科学问题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40D3C46-09F1-9A18-5756-A7E4292257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09697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72C70-F4C8-8A04-DA21-4FEECD238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51A26B-2E5F-7F68-E1B6-359EFD9A39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研究内容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E0A968A-D15A-8AAB-CE66-07D6EA8A04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453070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C2183-5D0B-2A35-58D1-D403F953C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23A7A9-5026-E96C-CC84-8B061E87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研究内容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A84E209-9943-0702-6EA9-CD6121B12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zh-CN" altLang="en-US" sz="2000" dirty="0"/>
              <a:t>研究数据</a:t>
            </a:r>
            <a:br>
              <a:rPr lang="en-US" altLang="zh-CN" sz="2000" dirty="0"/>
            </a:br>
            <a:r>
              <a:rPr lang="zh-CN" altLang="en-US" sz="1800" b="0" i="0" u="none" strike="noStrike" baseline="0" dirty="0">
                <a:latin typeface="SourceHanSerifCN-Regular"/>
              </a:rPr>
              <a:t>药物分子的表示形式包括简化分子线性输入规范（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</a:rPr>
              <a:t>SMILES</a:t>
            </a:r>
            <a:r>
              <a:rPr lang="zh-CN" altLang="en-US" sz="1800" b="0" i="0" u="none" strike="noStrike" baseline="0" dirty="0">
                <a:latin typeface="SourceHanSerifCN-Regular"/>
              </a:rPr>
              <a:t>）和药物分子图谱，蛋白质的表示形式包括序列、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</a:rPr>
              <a:t>FASTA</a:t>
            </a:r>
            <a:r>
              <a:rPr lang="zh-CN" altLang="en-US" sz="1800" b="0" i="0" u="none" strike="noStrike" baseline="0" dirty="0">
                <a:latin typeface="SourceHanSerifCN-Regular"/>
              </a:rPr>
              <a:t>、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</a:rPr>
              <a:t>PDB </a:t>
            </a:r>
            <a:r>
              <a:rPr lang="zh-CN" altLang="en-US" sz="1800" b="0" i="0" u="none" strike="noStrike" baseline="0" dirty="0">
                <a:latin typeface="SourceHanSerifCN-Regular"/>
              </a:rPr>
              <a:t>和蛋白质接触图谱。</a:t>
            </a: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这些数据可以直接从数据资源提供平台获取，也可以使用诸如</a:t>
            </a:r>
            <a:r>
              <a:rPr lang="en-US" altLang="zh-CN" sz="1800" b="0" i="0" u="none" strike="noStrike" baseline="0" dirty="0" err="1">
                <a:solidFill>
                  <a:srgbClr val="0064A4"/>
                </a:solidFill>
                <a:latin typeface="Times New Roman" panose="02020603050405020304" pitchFamily="18" charset="0"/>
              </a:rPr>
              <a:t>rdkit</a:t>
            </a:r>
            <a:r>
              <a:rPr lang="zh-CN" altLang="en-US" sz="1800" b="0" i="0" u="none" strike="noStrike" baseline="0" dirty="0">
                <a:solidFill>
                  <a:srgbClr val="0064A4"/>
                </a:solidFill>
                <a:latin typeface="SourceHanSerifCN-Regular"/>
              </a:rPr>
              <a:t>（</a:t>
            </a:r>
            <a:r>
              <a:rPr lang="en-US" altLang="zh-CN" sz="1800" b="0" i="0" u="none" strike="noStrike" baseline="0" dirty="0" err="1">
                <a:solidFill>
                  <a:srgbClr val="0064A4"/>
                </a:solidFill>
                <a:latin typeface="Times New Roman" panose="02020603050405020304" pitchFamily="18" charset="0"/>
              </a:rPr>
              <a:t>rdkit</a:t>
            </a:r>
            <a:r>
              <a:rPr lang="zh-CN" altLang="en-US" sz="1800" b="0" i="0" u="none" strike="noStrike" baseline="0" dirty="0">
                <a:solidFill>
                  <a:srgbClr val="0064A4"/>
                </a:solidFill>
                <a:latin typeface="SourceHanSerifCN-Regular"/>
              </a:rPr>
              <a:t>：</a:t>
            </a:r>
            <a:r>
              <a:rPr lang="en-US" altLang="zh-CN" sz="1800" b="0" i="0" u="none" strike="noStrike" baseline="0" dirty="0">
                <a:solidFill>
                  <a:srgbClr val="0064A4"/>
                </a:solidFill>
                <a:latin typeface="Times New Roman" panose="02020603050405020304" pitchFamily="18" charset="0"/>
              </a:rPr>
              <a:t>https://rdkit.org</a:t>
            </a: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）之类的工具进行转换和处理</a:t>
            </a:r>
            <a:r>
              <a:rPr lang="zh-CN" altLang="en-US" sz="1800" dirty="0">
                <a:solidFill>
                  <a:srgbClr val="000000"/>
                </a:solidFill>
                <a:latin typeface="SourceHanSerifCN-Regular"/>
              </a:rPr>
              <a:t>。</a:t>
            </a:r>
            <a:br>
              <a:rPr lang="en-US" altLang="zh-CN" sz="1800" dirty="0">
                <a:solidFill>
                  <a:srgbClr val="000000"/>
                </a:solidFill>
                <a:latin typeface="SourceHanSerifCN-Regular"/>
              </a:rPr>
            </a:b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这些数据可以根据其维度分为一维（</a:t>
            </a:r>
            <a:r>
              <a:rPr lang="en-US" altLang="zh-CN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1D</a:t>
            </a: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）、二维（</a:t>
            </a:r>
            <a:r>
              <a:rPr lang="en-US" altLang="zh-CN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2D</a:t>
            </a: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）和三维（</a:t>
            </a:r>
            <a:r>
              <a:rPr lang="en-US" altLang="zh-CN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3D</a:t>
            </a:r>
            <a:r>
              <a:rPr lang="zh-CN" altLang="en-US" sz="1800" b="0" i="0" u="none" strike="noStrike" baseline="0" dirty="0">
                <a:solidFill>
                  <a:srgbClr val="000000"/>
                </a:solidFill>
                <a:latin typeface="SourceHanSerifCN-Regular"/>
              </a:rPr>
              <a:t>）数据，包括描述性文本、二值图像和三维模型。具体描述见下表。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138211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50F7C-1C95-92B8-5890-A63C4D1DE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DB1C46-7933-7BFC-AE9F-956C5117B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研究内容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781E775-1722-39DE-E9DE-F46C311E9A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zh-CN" altLang="en-US" sz="2000" dirty="0"/>
              <a:t>从单一模态到多模态的转变</a:t>
            </a:r>
          </a:p>
        </p:txBody>
      </p:sp>
    </p:spTree>
    <p:extLst>
      <p:ext uri="{BB962C8B-B14F-4D97-AF65-F5344CB8AC3E}">
        <p14:creationId xmlns:p14="http://schemas.microsoft.com/office/powerpoint/2010/main" val="67324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6E3B5-3B5C-EEB8-537C-D57EC49FB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2AC228-F0E0-0F74-DAB5-0A156671DC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研究内容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FBE73F4-032C-A037-85F7-26B29F018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zh-CN" altLang="en-US" sz="2000" dirty="0"/>
              <a:t>样本数据处理</a:t>
            </a:r>
            <a:endParaRPr lang="en-US" altLang="zh-CN" sz="2000" dirty="0"/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altLang="zh-CN" sz="2000" dirty="0"/>
              <a:t>(1)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负样本的定义并不统一。当前一些方法将未知的药物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靶点相互作用直接训练为负样本，然而实际上，湿实验未排除的药物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靶点关系很可能仅仅由于存在隐藏的相互作用而未被检测到。</a:t>
            </a:r>
            <a:endParaRPr lang="en-US" altLang="zh-CN" sz="1800" dirty="0">
              <a:effectLst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DTI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预测中，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负样本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通常指无相互作用的药物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蛋白组合。然而现实中很难明确哪些药物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靶点确实不相互作用，导致负样本的定义缺乏统一标准。许多研究往往将未经验证的任意药物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靶点对当作负样本，这可能把尚未被发现的真实相互作用错标为负例。结果是训练数据中混入错误标签，模型学习受到干扰。此外，正负样本数量常极不平衡（真实相互作用很少，假定无作用的对非常多），负样本选择不当会加剧类别不平衡问题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​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[86]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。这些因素会导致模型性能下降：要么错将潜在相互作用当负样本忽略掉，要么模型偏向预测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大多数</a:t>
            </a:r>
            <a:r>
              <a:rPr lang="en-US" altLang="zh-CN" sz="1800" dirty="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zh-CN" sz="1800">
                <a:effectLst/>
                <a:ea typeface="宋体" panose="02010600030101010101" pitchFamily="2" charset="-122"/>
                <a:cs typeface="Times New Roman" panose="02020603050405020304" pitchFamily="18" charset="0"/>
              </a:rPr>
              <a:t>的负类，难以识别少数正类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006034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DDDB2-2E38-37E2-6E1B-4D773150D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275123-395F-7F6B-1600-85B35E28D1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43471" y="-53608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技术路线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60A936A-24F3-7F2F-438C-B7505DFCFF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1475"/>
            <a:ext cx="11887200" cy="295009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zh-CN" altLang="en-US" sz="2000" dirty="0"/>
              <a:t>负样本筛选</a:t>
            </a:r>
          </a:p>
        </p:txBody>
      </p:sp>
      <p:sp>
        <p:nvSpPr>
          <p:cNvPr id="4" name="流程图: 磁盘 3">
            <a:extLst>
              <a:ext uri="{FF2B5EF4-FFF2-40B4-BE49-F238E27FC236}">
                <a16:creationId xmlns:a16="http://schemas.microsoft.com/office/drawing/2014/main" id="{EB26F505-46F6-0C1B-1FBE-20915228A4A8}"/>
              </a:ext>
            </a:extLst>
          </p:cNvPr>
          <p:cNvSpPr/>
          <p:nvPr/>
        </p:nvSpPr>
        <p:spPr>
          <a:xfrm>
            <a:off x="391877" y="1409160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60FE71-5F3C-071F-A991-7DD4C538D3A9}"/>
              </a:ext>
            </a:extLst>
          </p:cNvPr>
          <p:cNvSpPr txBox="1"/>
          <p:nvPr/>
        </p:nvSpPr>
        <p:spPr>
          <a:xfrm>
            <a:off x="377992" y="1704170"/>
            <a:ext cx="5421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PFAM</a:t>
            </a:r>
          </a:p>
        </p:txBody>
      </p:sp>
      <p:sp>
        <p:nvSpPr>
          <p:cNvPr id="6" name="流程图: 磁盘 5">
            <a:extLst>
              <a:ext uri="{FF2B5EF4-FFF2-40B4-BE49-F238E27FC236}">
                <a16:creationId xmlns:a16="http://schemas.microsoft.com/office/drawing/2014/main" id="{7446C4BF-04E1-37BC-617C-A4CF0540F7F9}"/>
              </a:ext>
            </a:extLst>
          </p:cNvPr>
          <p:cNvSpPr/>
          <p:nvPr/>
        </p:nvSpPr>
        <p:spPr>
          <a:xfrm>
            <a:off x="1181799" y="1409160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7463301-926E-6264-9343-494DF5D84B51}"/>
              </a:ext>
            </a:extLst>
          </p:cNvPr>
          <p:cNvSpPr txBox="1"/>
          <p:nvPr/>
        </p:nvSpPr>
        <p:spPr>
          <a:xfrm>
            <a:off x="990963" y="871383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蛋白质数据</a:t>
            </a:r>
            <a:endParaRPr lang="en-US" altLang="zh-CN" sz="1200" dirty="0"/>
          </a:p>
        </p:txBody>
      </p:sp>
      <p:sp>
        <p:nvSpPr>
          <p:cNvPr id="8" name="流程图: 磁盘 7">
            <a:extLst>
              <a:ext uri="{FF2B5EF4-FFF2-40B4-BE49-F238E27FC236}">
                <a16:creationId xmlns:a16="http://schemas.microsoft.com/office/drawing/2014/main" id="{ADD3B483-8780-430A-EAC4-270DC2E8C59C}"/>
              </a:ext>
            </a:extLst>
          </p:cNvPr>
          <p:cNvSpPr/>
          <p:nvPr/>
        </p:nvSpPr>
        <p:spPr>
          <a:xfrm>
            <a:off x="2022521" y="1409160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45C5D3-9B85-C5BB-B5FE-2813F29AC97A}"/>
              </a:ext>
            </a:extLst>
          </p:cNvPr>
          <p:cNvSpPr txBox="1"/>
          <p:nvPr/>
        </p:nvSpPr>
        <p:spPr>
          <a:xfrm>
            <a:off x="2122940" y="1704170"/>
            <a:ext cx="3882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GO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F83C01-A8D7-362E-2270-560763BD94C8}"/>
              </a:ext>
            </a:extLst>
          </p:cNvPr>
          <p:cNvSpPr txBox="1"/>
          <p:nvPr/>
        </p:nvSpPr>
        <p:spPr>
          <a:xfrm>
            <a:off x="1185855" y="1698808"/>
            <a:ext cx="5277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UCSC</a:t>
            </a:r>
          </a:p>
        </p:txBody>
      </p:sp>
      <p:sp>
        <p:nvSpPr>
          <p:cNvPr id="11" name="流程图: 磁盘 10">
            <a:extLst>
              <a:ext uri="{FF2B5EF4-FFF2-40B4-BE49-F238E27FC236}">
                <a16:creationId xmlns:a16="http://schemas.microsoft.com/office/drawing/2014/main" id="{03BC2603-B3E6-70B9-42BC-CCEB9D991AF8}"/>
              </a:ext>
            </a:extLst>
          </p:cNvPr>
          <p:cNvSpPr/>
          <p:nvPr/>
        </p:nvSpPr>
        <p:spPr>
          <a:xfrm>
            <a:off x="3263671" y="1403798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A06520-F478-ADEA-D8D1-D2F24E5A477B}"/>
              </a:ext>
            </a:extLst>
          </p:cNvPr>
          <p:cNvSpPr txBox="1"/>
          <p:nvPr/>
        </p:nvSpPr>
        <p:spPr>
          <a:xfrm>
            <a:off x="3192634" y="1698808"/>
            <a:ext cx="62549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STITCH</a:t>
            </a:r>
          </a:p>
        </p:txBody>
      </p:sp>
      <p:sp>
        <p:nvSpPr>
          <p:cNvPr id="13" name="流程图: 磁盘 12">
            <a:extLst>
              <a:ext uri="{FF2B5EF4-FFF2-40B4-BE49-F238E27FC236}">
                <a16:creationId xmlns:a16="http://schemas.microsoft.com/office/drawing/2014/main" id="{D59B15B1-D695-5DE3-3545-CC9E94DC37FC}"/>
              </a:ext>
            </a:extLst>
          </p:cNvPr>
          <p:cNvSpPr/>
          <p:nvPr/>
        </p:nvSpPr>
        <p:spPr>
          <a:xfrm>
            <a:off x="4158368" y="1403798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EC43D40-8D99-AA41-8286-DB25D1A65B60}"/>
              </a:ext>
            </a:extLst>
          </p:cNvPr>
          <p:cNvSpPr txBox="1"/>
          <p:nvPr/>
        </p:nvSpPr>
        <p:spPr>
          <a:xfrm>
            <a:off x="3746764" y="900285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相互作用数据</a:t>
            </a:r>
            <a:endParaRPr lang="en-US" altLang="zh-CN" sz="1200" dirty="0"/>
          </a:p>
        </p:txBody>
      </p:sp>
      <p:sp>
        <p:nvSpPr>
          <p:cNvPr id="15" name="流程图: 磁盘 14">
            <a:extLst>
              <a:ext uri="{FF2B5EF4-FFF2-40B4-BE49-F238E27FC236}">
                <a16:creationId xmlns:a16="http://schemas.microsoft.com/office/drawing/2014/main" id="{A4C9434A-CEB4-D17F-E0F6-1785EB4F4510}"/>
              </a:ext>
            </a:extLst>
          </p:cNvPr>
          <p:cNvSpPr/>
          <p:nvPr/>
        </p:nvSpPr>
        <p:spPr>
          <a:xfrm>
            <a:off x="4976865" y="1394273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0102C24-C993-D3BD-B9CE-D12A4B44CDDF}"/>
              </a:ext>
            </a:extLst>
          </p:cNvPr>
          <p:cNvSpPr txBox="1"/>
          <p:nvPr/>
        </p:nvSpPr>
        <p:spPr>
          <a:xfrm>
            <a:off x="4862966" y="1698808"/>
            <a:ext cx="78098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 err="1"/>
              <a:t>DrugBank</a:t>
            </a:r>
            <a:endParaRPr lang="en-US" altLang="zh-CN" sz="11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F2352B7-88FC-3BFF-5981-62D06B70CFA2}"/>
              </a:ext>
            </a:extLst>
          </p:cNvPr>
          <p:cNvSpPr txBox="1"/>
          <p:nvPr/>
        </p:nvSpPr>
        <p:spPr>
          <a:xfrm>
            <a:off x="4076696" y="1693446"/>
            <a:ext cx="7024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Matador</a:t>
            </a:r>
          </a:p>
        </p:txBody>
      </p:sp>
      <p:sp>
        <p:nvSpPr>
          <p:cNvPr id="18" name="流程图: 可选过程 17">
            <a:extLst>
              <a:ext uri="{FF2B5EF4-FFF2-40B4-BE49-F238E27FC236}">
                <a16:creationId xmlns:a16="http://schemas.microsoft.com/office/drawing/2014/main" id="{17AAD993-2252-B234-FDB9-179C117A9ACB}"/>
              </a:ext>
            </a:extLst>
          </p:cNvPr>
          <p:cNvSpPr/>
          <p:nvPr/>
        </p:nvSpPr>
        <p:spPr>
          <a:xfrm>
            <a:off x="274399" y="2371725"/>
            <a:ext cx="751822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领域相似性</a:t>
            </a:r>
          </a:p>
        </p:txBody>
      </p:sp>
      <p:sp>
        <p:nvSpPr>
          <p:cNvPr id="19" name="流程图: 可选过程 18">
            <a:extLst>
              <a:ext uri="{FF2B5EF4-FFF2-40B4-BE49-F238E27FC236}">
                <a16:creationId xmlns:a16="http://schemas.microsoft.com/office/drawing/2014/main" id="{F252B0F5-D757-8B9C-8574-6489FBA4118E}"/>
              </a:ext>
            </a:extLst>
          </p:cNvPr>
          <p:cNvSpPr/>
          <p:nvPr/>
        </p:nvSpPr>
        <p:spPr>
          <a:xfrm>
            <a:off x="1066706" y="2384425"/>
            <a:ext cx="751822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序列相似性</a:t>
            </a:r>
          </a:p>
        </p:txBody>
      </p:sp>
      <p:sp>
        <p:nvSpPr>
          <p:cNvPr id="20" name="流程图: 可选过程 19">
            <a:extLst>
              <a:ext uri="{FF2B5EF4-FFF2-40B4-BE49-F238E27FC236}">
                <a16:creationId xmlns:a16="http://schemas.microsoft.com/office/drawing/2014/main" id="{AD7BE6B9-0B12-9BB0-C619-CECFB80DEF3B}"/>
              </a:ext>
            </a:extLst>
          </p:cNvPr>
          <p:cNvSpPr/>
          <p:nvPr/>
        </p:nvSpPr>
        <p:spPr>
          <a:xfrm>
            <a:off x="1935213" y="2369582"/>
            <a:ext cx="751822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注释相似性</a:t>
            </a: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5AA5A8A1-540C-1F7D-51B4-66CD229C7CD7}"/>
              </a:ext>
            </a:extLst>
          </p:cNvPr>
          <p:cNvSpPr/>
          <p:nvPr/>
        </p:nvSpPr>
        <p:spPr>
          <a:xfrm>
            <a:off x="928671" y="3094333"/>
            <a:ext cx="1050554" cy="36933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蛋白质</a:t>
            </a:r>
            <a:r>
              <a:rPr lang="en-US" altLang="zh-CN" sz="1100" dirty="0"/>
              <a:t>-</a:t>
            </a:r>
            <a:r>
              <a:rPr lang="zh-CN" altLang="en-US" sz="1100" dirty="0"/>
              <a:t>蛋白质相似性</a:t>
            </a: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5B22877A-13DC-767C-5012-76381F3C203C}"/>
              </a:ext>
            </a:extLst>
          </p:cNvPr>
          <p:cNvSpPr/>
          <p:nvPr/>
        </p:nvSpPr>
        <p:spPr>
          <a:xfrm>
            <a:off x="928671" y="3802653"/>
            <a:ext cx="1050554" cy="36933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药物</a:t>
            </a:r>
            <a:r>
              <a:rPr lang="en-US" altLang="zh-CN" sz="1100" dirty="0"/>
              <a:t>-</a:t>
            </a:r>
            <a:r>
              <a:rPr lang="zh-CN" altLang="en-US" sz="1100" dirty="0"/>
              <a:t>药物相似性</a:t>
            </a:r>
          </a:p>
        </p:txBody>
      </p:sp>
      <p:sp>
        <p:nvSpPr>
          <p:cNvPr id="23" name="流程图: 可选过程 22">
            <a:extLst>
              <a:ext uri="{FF2B5EF4-FFF2-40B4-BE49-F238E27FC236}">
                <a16:creationId xmlns:a16="http://schemas.microsoft.com/office/drawing/2014/main" id="{C0FAAF1C-3272-C882-BAE4-E1EBDB71DDBE}"/>
              </a:ext>
            </a:extLst>
          </p:cNvPr>
          <p:cNvSpPr/>
          <p:nvPr/>
        </p:nvSpPr>
        <p:spPr>
          <a:xfrm>
            <a:off x="431449" y="4543835"/>
            <a:ext cx="751822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结构相似性</a:t>
            </a:r>
          </a:p>
        </p:txBody>
      </p:sp>
      <p:sp>
        <p:nvSpPr>
          <p:cNvPr id="24" name="流程图: 可选过程 23">
            <a:extLst>
              <a:ext uri="{FF2B5EF4-FFF2-40B4-BE49-F238E27FC236}">
                <a16:creationId xmlns:a16="http://schemas.microsoft.com/office/drawing/2014/main" id="{8D32C367-2A05-4537-B152-2D41D327DF4B}"/>
              </a:ext>
            </a:extLst>
          </p:cNvPr>
          <p:cNvSpPr/>
          <p:nvPr/>
        </p:nvSpPr>
        <p:spPr>
          <a:xfrm>
            <a:off x="1603314" y="4543835"/>
            <a:ext cx="751822" cy="369332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副作用相似性</a:t>
            </a:r>
          </a:p>
        </p:txBody>
      </p:sp>
      <p:sp>
        <p:nvSpPr>
          <p:cNvPr id="25" name="流程图: 磁盘 24">
            <a:extLst>
              <a:ext uri="{FF2B5EF4-FFF2-40B4-BE49-F238E27FC236}">
                <a16:creationId xmlns:a16="http://schemas.microsoft.com/office/drawing/2014/main" id="{8AC36749-899D-68E1-8CAB-06919DA37C38}"/>
              </a:ext>
            </a:extLst>
          </p:cNvPr>
          <p:cNvSpPr/>
          <p:nvPr/>
        </p:nvSpPr>
        <p:spPr>
          <a:xfrm>
            <a:off x="511626" y="5562242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E8324E4-E277-7D58-82D4-20F18931D379}"/>
              </a:ext>
            </a:extLst>
          </p:cNvPr>
          <p:cNvSpPr txBox="1"/>
          <p:nvPr/>
        </p:nvSpPr>
        <p:spPr>
          <a:xfrm>
            <a:off x="426301" y="5857252"/>
            <a:ext cx="77617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PubChem</a:t>
            </a:r>
          </a:p>
        </p:txBody>
      </p:sp>
      <p:sp>
        <p:nvSpPr>
          <p:cNvPr id="27" name="流程图: 磁盘 26">
            <a:extLst>
              <a:ext uri="{FF2B5EF4-FFF2-40B4-BE49-F238E27FC236}">
                <a16:creationId xmlns:a16="http://schemas.microsoft.com/office/drawing/2014/main" id="{0F03E1E6-7A11-0676-C008-CD80A379C5E1}"/>
              </a:ext>
            </a:extLst>
          </p:cNvPr>
          <p:cNvSpPr/>
          <p:nvPr/>
        </p:nvSpPr>
        <p:spPr>
          <a:xfrm>
            <a:off x="1695248" y="5562242"/>
            <a:ext cx="570539" cy="23567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70A5D1E-77CC-4B7E-324C-BA7A95AB6B9C}"/>
              </a:ext>
            </a:extLst>
          </p:cNvPr>
          <p:cNvSpPr txBox="1"/>
          <p:nvPr/>
        </p:nvSpPr>
        <p:spPr>
          <a:xfrm>
            <a:off x="926045" y="6190911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药物数据</a:t>
            </a:r>
            <a:endParaRPr lang="en-US" altLang="zh-CN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12A9E2B-782F-8968-3F9A-0EB39FBA02BF}"/>
              </a:ext>
            </a:extLst>
          </p:cNvPr>
          <p:cNvSpPr txBox="1"/>
          <p:nvPr/>
        </p:nvSpPr>
        <p:spPr>
          <a:xfrm>
            <a:off x="1713592" y="5851890"/>
            <a:ext cx="5421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SIDER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流程图: 过程 31">
                <a:extLst>
                  <a:ext uri="{FF2B5EF4-FFF2-40B4-BE49-F238E27FC236}">
                    <a16:creationId xmlns:a16="http://schemas.microsoft.com/office/drawing/2014/main" id="{CF8021D4-9C96-A721-9ED2-21CC462576E5}"/>
                  </a:ext>
                </a:extLst>
              </p:cNvPr>
              <p:cNvSpPr/>
              <p:nvPr/>
            </p:nvSpPr>
            <p:spPr>
              <a:xfrm>
                <a:off x="3192634" y="2440420"/>
                <a:ext cx="2465215" cy="374694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药物</a:t>
                </a:r>
                <a:r>
                  <a:rPr lang="en-US" altLang="zh-CN" sz="1100" dirty="0"/>
                  <a:t>-</a:t>
                </a:r>
                <a:r>
                  <a:rPr lang="zh-CN" altLang="en-US" sz="1100" dirty="0"/>
                  <a:t>蛋白质</a:t>
                </a:r>
                <a:r>
                  <a:rPr lang="en-US" altLang="zh-CN" sz="1100" dirty="0"/>
                  <a:t>pairs</a:t>
                </a:r>
                <a:r>
                  <a:rPr lang="zh-CN" altLang="en-US" sz="1100" dirty="0"/>
                  <a:t>，</a:t>
                </a:r>
                <a:br>
                  <a:rPr lang="en-US" altLang="zh-CN" sz="11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𝑘𝑙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32" name="流程图: 过程 31">
                <a:extLst>
                  <a:ext uri="{FF2B5EF4-FFF2-40B4-BE49-F238E27FC236}">
                    <a16:creationId xmlns:a16="http://schemas.microsoft.com/office/drawing/2014/main" id="{CF8021D4-9C96-A721-9ED2-21CC462576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2634" y="2440420"/>
                <a:ext cx="2465215" cy="374694"/>
              </a:xfrm>
              <a:prstGeom prst="flowChartProcess">
                <a:avLst/>
              </a:prstGeom>
              <a:blipFill>
                <a:blip r:embed="rId3"/>
                <a:stretch>
                  <a:fillRect t="-9231" b="-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流程图: 过程 32">
            <a:extLst>
              <a:ext uri="{FF2B5EF4-FFF2-40B4-BE49-F238E27FC236}">
                <a16:creationId xmlns:a16="http://schemas.microsoft.com/office/drawing/2014/main" id="{4F7CD3F4-1A94-7A41-4095-ACDE45640BA5}"/>
              </a:ext>
            </a:extLst>
          </p:cNvPr>
          <p:cNvSpPr/>
          <p:nvPr/>
        </p:nvSpPr>
        <p:spPr>
          <a:xfrm>
            <a:off x="6688591" y="2443244"/>
            <a:ext cx="1050554" cy="36933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/>
              <a:t>提取正相互作用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流程图: 过程 33">
                <a:extLst>
                  <a:ext uri="{FF2B5EF4-FFF2-40B4-BE49-F238E27FC236}">
                    <a16:creationId xmlns:a16="http://schemas.microsoft.com/office/drawing/2014/main" id="{4B15E0B8-E5D0-A100-F1D9-692138D48482}"/>
                  </a:ext>
                </a:extLst>
              </p:cNvPr>
              <p:cNvSpPr/>
              <p:nvPr/>
            </p:nvSpPr>
            <p:spPr>
              <a:xfrm>
                <a:off x="3192634" y="3577320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通过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𝑘𝑙</m:t>
                            </m:r>
                          </m:sub>
                        </m:sSub>
                      </m:e>
                    </m:d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,(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𝑠𝑝𝑐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𝑗𝑘𝑙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𝑃𝑆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𝑗𝑙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1100" dirty="0"/>
                  <a:t>计算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sz="1100" dirty="0"/>
                  <a:t>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zh-CN" altLang="en-US" sz="1100" dirty="0"/>
                  <a:t>之间的加权得分</a:t>
                </a:r>
              </a:p>
            </p:txBody>
          </p:sp>
        </mc:Choice>
        <mc:Fallback xmlns="">
          <p:sp>
            <p:nvSpPr>
              <p:cNvPr id="34" name="流程图: 过程 33">
                <a:extLst>
                  <a:ext uri="{FF2B5EF4-FFF2-40B4-BE49-F238E27FC236}">
                    <a16:creationId xmlns:a16="http://schemas.microsoft.com/office/drawing/2014/main" id="{4B15E0B8-E5D0-A100-F1D9-692138D484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2634" y="3577320"/>
                <a:ext cx="2465215" cy="518430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流程图: 过程 34">
                <a:extLst>
                  <a:ext uri="{FF2B5EF4-FFF2-40B4-BE49-F238E27FC236}">
                    <a16:creationId xmlns:a16="http://schemas.microsoft.com/office/drawing/2014/main" id="{BD8DEB31-0F0B-E0F0-78A9-EB6079E0F9FD}"/>
                  </a:ext>
                </a:extLst>
              </p:cNvPr>
              <p:cNvSpPr/>
              <p:nvPr/>
            </p:nvSpPr>
            <p:spPr>
              <a:xfrm>
                <a:off x="3192634" y="4627316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通过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d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,(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𝑠𝑝𝑐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𝑘𝑗𝑖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𝐶𝑆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𝑘𝑖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1100" dirty="0"/>
                  <a:t>计算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CN" sz="11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sz="1100" dirty="0"/>
                  <a:t>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zh-CN" altLang="en-US" sz="1100" dirty="0"/>
                  <a:t>之间的加权得分</a:t>
                </a:r>
              </a:p>
            </p:txBody>
          </p:sp>
        </mc:Choice>
        <mc:Fallback xmlns="">
          <p:sp>
            <p:nvSpPr>
              <p:cNvPr id="35" name="流程图: 过程 34">
                <a:extLst>
                  <a:ext uri="{FF2B5EF4-FFF2-40B4-BE49-F238E27FC236}">
                    <a16:creationId xmlns:a16="http://schemas.microsoft.com/office/drawing/2014/main" id="{BD8DEB31-0F0B-E0F0-78A9-EB6079E0F9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2634" y="4627316"/>
                <a:ext cx="2465215" cy="518430"/>
              </a:xfrm>
              <a:prstGeom prst="flowChartProcess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流程图: 过程 35">
            <a:extLst>
              <a:ext uri="{FF2B5EF4-FFF2-40B4-BE49-F238E27FC236}">
                <a16:creationId xmlns:a16="http://schemas.microsoft.com/office/drawing/2014/main" id="{13A935D5-F23B-B70C-EF3F-AD1CA07ED239}"/>
              </a:ext>
            </a:extLst>
          </p:cNvPr>
          <p:cNvSpPr/>
          <p:nvPr/>
        </p:nvSpPr>
        <p:spPr>
          <a:xfrm>
            <a:off x="3386657" y="6058090"/>
            <a:ext cx="2077167" cy="29500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预测新的药物</a:t>
            </a:r>
            <a:r>
              <a:rPr lang="en-US" altLang="zh-CN" sz="1100" dirty="0"/>
              <a:t>-</a:t>
            </a:r>
            <a:r>
              <a:rPr lang="zh-CN" altLang="en-US" sz="1100" dirty="0"/>
              <a:t>蛋白质相互作用</a:t>
            </a:r>
          </a:p>
        </p:txBody>
      </p:sp>
      <p:sp>
        <p:nvSpPr>
          <p:cNvPr id="37" name="流程图: 过程 36">
            <a:extLst>
              <a:ext uri="{FF2B5EF4-FFF2-40B4-BE49-F238E27FC236}">
                <a16:creationId xmlns:a16="http://schemas.microsoft.com/office/drawing/2014/main" id="{D0C57802-E470-5BC4-A869-B283B5B79B2D}"/>
              </a:ext>
            </a:extLst>
          </p:cNvPr>
          <p:cNvSpPr/>
          <p:nvPr/>
        </p:nvSpPr>
        <p:spPr>
          <a:xfrm>
            <a:off x="6171933" y="6050452"/>
            <a:ext cx="2152648" cy="29500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训练一个分类器并进行交叉验证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流程图: 过程 37">
                <a:extLst>
                  <a:ext uri="{FF2B5EF4-FFF2-40B4-BE49-F238E27FC236}">
                    <a16:creationId xmlns:a16="http://schemas.microsoft.com/office/drawing/2014/main" id="{26288E8A-8506-BB64-5E82-1545C2107EDD}"/>
                  </a:ext>
                </a:extLst>
              </p:cNvPr>
              <p:cNvSpPr/>
              <p:nvPr/>
            </p:nvSpPr>
            <p:spPr>
              <a:xfrm>
                <a:off x="5943599" y="3567795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针对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𝑆𝑃𝐶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𝑠𝑝𝑐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𝑗𝑘𝑙</m:t>
                            </m:r>
                          </m:sub>
                        </m:sSub>
                      </m:e>
                    </m:nary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1100" dirty="0"/>
                  <a:t>所靶向的蛋白质，汇总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𝑠𝑝𝑐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𝑗𝑘𝑙</m:t>
                        </m:r>
                      </m:sub>
                    </m:sSub>
                  </m:oMath>
                </a14:m>
                <a:r>
                  <a:rPr lang="zh-CN" altLang="en-US" sz="1100" dirty="0"/>
                  <a:t>得分</a:t>
                </a:r>
              </a:p>
            </p:txBody>
          </p:sp>
        </mc:Choice>
        <mc:Fallback xmlns="">
          <p:sp>
            <p:nvSpPr>
              <p:cNvPr id="38" name="流程图: 过程 37">
                <a:extLst>
                  <a:ext uri="{FF2B5EF4-FFF2-40B4-BE49-F238E27FC236}">
                    <a16:creationId xmlns:a16="http://schemas.microsoft.com/office/drawing/2014/main" id="{26288E8A-8506-BB64-5E82-1545C2107E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9" y="3567795"/>
                <a:ext cx="2465215" cy="518430"/>
              </a:xfrm>
              <a:prstGeom prst="flowChartProcess">
                <a:avLst/>
              </a:prstGeom>
              <a:blipFill>
                <a:blip r:embed="rId6"/>
                <a:stretch>
                  <a:fillRect t="-37500" b="-306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流程图: 过程 38">
                <a:extLst>
                  <a:ext uri="{FF2B5EF4-FFF2-40B4-BE49-F238E27FC236}">
                    <a16:creationId xmlns:a16="http://schemas.microsoft.com/office/drawing/2014/main" id="{4622EF61-C730-C078-F8D0-C4E014C945BE}"/>
                  </a:ext>
                </a:extLst>
              </p:cNvPr>
              <p:cNvSpPr/>
              <p:nvPr/>
            </p:nvSpPr>
            <p:spPr>
              <a:xfrm>
                <a:off x="5943598" y="4627316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针对作用于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𝑆𝐶𝑃</m:t>
                            </m:r>
                          </m:e>
                          <m:sub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𝑘𝑗</m:t>
                            </m:r>
                          </m:sub>
                        </m:sSub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𝑠𝑐𝑝</m:t>
                                </m:r>
                              </m:e>
                              <m:sub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𝑘𝑗𝑖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zh-CN" altLang="en-US" sz="1100" dirty="0"/>
                  <a:t>的药物，汇总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𝑠𝑐𝑝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𝑘𝑗𝑖</m:t>
                        </m:r>
                      </m:sub>
                    </m:sSub>
                  </m:oMath>
                </a14:m>
                <a:r>
                  <a:rPr lang="zh-CN" altLang="en-US" sz="1100" dirty="0"/>
                  <a:t>得分</a:t>
                </a:r>
              </a:p>
            </p:txBody>
          </p:sp>
        </mc:Choice>
        <mc:Fallback xmlns="">
          <p:sp>
            <p:nvSpPr>
              <p:cNvPr id="39" name="流程图: 过程 38">
                <a:extLst>
                  <a:ext uri="{FF2B5EF4-FFF2-40B4-BE49-F238E27FC236}">
                    <a16:creationId xmlns:a16="http://schemas.microsoft.com/office/drawing/2014/main" id="{4622EF61-C730-C078-F8D0-C4E014C945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8" y="4627316"/>
                <a:ext cx="2465215" cy="518430"/>
              </a:xfrm>
              <a:prstGeom prst="flowChartProcess">
                <a:avLst/>
              </a:prstGeom>
              <a:blipFill>
                <a:blip r:embed="rId7"/>
                <a:stretch>
                  <a:fillRect t="-37500" b="-306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流程图: 过程 39">
                <a:extLst>
                  <a:ext uri="{FF2B5EF4-FFF2-40B4-BE49-F238E27FC236}">
                    <a16:creationId xmlns:a16="http://schemas.microsoft.com/office/drawing/2014/main" id="{B49A57D0-6548-2A34-3F64-94AFFE48E30A}"/>
                  </a:ext>
                </a:extLst>
              </p:cNvPr>
              <p:cNvSpPr/>
              <p:nvPr/>
            </p:nvSpPr>
            <p:spPr>
              <a:xfrm>
                <a:off x="9024179" y="2795246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计算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sz="1100" dirty="0"/>
                  <a:t>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zh-CN" altLang="en-US" sz="1100" dirty="0"/>
                  <a:t>之间的距离</a:t>
                </a:r>
                <a:br>
                  <a:rPr lang="en-US" altLang="zh-CN" sz="11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sz="1100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⁡(−</m:t>
                      </m:r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𝑆𝑃𝐶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𝑆𝐶𝑃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40" name="流程图: 过程 39">
                <a:extLst>
                  <a:ext uri="{FF2B5EF4-FFF2-40B4-BE49-F238E27FC236}">
                    <a16:creationId xmlns:a16="http://schemas.microsoft.com/office/drawing/2014/main" id="{B49A57D0-6548-2A34-3F64-94AFFE48E3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179" y="2795246"/>
                <a:ext cx="2465215" cy="518430"/>
              </a:xfrm>
              <a:prstGeom prst="flowChartProcess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流程图: 过程 40">
                <a:extLst>
                  <a:ext uri="{FF2B5EF4-FFF2-40B4-BE49-F238E27FC236}">
                    <a16:creationId xmlns:a16="http://schemas.microsoft.com/office/drawing/2014/main" id="{0909D5E8-45AB-DB28-D5C6-C929BB6BF549}"/>
                  </a:ext>
                </a:extLst>
              </p:cNvPr>
              <p:cNvSpPr/>
              <p:nvPr/>
            </p:nvSpPr>
            <p:spPr>
              <a:xfrm>
                <a:off x="9024178" y="3706621"/>
                <a:ext cx="2465215" cy="51843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100" dirty="0"/>
                  <a:t>针对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sz="1100" i="1">
                            <a:latin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zh-CN" altLang="en-US" sz="1100" dirty="0"/>
                  <a:t>对相互作用排序，并选出负样本候选</a:t>
                </a:r>
              </a:p>
            </p:txBody>
          </p:sp>
        </mc:Choice>
        <mc:Fallback xmlns="">
          <p:sp>
            <p:nvSpPr>
              <p:cNvPr id="41" name="流程图: 过程 40">
                <a:extLst>
                  <a:ext uri="{FF2B5EF4-FFF2-40B4-BE49-F238E27FC236}">
                    <a16:creationId xmlns:a16="http://schemas.microsoft.com/office/drawing/2014/main" id="{0909D5E8-45AB-DB28-D5C6-C929BB6BF5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178" y="3706621"/>
                <a:ext cx="2465215" cy="518430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流程图: 过程 41">
            <a:extLst>
              <a:ext uri="{FF2B5EF4-FFF2-40B4-BE49-F238E27FC236}">
                <a16:creationId xmlns:a16="http://schemas.microsoft.com/office/drawing/2014/main" id="{E86DD232-2625-8BF5-B151-46007C83BC97}"/>
              </a:ext>
            </a:extLst>
          </p:cNvPr>
          <p:cNvSpPr/>
          <p:nvPr/>
        </p:nvSpPr>
        <p:spPr>
          <a:xfrm>
            <a:off x="9024178" y="4796688"/>
            <a:ext cx="2465215" cy="51843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根据正样本数量和特征差异性筛选候选样本</a:t>
            </a:r>
          </a:p>
        </p:txBody>
      </p:sp>
      <p:sp>
        <p:nvSpPr>
          <p:cNvPr id="43" name="流程图: 过程 42">
            <a:extLst>
              <a:ext uri="{FF2B5EF4-FFF2-40B4-BE49-F238E27FC236}">
                <a16:creationId xmlns:a16="http://schemas.microsoft.com/office/drawing/2014/main" id="{DE29786C-A65E-5E03-ED1D-75ACEE713D0C}"/>
              </a:ext>
            </a:extLst>
          </p:cNvPr>
          <p:cNvSpPr/>
          <p:nvPr/>
        </p:nvSpPr>
        <p:spPr>
          <a:xfrm>
            <a:off x="9023763" y="5936079"/>
            <a:ext cx="2465215" cy="51843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构建训练集并提取化学基因组特征</a:t>
            </a:r>
          </a:p>
        </p:txBody>
      </p:sp>
      <p:sp>
        <p:nvSpPr>
          <p:cNvPr id="44" name="流程图: 过程 43">
            <a:extLst>
              <a:ext uri="{FF2B5EF4-FFF2-40B4-BE49-F238E27FC236}">
                <a16:creationId xmlns:a16="http://schemas.microsoft.com/office/drawing/2014/main" id="{86DA6929-0B86-C6E3-ED70-847900D34AE6}"/>
              </a:ext>
            </a:extLst>
          </p:cNvPr>
          <p:cNvSpPr/>
          <p:nvPr/>
        </p:nvSpPr>
        <p:spPr>
          <a:xfrm>
            <a:off x="248998" y="781050"/>
            <a:ext cx="2577229" cy="1293523"/>
          </a:xfrm>
          <a:prstGeom prst="flowChartProcess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流程图: 过程 44">
            <a:extLst>
              <a:ext uri="{FF2B5EF4-FFF2-40B4-BE49-F238E27FC236}">
                <a16:creationId xmlns:a16="http://schemas.microsoft.com/office/drawing/2014/main" id="{F312380A-3D28-8A08-DB4B-7EB49116C3A3}"/>
              </a:ext>
            </a:extLst>
          </p:cNvPr>
          <p:cNvSpPr/>
          <p:nvPr/>
        </p:nvSpPr>
        <p:spPr>
          <a:xfrm>
            <a:off x="3007510" y="793685"/>
            <a:ext cx="2747209" cy="1293523"/>
          </a:xfrm>
          <a:prstGeom prst="flowChartProcess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2A624C13-20EA-9D91-D3D2-C65FAD0761AF}"/>
              </a:ext>
            </a:extLst>
          </p:cNvPr>
          <p:cNvSpPr/>
          <p:nvPr/>
        </p:nvSpPr>
        <p:spPr>
          <a:xfrm>
            <a:off x="173958" y="5328001"/>
            <a:ext cx="2438036" cy="1293523"/>
          </a:xfrm>
          <a:prstGeom prst="flowChartProcess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3319F6FF-9CC3-458D-337E-38B2BCBE8478}"/>
              </a:ext>
            </a:extLst>
          </p:cNvPr>
          <p:cNvCxnSpPr>
            <a:cxnSpLocks/>
          </p:cNvCxnSpPr>
          <p:nvPr/>
        </p:nvCxnSpPr>
        <p:spPr>
          <a:xfrm>
            <a:off x="250764" y="2233149"/>
            <a:ext cx="5492811" cy="13333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5FDA3363-1FDD-9CB4-A458-4D1390AD72F5}"/>
              </a:ext>
            </a:extLst>
          </p:cNvPr>
          <p:cNvCxnSpPr>
            <a:cxnSpLocks/>
          </p:cNvCxnSpPr>
          <p:nvPr/>
        </p:nvCxnSpPr>
        <p:spPr>
          <a:xfrm>
            <a:off x="198199" y="5131222"/>
            <a:ext cx="2413795" cy="13333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15EE299-BB21-D1BC-5F1D-BC9CA9BA7AFC}"/>
              </a:ext>
            </a:extLst>
          </p:cNvPr>
          <p:cNvCxnSpPr>
            <a:cxnSpLocks/>
          </p:cNvCxnSpPr>
          <p:nvPr/>
        </p:nvCxnSpPr>
        <p:spPr>
          <a:xfrm flipV="1">
            <a:off x="198199" y="2224815"/>
            <a:ext cx="0" cy="290640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5E41ACF-1D6B-33C6-BBBB-85FEF021CA05}"/>
              </a:ext>
            </a:extLst>
          </p:cNvPr>
          <p:cNvCxnSpPr>
            <a:cxnSpLocks/>
          </p:cNvCxnSpPr>
          <p:nvPr/>
        </p:nvCxnSpPr>
        <p:spPr>
          <a:xfrm flipV="1">
            <a:off x="2627312" y="3094333"/>
            <a:ext cx="0" cy="206485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C84E850-92BC-0D43-062B-9E021F661C26}"/>
              </a:ext>
            </a:extLst>
          </p:cNvPr>
          <p:cNvCxnSpPr>
            <a:cxnSpLocks/>
          </p:cNvCxnSpPr>
          <p:nvPr/>
        </p:nvCxnSpPr>
        <p:spPr>
          <a:xfrm>
            <a:off x="2687035" y="3094333"/>
            <a:ext cx="3056540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302F168-5514-F90D-FE0C-CAEC53882E5F}"/>
              </a:ext>
            </a:extLst>
          </p:cNvPr>
          <p:cNvCxnSpPr>
            <a:cxnSpLocks/>
          </p:cNvCxnSpPr>
          <p:nvPr/>
        </p:nvCxnSpPr>
        <p:spPr>
          <a:xfrm flipV="1">
            <a:off x="5754723" y="2239815"/>
            <a:ext cx="0" cy="847851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60611208-CB73-5940-2783-655EE4139E55}"/>
              </a:ext>
            </a:extLst>
          </p:cNvPr>
          <p:cNvSpPr txBox="1"/>
          <p:nvPr/>
        </p:nvSpPr>
        <p:spPr>
          <a:xfrm>
            <a:off x="398845" y="2995958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(1)</a:t>
            </a:r>
            <a:endParaRPr lang="zh-CN" altLang="en-US" sz="1200" b="1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9DEF6939-E4EC-A809-DEB3-4AB523B91AE9}"/>
              </a:ext>
            </a:extLst>
          </p:cNvPr>
          <p:cNvSpPr txBox="1"/>
          <p:nvPr/>
        </p:nvSpPr>
        <p:spPr>
          <a:xfrm>
            <a:off x="2972690" y="3283238"/>
            <a:ext cx="4892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(2.a)</a:t>
            </a:r>
            <a:endParaRPr lang="zh-CN" altLang="en-US" sz="1200" b="1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4730E24-5E7F-66F3-DF48-7EC1D44F7DCD}"/>
              </a:ext>
            </a:extLst>
          </p:cNvPr>
          <p:cNvSpPr txBox="1"/>
          <p:nvPr/>
        </p:nvSpPr>
        <p:spPr>
          <a:xfrm>
            <a:off x="2928988" y="4316502"/>
            <a:ext cx="502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(2.b)</a:t>
            </a:r>
            <a:endParaRPr lang="zh-CN" altLang="en-US" sz="1200" b="1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AB57107-78DB-7A2F-7A42-429BD9C08643}"/>
              </a:ext>
            </a:extLst>
          </p:cNvPr>
          <p:cNvSpPr txBox="1"/>
          <p:nvPr/>
        </p:nvSpPr>
        <p:spPr>
          <a:xfrm>
            <a:off x="3058831" y="5851890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(7)</a:t>
            </a:r>
            <a:endParaRPr lang="zh-CN" altLang="en-US" sz="1200" b="1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FC12167-4F0C-C2AA-9B95-893041DE254C}"/>
              </a:ext>
            </a:extLst>
          </p:cNvPr>
          <p:cNvSpPr txBox="1"/>
          <p:nvPr/>
        </p:nvSpPr>
        <p:spPr>
          <a:xfrm>
            <a:off x="6312726" y="2364220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(3)</a:t>
            </a:r>
            <a:endParaRPr lang="zh-CN" altLang="en-US" sz="1200" b="1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CEC1323-208A-08AF-1C82-BF34BB8DFCD1}"/>
              </a:ext>
            </a:extLst>
          </p:cNvPr>
          <p:cNvSpPr txBox="1"/>
          <p:nvPr/>
        </p:nvSpPr>
        <p:spPr>
          <a:xfrm>
            <a:off x="8629865" y="2685610"/>
            <a:ext cx="4812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(2.c)</a:t>
            </a:r>
            <a:endParaRPr lang="zh-CN" altLang="en-US" sz="1200" b="1" dirty="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8F419A8E-C9C5-8B10-F891-4F2EBB52EEAB}"/>
              </a:ext>
            </a:extLst>
          </p:cNvPr>
          <p:cNvSpPr txBox="1"/>
          <p:nvPr/>
        </p:nvSpPr>
        <p:spPr>
          <a:xfrm>
            <a:off x="8938981" y="4509415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(5)</a:t>
            </a:r>
            <a:endParaRPr lang="zh-CN" altLang="en-US" sz="1200" b="1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FF358AE5-0EBB-08A4-D9F1-1C5AC357459D}"/>
              </a:ext>
            </a:extLst>
          </p:cNvPr>
          <p:cNvSpPr txBox="1"/>
          <p:nvPr/>
        </p:nvSpPr>
        <p:spPr>
          <a:xfrm>
            <a:off x="8938981" y="3445071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(4)</a:t>
            </a:r>
            <a:endParaRPr lang="zh-CN" altLang="en-US" sz="1200" b="1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3EC992CB-341B-DAC0-18CD-D7F0825AF42C}"/>
              </a:ext>
            </a:extLst>
          </p:cNvPr>
          <p:cNvSpPr txBox="1"/>
          <p:nvPr/>
        </p:nvSpPr>
        <p:spPr>
          <a:xfrm>
            <a:off x="8938981" y="5680487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(6)</a:t>
            </a:r>
            <a:endParaRPr lang="zh-CN" altLang="en-US" sz="1200" b="1" dirty="0"/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CBCFC069-E3AF-6F33-FC0A-2A664067CBFE}"/>
              </a:ext>
            </a:extLst>
          </p:cNvPr>
          <p:cNvCxnSpPr>
            <a:stCxn id="5" idx="2"/>
            <a:endCxn id="18" idx="0"/>
          </p:cNvCxnSpPr>
          <p:nvPr/>
        </p:nvCxnSpPr>
        <p:spPr>
          <a:xfrm>
            <a:off x="649060" y="1965780"/>
            <a:ext cx="1250" cy="4059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BCA6E70D-95C7-AAE8-61D2-7CD379BCF5F7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1442617" y="1960418"/>
            <a:ext cx="7093" cy="4240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22ED55B6-1A1D-0107-F017-66E41CBA62D6}"/>
              </a:ext>
            </a:extLst>
          </p:cNvPr>
          <p:cNvCxnSpPr>
            <a:cxnSpLocks/>
            <a:stCxn id="9" idx="2"/>
            <a:endCxn id="20" idx="0"/>
          </p:cNvCxnSpPr>
          <p:nvPr/>
        </p:nvCxnSpPr>
        <p:spPr>
          <a:xfrm flipH="1">
            <a:off x="2311124" y="1965780"/>
            <a:ext cx="5940" cy="403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4F3B17F2-A2BB-EC47-A35E-83174DDC9775}"/>
                  </a:ext>
                </a:extLst>
              </p:cNvPr>
              <p:cNvSpPr txBox="1"/>
              <p:nvPr/>
            </p:nvSpPr>
            <p:spPr>
              <a:xfrm>
                <a:off x="2125560" y="2986447"/>
                <a:ext cx="489236" cy="3250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𝑃𝑆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𝑗𝑙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4F3B17F2-A2BB-EC47-A35E-83174DDC9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5560" y="2986447"/>
                <a:ext cx="489236" cy="325089"/>
              </a:xfrm>
              <a:prstGeom prst="rect">
                <a:avLst/>
              </a:prstGeom>
              <a:blipFill>
                <a:blip r:embed="rId10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88C04242-DF01-2FFC-C366-E826DBEAA781}"/>
              </a:ext>
            </a:extLst>
          </p:cNvPr>
          <p:cNvCxnSpPr>
            <a:stCxn id="18" idx="2"/>
            <a:endCxn id="21" idx="0"/>
          </p:cNvCxnSpPr>
          <p:nvPr/>
        </p:nvCxnSpPr>
        <p:spPr>
          <a:xfrm rot="16200000" flipH="1">
            <a:off x="875491" y="2515876"/>
            <a:ext cx="353276" cy="80363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A88C5FB4-9820-FFA7-B19D-1DDA33310730}"/>
              </a:ext>
            </a:extLst>
          </p:cNvPr>
          <p:cNvCxnSpPr>
            <a:cxnSpLocks/>
            <a:endCxn id="21" idx="0"/>
          </p:cNvCxnSpPr>
          <p:nvPr/>
        </p:nvCxnSpPr>
        <p:spPr>
          <a:xfrm rot="16200000" flipH="1">
            <a:off x="1275137" y="2915522"/>
            <a:ext cx="353382" cy="424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连接符: 肘形 89">
            <a:extLst>
              <a:ext uri="{FF2B5EF4-FFF2-40B4-BE49-F238E27FC236}">
                <a16:creationId xmlns:a16="http://schemas.microsoft.com/office/drawing/2014/main" id="{5C560F92-EF60-B9AE-818F-B8B957B82E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 rot="5400000">
            <a:off x="1704827" y="2488035"/>
            <a:ext cx="355419" cy="8571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3A9E00F1-3831-284B-190C-326C282BB4F9}"/>
              </a:ext>
            </a:extLst>
          </p:cNvPr>
          <p:cNvCxnSpPr>
            <a:cxnSpLocks/>
            <a:stCxn id="24" idx="0"/>
            <a:endCxn id="22" idx="2"/>
          </p:cNvCxnSpPr>
          <p:nvPr/>
        </p:nvCxnSpPr>
        <p:spPr>
          <a:xfrm rot="16200000" flipV="1">
            <a:off x="1530662" y="4095271"/>
            <a:ext cx="371850" cy="5252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连接符: 肘形 96">
            <a:extLst>
              <a:ext uri="{FF2B5EF4-FFF2-40B4-BE49-F238E27FC236}">
                <a16:creationId xmlns:a16="http://schemas.microsoft.com/office/drawing/2014/main" id="{E1048FCC-A29E-86BF-8024-EE8063D430E6}"/>
              </a:ext>
            </a:extLst>
          </p:cNvPr>
          <p:cNvCxnSpPr>
            <a:cxnSpLocks/>
            <a:stCxn id="23" idx="0"/>
            <a:endCxn id="22" idx="2"/>
          </p:cNvCxnSpPr>
          <p:nvPr/>
        </p:nvCxnSpPr>
        <p:spPr>
          <a:xfrm rot="5400000" flipH="1" flipV="1">
            <a:off x="944729" y="4034616"/>
            <a:ext cx="371850" cy="6465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C15DD3F8-CB62-5E22-95A9-DB954704A296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flipH="1" flipV="1">
            <a:off x="1979225" y="4913167"/>
            <a:ext cx="1293" cy="6490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CB8B6480-F11D-62D7-9994-63E540E263D6}"/>
              </a:ext>
            </a:extLst>
          </p:cNvPr>
          <p:cNvCxnSpPr>
            <a:cxnSpLocks/>
            <a:stCxn id="25" idx="1"/>
            <a:endCxn id="23" idx="2"/>
          </p:cNvCxnSpPr>
          <p:nvPr/>
        </p:nvCxnSpPr>
        <p:spPr>
          <a:xfrm flipV="1">
            <a:off x="796896" y="4913167"/>
            <a:ext cx="10464" cy="6490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连接符: 肘形 106">
            <a:extLst>
              <a:ext uri="{FF2B5EF4-FFF2-40B4-BE49-F238E27FC236}">
                <a16:creationId xmlns:a16="http://schemas.microsoft.com/office/drawing/2014/main" id="{B4EE750F-10CE-E6D9-2C15-6A6471021918}"/>
              </a:ext>
            </a:extLst>
          </p:cNvPr>
          <p:cNvCxnSpPr>
            <a:cxnSpLocks/>
            <a:stCxn id="21" idx="3"/>
            <a:endCxn id="34" idx="1"/>
          </p:cNvCxnSpPr>
          <p:nvPr/>
        </p:nvCxnSpPr>
        <p:spPr>
          <a:xfrm>
            <a:off x="1979225" y="3278999"/>
            <a:ext cx="1213409" cy="55753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1B259189-144F-7BAC-E27B-5AB564D9DAFC}"/>
              </a:ext>
            </a:extLst>
          </p:cNvPr>
          <p:cNvCxnSpPr>
            <a:cxnSpLocks/>
            <a:stCxn id="22" idx="3"/>
            <a:endCxn id="35" idx="1"/>
          </p:cNvCxnSpPr>
          <p:nvPr/>
        </p:nvCxnSpPr>
        <p:spPr>
          <a:xfrm>
            <a:off x="1979225" y="3987319"/>
            <a:ext cx="1213409" cy="89921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38A2434D-779D-59D7-94E6-C105DF9387AC}"/>
                  </a:ext>
                </a:extLst>
              </p:cNvPr>
              <p:cNvSpPr txBox="1"/>
              <p:nvPr/>
            </p:nvSpPr>
            <p:spPr>
              <a:xfrm>
                <a:off x="2082018" y="3706621"/>
                <a:ext cx="48122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𝐶𝑆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38A2434D-779D-59D7-94E6-C105DF938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2018" y="3706621"/>
                <a:ext cx="481223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连接符: 肘形 114">
            <a:extLst>
              <a:ext uri="{FF2B5EF4-FFF2-40B4-BE49-F238E27FC236}">
                <a16:creationId xmlns:a16="http://schemas.microsoft.com/office/drawing/2014/main" id="{6447D38F-7BAB-61EB-650C-885520481CEE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3725310" y="1740488"/>
            <a:ext cx="480002" cy="9198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连接符: 肘形 117">
            <a:extLst>
              <a:ext uri="{FF2B5EF4-FFF2-40B4-BE49-F238E27FC236}">
                <a16:creationId xmlns:a16="http://schemas.microsoft.com/office/drawing/2014/main" id="{322432E0-7EE2-0B6A-09AB-80D1B36F3ECC}"/>
              </a:ext>
            </a:extLst>
          </p:cNvPr>
          <p:cNvCxnSpPr>
            <a:cxnSpLocks/>
            <a:stCxn id="16" idx="2"/>
            <a:endCxn id="32" idx="0"/>
          </p:cNvCxnSpPr>
          <p:nvPr/>
        </p:nvCxnSpPr>
        <p:spPr>
          <a:xfrm rot="5400000">
            <a:off x="4599349" y="1786311"/>
            <a:ext cx="480002" cy="82821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连接符: 肘形 121">
            <a:extLst>
              <a:ext uri="{FF2B5EF4-FFF2-40B4-BE49-F238E27FC236}">
                <a16:creationId xmlns:a16="http://schemas.microsoft.com/office/drawing/2014/main" id="{F26935C0-6E14-61FE-95F8-9290DF1615C0}"/>
              </a:ext>
            </a:extLst>
          </p:cNvPr>
          <p:cNvCxnSpPr>
            <a:cxnSpLocks/>
            <a:stCxn id="17" idx="2"/>
            <a:endCxn id="32" idx="0"/>
          </p:cNvCxnSpPr>
          <p:nvPr/>
        </p:nvCxnSpPr>
        <p:spPr>
          <a:xfrm rot="5400000">
            <a:off x="4183896" y="2196402"/>
            <a:ext cx="485364" cy="267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连接符: 肘形 124">
            <a:extLst>
              <a:ext uri="{FF2B5EF4-FFF2-40B4-BE49-F238E27FC236}">
                <a16:creationId xmlns:a16="http://schemas.microsoft.com/office/drawing/2014/main" id="{2840C643-E02E-5BE8-9B2E-FA4DC45AE2A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192633" y="2789692"/>
            <a:ext cx="9523" cy="1170666"/>
          </a:xfrm>
          <a:prstGeom prst="bentConnector4">
            <a:avLst>
              <a:gd name="adj1" fmla="val -2800588"/>
              <a:gd name="adj2" fmla="val 10031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连接符: 肘形 128">
            <a:extLst>
              <a:ext uri="{FF2B5EF4-FFF2-40B4-BE49-F238E27FC236}">
                <a16:creationId xmlns:a16="http://schemas.microsoft.com/office/drawing/2014/main" id="{1D9DB6AB-B666-A72E-DC8A-63F44C2800F3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73584" y="2475367"/>
            <a:ext cx="12700" cy="2220664"/>
          </a:xfrm>
          <a:prstGeom prst="bentConnector4">
            <a:avLst>
              <a:gd name="adj1" fmla="val 3150000"/>
              <a:gd name="adj2" fmla="val 10011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直接箭头连接符 178">
            <a:extLst>
              <a:ext uri="{FF2B5EF4-FFF2-40B4-BE49-F238E27FC236}">
                <a16:creationId xmlns:a16="http://schemas.microsoft.com/office/drawing/2014/main" id="{B8C9782F-032B-4E2D-7F42-B047CC33107E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5660048" y="3822765"/>
            <a:ext cx="283551" cy="4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直接箭头连接符 180">
            <a:extLst>
              <a:ext uri="{FF2B5EF4-FFF2-40B4-BE49-F238E27FC236}">
                <a16:creationId xmlns:a16="http://schemas.microsoft.com/office/drawing/2014/main" id="{7F5CC5CB-2C2E-9E29-6EF6-63F7A1894AD6}"/>
              </a:ext>
            </a:extLst>
          </p:cNvPr>
          <p:cNvCxnSpPr>
            <a:cxnSpLocks/>
            <a:stCxn id="35" idx="3"/>
            <a:endCxn id="39" idx="1"/>
          </p:cNvCxnSpPr>
          <p:nvPr/>
        </p:nvCxnSpPr>
        <p:spPr>
          <a:xfrm>
            <a:off x="5657849" y="4886531"/>
            <a:ext cx="28574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连接符: 肘形 181">
            <a:extLst>
              <a:ext uri="{FF2B5EF4-FFF2-40B4-BE49-F238E27FC236}">
                <a16:creationId xmlns:a16="http://schemas.microsoft.com/office/drawing/2014/main" id="{8F04A014-D0E5-FAFC-3194-552F211F17D6}"/>
              </a:ext>
            </a:extLst>
          </p:cNvPr>
          <p:cNvCxnSpPr>
            <a:cxnSpLocks/>
            <a:endCxn id="40" idx="1"/>
          </p:cNvCxnSpPr>
          <p:nvPr/>
        </p:nvCxnSpPr>
        <p:spPr>
          <a:xfrm flipV="1">
            <a:off x="8408814" y="3054461"/>
            <a:ext cx="615365" cy="921139"/>
          </a:xfrm>
          <a:prstGeom prst="bentConnector3">
            <a:avLst>
              <a:gd name="adj1" fmla="val 3699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连接符: 肘形 188">
            <a:extLst>
              <a:ext uri="{FF2B5EF4-FFF2-40B4-BE49-F238E27FC236}">
                <a16:creationId xmlns:a16="http://schemas.microsoft.com/office/drawing/2014/main" id="{E23C26E6-6C89-3C86-DE75-D0DFFAA54C29}"/>
              </a:ext>
            </a:extLst>
          </p:cNvPr>
          <p:cNvCxnSpPr>
            <a:cxnSpLocks/>
          </p:cNvCxnSpPr>
          <p:nvPr/>
        </p:nvCxnSpPr>
        <p:spPr>
          <a:xfrm flipV="1">
            <a:off x="8420243" y="3180191"/>
            <a:ext cx="615366" cy="1832070"/>
          </a:xfrm>
          <a:prstGeom prst="bentConnector3">
            <a:avLst>
              <a:gd name="adj1" fmla="val 5557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直接箭头连接符 192">
            <a:extLst>
              <a:ext uri="{FF2B5EF4-FFF2-40B4-BE49-F238E27FC236}">
                <a16:creationId xmlns:a16="http://schemas.microsoft.com/office/drawing/2014/main" id="{6F7258D2-E3DE-8B0F-D599-BADB33030ADF}"/>
              </a:ext>
            </a:extLst>
          </p:cNvPr>
          <p:cNvCxnSpPr>
            <a:cxnSpLocks/>
            <a:stCxn id="32" idx="3"/>
            <a:endCxn id="33" idx="1"/>
          </p:cNvCxnSpPr>
          <p:nvPr/>
        </p:nvCxnSpPr>
        <p:spPr>
          <a:xfrm>
            <a:off x="5657849" y="2627767"/>
            <a:ext cx="1030742" cy="1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A9CB7E7F-BC72-CF7F-E0C0-069D8B84BE9A}"/>
              </a:ext>
            </a:extLst>
          </p:cNvPr>
          <p:cNvCxnSpPr>
            <a:cxnSpLocks/>
            <a:stCxn id="33" idx="3"/>
            <a:endCxn id="43" idx="3"/>
          </p:cNvCxnSpPr>
          <p:nvPr/>
        </p:nvCxnSpPr>
        <p:spPr>
          <a:xfrm>
            <a:off x="7739145" y="2627910"/>
            <a:ext cx="3749833" cy="3567384"/>
          </a:xfrm>
          <a:prstGeom prst="bentConnector3">
            <a:avLst>
              <a:gd name="adj1" fmla="val 10609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直接箭头连接符 206">
            <a:extLst>
              <a:ext uri="{FF2B5EF4-FFF2-40B4-BE49-F238E27FC236}">
                <a16:creationId xmlns:a16="http://schemas.microsoft.com/office/drawing/2014/main" id="{A1561F02-860D-E243-DAEB-540F37906C5B}"/>
              </a:ext>
            </a:extLst>
          </p:cNvPr>
          <p:cNvCxnSpPr>
            <a:cxnSpLocks/>
            <a:stCxn id="40" idx="2"/>
            <a:endCxn id="41" idx="0"/>
          </p:cNvCxnSpPr>
          <p:nvPr/>
        </p:nvCxnSpPr>
        <p:spPr>
          <a:xfrm flipH="1">
            <a:off x="10256786" y="3313676"/>
            <a:ext cx="1" cy="3929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8AA5B53A-ABC9-8611-7FF3-6E6B098325B3}"/>
              </a:ext>
            </a:extLst>
          </p:cNvPr>
          <p:cNvCxnSpPr>
            <a:cxnSpLocks/>
            <a:stCxn id="41" idx="2"/>
          </p:cNvCxnSpPr>
          <p:nvPr/>
        </p:nvCxnSpPr>
        <p:spPr>
          <a:xfrm flipH="1">
            <a:off x="10256370" y="4225051"/>
            <a:ext cx="416" cy="5987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8533A188-A0B6-C96D-2A0E-86FC1F251721}"/>
              </a:ext>
            </a:extLst>
          </p:cNvPr>
          <p:cNvCxnSpPr>
            <a:cxnSpLocks/>
            <a:stCxn id="42" idx="2"/>
            <a:endCxn id="43" idx="0"/>
          </p:cNvCxnSpPr>
          <p:nvPr/>
        </p:nvCxnSpPr>
        <p:spPr>
          <a:xfrm flipH="1">
            <a:off x="10256371" y="5315118"/>
            <a:ext cx="415" cy="6209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E72A02BE-C22A-C6A4-A578-C3D2FA6CB36E}"/>
              </a:ext>
            </a:extLst>
          </p:cNvPr>
          <p:cNvCxnSpPr>
            <a:cxnSpLocks/>
            <a:stCxn id="43" idx="1"/>
            <a:endCxn id="37" idx="3"/>
          </p:cNvCxnSpPr>
          <p:nvPr/>
        </p:nvCxnSpPr>
        <p:spPr>
          <a:xfrm flipH="1">
            <a:off x="8324581" y="6195294"/>
            <a:ext cx="699182" cy="26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EF8167D8-6E0C-3C34-398A-24C5F69A2CA7}"/>
              </a:ext>
            </a:extLst>
          </p:cNvPr>
          <p:cNvCxnSpPr>
            <a:cxnSpLocks/>
            <a:stCxn id="37" idx="1"/>
            <a:endCxn id="36" idx="3"/>
          </p:cNvCxnSpPr>
          <p:nvPr/>
        </p:nvCxnSpPr>
        <p:spPr>
          <a:xfrm flipH="1">
            <a:off x="5463824" y="6197957"/>
            <a:ext cx="708109" cy="76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345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8E1A-B348-B838-E8AD-66337B84D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E26EDD-2EA7-6CC5-CF38-0693BD74F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43471" y="-53608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技术路线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DE2A1B0-5FD6-C92B-755F-31D312B72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1475"/>
            <a:ext cx="11887200" cy="295009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zh-CN" altLang="en-US" sz="2000" dirty="0"/>
              <a:t>负样本筛选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六边形 28">
                <a:extLst>
                  <a:ext uri="{FF2B5EF4-FFF2-40B4-BE49-F238E27FC236}">
                    <a16:creationId xmlns:a16="http://schemas.microsoft.com/office/drawing/2014/main" id="{578E3C10-1B94-2439-4C3A-D9ABDEFC2BB4}"/>
                  </a:ext>
                </a:extLst>
              </p:cNvPr>
              <p:cNvSpPr/>
              <p:nvPr/>
            </p:nvSpPr>
            <p:spPr>
              <a:xfrm>
                <a:off x="2496068" y="1112108"/>
                <a:ext cx="864973" cy="568411"/>
              </a:xfrm>
              <a:prstGeom prst="hexag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9" name="六边形 28">
                <a:extLst>
                  <a:ext uri="{FF2B5EF4-FFF2-40B4-BE49-F238E27FC236}">
                    <a16:creationId xmlns:a16="http://schemas.microsoft.com/office/drawing/2014/main" id="{578E3C10-1B94-2439-4C3A-D9ABDEFC2B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068" y="1112108"/>
                <a:ext cx="864973" cy="568411"/>
              </a:xfrm>
              <a:prstGeom prst="hexagon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六边形 29">
                <a:extLst>
                  <a:ext uri="{FF2B5EF4-FFF2-40B4-BE49-F238E27FC236}">
                    <a16:creationId xmlns:a16="http://schemas.microsoft.com/office/drawing/2014/main" id="{E16E667A-5204-4F99-3D2D-EC87F83943EC}"/>
                  </a:ext>
                </a:extLst>
              </p:cNvPr>
              <p:cNvSpPr/>
              <p:nvPr/>
            </p:nvSpPr>
            <p:spPr>
              <a:xfrm>
                <a:off x="2496068" y="2397211"/>
                <a:ext cx="864973" cy="568411"/>
              </a:xfrm>
              <a:prstGeom prst="hexag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0" name="六边形 29">
                <a:extLst>
                  <a:ext uri="{FF2B5EF4-FFF2-40B4-BE49-F238E27FC236}">
                    <a16:creationId xmlns:a16="http://schemas.microsoft.com/office/drawing/2014/main" id="{E16E667A-5204-4F99-3D2D-EC87F83943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068" y="2397211"/>
                <a:ext cx="864973" cy="568411"/>
              </a:xfrm>
              <a:prstGeom prst="hexagon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六边形 46">
                <a:extLst>
                  <a:ext uri="{FF2B5EF4-FFF2-40B4-BE49-F238E27FC236}">
                    <a16:creationId xmlns:a16="http://schemas.microsoft.com/office/drawing/2014/main" id="{D35A55D4-D45E-F840-ECC6-DB16D23EAA5C}"/>
                  </a:ext>
                </a:extLst>
              </p:cNvPr>
              <p:cNvSpPr/>
              <p:nvPr/>
            </p:nvSpPr>
            <p:spPr>
              <a:xfrm>
                <a:off x="2496068" y="3793524"/>
                <a:ext cx="864973" cy="568411"/>
              </a:xfrm>
              <a:prstGeom prst="hexag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7" name="六边形 46">
                <a:extLst>
                  <a:ext uri="{FF2B5EF4-FFF2-40B4-BE49-F238E27FC236}">
                    <a16:creationId xmlns:a16="http://schemas.microsoft.com/office/drawing/2014/main" id="{D35A55D4-D45E-F840-ECC6-DB16D23EAA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068" y="3793524"/>
                <a:ext cx="864973" cy="568411"/>
              </a:xfrm>
              <a:prstGeom prst="hexagon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六边形 48">
                <a:extLst>
                  <a:ext uri="{FF2B5EF4-FFF2-40B4-BE49-F238E27FC236}">
                    <a16:creationId xmlns:a16="http://schemas.microsoft.com/office/drawing/2014/main" id="{7ABCFBBB-E770-F960-3467-A3CDEDB1CD90}"/>
                  </a:ext>
                </a:extLst>
              </p:cNvPr>
              <p:cNvSpPr/>
              <p:nvPr/>
            </p:nvSpPr>
            <p:spPr>
              <a:xfrm>
                <a:off x="2496068" y="5090984"/>
                <a:ext cx="864973" cy="568411"/>
              </a:xfrm>
              <a:prstGeom prst="hexag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9" name="六边形 48">
                <a:extLst>
                  <a:ext uri="{FF2B5EF4-FFF2-40B4-BE49-F238E27FC236}">
                    <a16:creationId xmlns:a16="http://schemas.microsoft.com/office/drawing/2014/main" id="{7ABCFBBB-E770-F960-3467-A3CDEDB1CD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068" y="5090984"/>
                <a:ext cx="864973" cy="568411"/>
              </a:xfrm>
              <a:prstGeom prst="hexagon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矩形: 圆角 49">
                <a:extLst>
                  <a:ext uri="{FF2B5EF4-FFF2-40B4-BE49-F238E27FC236}">
                    <a16:creationId xmlns:a16="http://schemas.microsoft.com/office/drawing/2014/main" id="{33ED1691-CEE9-8926-6B7C-39257629335F}"/>
                  </a:ext>
                </a:extLst>
              </p:cNvPr>
              <p:cNvSpPr/>
              <p:nvPr/>
            </p:nvSpPr>
            <p:spPr>
              <a:xfrm>
                <a:off x="8019539" y="963436"/>
                <a:ext cx="864973" cy="5684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0" name="矩形: 圆角 49">
                <a:extLst>
                  <a:ext uri="{FF2B5EF4-FFF2-40B4-BE49-F238E27FC236}">
                    <a16:creationId xmlns:a16="http://schemas.microsoft.com/office/drawing/2014/main" id="{33ED1691-CEE9-8926-6B7C-3925762933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9539" y="963436"/>
                <a:ext cx="864973" cy="568411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矩形: 圆角 51">
                <a:extLst>
                  <a:ext uri="{FF2B5EF4-FFF2-40B4-BE49-F238E27FC236}">
                    <a16:creationId xmlns:a16="http://schemas.microsoft.com/office/drawing/2014/main" id="{FC0840B2-6325-BAC8-7B64-B683E54EFF6F}"/>
                  </a:ext>
                </a:extLst>
              </p:cNvPr>
              <p:cNvSpPr/>
              <p:nvPr/>
            </p:nvSpPr>
            <p:spPr>
              <a:xfrm>
                <a:off x="8019539" y="2397210"/>
                <a:ext cx="864973" cy="5684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2" name="矩形: 圆角 51">
                <a:extLst>
                  <a:ext uri="{FF2B5EF4-FFF2-40B4-BE49-F238E27FC236}">
                    <a16:creationId xmlns:a16="http://schemas.microsoft.com/office/drawing/2014/main" id="{FC0840B2-6325-BAC8-7B64-B683E54EFF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9539" y="2397210"/>
                <a:ext cx="864973" cy="568411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矩形: 圆角 53">
                <a:extLst>
                  <a:ext uri="{FF2B5EF4-FFF2-40B4-BE49-F238E27FC236}">
                    <a16:creationId xmlns:a16="http://schemas.microsoft.com/office/drawing/2014/main" id="{FC60A4A5-4A39-1D33-BC96-D16B71DB967D}"/>
                  </a:ext>
                </a:extLst>
              </p:cNvPr>
              <p:cNvSpPr/>
              <p:nvPr/>
            </p:nvSpPr>
            <p:spPr>
              <a:xfrm>
                <a:off x="8019538" y="3793523"/>
                <a:ext cx="864973" cy="5684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4" name="矩形: 圆角 53">
                <a:extLst>
                  <a:ext uri="{FF2B5EF4-FFF2-40B4-BE49-F238E27FC236}">
                    <a16:creationId xmlns:a16="http://schemas.microsoft.com/office/drawing/2014/main" id="{FC60A4A5-4A39-1D33-BC96-D16B71DB9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9538" y="3793523"/>
                <a:ext cx="864973" cy="568411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矩形: 圆角 54">
                <a:extLst>
                  <a:ext uri="{FF2B5EF4-FFF2-40B4-BE49-F238E27FC236}">
                    <a16:creationId xmlns:a16="http://schemas.microsoft.com/office/drawing/2014/main" id="{7D3FEF05-0A18-7FE5-3B32-35BDC7B4A1CF}"/>
                  </a:ext>
                </a:extLst>
              </p:cNvPr>
              <p:cNvSpPr/>
              <p:nvPr/>
            </p:nvSpPr>
            <p:spPr>
              <a:xfrm>
                <a:off x="8019538" y="5090983"/>
                <a:ext cx="864973" cy="5684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5" name="矩形: 圆角 54">
                <a:extLst>
                  <a:ext uri="{FF2B5EF4-FFF2-40B4-BE49-F238E27FC236}">
                    <a16:creationId xmlns:a16="http://schemas.microsoft.com/office/drawing/2014/main" id="{7D3FEF05-0A18-7FE5-3B32-35BDC7B4A1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9538" y="5090983"/>
                <a:ext cx="864973" cy="568411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BE4D1C0-C2D7-B567-B839-1E57BDB5BBDC}"/>
              </a:ext>
            </a:extLst>
          </p:cNvPr>
          <p:cNvCxnSpPr>
            <a:stCxn id="29" idx="0"/>
            <a:endCxn id="52" idx="1"/>
          </p:cNvCxnSpPr>
          <p:nvPr/>
        </p:nvCxnSpPr>
        <p:spPr>
          <a:xfrm>
            <a:off x="3361041" y="1396314"/>
            <a:ext cx="4658498" cy="128510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E1258B7A-6BDB-4929-AB71-7BBE3FE10A4C}"/>
              </a:ext>
            </a:extLst>
          </p:cNvPr>
          <p:cNvCxnSpPr>
            <a:cxnSpLocks/>
            <a:stCxn id="30" idx="0"/>
            <a:endCxn id="52" idx="1"/>
          </p:cNvCxnSpPr>
          <p:nvPr/>
        </p:nvCxnSpPr>
        <p:spPr>
          <a:xfrm flipV="1">
            <a:off x="3361041" y="2681416"/>
            <a:ext cx="4658498" cy="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A51BB67-D531-9671-C266-BB54A1EA1774}"/>
              </a:ext>
            </a:extLst>
          </p:cNvPr>
          <p:cNvCxnSpPr>
            <a:cxnSpLocks/>
            <a:stCxn id="49" idx="0"/>
            <a:endCxn id="52" idx="1"/>
          </p:cNvCxnSpPr>
          <p:nvPr/>
        </p:nvCxnSpPr>
        <p:spPr>
          <a:xfrm flipV="1">
            <a:off x="3361041" y="2681416"/>
            <a:ext cx="4658498" cy="26937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97135C30-C71D-21CF-FF3C-5435A578EF85}"/>
              </a:ext>
            </a:extLst>
          </p:cNvPr>
          <p:cNvCxnSpPr>
            <a:cxnSpLocks/>
            <a:stCxn id="47" idx="0"/>
            <a:endCxn id="50" idx="1"/>
          </p:cNvCxnSpPr>
          <p:nvPr/>
        </p:nvCxnSpPr>
        <p:spPr>
          <a:xfrm flipV="1">
            <a:off x="3361041" y="1247642"/>
            <a:ext cx="4658498" cy="2830088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F1CF7C71-54AD-3C0E-2730-33E2CBB71A7A}"/>
              </a:ext>
            </a:extLst>
          </p:cNvPr>
          <p:cNvCxnSpPr>
            <a:cxnSpLocks/>
            <a:stCxn id="47" idx="0"/>
            <a:endCxn id="54" idx="1"/>
          </p:cNvCxnSpPr>
          <p:nvPr/>
        </p:nvCxnSpPr>
        <p:spPr>
          <a:xfrm flipV="1">
            <a:off x="3361041" y="4077729"/>
            <a:ext cx="4658497" cy="1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73DDA9A5-F54B-DDF2-56DD-5609466082DE}"/>
              </a:ext>
            </a:extLst>
          </p:cNvPr>
          <p:cNvCxnSpPr>
            <a:cxnSpLocks/>
            <a:stCxn id="47" idx="0"/>
            <a:endCxn id="55" idx="1"/>
          </p:cNvCxnSpPr>
          <p:nvPr/>
        </p:nvCxnSpPr>
        <p:spPr>
          <a:xfrm>
            <a:off x="3361041" y="4077730"/>
            <a:ext cx="4658497" cy="129745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EEEAE71D-DC2D-8FE8-A488-CD348549AA46}"/>
                  </a:ext>
                </a:extLst>
              </p:cNvPr>
              <p:cNvSpPr txBox="1"/>
              <p:nvPr/>
            </p:nvSpPr>
            <p:spPr>
              <a:xfrm>
                <a:off x="3361041" y="1013256"/>
                <a:ext cx="595741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EEEAE71D-DC2D-8FE8-A488-CD348549A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041" y="1013256"/>
                <a:ext cx="595741" cy="391646"/>
              </a:xfrm>
              <a:prstGeom prst="rect">
                <a:avLst/>
              </a:prstGeom>
              <a:blipFill>
                <a:blip r:embed="rId11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文本框 92">
                <a:extLst>
                  <a:ext uri="{FF2B5EF4-FFF2-40B4-BE49-F238E27FC236}">
                    <a16:creationId xmlns:a16="http://schemas.microsoft.com/office/drawing/2014/main" id="{6A0892C0-9550-59C4-29DB-820D8AA455A3}"/>
                  </a:ext>
                </a:extLst>
              </p:cNvPr>
              <p:cNvSpPr txBox="1"/>
              <p:nvPr/>
            </p:nvSpPr>
            <p:spPr>
              <a:xfrm>
                <a:off x="3361041" y="2271040"/>
                <a:ext cx="562590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93" name="文本框 92">
                <a:extLst>
                  <a:ext uri="{FF2B5EF4-FFF2-40B4-BE49-F238E27FC236}">
                    <a16:creationId xmlns:a16="http://schemas.microsoft.com/office/drawing/2014/main" id="{6A0892C0-9550-59C4-29DB-820D8AA455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041" y="2271040"/>
                <a:ext cx="562590" cy="391646"/>
              </a:xfrm>
              <a:prstGeom prst="rect">
                <a:avLst/>
              </a:prstGeom>
              <a:blipFill>
                <a:blip r:embed="rId12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文本框 94">
                <a:extLst>
                  <a:ext uri="{FF2B5EF4-FFF2-40B4-BE49-F238E27FC236}">
                    <a16:creationId xmlns:a16="http://schemas.microsoft.com/office/drawing/2014/main" id="{27D253D7-E81D-DA24-1261-A8339D42A804}"/>
                  </a:ext>
                </a:extLst>
              </p:cNvPr>
              <p:cNvSpPr txBox="1"/>
              <p:nvPr/>
            </p:nvSpPr>
            <p:spPr>
              <a:xfrm>
                <a:off x="3361040" y="5189836"/>
                <a:ext cx="629916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95" name="文本框 94">
                <a:extLst>
                  <a:ext uri="{FF2B5EF4-FFF2-40B4-BE49-F238E27FC236}">
                    <a16:creationId xmlns:a16="http://schemas.microsoft.com/office/drawing/2014/main" id="{27D253D7-E81D-DA24-1261-A8339D42A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040" y="5189836"/>
                <a:ext cx="629916" cy="391646"/>
              </a:xfrm>
              <a:prstGeom prst="rect">
                <a:avLst/>
              </a:prstGeom>
              <a:blipFill>
                <a:blip r:embed="rId13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B6125809-8E1F-3D02-9429-53A91FE8C6C2}"/>
                  </a:ext>
                </a:extLst>
              </p:cNvPr>
              <p:cNvSpPr txBox="1"/>
              <p:nvPr/>
            </p:nvSpPr>
            <p:spPr>
              <a:xfrm>
                <a:off x="7289182" y="963437"/>
                <a:ext cx="6193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B6125809-8E1F-3D02-9429-53A91FE8C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182" y="963437"/>
                <a:ext cx="619337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91DBCC30-1BD2-3859-B9A9-8740D25838C0}"/>
                  </a:ext>
                </a:extLst>
              </p:cNvPr>
              <p:cNvSpPr txBox="1"/>
              <p:nvPr/>
            </p:nvSpPr>
            <p:spPr>
              <a:xfrm>
                <a:off x="7409944" y="3672013"/>
                <a:ext cx="5866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𝑘𝑙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91DBCC30-1BD2-3859-B9A9-8740D25838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9944" y="3672013"/>
                <a:ext cx="58663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7E250647-D5C5-E911-5570-474AF2DBB4E8}"/>
                  </a:ext>
                </a:extLst>
              </p:cNvPr>
              <p:cNvSpPr txBox="1"/>
              <p:nvPr/>
            </p:nvSpPr>
            <p:spPr>
              <a:xfrm>
                <a:off x="7462618" y="5227299"/>
                <a:ext cx="673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𝑘𝑀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7E250647-D5C5-E911-5570-474AF2DBB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2618" y="5227299"/>
                <a:ext cx="67313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连接符: 曲线 105">
            <a:extLst>
              <a:ext uri="{FF2B5EF4-FFF2-40B4-BE49-F238E27FC236}">
                <a16:creationId xmlns:a16="http://schemas.microsoft.com/office/drawing/2014/main" id="{91DCC33A-27B9-1867-7A1E-B1EC880003E4}"/>
              </a:ext>
            </a:extLst>
          </p:cNvPr>
          <p:cNvCxnSpPr>
            <a:cxnSpLocks/>
          </p:cNvCxnSpPr>
          <p:nvPr/>
        </p:nvCxnSpPr>
        <p:spPr>
          <a:xfrm>
            <a:off x="2490503" y="1387274"/>
            <a:ext cx="22198" cy="2703983"/>
          </a:xfrm>
          <a:prstGeom prst="curvedConnector3">
            <a:avLst>
              <a:gd name="adj1" fmla="val -3921642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3D16B128-1C9F-5AAC-80F4-B8E94FDCA99E}"/>
                  </a:ext>
                </a:extLst>
              </p:cNvPr>
              <p:cNvSpPr txBox="1"/>
              <p:nvPr/>
            </p:nvSpPr>
            <p:spPr>
              <a:xfrm>
                <a:off x="1642163" y="1248774"/>
                <a:ext cx="52200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3D16B128-1C9F-5AAC-80F4-B8E94FDCA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2163" y="1248774"/>
                <a:ext cx="522002" cy="276999"/>
              </a:xfrm>
              <a:prstGeom prst="rect">
                <a:avLst/>
              </a:prstGeom>
              <a:blipFill>
                <a:blip r:embed="rId17"/>
                <a:stretch>
                  <a:fillRect l="-9302" r="-3488" b="-1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7" name="连接符: 曲线 116">
            <a:extLst>
              <a:ext uri="{FF2B5EF4-FFF2-40B4-BE49-F238E27FC236}">
                <a16:creationId xmlns:a16="http://schemas.microsoft.com/office/drawing/2014/main" id="{3D5280D3-51B4-EA3E-3301-F3CA78D31BB3}"/>
              </a:ext>
            </a:extLst>
          </p:cNvPr>
          <p:cNvCxnSpPr>
            <a:cxnSpLocks/>
            <a:stCxn id="30" idx="3"/>
            <a:endCxn id="47" idx="3"/>
          </p:cNvCxnSpPr>
          <p:nvPr/>
        </p:nvCxnSpPr>
        <p:spPr>
          <a:xfrm rot="10800000" flipV="1">
            <a:off x="2496068" y="2681416"/>
            <a:ext cx="12700" cy="1396313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7CEBC56D-C209-D731-45F2-D3AFF3CB7E41}"/>
                  </a:ext>
                </a:extLst>
              </p:cNvPr>
              <p:cNvSpPr txBox="1"/>
              <p:nvPr/>
            </p:nvSpPr>
            <p:spPr>
              <a:xfrm>
                <a:off x="1884991" y="2566467"/>
                <a:ext cx="4893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𝑘𝑖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7CEBC56D-C209-D731-45F2-D3AFF3CB7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4991" y="2566467"/>
                <a:ext cx="489300" cy="276999"/>
              </a:xfrm>
              <a:prstGeom prst="rect">
                <a:avLst/>
              </a:prstGeom>
              <a:blipFill>
                <a:blip r:embed="rId18"/>
                <a:stretch>
                  <a:fillRect l="-10000" r="-5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连接符: 曲线 122">
            <a:extLst>
              <a:ext uri="{FF2B5EF4-FFF2-40B4-BE49-F238E27FC236}">
                <a16:creationId xmlns:a16="http://schemas.microsoft.com/office/drawing/2014/main" id="{5DB4C358-F863-C9CC-A879-EF7F66FD8B8E}"/>
              </a:ext>
            </a:extLst>
          </p:cNvPr>
          <p:cNvCxnSpPr>
            <a:cxnSpLocks/>
            <a:stCxn id="47" idx="3"/>
            <a:endCxn id="49" idx="3"/>
          </p:cNvCxnSpPr>
          <p:nvPr/>
        </p:nvCxnSpPr>
        <p:spPr>
          <a:xfrm rot="10800000" flipV="1">
            <a:off x="2496068" y="4077730"/>
            <a:ext cx="12700" cy="1297460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D494BEBE-78CE-6D23-D93D-225AB14E95C8}"/>
                  </a:ext>
                </a:extLst>
              </p:cNvPr>
              <p:cNvSpPr txBox="1"/>
              <p:nvPr/>
            </p:nvSpPr>
            <p:spPr>
              <a:xfrm>
                <a:off x="1734724" y="4912837"/>
                <a:ext cx="55476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𝑘𝑁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D494BEBE-78CE-6D23-D93D-225AB14E9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24" y="4912837"/>
                <a:ext cx="554767" cy="276999"/>
              </a:xfrm>
              <a:prstGeom prst="rect">
                <a:avLst/>
              </a:prstGeom>
              <a:blipFill>
                <a:blip r:embed="rId19"/>
                <a:stretch>
                  <a:fillRect l="-9890" r="-3297" b="-1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0" name="连接符: 曲线 129">
            <a:extLst>
              <a:ext uri="{FF2B5EF4-FFF2-40B4-BE49-F238E27FC236}">
                <a16:creationId xmlns:a16="http://schemas.microsoft.com/office/drawing/2014/main" id="{65442EEC-07A8-8984-E16B-D07E63F79D50}"/>
              </a:ext>
            </a:extLst>
          </p:cNvPr>
          <p:cNvCxnSpPr>
            <a:cxnSpLocks/>
            <a:stCxn id="50" idx="3"/>
            <a:endCxn id="52" idx="3"/>
          </p:cNvCxnSpPr>
          <p:nvPr/>
        </p:nvCxnSpPr>
        <p:spPr>
          <a:xfrm>
            <a:off x="8884512" y="1247642"/>
            <a:ext cx="12700" cy="1433774"/>
          </a:xfrm>
          <a:prstGeom prst="curvedConnector3">
            <a:avLst>
              <a:gd name="adj1" fmla="val 180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9A6F11BD-59E3-5BB1-3FCD-9809FB5D355D}"/>
                  </a:ext>
                </a:extLst>
              </p:cNvPr>
              <p:cNvSpPr txBox="1"/>
              <p:nvPr/>
            </p:nvSpPr>
            <p:spPr>
              <a:xfrm>
                <a:off x="9045037" y="1093365"/>
                <a:ext cx="482248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9A6F11BD-59E3-5BB1-3FCD-9809FB5D35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5037" y="1093365"/>
                <a:ext cx="482248" cy="299313"/>
              </a:xfrm>
              <a:prstGeom prst="rect">
                <a:avLst/>
              </a:prstGeom>
              <a:blipFill>
                <a:blip r:embed="rId20"/>
                <a:stretch>
                  <a:fillRect l="-11392" r="-8861" b="-265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连接符: 曲线 131">
            <a:extLst>
              <a:ext uri="{FF2B5EF4-FFF2-40B4-BE49-F238E27FC236}">
                <a16:creationId xmlns:a16="http://schemas.microsoft.com/office/drawing/2014/main" id="{515F39F6-7197-5A88-C9DF-08258D11BB8A}"/>
              </a:ext>
            </a:extLst>
          </p:cNvPr>
          <p:cNvCxnSpPr>
            <a:cxnSpLocks/>
            <a:stCxn id="52" idx="3"/>
            <a:endCxn id="54" idx="3"/>
          </p:cNvCxnSpPr>
          <p:nvPr/>
        </p:nvCxnSpPr>
        <p:spPr>
          <a:xfrm flipH="1">
            <a:off x="8884511" y="2681416"/>
            <a:ext cx="1" cy="1396313"/>
          </a:xfrm>
          <a:prstGeom prst="curvedConnector3">
            <a:avLst>
              <a:gd name="adj1" fmla="val -2286000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8CA3114A-B457-BCB6-02DC-AE91E6FE1DD7}"/>
                  </a:ext>
                </a:extLst>
              </p:cNvPr>
              <p:cNvSpPr txBox="1"/>
              <p:nvPr/>
            </p:nvSpPr>
            <p:spPr>
              <a:xfrm>
                <a:off x="9100751" y="3643866"/>
                <a:ext cx="449547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𝑗𝑙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8CA3114A-B457-BCB6-02DC-AE91E6FE1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0751" y="3643866"/>
                <a:ext cx="449547" cy="299313"/>
              </a:xfrm>
              <a:prstGeom prst="rect">
                <a:avLst/>
              </a:prstGeom>
              <a:blipFill>
                <a:blip r:embed="rId21"/>
                <a:stretch>
                  <a:fillRect l="-12162" r="-8108" b="-265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2" name="组合 161">
            <a:extLst>
              <a:ext uri="{FF2B5EF4-FFF2-40B4-BE49-F238E27FC236}">
                <a16:creationId xmlns:a16="http://schemas.microsoft.com/office/drawing/2014/main" id="{5EF99E53-AC3F-E99C-B5DF-48AB86C1594F}"/>
              </a:ext>
            </a:extLst>
          </p:cNvPr>
          <p:cNvGrpSpPr/>
          <p:nvPr/>
        </p:nvGrpSpPr>
        <p:grpSpPr>
          <a:xfrm>
            <a:off x="8884512" y="2681416"/>
            <a:ext cx="988538" cy="2693772"/>
            <a:chOff x="8884512" y="2681416"/>
            <a:chExt cx="988538" cy="2693772"/>
          </a:xfrm>
        </p:grpSpPr>
        <p:cxnSp>
          <p:nvCxnSpPr>
            <p:cNvPr id="136" name="连接符: 曲线 135">
              <a:extLst>
                <a:ext uri="{FF2B5EF4-FFF2-40B4-BE49-F238E27FC236}">
                  <a16:creationId xmlns:a16="http://schemas.microsoft.com/office/drawing/2014/main" id="{FAD7286B-E3BF-6B29-3D9A-F874E13DD7A2}"/>
                </a:ext>
              </a:extLst>
            </p:cNvPr>
            <p:cNvCxnSpPr>
              <a:cxnSpLocks/>
              <a:endCxn id="55" idx="3"/>
            </p:cNvCxnSpPr>
            <p:nvPr/>
          </p:nvCxnSpPr>
          <p:spPr>
            <a:xfrm rot="5400000">
              <a:off x="8781295" y="4283434"/>
              <a:ext cx="1194971" cy="988538"/>
            </a:xfrm>
            <a:prstGeom prst="curved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连接符: 曲线 149">
              <a:extLst>
                <a:ext uri="{FF2B5EF4-FFF2-40B4-BE49-F238E27FC236}">
                  <a16:creationId xmlns:a16="http://schemas.microsoft.com/office/drawing/2014/main" id="{24ECE132-87DA-9F4C-A3B9-C8A7DEE8362F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>
              <a:off x="8884512" y="2681416"/>
              <a:ext cx="988538" cy="1543465"/>
            </a:xfrm>
            <a:prstGeom prst="curved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1F8DA320-37D2-AAAB-03CE-6A26ED08038A}"/>
                  </a:ext>
                </a:extLst>
              </p:cNvPr>
              <p:cNvSpPr txBox="1"/>
              <p:nvPr/>
            </p:nvSpPr>
            <p:spPr>
              <a:xfrm>
                <a:off x="9561781" y="5037674"/>
                <a:ext cx="536044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𝑗𝑀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1F8DA320-37D2-AAAB-03CE-6A26ED080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1781" y="5037674"/>
                <a:ext cx="536044" cy="299313"/>
              </a:xfrm>
              <a:prstGeom prst="rect">
                <a:avLst/>
              </a:prstGeom>
              <a:blipFill>
                <a:blip r:embed="rId22"/>
                <a:stretch>
                  <a:fillRect l="-10345" r="-8046" b="-265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9468FD6C-E0BD-F21E-EBA2-0159BE681E60}"/>
              </a:ext>
            </a:extLst>
          </p:cNvPr>
          <p:cNvCxnSpPr>
            <a:cxnSpLocks/>
            <a:stCxn id="47" idx="0"/>
            <a:endCxn id="52" idx="1"/>
          </p:cNvCxnSpPr>
          <p:nvPr/>
        </p:nvCxnSpPr>
        <p:spPr>
          <a:xfrm flipV="1">
            <a:off x="3361041" y="2681416"/>
            <a:ext cx="4658498" cy="13963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1A4410A9-1F95-C773-BB1C-31BE9900B181}"/>
                  </a:ext>
                </a:extLst>
              </p:cNvPr>
              <p:cNvSpPr txBox="1"/>
              <p:nvPr/>
            </p:nvSpPr>
            <p:spPr>
              <a:xfrm>
                <a:off x="6306805" y="2627695"/>
                <a:ext cx="840423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𝑆𝐶𝑃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𝐾𝑗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1A4410A9-1F95-C773-BB1C-31BE9900B1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6805" y="2627695"/>
                <a:ext cx="840423" cy="391646"/>
              </a:xfrm>
              <a:prstGeom prst="rect">
                <a:avLst/>
              </a:prstGeom>
              <a:blipFill>
                <a:blip r:embed="rId23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文本框 166">
                <a:extLst>
                  <a:ext uri="{FF2B5EF4-FFF2-40B4-BE49-F238E27FC236}">
                    <a16:creationId xmlns:a16="http://schemas.microsoft.com/office/drawing/2014/main" id="{70371114-19FD-DC1E-541B-E7A9A72842AA}"/>
                  </a:ext>
                </a:extLst>
              </p:cNvPr>
              <p:cNvSpPr txBox="1"/>
              <p:nvPr/>
            </p:nvSpPr>
            <p:spPr>
              <a:xfrm>
                <a:off x="4124858" y="3716459"/>
                <a:ext cx="830484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𝑆𝑃𝐶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𝑗𝐾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67" name="文本框 166">
                <a:extLst>
                  <a:ext uri="{FF2B5EF4-FFF2-40B4-BE49-F238E27FC236}">
                    <a16:creationId xmlns:a16="http://schemas.microsoft.com/office/drawing/2014/main" id="{70371114-19FD-DC1E-541B-E7A9A7284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858" y="3716459"/>
                <a:ext cx="830484" cy="391646"/>
              </a:xfrm>
              <a:prstGeom prst="rect">
                <a:avLst/>
              </a:prstGeom>
              <a:blipFill>
                <a:blip r:embed="rId2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5D180190-827C-E6A2-0AE5-EE3135DE4D88}"/>
                  </a:ext>
                </a:extLst>
              </p:cNvPr>
              <p:cNvSpPr txBox="1"/>
              <p:nvPr/>
            </p:nvSpPr>
            <p:spPr>
              <a:xfrm>
                <a:off x="2768895" y="1838532"/>
                <a:ext cx="3193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5D180190-827C-E6A2-0AE5-EE3135DE4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8895" y="1838532"/>
                <a:ext cx="319318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9" name="文本框 168">
                <a:extLst>
                  <a:ext uri="{FF2B5EF4-FFF2-40B4-BE49-F238E27FC236}">
                    <a16:creationId xmlns:a16="http://schemas.microsoft.com/office/drawing/2014/main" id="{147F07A8-E779-0855-9FD6-865F32D6523E}"/>
                  </a:ext>
                </a:extLst>
              </p:cNvPr>
              <p:cNvSpPr txBox="1"/>
              <p:nvPr/>
            </p:nvSpPr>
            <p:spPr>
              <a:xfrm>
                <a:off x="2760463" y="3194907"/>
                <a:ext cx="3193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69" name="文本框 168">
                <a:extLst>
                  <a:ext uri="{FF2B5EF4-FFF2-40B4-BE49-F238E27FC236}">
                    <a16:creationId xmlns:a16="http://schemas.microsoft.com/office/drawing/2014/main" id="{147F07A8-E779-0855-9FD6-865F32D65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463" y="3194907"/>
                <a:ext cx="319318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文本框 169">
                <a:extLst>
                  <a:ext uri="{FF2B5EF4-FFF2-40B4-BE49-F238E27FC236}">
                    <a16:creationId xmlns:a16="http://schemas.microsoft.com/office/drawing/2014/main" id="{1B9ABEA2-6F8F-5F15-3FA9-DB65B5E0BA5C}"/>
                  </a:ext>
                </a:extLst>
              </p:cNvPr>
              <p:cNvSpPr txBox="1"/>
              <p:nvPr/>
            </p:nvSpPr>
            <p:spPr>
              <a:xfrm>
                <a:off x="2775245" y="4541793"/>
                <a:ext cx="3193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70" name="文本框 169">
                <a:extLst>
                  <a:ext uri="{FF2B5EF4-FFF2-40B4-BE49-F238E27FC236}">
                    <a16:creationId xmlns:a16="http://schemas.microsoft.com/office/drawing/2014/main" id="{1B9ABEA2-6F8F-5F15-3FA9-DB65B5E0B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245" y="4541793"/>
                <a:ext cx="319318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793E4655-CF41-30C4-DE0E-2400D40FB244}"/>
                  </a:ext>
                </a:extLst>
              </p:cNvPr>
              <p:cNvSpPr txBox="1"/>
              <p:nvPr/>
            </p:nvSpPr>
            <p:spPr>
              <a:xfrm>
                <a:off x="8300799" y="4541793"/>
                <a:ext cx="3193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793E4655-CF41-30C4-DE0E-2400D40FB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0799" y="4541793"/>
                <a:ext cx="319318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文本框 171">
                <a:extLst>
                  <a:ext uri="{FF2B5EF4-FFF2-40B4-BE49-F238E27FC236}">
                    <a16:creationId xmlns:a16="http://schemas.microsoft.com/office/drawing/2014/main" id="{AEF3F3AC-883F-E13A-B8AE-F02F1BAD3538}"/>
                  </a:ext>
                </a:extLst>
              </p:cNvPr>
              <p:cNvSpPr txBox="1"/>
              <p:nvPr/>
            </p:nvSpPr>
            <p:spPr>
              <a:xfrm>
                <a:off x="8286017" y="3152684"/>
                <a:ext cx="3193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72" name="文本框 171">
                <a:extLst>
                  <a:ext uri="{FF2B5EF4-FFF2-40B4-BE49-F238E27FC236}">
                    <a16:creationId xmlns:a16="http://schemas.microsoft.com/office/drawing/2014/main" id="{AEF3F3AC-883F-E13A-B8AE-F02F1BAD3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6017" y="3152684"/>
                <a:ext cx="319318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文本框 172">
                <a:extLst>
                  <a:ext uri="{FF2B5EF4-FFF2-40B4-BE49-F238E27FC236}">
                    <a16:creationId xmlns:a16="http://schemas.microsoft.com/office/drawing/2014/main" id="{A766BD53-6F36-2F8D-5188-36511DF80909}"/>
                  </a:ext>
                </a:extLst>
              </p:cNvPr>
              <p:cNvSpPr txBox="1"/>
              <p:nvPr/>
            </p:nvSpPr>
            <p:spPr>
              <a:xfrm>
                <a:off x="8286017" y="1779863"/>
                <a:ext cx="3193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73" name="文本框 172">
                <a:extLst>
                  <a:ext uri="{FF2B5EF4-FFF2-40B4-BE49-F238E27FC236}">
                    <a16:creationId xmlns:a16="http://schemas.microsoft.com/office/drawing/2014/main" id="{A766BD53-6F36-2F8D-5188-36511DF80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6017" y="1779863"/>
                <a:ext cx="319318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4" name="文本框 173">
                <a:extLst>
                  <a:ext uri="{FF2B5EF4-FFF2-40B4-BE49-F238E27FC236}">
                    <a16:creationId xmlns:a16="http://schemas.microsoft.com/office/drawing/2014/main" id="{937E6AB8-2A6D-A7AF-4D1D-07D49A3728FA}"/>
                  </a:ext>
                </a:extLst>
              </p:cNvPr>
              <p:cNvSpPr txBox="1"/>
              <p:nvPr/>
            </p:nvSpPr>
            <p:spPr>
              <a:xfrm>
                <a:off x="4355704" y="5763201"/>
                <a:ext cx="3163558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altLang="zh-CN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[−(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𝑆𝑃𝐶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𝑆𝐶𝑃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altLang="zh-CN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74" name="文本框 173">
                <a:extLst>
                  <a:ext uri="{FF2B5EF4-FFF2-40B4-BE49-F238E27FC236}">
                    <a16:creationId xmlns:a16="http://schemas.microsoft.com/office/drawing/2014/main" id="{937E6AB8-2A6D-A7AF-4D1D-07D49A3728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5704" y="5763201"/>
                <a:ext cx="3163558" cy="391646"/>
              </a:xfrm>
              <a:prstGeom prst="rect">
                <a:avLst/>
              </a:prstGeom>
              <a:blipFill>
                <a:blip r:embed="rId31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37304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0AE02-3289-8E0C-8777-AFABC42BB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A15064-9DD4-E211-3A6E-5C74B3CC9F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43471" y="-53608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技术路线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EA0BA11-D6FA-0256-FF01-37F521CF11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" y="371475"/>
            <a:ext cx="11887200" cy="295009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zh-CN" altLang="en-US" sz="2000" dirty="0"/>
              <a:t>网络模型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6523F5-2FD0-4C29-5A42-8C23DEDD9068}"/>
              </a:ext>
            </a:extLst>
          </p:cNvPr>
          <p:cNvSpPr txBox="1"/>
          <p:nvPr/>
        </p:nvSpPr>
        <p:spPr>
          <a:xfrm>
            <a:off x="518787" y="76634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输入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B508ED7-4F50-24A0-0F3B-8FFB5733851C}"/>
              </a:ext>
            </a:extLst>
          </p:cNvPr>
          <p:cNvSpPr txBox="1"/>
          <p:nvPr/>
        </p:nvSpPr>
        <p:spPr>
          <a:xfrm>
            <a:off x="158059" y="4847771"/>
            <a:ext cx="1489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CC</a:t>
            </a:r>
            <a:r>
              <a:rPr lang="en-US" altLang="zh-CN" b="1" dirty="0"/>
              <a:t>…</a:t>
            </a:r>
            <a:r>
              <a:rPr lang="en-US" altLang="zh-CN" dirty="0"/>
              <a:t> C)OC)O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292B6DD-71CE-7B06-6FED-9C2BEFF6C809}"/>
              </a:ext>
            </a:extLst>
          </p:cNvPr>
          <p:cNvSpPr txBox="1"/>
          <p:nvPr/>
        </p:nvSpPr>
        <p:spPr>
          <a:xfrm>
            <a:off x="70741" y="1640897"/>
            <a:ext cx="1515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MSPL</a:t>
            </a:r>
            <a:r>
              <a:rPr lang="en-US" altLang="zh-CN" b="1" dirty="0"/>
              <a:t>…</a:t>
            </a:r>
            <a:r>
              <a:rPr lang="en-US" altLang="zh-CN" dirty="0"/>
              <a:t> RKAS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489074-18F1-BD52-A368-40499F71A939}"/>
              </a:ext>
            </a:extLst>
          </p:cNvPr>
          <p:cNvSpPr txBox="1"/>
          <p:nvPr/>
        </p:nvSpPr>
        <p:spPr>
          <a:xfrm>
            <a:off x="383173" y="1237599"/>
            <a:ext cx="893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蛋白质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9614FFC-9401-BB61-5123-12E2F99D5CE9}"/>
              </a:ext>
            </a:extLst>
          </p:cNvPr>
          <p:cNvSpPr txBox="1"/>
          <p:nvPr/>
        </p:nvSpPr>
        <p:spPr>
          <a:xfrm>
            <a:off x="518787" y="524264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药物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FA730AC-64C3-82C4-4E7B-5453F6E7ED30}"/>
              </a:ext>
            </a:extLst>
          </p:cNvPr>
          <p:cNvSpPr txBox="1"/>
          <p:nvPr/>
        </p:nvSpPr>
        <p:spPr>
          <a:xfrm>
            <a:off x="1776387" y="139629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编码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4C0C6DA-C9FB-D428-D4B3-BA4915BA48DB}"/>
              </a:ext>
            </a:extLst>
          </p:cNvPr>
          <p:cNvSpPr txBox="1"/>
          <p:nvPr/>
        </p:nvSpPr>
        <p:spPr>
          <a:xfrm>
            <a:off x="1670671" y="518780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编码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2D51CD4-BBCD-6251-AAE7-94493FD98CCA}"/>
              </a:ext>
            </a:extLst>
          </p:cNvPr>
          <p:cNvSpPr txBox="1"/>
          <p:nvPr/>
        </p:nvSpPr>
        <p:spPr>
          <a:xfrm>
            <a:off x="2605200" y="807428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局部特征编码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2FE4B23-818F-2148-4409-71057F23B2F3}"/>
              </a:ext>
            </a:extLst>
          </p:cNvPr>
          <p:cNvSpPr txBox="1"/>
          <p:nvPr/>
        </p:nvSpPr>
        <p:spPr>
          <a:xfrm>
            <a:off x="2756142" y="1114488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跳跃模块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D0119A-81C6-930B-2500-F513807FE0AC}"/>
              </a:ext>
            </a:extLst>
          </p:cNvPr>
          <p:cNvSpPr txBox="1"/>
          <p:nvPr/>
        </p:nvSpPr>
        <p:spPr>
          <a:xfrm>
            <a:off x="2538827" y="1400515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蛋白质特征编码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032AF18-36FF-9B8D-AA09-29452AE6414B}"/>
              </a:ext>
            </a:extLst>
          </p:cNvPr>
          <p:cNvSpPr txBox="1"/>
          <p:nvPr/>
        </p:nvSpPr>
        <p:spPr>
          <a:xfrm>
            <a:off x="2628595" y="5149708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药物特征编码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436EB53-B9C2-B1A0-FFF5-8C9B8620436B}"/>
              </a:ext>
            </a:extLst>
          </p:cNvPr>
          <p:cNvSpPr txBox="1"/>
          <p:nvPr/>
        </p:nvSpPr>
        <p:spPr>
          <a:xfrm>
            <a:off x="2683204" y="5489628"/>
            <a:ext cx="10486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图卷积</a:t>
            </a:r>
            <a:r>
              <a:rPr lang="en-US" altLang="zh-CN" sz="1200" dirty="0"/>
              <a:t>(GCN)</a:t>
            </a:r>
            <a:endParaRPr lang="zh-CN" altLang="en-US" sz="1200" dirty="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9EAD1A4D-4C61-78E1-0FEF-E2A743A78FF9}"/>
              </a:ext>
            </a:extLst>
          </p:cNvPr>
          <p:cNvSpPr txBox="1"/>
          <p:nvPr/>
        </p:nvSpPr>
        <p:spPr>
          <a:xfrm>
            <a:off x="3995379" y="1380162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蛋白质表示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49673FAA-F0A4-4B47-F646-3168940D6256}"/>
              </a:ext>
            </a:extLst>
          </p:cNvPr>
          <p:cNvSpPr txBox="1"/>
          <p:nvPr/>
        </p:nvSpPr>
        <p:spPr>
          <a:xfrm>
            <a:off x="3995379" y="5122850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药物表示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86542F6A-34CD-E84D-6A02-865999BD9B03}"/>
              </a:ext>
            </a:extLst>
          </p:cNvPr>
          <p:cNvSpPr txBox="1"/>
          <p:nvPr/>
        </p:nvSpPr>
        <p:spPr>
          <a:xfrm>
            <a:off x="4988004" y="807428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全局交互学习</a:t>
            </a: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525BE6B-F5F4-9808-F391-1194CC448402}"/>
              </a:ext>
            </a:extLst>
          </p:cNvPr>
          <p:cNvSpPr txBox="1"/>
          <p:nvPr/>
        </p:nvSpPr>
        <p:spPr>
          <a:xfrm>
            <a:off x="6302454" y="803443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联合表示</a:t>
            </a: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FBA382D2-7936-F192-6E54-B1252D1171A8}"/>
              </a:ext>
            </a:extLst>
          </p:cNvPr>
          <p:cNvSpPr txBox="1"/>
          <p:nvPr/>
        </p:nvSpPr>
        <p:spPr>
          <a:xfrm>
            <a:off x="7731151" y="1015191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多层感知机</a:t>
            </a: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095C24F-8407-F8BD-30CD-65D84F356066}"/>
              </a:ext>
            </a:extLst>
          </p:cNvPr>
          <p:cNvSpPr txBox="1"/>
          <p:nvPr/>
        </p:nvSpPr>
        <p:spPr>
          <a:xfrm>
            <a:off x="7678586" y="4936296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可解释性</a:t>
            </a: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B51AEABA-0CCC-CACA-67B9-C43E400372BB}"/>
              </a:ext>
            </a:extLst>
          </p:cNvPr>
          <p:cNvSpPr txBox="1"/>
          <p:nvPr/>
        </p:nvSpPr>
        <p:spPr>
          <a:xfrm>
            <a:off x="7755529" y="54111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解码</a:t>
            </a:r>
          </a:p>
        </p:txBody>
      </p:sp>
      <p:pic>
        <p:nvPicPr>
          <p:cNvPr id="98" name="图片 97" descr="图片包含 游戏机, 灯光&#10;&#10;AI 生成的内容可能不正确。">
            <a:extLst>
              <a:ext uri="{FF2B5EF4-FFF2-40B4-BE49-F238E27FC236}">
                <a16:creationId xmlns:a16="http://schemas.microsoft.com/office/drawing/2014/main" id="{64631FF4-B0B9-8AFB-C2B6-2F8B2433CC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493" y="1865494"/>
            <a:ext cx="1950889" cy="146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201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EDB41-99DA-1242-5EC8-574C18584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508105-9BBE-DA15-D06C-2014A1995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2794782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数据集与仿真实验环境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143D0FD-7FFA-B1B3-9C0F-6419A7F9F2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935897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57811-722D-8301-E7AB-E9C8A24D4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C01EFD-204F-7D59-718F-AA95B5CA5E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创新点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129A17C-272C-1B46-AD30-F887DB96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314005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BED22-CFEF-B000-74CC-1295E7872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A7880-2189-D452-2B22-737C89231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366" y="137625"/>
            <a:ext cx="1641231" cy="425083"/>
          </a:xfrm>
        </p:spPr>
        <p:txBody>
          <a:bodyPr>
            <a:noAutofit/>
          </a:bodyPr>
          <a:lstStyle/>
          <a:p>
            <a:r>
              <a:rPr lang="zh-CN" altLang="en-US" sz="2000" b="1" dirty="0"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可行性分析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215803F-ED97-4C40-76E3-58C59DFED5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34" y="815926"/>
            <a:ext cx="11422966" cy="5767754"/>
          </a:xfrm>
        </p:spPr>
        <p:txBody>
          <a:bodyPr>
            <a:normAutofit/>
          </a:bodyPr>
          <a:lstStyle/>
          <a:p>
            <a:pPr algn="just"/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251421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2254</TotalTime>
  <Words>681</Words>
  <Application>Microsoft Office PowerPoint</Application>
  <PresentationFormat>宽屏</PresentationFormat>
  <Paragraphs>116</Paragraphs>
  <Slides>13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SourceHanSerifCN-Regular</vt:lpstr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研究背景</vt:lpstr>
      <vt:lpstr>国内外研究现状</vt:lpstr>
      <vt:lpstr>关键科学问题</vt:lpstr>
      <vt:lpstr>研究内容</vt:lpstr>
      <vt:lpstr>研究内容</vt:lpstr>
      <vt:lpstr>研究内容</vt:lpstr>
      <vt:lpstr>研究内容</vt:lpstr>
      <vt:lpstr>技术路线</vt:lpstr>
      <vt:lpstr>技术路线</vt:lpstr>
      <vt:lpstr>技术路线</vt:lpstr>
      <vt:lpstr>数据集与仿真实验环境</vt:lpstr>
      <vt:lpstr>创新点</vt:lpstr>
      <vt:lpstr>可行性分析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牛　文涛</dc:creator>
  <cp:lastModifiedBy>牛　文涛</cp:lastModifiedBy>
  <cp:revision>336</cp:revision>
  <dcterms:created xsi:type="dcterms:W3CDTF">2025-03-25T01:48:09Z</dcterms:created>
  <dcterms:modified xsi:type="dcterms:W3CDTF">2025-03-27T16:13:08Z</dcterms:modified>
</cp:coreProperties>
</file>